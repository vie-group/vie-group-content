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6"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5" r:id="rId18"/>
    <p:sldId id="276" r:id="rId19"/>
    <p:sldId id="277" r:id="rId20"/>
    <p:sldId id="278" r:id="rId21"/>
    <p:sldId id="279" r:id="rId22"/>
    <p:sldId id="280" r:id="rId23"/>
    <p:sldId id="281" r:id="rId24"/>
    <p:sldId id="282" r:id="rId25"/>
    <p:sldId id="284" r:id="rId26"/>
    <p:sldId id="28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97"/>
    <p:restoredTop sz="94620"/>
  </p:normalViewPr>
  <p:slideViewPr>
    <p:cSldViewPr snapToGrid="0">
      <p:cViewPr varScale="1">
        <p:scale>
          <a:sx n="114" d="100"/>
          <a:sy n="114" d="100"/>
        </p:scale>
        <p:origin x="6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分桶量化，每维度做</a:t>
            </a:r>
            <a:r>
              <a:rPr lang="en-US" altLang="zh-CN" dirty="0"/>
              <a:t>s</a:t>
            </a:r>
            <a:r>
              <a:rPr lang="zh-CN" altLang="en-US" dirty="0"/>
              <a:t>间隔取整</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纯噪声被量化成零需要 h &gt; 2ε。有信号的位置，最坏情况下幅度只有 γ−ε，因此还需要 h &lt; 2(γ−ε)，才能确保它不落入零量化区间。原文给出的 ε &lt; γ 和 h &gt; 2ε 还不够。这一页补充的是报告者推导的条件。即使非零位置都保留了，幅值也未必能精确恢复。</a:t>
            </a:r>
          </a:p>
          <a:p>
            <a:endParaRPr/>
          </a:p>
          <a:p>
            <a:r>
              <a:t>[Sources]</a:t>
            </a:r>
          </a:p>
          <a:p>
            <a:r>
              <a:t>https://arxiv.org/html/2607.08270v2</a:t>
            </a:r>
          </a:p>
          <a:p>
            <a:r>
              <a:t>§4.3 · Equations (8)–(12)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 2 段继续介绍临床用途，第 3 段开始谈生成模型。前两段关于临床意义的内容有些重复，自己写作时可以适当合并，让读者更早看到具体的技术问题。</a:t>
            </a:r>
          </a:p>
          <a:p>
            <a:endParaRPr/>
          </a:p>
          <a:p>
            <a:r>
              <a:t>[Sources]</a:t>
            </a:r>
          </a:p>
          <a:p>
            <a:r>
              <a:t>https://arxiv.org/html/2607.08270v2</a:t>
            </a:r>
          </a:p>
          <a:p>
            <a:r>
              <a:t>§1 · 第2–3段</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这一段解释医学影像预测与一般生成任务有什么不同。作者用 Figure 2 和引用中的 under 1% 说明病变信号很弱。这个数值有具体适用背景，不能当作所有 MRI 的普遍统计。</a:t>
            </a:r>
          </a:p>
          <a:p>
            <a:endParaRPr/>
          </a:p>
          <a:p>
            <a:r>
              <a:t>[Sources]</a:t>
            </a:r>
          </a:p>
          <a:p>
            <a:r>
              <a:t>https://arxiv.org/html/2607.08270v2</a:t>
            </a:r>
          </a:p>
          <a:p>
            <a:r>
              <a:t>§1 · 第4段</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 5 段前半先说理论分析是本文的一项贡献，再介绍两个失败模式，接着解释第一个问题是怎样发生的。structurally prone to failure 和 intrinsic limitations 都是很强的说法，需要检查理论是否足以支持。</a:t>
            </a:r>
          </a:p>
          <a:p>
            <a:endParaRPr/>
          </a:p>
          <a:p>
            <a:r>
              <a:t>[Sources]</a:t>
            </a:r>
          </a:p>
          <a:p>
            <a:r>
              <a:t>https://arxiv.org/html/2607.08270v2</a:t>
            </a:r>
          </a:p>
          <a:p>
            <a:r>
              <a:t>§1 · 第5段（前半）</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1CD42EE-9A2F-6549-A767-39D7668DB8A1}" type="datetimeFigureOut">
              <a:rPr kumimoji="1" lang="zh-CN" altLang="en-US" smtClean="0"/>
              <a:t>2026/10/15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6C58E861-F197-6948-9895-EAB22D790C3F}" type="slidenum">
              <a:rPr kumimoji="1" lang="zh-CN" altLang="en-US" smtClean="0"/>
              <a:t>‹#›</a:t>
            </a:fld>
            <a:endParaRPr kumimoji="1" lang="zh-CN" altLang="en-US"/>
          </a:p>
        </p:txBody>
      </p:sp>
    </p:spTree>
    <p:extLst>
      <p:ext uri="{BB962C8B-B14F-4D97-AF65-F5344CB8AC3E}">
        <p14:creationId xmlns:p14="http://schemas.microsoft.com/office/powerpoint/2010/main" val="1367089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1CD42EE-9A2F-6549-A767-39D7668DB8A1}" type="datetimeFigureOut">
              <a:rPr kumimoji="1" lang="zh-CN" altLang="en-US" smtClean="0"/>
              <a:t>2026/10/15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6C58E861-F197-6948-9895-EAB22D790C3F}" type="slidenum">
              <a:rPr kumimoji="1" lang="zh-CN" altLang="en-US" smtClean="0"/>
              <a:t>‹#›</a:t>
            </a:fld>
            <a:endParaRPr kumimoji="1" lang="zh-CN" altLang="en-US"/>
          </a:p>
        </p:txBody>
      </p:sp>
    </p:spTree>
    <p:extLst>
      <p:ext uri="{BB962C8B-B14F-4D97-AF65-F5344CB8AC3E}">
        <p14:creationId xmlns:p14="http://schemas.microsoft.com/office/powerpoint/2010/main" val="925768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1CD42EE-9A2F-6549-A767-39D7668DB8A1}" type="datetimeFigureOut">
              <a:rPr kumimoji="1" lang="zh-CN" altLang="en-US" smtClean="0"/>
              <a:t>2026/10/15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6C58E861-F197-6948-9895-EAB22D790C3F}" type="slidenum">
              <a:rPr kumimoji="1" lang="zh-CN" altLang="en-US" smtClean="0"/>
              <a:t>‹#›</a:t>
            </a:fld>
            <a:endParaRPr kumimoji="1" lang="zh-CN" altLang="en-US"/>
          </a:p>
        </p:txBody>
      </p:sp>
    </p:spTree>
    <p:extLst>
      <p:ext uri="{BB962C8B-B14F-4D97-AF65-F5344CB8AC3E}">
        <p14:creationId xmlns:p14="http://schemas.microsoft.com/office/powerpoint/2010/main" val="10540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1CD42EE-9A2F-6549-A767-39D7668DB8A1}" type="datetimeFigureOut">
              <a:rPr kumimoji="1" lang="zh-CN" altLang="en-US" smtClean="0"/>
              <a:t>2026/10/15</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6C58E861-F197-6948-9895-EAB22D790C3F}" type="slidenum">
              <a:rPr kumimoji="1" lang="zh-CN" altLang="en-US" smtClean="0"/>
              <a:t>‹#›</a:t>
            </a:fld>
            <a:endParaRPr kumimoji="1" lang="zh-CN" altLang="en-US"/>
          </a:p>
        </p:txBody>
      </p:sp>
    </p:spTree>
    <p:extLst>
      <p:ext uri="{BB962C8B-B14F-4D97-AF65-F5344CB8AC3E}">
        <p14:creationId xmlns:p14="http://schemas.microsoft.com/office/powerpoint/2010/main" val="1870932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1CD42EE-9A2F-6549-A767-39D7668DB8A1}" type="datetimeFigureOut">
              <a:rPr kumimoji="1" lang="zh-CN" altLang="en-US" smtClean="0"/>
              <a:t>2026/10/15</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6C58E861-F197-6948-9895-EAB22D790C3F}" type="slidenum">
              <a:rPr kumimoji="1" lang="zh-CN" altLang="en-US" smtClean="0"/>
              <a:t>‹#›</a:t>
            </a:fld>
            <a:endParaRPr kumimoji="1" lang="zh-CN" altLang="en-US"/>
          </a:p>
        </p:txBody>
      </p:sp>
    </p:spTree>
    <p:extLst>
      <p:ext uri="{BB962C8B-B14F-4D97-AF65-F5344CB8AC3E}">
        <p14:creationId xmlns:p14="http://schemas.microsoft.com/office/powerpoint/2010/main" val="3515116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1CD42EE-9A2F-6549-A767-39D7668DB8A1}" type="datetimeFigureOut">
              <a:rPr kumimoji="1" lang="zh-CN" altLang="en-US" smtClean="0"/>
              <a:t>2026/10/15</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6C58E861-F197-6948-9895-EAB22D790C3F}" type="slidenum">
              <a:rPr kumimoji="1" lang="zh-CN" altLang="en-US" smtClean="0"/>
              <a:t>‹#›</a:t>
            </a:fld>
            <a:endParaRPr kumimoji="1" lang="zh-CN" altLang="en-US"/>
          </a:p>
        </p:txBody>
      </p:sp>
    </p:spTree>
    <p:extLst>
      <p:ext uri="{BB962C8B-B14F-4D97-AF65-F5344CB8AC3E}">
        <p14:creationId xmlns:p14="http://schemas.microsoft.com/office/powerpoint/2010/main" val="3559926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CD42EE-9A2F-6549-A767-39D7668DB8A1}" type="datetimeFigureOut">
              <a:rPr kumimoji="1" lang="zh-CN" altLang="en-US" smtClean="0"/>
              <a:t>2026/10/15</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6C58E861-F197-6948-9895-EAB22D790C3F}" type="slidenum">
              <a:rPr kumimoji="1" lang="zh-CN" altLang="en-US" smtClean="0"/>
              <a:t>‹#›</a:t>
            </a:fld>
            <a:endParaRPr kumimoji="1" lang="zh-CN" altLang="en-US"/>
          </a:p>
        </p:txBody>
      </p:sp>
    </p:spTree>
    <p:extLst>
      <p:ext uri="{BB962C8B-B14F-4D97-AF65-F5344CB8AC3E}">
        <p14:creationId xmlns:p14="http://schemas.microsoft.com/office/powerpoint/2010/main" val="47565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1CD42EE-9A2F-6549-A767-39D7668DB8A1}" type="datetimeFigureOut">
              <a:rPr kumimoji="1" lang="zh-CN" altLang="en-US" smtClean="0"/>
              <a:t>2026/10/15</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6C58E861-F197-6948-9895-EAB22D790C3F}" type="slidenum">
              <a:rPr kumimoji="1" lang="zh-CN" altLang="en-US" smtClean="0"/>
              <a:t>‹#›</a:t>
            </a:fld>
            <a:endParaRPr kumimoji="1" lang="zh-CN" altLang="en-US"/>
          </a:p>
        </p:txBody>
      </p:sp>
    </p:spTree>
    <p:extLst>
      <p:ext uri="{BB962C8B-B14F-4D97-AF65-F5344CB8AC3E}">
        <p14:creationId xmlns:p14="http://schemas.microsoft.com/office/powerpoint/2010/main" val="605612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1CD42EE-9A2F-6549-A767-39D7668DB8A1}" type="datetimeFigureOut">
              <a:rPr kumimoji="1" lang="zh-CN" altLang="en-US" smtClean="0"/>
              <a:t>2026/10/15</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6C58E861-F197-6948-9895-EAB22D790C3F}" type="slidenum">
              <a:rPr kumimoji="1" lang="zh-CN" altLang="en-US" smtClean="0"/>
              <a:t>‹#›</a:t>
            </a:fld>
            <a:endParaRPr kumimoji="1" lang="zh-CN" altLang="en-US"/>
          </a:p>
        </p:txBody>
      </p:sp>
    </p:spTree>
    <p:extLst>
      <p:ext uri="{BB962C8B-B14F-4D97-AF65-F5344CB8AC3E}">
        <p14:creationId xmlns:p14="http://schemas.microsoft.com/office/powerpoint/2010/main" val="3581310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1CD42EE-9A2F-6549-A767-39D7668DB8A1}" type="datetimeFigureOut">
              <a:rPr kumimoji="1" lang="zh-CN" altLang="en-US" smtClean="0"/>
              <a:t>2026/10/15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6C58E861-F197-6948-9895-EAB22D790C3F}" type="slidenum">
              <a:rPr kumimoji="1" lang="zh-CN" altLang="en-US" smtClean="0"/>
              <a:t>‹#›</a:t>
            </a:fld>
            <a:endParaRPr kumimoji="1" lang="zh-CN" altLang="en-US"/>
          </a:p>
        </p:txBody>
      </p:sp>
    </p:spTree>
    <p:extLst>
      <p:ext uri="{BB962C8B-B14F-4D97-AF65-F5344CB8AC3E}">
        <p14:creationId xmlns:p14="http://schemas.microsoft.com/office/powerpoint/2010/main" val="2298381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1CD42EE-9A2F-6549-A767-39D7668DB8A1}" type="datetimeFigureOut">
              <a:rPr kumimoji="1" lang="zh-CN" altLang="en-US" smtClean="0"/>
              <a:t>2026/10/15</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6C58E861-F197-6948-9895-EAB22D790C3F}" type="slidenum">
              <a:rPr kumimoji="1" lang="zh-CN" altLang="en-US" smtClean="0"/>
              <a:t>‹#›</a:t>
            </a:fld>
            <a:endParaRPr kumimoji="1" lang="zh-CN" altLang="en-US"/>
          </a:p>
        </p:txBody>
      </p:sp>
    </p:spTree>
    <p:extLst>
      <p:ext uri="{BB962C8B-B14F-4D97-AF65-F5344CB8AC3E}">
        <p14:creationId xmlns:p14="http://schemas.microsoft.com/office/powerpoint/2010/main" val="14183807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799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CD42EE-9A2F-6549-A767-39D7668DB8A1}" type="datetimeFigureOut">
              <a:rPr kumimoji="1" lang="zh-CN" altLang="en-US" smtClean="0"/>
              <a:t>2026/10/15</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58E861-F197-6948-9895-EAB22D790C3F}" type="slidenum">
              <a:rPr kumimoji="1" lang="zh-CN" altLang="en-US" smtClean="0"/>
              <a:t>‹#›</a:t>
            </a:fld>
            <a:endParaRPr kumimoji="1" lang="zh-CN" altLang="en-US"/>
          </a:p>
        </p:txBody>
      </p:sp>
    </p:spTree>
    <p:extLst>
      <p:ext uri="{BB962C8B-B14F-4D97-AF65-F5344CB8AC3E}">
        <p14:creationId xmlns:p14="http://schemas.microsoft.com/office/powerpoint/2010/main" val="155069297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0.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0.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01">
            <a:extLst>
              <a:ext uri="{FF2B5EF4-FFF2-40B4-BE49-F238E27FC236}">
                <a16:creationId xmlns:a16="http://schemas.microsoft.com/office/drawing/2014/main" id="{7121AEEC-B46E-49C9-879C-0A457816B9D8}"/>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01</a:t>
            </a:r>
          </a:p>
        </p:txBody>
      </p:sp>
      <p:sp>
        <p:nvSpPr>
          <p:cNvPr id="6" name="慢性病进展的医学影像预测">
            <a:extLst>
              <a:ext uri="{FF2B5EF4-FFF2-40B4-BE49-F238E27FC236}">
                <a16:creationId xmlns:a16="http://schemas.microsoft.com/office/drawing/2014/main" id="{9902F849-6584-492F-9B0E-9838DDD53707}"/>
              </a:ext>
            </a:extLst>
          </p:cNvPr>
          <p:cNvSpPr>
            <a:spLocks noGrp="1"/>
          </p:cNvSpPr>
          <p:nvPr/>
        </p:nvSpPr>
        <p:spPr>
          <a:xfrm>
            <a:off x="4135012" y="5817452"/>
            <a:ext cx="10477500" cy="533400"/>
          </a:xfrm>
          <a:prstGeom prst="rect">
            <a:avLst/>
          </a:prstGeom>
          <a:noFill/>
          <a:ln w="0">
            <a:noFill/>
          </a:ln>
        </p:spPr>
        <p:txBody>
          <a:bodyPr wrap="square" lIns="0" tIns="0" rIns="0" bIns="0" anchor="t">
            <a:noAutofit/>
          </a:bodyPr>
          <a:lstStyle>
            <a:defPPr>
              <a:defRPr sz="2550" b="0">
                <a:solidFill>
                  <a:srgbClr val="356DA7"/>
                </a:solidFill>
                <a:latin typeface="Noto Sans CJK SC"/>
                <a:ea typeface="Noto Sans CJK SC"/>
                <a:cs typeface="Noto Sans CJK SC"/>
              </a:defRPr>
            </a:defPPr>
          </a:lstStyle>
          <a:p>
            <a:pPr>
              <a:buNone/>
              <a:defRPr sz="2550" b="0">
                <a:solidFill>
                  <a:srgbClr val="356DA7"/>
                </a:solidFill>
                <a:latin typeface="Noto Sans CJK SC"/>
                <a:ea typeface="Noto Sans CJK SC"/>
                <a:cs typeface="Noto Sans CJK SC"/>
              </a:defRPr>
            </a:pPr>
            <a:r>
              <a:rPr sz="2000" b="0" dirty="0" err="1">
                <a:solidFill>
                  <a:srgbClr val="356DA7"/>
                </a:solidFill>
                <a:latin typeface="Noto Sans CJK SC"/>
                <a:ea typeface="Noto Sans CJK SC"/>
                <a:cs typeface="Noto Sans CJK SC"/>
              </a:rPr>
              <a:t>慢性病进展的医学影像预测</a:t>
            </a:r>
            <a:endParaRPr sz="2000" b="0" dirty="0">
              <a:solidFill>
                <a:srgbClr val="356DA7"/>
              </a:solidFill>
              <a:latin typeface="Noto Sans CJK SC"/>
              <a:ea typeface="Noto Sans CJK SC"/>
              <a:cs typeface="Noto Sans CJK SC"/>
            </a:endParaRPr>
          </a:p>
        </p:txBody>
      </p:sp>
      <p:sp>
        <p:nvSpPr>
          <p:cNvPr id="7" name="Yuxiang Feng, Juncheng Wang, et al.&#10;ECCV">
            <a:extLst>
              <a:ext uri="{FF2B5EF4-FFF2-40B4-BE49-F238E27FC236}">
                <a16:creationId xmlns:a16="http://schemas.microsoft.com/office/drawing/2014/main" id="{79188CAA-E972-44D8-B183-9D3A7600664B}"/>
              </a:ext>
            </a:extLst>
          </p:cNvPr>
          <p:cNvSpPr>
            <a:spLocks noGrp="1"/>
          </p:cNvSpPr>
          <p:nvPr/>
        </p:nvSpPr>
        <p:spPr>
          <a:xfrm>
            <a:off x="5081239" y="5146985"/>
            <a:ext cx="1252654" cy="781050"/>
          </a:xfrm>
          <a:prstGeom prst="rect">
            <a:avLst/>
          </a:prstGeom>
          <a:noFill/>
          <a:ln w="0">
            <a:noFill/>
          </a:ln>
        </p:spPr>
        <p:txBody>
          <a:bodyPr wrap="square" lIns="0" tIns="0" rIns="0" bIns="0" anchor="t">
            <a:noAutofit/>
          </a:bodyPr>
          <a:lstStyle>
            <a:defPPr>
              <a:defRPr sz="1875" b="0">
                <a:solidFill>
                  <a:srgbClr val="68758A"/>
                </a:solidFill>
                <a:latin typeface="Noto Sans CJK SC"/>
                <a:ea typeface="Noto Sans CJK SC"/>
                <a:cs typeface="Noto Sans CJK SC"/>
              </a:defRPr>
            </a:defPPr>
          </a:lstStyle>
          <a:p>
            <a:pPr>
              <a:buNone/>
              <a:defRPr sz="1875" b="0">
                <a:solidFill>
                  <a:srgbClr val="68758A"/>
                </a:solidFill>
                <a:latin typeface="Noto Sans CJK SC"/>
                <a:ea typeface="Noto Sans CJK SC"/>
                <a:cs typeface="Noto Sans CJK SC"/>
              </a:defRPr>
            </a:pPr>
            <a:r>
              <a:rPr sz="1875" b="0" dirty="0">
                <a:solidFill>
                  <a:srgbClr val="68758A"/>
                </a:solidFill>
                <a:latin typeface="Noto Sans CJK SC"/>
                <a:ea typeface="Noto Sans CJK SC"/>
                <a:cs typeface="Noto Sans CJK SC"/>
              </a:rPr>
              <a:t>ECCV 2026</a:t>
            </a:r>
          </a:p>
        </p:txBody>
      </p:sp>
      <p:pic>
        <p:nvPicPr>
          <p:cNvPr id="4" name="图片 3">
            <a:extLst>
              <a:ext uri="{FF2B5EF4-FFF2-40B4-BE49-F238E27FC236}">
                <a16:creationId xmlns:a16="http://schemas.microsoft.com/office/drawing/2014/main" id="{EFB5AA85-190A-E0FF-F063-E170C6BA8DBF}"/>
              </a:ext>
            </a:extLst>
          </p:cNvPr>
          <p:cNvPicPr>
            <a:picLocks noChangeAspect="1"/>
          </p:cNvPicPr>
          <p:nvPr/>
        </p:nvPicPr>
        <p:blipFill>
          <a:blip r:embed="rId3"/>
          <a:stretch>
            <a:fillRect/>
          </a:stretch>
        </p:blipFill>
        <p:spPr>
          <a:xfrm>
            <a:off x="2545266" y="1140899"/>
            <a:ext cx="6324600" cy="3691309"/>
          </a:xfrm>
          <a:prstGeom prst="rect">
            <a:avLst/>
          </a:prstGeom>
        </p:spPr>
      </p:pic>
    </p:spTree>
    <p:extLst>
      <p:ext uri="{BB962C8B-B14F-4D97-AF65-F5344CB8AC3E}">
        <p14:creationId xmlns:p14="http://schemas.microsoft.com/office/powerpoint/2010/main" val="1610257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02">
            <a:extLst>
              <a:ext uri="{FF2B5EF4-FFF2-40B4-BE49-F238E27FC236}">
                <a16:creationId xmlns:a16="http://schemas.microsoft.com/office/drawing/2014/main" id="{0771B24F-6618-4CBA-B3DA-5FB5E6C4337F}"/>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02</a:t>
            </a:r>
          </a:p>
        </p:txBody>
      </p:sp>
      <p:sp>
        <p:nvSpPr>
          <p:cNvPr id="3" name="背景：慢性退变中的未来影像预测">
            <a:extLst>
              <a:ext uri="{FF2B5EF4-FFF2-40B4-BE49-F238E27FC236}">
                <a16:creationId xmlns:a16="http://schemas.microsoft.com/office/drawing/2014/main" id="{AB6EC4FD-2922-4F50-BC60-802195561F55}"/>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a:solidFill>
                  <a:srgbClr val="19263E"/>
                </a:solidFill>
                <a:latin typeface="Noto Sans CJK SC"/>
                <a:ea typeface="Noto Sans CJK SC"/>
                <a:cs typeface="Noto Sans CJK SC"/>
              </a:rPr>
              <a:t>背景</a:t>
            </a:r>
          </a:p>
        </p:txBody>
      </p:sp>
      <p:sp>
        <p:nvSpPr>
          <p:cNvPr id="5" name="临床任务">
            <a:extLst>
              <a:ext uri="{FF2B5EF4-FFF2-40B4-BE49-F238E27FC236}">
                <a16:creationId xmlns:a16="http://schemas.microsoft.com/office/drawing/2014/main" id="{725E5131-58AD-434B-A835-A9BFC103312A}"/>
              </a:ext>
            </a:extLst>
          </p:cNvPr>
          <p:cNvSpPr>
            <a:spLocks noGrp="1"/>
          </p:cNvSpPr>
          <p:nvPr/>
        </p:nvSpPr>
        <p:spPr>
          <a:xfrm>
            <a:off x="609600" y="1619250"/>
            <a:ext cx="5381625" cy="342900"/>
          </a:xfrm>
          <a:prstGeom prst="rect">
            <a:avLst/>
          </a:prstGeom>
          <a:noFill/>
          <a:ln w="0">
            <a:noFill/>
          </a:ln>
        </p:spPr>
        <p:txBody>
          <a:bodyPr wrap="square" lIns="0" tIns="0" rIns="0" bIns="0" anchor="t">
            <a:noAutofit/>
          </a:bodyPr>
          <a:lstStyle>
            <a:defPPr>
              <a:defRPr sz="1950" b="1">
                <a:solidFill>
                  <a:srgbClr val="356DA7"/>
                </a:solidFill>
                <a:latin typeface="Noto Sans CJK SC"/>
                <a:ea typeface="Noto Sans CJK SC"/>
                <a:cs typeface="Noto Sans CJK SC"/>
              </a:defRPr>
            </a:defPPr>
          </a:lstStyle>
          <a:p>
            <a:pPr>
              <a:buNone/>
              <a:defRPr sz="1950" b="1">
                <a:solidFill>
                  <a:srgbClr val="356DA7"/>
                </a:solidFill>
                <a:latin typeface="Noto Sans CJK SC"/>
                <a:ea typeface="Noto Sans CJK SC"/>
                <a:cs typeface="Noto Sans CJK SC"/>
              </a:defRPr>
            </a:pPr>
            <a:r>
              <a:rPr sz="1950" b="1">
                <a:solidFill>
                  <a:srgbClr val="356DA7"/>
                </a:solidFill>
                <a:latin typeface="Noto Sans CJK SC"/>
                <a:ea typeface="Noto Sans CJK SC"/>
                <a:cs typeface="Noto Sans CJK SC"/>
              </a:rPr>
              <a:t>临床任务</a:t>
            </a:r>
          </a:p>
        </p:txBody>
      </p:sp>
      <p:sp>
        <p:nvSpPr>
          <p:cNvPr id="6" name="根据当前 MRI 与随访间隔，生成患者未来的解剖影像，观察可能出现的局部退变。">
            <a:extLst>
              <a:ext uri="{FF2B5EF4-FFF2-40B4-BE49-F238E27FC236}">
                <a16:creationId xmlns:a16="http://schemas.microsoft.com/office/drawing/2014/main" id="{31588A20-54D4-4379-952E-45A82D5941D9}"/>
              </a:ext>
            </a:extLst>
          </p:cNvPr>
          <p:cNvSpPr>
            <a:spLocks noGrp="1"/>
          </p:cNvSpPr>
          <p:nvPr/>
        </p:nvSpPr>
        <p:spPr>
          <a:xfrm>
            <a:off x="609600" y="2028825"/>
            <a:ext cx="5381625" cy="885825"/>
          </a:xfrm>
          <a:prstGeom prst="rect">
            <a:avLst/>
          </a:prstGeom>
          <a:noFill/>
          <a:ln w="0">
            <a:noFill/>
          </a:ln>
        </p:spPr>
        <p:txBody>
          <a:bodyPr wrap="square" lIns="0" tIns="0" rIns="0" bIns="0" anchor="t">
            <a:noAutofit/>
          </a:bodyPr>
          <a:lstStyle>
            <a:defPPr>
              <a:defRPr sz="1875" b="0">
                <a:solidFill>
                  <a:srgbClr val="19263E"/>
                </a:solidFill>
                <a:latin typeface="Noto Sans CJK SC"/>
                <a:ea typeface="Noto Sans CJK SC"/>
                <a:cs typeface="Noto Sans CJK SC"/>
              </a:defRPr>
            </a:defPPr>
          </a:lstStyle>
          <a:p>
            <a:pPr>
              <a:buNone/>
              <a:defRPr sz="1875" b="0">
                <a:solidFill>
                  <a:srgbClr val="19263E"/>
                </a:solidFill>
                <a:latin typeface="Noto Sans CJK SC"/>
                <a:ea typeface="Noto Sans CJK SC"/>
                <a:cs typeface="Noto Sans CJK SC"/>
              </a:defRPr>
            </a:pPr>
            <a:r>
              <a:rPr sz="1875" b="0" dirty="0" err="1">
                <a:solidFill>
                  <a:srgbClr val="19263E"/>
                </a:solidFill>
                <a:latin typeface="Noto Sans CJK SC"/>
                <a:ea typeface="Noto Sans CJK SC"/>
                <a:cs typeface="Noto Sans CJK SC"/>
              </a:rPr>
              <a:t>根据当前</a:t>
            </a:r>
            <a:r>
              <a:rPr sz="1875" b="0" dirty="0">
                <a:solidFill>
                  <a:srgbClr val="19263E"/>
                </a:solidFill>
                <a:latin typeface="Noto Sans CJK SC"/>
                <a:ea typeface="Noto Sans CJK SC"/>
                <a:cs typeface="Noto Sans CJK SC"/>
              </a:rPr>
              <a:t> MRI </a:t>
            </a:r>
            <a:r>
              <a:rPr sz="1875" b="0" dirty="0" err="1">
                <a:solidFill>
                  <a:srgbClr val="19263E"/>
                </a:solidFill>
                <a:latin typeface="Noto Sans CJK SC"/>
                <a:ea typeface="Noto Sans CJK SC"/>
                <a:cs typeface="Noto Sans CJK SC"/>
              </a:rPr>
              <a:t>与随访间隔，生成患者未来的解剖影像</a:t>
            </a:r>
            <a:endParaRPr sz="1875" b="0" dirty="0">
              <a:solidFill>
                <a:srgbClr val="19263E"/>
              </a:solidFill>
              <a:latin typeface="Noto Sans CJK SC"/>
              <a:ea typeface="Noto Sans CJK SC"/>
              <a:cs typeface="Noto Sans CJK SC"/>
            </a:endParaRPr>
          </a:p>
        </p:txBody>
      </p:sp>
      <p:sp>
        <p:nvSpPr>
          <p:cNvPr id="7" name="数据特点">
            <a:extLst>
              <a:ext uri="{FF2B5EF4-FFF2-40B4-BE49-F238E27FC236}">
                <a16:creationId xmlns:a16="http://schemas.microsoft.com/office/drawing/2014/main" id="{D6255959-AC03-4040-A501-9A83033D7B4B}"/>
              </a:ext>
            </a:extLst>
          </p:cNvPr>
          <p:cNvSpPr>
            <a:spLocks noGrp="1"/>
          </p:cNvSpPr>
          <p:nvPr/>
        </p:nvSpPr>
        <p:spPr>
          <a:xfrm>
            <a:off x="609600" y="3124200"/>
            <a:ext cx="5381625" cy="342900"/>
          </a:xfrm>
          <a:prstGeom prst="rect">
            <a:avLst/>
          </a:prstGeom>
          <a:noFill/>
          <a:ln w="0">
            <a:noFill/>
          </a:ln>
        </p:spPr>
        <p:txBody>
          <a:bodyPr wrap="square" lIns="0" tIns="0" rIns="0" bIns="0" anchor="t">
            <a:noAutofit/>
          </a:bodyPr>
          <a:lstStyle>
            <a:defPPr>
              <a:defRPr sz="1950" b="1">
                <a:solidFill>
                  <a:srgbClr val="356DA7"/>
                </a:solidFill>
                <a:latin typeface="Noto Sans CJK SC"/>
                <a:ea typeface="Noto Sans CJK SC"/>
                <a:cs typeface="Noto Sans CJK SC"/>
              </a:defRPr>
            </a:defPPr>
          </a:lstStyle>
          <a:p>
            <a:pPr>
              <a:buNone/>
              <a:defRPr sz="1950" b="1">
                <a:solidFill>
                  <a:srgbClr val="356DA7"/>
                </a:solidFill>
                <a:latin typeface="Noto Sans CJK SC"/>
                <a:ea typeface="Noto Sans CJK SC"/>
                <a:cs typeface="Noto Sans CJK SC"/>
              </a:defRPr>
            </a:pPr>
            <a:r>
              <a:rPr lang="zh-CN" altLang="en-US" sz="1950" b="1" dirty="0">
                <a:solidFill>
                  <a:srgbClr val="356DA7"/>
                </a:solidFill>
                <a:latin typeface="Noto Sans CJK SC"/>
                <a:ea typeface="Noto Sans CJK SC"/>
                <a:cs typeface="Noto Sans CJK SC"/>
              </a:rPr>
              <a:t>医学</a:t>
            </a:r>
            <a:r>
              <a:rPr sz="1950" b="1" dirty="0" err="1">
                <a:solidFill>
                  <a:srgbClr val="356DA7"/>
                </a:solidFill>
                <a:latin typeface="Noto Sans CJK SC"/>
                <a:ea typeface="Noto Sans CJK SC"/>
                <a:cs typeface="Noto Sans CJK SC"/>
              </a:rPr>
              <a:t>数据特点</a:t>
            </a:r>
            <a:endParaRPr sz="1950" b="1" dirty="0">
              <a:solidFill>
                <a:srgbClr val="356DA7"/>
              </a:solidFill>
              <a:latin typeface="Noto Sans CJK SC"/>
              <a:ea typeface="Noto Sans CJK SC"/>
              <a:cs typeface="Noto Sans CJK SC"/>
            </a:endParaRPr>
          </a:p>
        </p:txBody>
      </p:sp>
      <p:sp>
        <p:nvSpPr>
          <p:cNvPr id="8" name="疾病进展缓慢，前后影像的主体结构高度相似。真正需要预测的变化只占很小一部分。">
            <a:extLst>
              <a:ext uri="{FF2B5EF4-FFF2-40B4-BE49-F238E27FC236}">
                <a16:creationId xmlns:a16="http://schemas.microsoft.com/office/drawing/2014/main" id="{413BB19B-3D1E-4DF8-A5A7-5F8082100E2D}"/>
              </a:ext>
            </a:extLst>
          </p:cNvPr>
          <p:cNvSpPr>
            <a:spLocks noGrp="1"/>
          </p:cNvSpPr>
          <p:nvPr/>
        </p:nvSpPr>
        <p:spPr>
          <a:xfrm>
            <a:off x="609600" y="3533775"/>
            <a:ext cx="5381625" cy="895350"/>
          </a:xfrm>
          <a:prstGeom prst="rect">
            <a:avLst/>
          </a:prstGeom>
          <a:noFill/>
          <a:ln w="0">
            <a:noFill/>
          </a:ln>
        </p:spPr>
        <p:txBody>
          <a:bodyPr wrap="square" lIns="0" tIns="0" rIns="0" bIns="0" anchor="t">
            <a:noAutofit/>
          </a:bodyPr>
          <a:lstStyle>
            <a:defPPr>
              <a:defRPr sz="1875" b="0">
                <a:solidFill>
                  <a:srgbClr val="19263E"/>
                </a:solidFill>
                <a:latin typeface="Noto Sans CJK SC"/>
                <a:ea typeface="Noto Sans CJK SC"/>
                <a:cs typeface="Noto Sans CJK SC"/>
              </a:defRPr>
            </a:defPPr>
          </a:lstStyle>
          <a:p>
            <a:pPr>
              <a:buNone/>
              <a:defRPr sz="1875" b="0">
                <a:solidFill>
                  <a:srgbClr val="19263E"/>
                </a:solidFill>
                <a:latin typeface="Noto Sans CJK SC"/>
                <a:ea typeface="Noto Sans CJK SC"/>
                <a:cs typeface="Noto Sans CJK SC"/>
              </a:defRPr>
            </a:pPr>
            <a:r>
              <a:rPr sz="1875" b="0">
                <a:solidFill>
                  <a:srgbClr val="19263E"/>
                </a:solidFill>
                <a:latin typeface="Noto Sans CJK SC"/>
                <a:ea typeface="Noto Sans CJK SC"/>
                <a:cs typeface="Noto Sans CJK SC"/>
              </a:rPr>
              <a:t>疾病进展缓慢，前后影像的主体结构高度相似。真正需要预测的变化只占很小一部分。</a:t>
            </a:r>
          </a:p>
        </p:txBody>
      </p:sp>
      <p:sp>
        <p:nvSpPr>
          <p:cNvPr id="9" name="评价困难">
            <a:extLst>
              <a:ext uri="{FF2B5EF4-FFF2-40B4-BE49-F238E27FC236}">
                <a16:creationId xmlns:a16="http://schemas.microsoft.com/office/drawing/2014/main" id="{66E0EE10-4BFD-44B9-B9B6-1DEB11812E4C}"/>
              </a:ext>
            </a:extLst>
          </p:cNvPr>
          <p:cNvSpPr>
            <a:spLocks noGrp="1"/>
          </p:cNvSpPr>
          <p:nvPr/>
        </p:nvSpPr>
        <p:spPr>
          <a:xfrm>
            <a:off x="609600" y="4648200"/>
            <a:ext cx="5381625" cy="342900"/>
          </a:xfrm>
          <a:prstGeom prst="rect">
            <a:avLst/>
          </a:prstGeom>
          <a:noFill/>
          <a:ln w="0">
            <a:noFill/>
          </a:ln>
        </p:spPr>
        <p:txBody>
          <a:bodyPr wrap="square" lIns="0" tIns="0" rIns="0" bIns="0" anchor="t">
            <a:noAutofit/>
          </a:bodyPr>
          <a:lstStyle>
            <a:defPPr>
              <a:defRPr sz="1950" b="1">
                <a:solidFill>
                  <a:srgbClr val="356DA7"/>
                </a:solidFill>
                <a:latin typeface="Noto Sans CJK SC"/>
                <a:ea typeface="Noto Sans CJK SC"/>
                <a:cs typeface="Noto Sans CJK SC"/>
              </a:defRPr>
            </a:defPPr>
          </a:lstStyle>
          <a:p>
            <a:pPr>
              <a:buNone/>
              <a:defRPr sz="1950" b="1">
                <a:solidFill>
                  <a:srgbClr val="356DA7"/>
                </a:solidFill>
                <a:latin typeface="Noto Sans CJK SC"/>
                <a:ea typeface="Noto Sans CJK SC"/>
                <a:cs typeface="Noto Sans CJK SC"/>
              </a:defRPr>
            </a:pPr>
            <a:r>
              <a:rPr sz="1950" b="1">
                <a:solidFill>
                  <a:srgbClr val="356DA7"/>
                </a:solidFill>
                <a:latin typeface="Noto Sans CJK SC"/>
                <a:ea typeface="Noto Sans CJK SC"/>
                <a:cs typeface="Noto Sans CJK SC"/>
              </a:rPr>
              <a:t>评价困难</a:t>
            </a:r>
          </a:p>
        </p:txBody>
      </p:sp>
      <p:sp>
        <p:nvSpPr>
          <p:cNvPr id="10" name="整张影像相似度较高，可能只是保留了当前结构。需要额外检查变化区域与临床信息。">
            <a:extLst>
              <a:ext uri="{FF2B5EF4-FFF2-40B4-BE49-F238E27FC236}">
                <a16:creationId xmlns:a16="http://schemas.microsoft.com/office/drawing/2014/main" id="{13D77F1C-D1F2-4569-9633-4998CE1447BF}"/>
              </a:ext>
            </a:extLst>
          </p:cNvPr>
          <p:cNvSpPr>
            <a:spLocks noGrp="1"/>
          </p:cNvSpPr>
          <p:nvPr/>
        </p:nvSpPr>
        <p:spPr>
          <a:xfrm>
            <a:off x="609600" y="5057775"/>
            <a:ext cx="5381625" cy="876300"/>
          </a:xfrm>
          <a:prstGeom prst="rect">
            <a:avLst/>
          </a:prstGeom>
          <a:noFill/>
          <a:ln w="0">
            <a:noFill/>
          </a:ln>
        </p:spPr>
        <p:txBody>
          <a:bodyPr wrap="none" lIns="0" tIns="0" rIns="0" bIns="0" anchor="t">
            <a:noAutofit/>
          </a:bodyPr>
          <a:lstStyle>
            <a:defPPr algn="l">
              <a:defRPr sz="1875" b="0">
                <a:solidFill>
                  <a:srgbClr val="19263E"/>
                </a:solidFill>
                <a:latin typeface="Noto Sans CJK SC"/>
                <a:ea typeface="Noto Sans CJK SC"/>
                <a:cs typeface="Noto Sans CJK SC"/>
              </a:defRPr>
            </a:defPPr>
          </a:lstStyle>
          <a:p>
            <a:pPr algn="l">
              <a:buNone/>
              <a:defRPr sz="1875" b="0">
                <a:solidFill>
                  <a:srgbClr val="19263E"/>
                </a:solidFill>
                <a:latin typeface="Noto Sans CJK SC"/>
                <a:ea typeface="Noto Sans CJK SC"/>
                <a:cs typeface="Noto Sans CJK SC"/>
              </a:defRPr>
            </a:pPr>
            <a:r>
              <a:rPr sz="1875" b="0">
                <a:solidFill>
                  <a:srgbClr val="19263E"/>
                </a:solidFill>
                <a:latin typeface="Noto Sans CJK SC"/>
                <a:ea typeface="Noto Sans CJK SC"/>
                <a:cs typeface="Noto Sans CJK SC"/>
              </a:rPr>
              <a:t>影像相似度高，可能只是因为模型保留了当前结</a:t>
            </a:r>
          </a:p>
          <a:p>
            <a:pPr algn="l">
              <a:buNone/>
              <a:defRPr sz="1875" b="0">
                <a:solidFill>
                  <a:srgbClr val="19263E"/>
                </a:solidFill>
                <a:latin typeface="Noto Sans CJK SC"/>
                <a:ea typeface="Noto Sans CJK SC"/>
                <a:cs typeface="Noto Sans CJK SC"/>
              </a:defRPr>
            </a:pPr>
            <a:r>
              <a:rPr sz="1875" b="0">
                <a:solidFill>
                  <a:srgbClr val="19263E"/>
                </a:solidFill>
                <a:latin typeface="Noto Sans CJK SC"/>
                <a:ea typeface="Noto Sans CJK SC"/>
                <a:cs typeface="Noto Sans CJK SC"/>
              </a:rPr>
              <a:t>构。还需要看病变区域是否预测准确，以及临床指</a:t>
            </a:r>
          </a:p>
          <a:p>
            <a:pPr algn="l">
              <a:buNone/>
              <a:defRPr sz="1875" b="0">
                <a:solidFill>
                  <a:srgbClr val="19263E"/>
                </a:solidFill>
                <a:latin typeface="Noto Sans CJK SC"/>
                <a:ea typeface="Noto Sans CJK SC"/>
                <a:cs typeface="Noto Sans CJK SC"/>
              </a:defRPr>
            </a:pPr>
            <a:r>
              <a:rPr sz="1875" b="0">
                <a:solidFill>
                  <a:srgbClr val="19263E"/>
                </a:solidFill>
                <a:latin typeface="Noto Sans CJK SC"/>
                <a:ea typeface="Noto Sans CJK SC"/>
                <a:cs typeface="Noto Sans CJK SC"/>
              </a:rPr>
              <a:t>标是否一致。</a:t>
            </a:r>
          </a:p>
        </p:txBody>
      </p:sp>
      <p:pic>
        <p:nvPicPr>
          <p:cNvPr id="11" name="图片 10">
            <a:extLst>
              <a:ext uri="{FF2B5EF4-FFF2-40B4-BE49-F238E27FC236}">
                <a16:creationId xmlns:a16="http://schemas.microsoft.com/office/drawing/2014/main" id="{410B7591-FAEA-4DD9-9769-269CB304E715}"/>
              </a:ext>
            </a:extLst>
          </p:cNvPr>
          <p:cNvPicPr>
            <a:picLocks noChangeAspect="1"/>
          </p:cNvPicPr>
          <p:nvPr/>
        </p:nvPicPr>
        <p:blipFill>
          <a:blip r:embed="rId3"/>
          <a:stretch/>
        </p:blipFill>
        <p:spPr>
          <a:xfrm>
            <a:off x="6429375" y="2266636"/>
            <a:ext cx="5095875" cy="2258052"/>
          </a:xfrm>
          <a:prstGeom prst="rect">
            <a:avLst/>
          </a:prstGeom>
        </p:spPr>
      </p:pic>
    </p:spTree>
    <p:extLst>
      <p:ext uri="{BB962C8B-B14F-4D97-AF65-F5344CB8AC3E}">
        <p14:creationId xmlns:p14="http://schemas.microsoft.com/office/powerpoint/2010/main" val="562419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03">
            <a:extLst>
              <a:ext uri="{FF2B5EF4-FFF2-40B4-BE49-F238E27FC236}">
                <a16:creationId xmlns:a16="http://schemas.microsoft.com/office/drawing/2014/main" id="{6365ED45-6692-419C-8105-D864C00E1182}"/>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03</a:t>
            </a:r>
          </a:p>
        </p:txBody>
      </p:sp>
      <p:sp>
        <p:nvSpPr>
          <p:cNvPr id="3" name="问题分析：静态结构与拍摄扰动">
            <a:extLst>
              <a:ext uri="{FF2B5EF4-FFF2-40B4-BE49-F238E27FC236}">
                <a16:creationId xmlns:a16="http://schemas.microsoft.com/office/drawing/2014/main" id="{C6A2D1D1-9750-4A26-BE0F-6C0D5A794956}"/>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lang="zh-CN" altLang="en-US" sz="2925" b="1" dirty="0">
                <a:solidFill>
                  <a:srgbClr val="19263E"/>
                </a:solidFill>
                <a:latin typeface="Noto Sans CJK SC"/>
                <a:ea typeface="Noto Sans CJK SC"/>
                <a:cs typeface="Noto Sans CJK SC"/>
              </a:rPr>
              <a:t>医学图像预测的</a:t>
            </a:r>
            <a:r>
              <a:rPr sz="2925" b="1" dirty="0" err="1">
                <a:solidFill>
                  <a:srgbClr val="19263E"/>
                </a:solidFill>
                <a:latin typeface="Noto Sans CJK SC"/>
                <a:ea typeface="Noto Sans CJK SC"/>
                <a:cs typeface="Noto Sans CJK SC"/>
              </a:rPr>
              <a:t>问题</a:t>
            </a:r>
            <a:endParaRPr sz="2925" b="1" dirty="0">
              <a:solidFill>
                <a:srgbClr val="19263E"/>
              </a:solidFill>
              <a:latin typeface="Noto Sans CJK SC"/>
              <a:ea typeface="Noto Sans CJK SC"/>
              <a:cs typeface="Noto Sans CJK SC"/>
            </a:endParaRPr>
          </a:p>
        </p:txBody>
      </p:sp>
      <p:sp>
        <p:nvSpPr>
          <p:cNvPr id="4" name="静态结构占比很大">
            <a:extLst>
              <a:ext uri="{FF2B5EF4-FFF2-40B4-BE49-F238E27FC236}">
                <a16:creationId xmlns:a16="http://schemas.microsoft.com/office/drawing/2014/main" id="{F35816B7-95C6-43F1-AC58-CE9DFC40FFEE}"/>
              </a:ext>
            </a:extLst>
          </p:cNvPr>
          <p:cNvSpPr>
            <a:spLocks noGrp="1"/>
          </p:cNvSpPr>
          <p:nvPr/>
        </p:nvSpPr>
        <p:spPr>
          <a:xfrm>
            <a:off x="609600" y="1714500"/>
            <a:ext cx="10953750" cy="409575"/>
          </a:xfrm>
          <a:prstGeom prst="rect">
            <a:avLst/>
          </a:prstGeom>
          <a:noFill/>
          <a:ln w="0">
            <a:noFill/>
          </a:ln>
        </p:spPr>
        <p:txBody>
          <a:bodyPr wrap="none" lIns="0" tIns="0" rIns="0" bIns="0" anchor="t">
            <a:noAutofit/>
          </a:bodyPr>
          <a:lstStyle>
            <a:defPPr>
              <a:defRPr sz="2175" b="1">
                <a:solidFill>
                  <a:srgbClr val="356DA7"/>
                </a:solidFill>
                <a:latin typeface="Noto Sans CJK SC"/>
                <a:ea typeface="Noto Sans CJK SC"/>
                <a:cs typeface="Noto Sans CJK SC"/>
              </a:defRPr>
            </a:defPPr>
          </a:lstStyle>
          <a:p>
            <a:pPr>
              <a:defRPr sz="2175" b="1">
                <a:solidFill>
                  <a:srgbClr val="356DA7"/>
                </a:solidFill>
                <a:latin typeface="Noto Sans CJK SC"/>
                <a:ea typeface="Noto Sans CJK SC"/>
                <a:cs typeface="Noto Sans CJK SC"/>
              </a:defRPr>
            </a:pPr>
            <a:r>
              <a:rPr lang="en" altLang="zh-CN" sz="2175" b="1" dirty="0">
                <a:solidFill>
                  <a:srgbClr val="356DA7"/>
                </a:solidFill>
                <a:latin typeface="Noto Sans CJK SC"/>
              </a:rPr>
              <a:t>Identity collapse</a:t>
            </a:r>
            <a:r>
              <a:rPr lang="zh-CN" altLang="en-US" sz="2175" b="1" dirty="0">
                <a:solidFill>
                  <a:srgbClr val="356DA7"/>
                </a:solidFill>
                <a:latin typeface="Noto Sans CJK SC"/>
              </a:rPr>
              <a:t>  </a:t>
            </a:r>
            <a:r>
              <a:rPr sz="2175" b="1" dirty="0" err="1">
                <a:solidFill>
                  <a:srgbClr val="356DA7"/>
                </a:solidFill>
                <a:latin typeface="Noto Sans CJK SC"/>
                <a:ea typeface="Noto Sans CJK SC"/>
                <a:cs typeface="Noto Sans CJK SC"/>
              </a:rPr>
              <a:t>静态结构占比大</a:t>
            </a:r>
            <a:endParaRPr sz="2175" b="1" dirty="0">
              <a:solidFill>
                <a:srgbClr val="356DA7"/>
              </a:solidFill>
              <a:latin typeface="Noto Sans CJK SC"/>
              <a:ea typeface="Noto Sans CJK SC"/>
              <a:cs typeface="Noto Sans CJK SC"/>
            </a:endParaRPr>
          </a:p>
        </p:txBody>
      </p:sp>
      <p:sp>
        <p:nvSpPr>
          <p:cNvPr id="5" name="当前与未来 MRI 的大部分解剖结构相同，真正的病理变化很小。&#10;直接预测整张未来">
            <a:extLst>
              <a:ext uri="{FF2B5EF4-FFF2-40B4-BE49-F238E27FC236}">
                <a16:creationId xmlns:a16="http://schemas.microsoft.com/office/drawing/2014/main" id="{ED5871B6-1340-4755-B77A-8B8B65C874F9}"/>
              </a:ext>
            </a:extLst>
          </p:cNvPr>
          <p:cNvSpPr>
            <a:spLocks noGrp="1"/>
          </p:cNvSpPr>
          <p:nvPr/>
        </p:nvSpPr>
        <p:spPr>
          <a:xfrm>
            <a:off x="609600" y="2286000"/>
            <a:ext cx="7240859" cy="1381125"/>
          </a:xfrm>
          <a:prstGeom prst="rect">
            <a:avLst/>
          </a:prstGeom>
          <a:noFill/>
          <a:ln w="0">
            <a:noFill/>
          </a:ln>
        </p:spPr>
        <p:txBody>
          <a:bodyPr wrap="none" lIns="0" tIns="0" rIns="0" bIns="0" anchor="t">
            <a:noAutofit/>
          </a:bodyPr>
          <a:lstStyle>
            <a:defPPr>
              <a:defRPr sz="2025" b="0">
                <a:solidFill>
                  <a:srgbClr val="19263E"/>
                </a:solidFill>
                <a:latin typeface="Noto Sans CJK SC"/>
                <a:ea typeface="Noto Sans CJK SC"/>
                <a:cs typeface="Noto Sans CJK SC"/>
              </a:defRPr>
            </a:defPPr>
          </a:lstStyle>
          <a:p>
            <a:pPr>
              <a:defRPr sz="2025" b="0">
                <a:solidFill>
                  <a:srgbClr val="19263E"/>
                </a:solidFill>
                <a:latin typeface="Noto Sans CJK SC"/>
                <a:ea typeface="Noto Sans CJK SC"/>
                <a:cs typeface="Noto Sans CJK SC"/>
              </a:defRPr>
            </a:pPr>
            <a:r>
              <a:rPr sz="2025" b="0" dirty="0" err="1">
                <a:solidFill>
                  <a:srgbClr val="19263E"/>
                </a:solidFill>
                <a:latin typeface="Noto Sans CJK SC"/>
                <a:ea typeface="Noto Sans CJK SC"/>
                <a:cs typeface="Noto Sans CJK SC"/>
              </a:rPr>
              <a:t>当前与未来</a:t>
            </a:r>
            <a:r>
              <a:rPr sz="2025" b="0" dirty="0">
                <a:solidFill>
                  <a:srgbClr val="19263E"/>
                </a:solidFill>
                <a:latin typeface="Noto Sans CJK SC"/>
                <a:ea typeface="Noto Sans CJK SC"/>
                <a:cs typeface="Noto Sans CJK SC"/>
              </a:rPr>
              <a:t> MRI </a:t>
            </a:r>
            <a:r>
              <a:rPr sz="2025" b="0" dirty="0" err="1">
                <a:solidFill>
                  <a:srgbClr val="19263E"/>
                </a:solidFill>
                <a:latin typeface="Noto Sans CJK SC"/>
                <a:ea typeface="Noto Sans CJK SC"/>
                <a:cs typeface="Noto Sans CJK SC"/>
              </a:rPr>
              <a:t>的大部分解剖结构相同，真正的病理变化很小</a:t>
            </a:r>
            <a:r>
              <a:rPr sz="2025" b="0" dirty="0">
                <a:solidFill>
                  <a:srgbClr val="19263E"/>
                </a:solidFill>
                <a:latin typeface="Noto Sans CJK SC"/>
                <a:ea typeface="Noto Sans CJK SC"/>
                <a:cs typeface="Noto Sans CJK SC"/>
              </a:rPr>
              <a:t>。</a:t>
            </a:r>
          </a:p>
          <a:p>
            <a:pPr>
              <a:defRPr sz="2025" b="0">
                <a:solidFill>
                  <a:srgbClr val="19263E"/>
                </a:solidFill>
                <a:latin typeface="Noto Sans CJK SC"/>
                <a:ea typeface="Noto Sans CJK SC"/>
                <a:cs typeface="Noto Sans CJK SC"/>
              </a:defRPr>
            </a:pPr>
            <a:r>
              <a:rPr sz="2025" b="0" dirty="0" err="1">
                <a:solidFill>
                  <a:srgbClr val="19263E"/>
                </a:solidFill>
                <a:latin typeface="Noto Sans CJK SC"/>
                <a:ea typeface="Noto Sans CJK SC"/>
                <a:cs typeface="Noto Sans CJK SC"/>
              </a:rPr>
              <a:t>直接预测整张未来影像时，模型可能主要学会保留已有结构，而忽略疾病进展</a:t>
            </a:r>
            <a:r>
              <a:rPr sz="2025" b="0" dirty="0">
                <a:solidFill>
                  <a:srgbClr val="19263E"/>
                </a:solidFill>
                <a:latin typeface="Noto Sans CJK SC"/>
                <a:ea typeface="Noto Sans CJK SC"/>
                <a:cs typeface="Noto Sans CJK SC"/>
              </a:rPr>
              <a:t>。</a:t>
            </a:r>
          </a:p>
        </p:txBody>
      </p:sp>
      <p:sp>
        <p:nvSpPr>
          <p:cNvPr id="6" name="前后差异中混有拍摄扰动">
            <a:extLst>
              <a:ext uri="{FF2B5EF4-FFF2-40B4-BE49-F238E27FC236}">
                <a16:creationId xmlns:a16="http://schemas.microsoft.com/office/drawing/2014/main" id="{06C6CA99-113A-46DE-8307-4FB42DD240E6}"/>
              </a:ext>
            </a:extLst>
          </p:cNvPr>
          <p:cNvSpPr>
            <a:spLocks noGrp="1"/>
          </p:cNvSpPr>
          <p:nvPr/>
        </p:nvSpPr>
        <p:spPr>
          <a:xfrm>
            <a:off x="609600" y="4038600"/>
            <a:ext cx="10953750" cy="409575"/>
          </a:xfrm>
          <a:prstGeom prst="rect">
            <a:avLst/>
          </a:prstGeom>
          <a:noFill/>
          <a:ln w="0">
            <a:noFill/>
          </a:ln>
        </p:spPr>
        <p:txBody>
          <a:bodyPr wrap="none" lIns="0" tIns="0" rIns="0" bIns="0" anchor="t">
            <a:noAutofit/>
          </a:bodyPr>
          <a:lstStyle>
            <a:defPPr>
              <a:defRPr sz="2175" b="1">
                <a:solidFill>
                  <a:srgbClr val="168F85"/>
                </a:solidFill>
                <a:latin typeface="Noto Sans CJK SC"/>
                <a:ea typeface="Noto Sans CJK SC"/>
                <a:cs typeface="Noto Sans CJK SC"/>
              </a:defRPr>
            </a:defPPr>
          </a:lstStyle>
          <a:p>
            <a:pPr>
              <a:defRPr sz="2175" b="1">
                <a:solidFill>
                  <a:srgbClr val="168F85"/>
                </a:solidFill>
                <a:latin typeface="Noto Sans CJK SC"/>
                <a:ea typeface="Noto Sans CJK SC"/>
                <a:cs typeface="Noto Sans CJK SC"/>
              </a:defRPr>
            </a:pPr>
            <a:r>
              <a:rPr lang="en" altLang="zh-CN" sz="2175" b="1" dirty="0">
                <a:solidFill>
                  <a:srgbClr val="168F85"/>
                </a:solidFill>
                <a:latin typeface="Noto Sans CJK SC"/>
              </a:rPr>
              <a:t>Continuous interpolation trap</a:t>
            </a:r>
            <a:r>
              <a:rPr lang="zh-CN" altLang="en-US" sz="2175" b="1" dirty="0">
                <a:solidFill>
                  <a:srgbClr val="168F85"/>
                </a:solidFill>
                <a:latin typeface="Noto Sans CJK SC"/>
              </a:rPr>
              <a:t>  </a:t>
            </a:r>
            <a:r>
              <a:rPr sz="2175" b="1" dirty="0" err="1">
                <a:solidFill>
                  <a:srgbClr val="168F85"/>
                </a:solidFill>
                <a:latin typeface="Noto Sans CJK SC"/>
                <a:ea typeface="Noto Sans CJK SC"/>
                <a:cs typeface="Noto Sans CJK SC"/>
              </a:rPr>
              <a:t>前后差异中混有拍摄扰动</a:t>
            </a:r>
            <a:endParaRPr sz="2175" b="1" dirty="0">
              <a:solidFill>
                <a:srgbClr val="168F85"/>
              </a:solidFill>
              <a:latin typeface="Noto Sans CJK SC"/>
              <a:ea typeface="Noto Sans CJK SC"/>
              <a:cs typeface="Noto Sans CJK SC"/>
            </a:endParaRPr>
          </a:p>
        </p:txBody>
      </p:sp>
      <p:sp>
        <p:nvSpPr>
          <p:cNvPr id="7" name="影像差分既包含病理变化，也包含扫描噪声、强度变化和残余配准误差。&#10;如果直接拟合这">
            <a:extLst>
              <a:ext uri="{FF2B5EF4-FFF2-40B4-BE49-F238E27FC236}">
                <a16:creationId xmlns:a16="http://schemas.microsoft.com/office/drawing/2014/main" id="{3474CCCD-3EC5-42F6-B9E9-7A77DAE58B02}"/>
              </a:ext>
            </a:extLst>
          </p:cNvPr>
          <p:cNvSpPr>
            <a:spLocks noGrp="1"/>
          </p:cNvSpPr>
          <p:nvPr/>
        </p:nvSpPr>
        <p:spPr>
          <a:xfrm>
            <a:off x="609600" y="4610100"/>
            <a:ext cx="10953750" cy="1381125"/>
          </a:xfrm>
          <a:prstGeom prst="rect">
            <a:avLst/>
          </a:prstGeom>
          <a:noFill/>
          <a:ln w="0">
            <a:noFill/>
          </a:ln>
        </p:spPr>
        <p:txBody>
          <a:bodyPr wrap="none" lIns="0" tIns="0" rIns="0" bIns="0" anchor="t">
            <a:noAutofit/>
          </a:bodyPr>
          <a:lstStyle>
            <a:defPPr>
              <a:defRPr sz="2025" b="0">
                <a:solidFill>
                  <a:srgbClr val="19263E"/>
                </a:solidFill>
                <a:latin typeface="Noto Sans CJK SC"/>
                <a:ea typeface="Noto Sans CJK SC"/>
                <a:cs typeface="Noto Sans CJK SC"/>
              </a:defRPr>
            </a:defPPr>
          </a:lstStyle>
          <a:p>
            <a:pPr>
              <a:defRPr sz="2025" b="0">
                <a:solidFill>
                  <a:srgbClr val="19263E"/>
                </a:solidFill>
                <a:latin typeface="Noto Sans CJK SC"/>
                <a:ea typeface="Noto Sans CJK SC"/>
                <a:cs typeface="Noto Sans CJK SC"/>
              </a:defRPr>
            </a:pPr>
            <a:r>
              <a:rPr sz="2025" b="0" dirty="0" err="1">
                <a:solidFill>
                  <a:srgbClr val="19263E"/>
                </a:solidFill>
                <a:latin typeface="Noto Sans CJK SC"/>
                <a:ea typeface="Noto Sans CJK SC"/>
                <a:cs typeface="Noto Sans CJK SC"/>
              </a:rPr>
              <a:t>影像</a:t>
            </a:r>
            <a:r>
              <a:rPr lang="zh-CN" altLang="en-US" sz="2025" b="0" dirty="0">
                <a:solidFill>
                  <a:srgbClr val="19263E"/>
                </a:solidFill>
                <a:latin typeface="Noto Sans CJK SC"/>
                <a:ea typeface="Noto Sans CJK SC"/>
                <a:cs typeface="Noto Sans CJK SC"/>
              </a:rPr>
              <a:t>变化</a:t>
            </a:r>
            <a:r>
              <a:rPr sz="2025" b="0" dirty="0" err="1">
                <a:solidFill>
                  <a:srgbClr val="19263E"/>
                </a:solidFill>
                <a:latin typeface="Noto Sans CJK SC"/>
                <a:ea typeface="Noto Sans CJK SC"/>
                <a:cs typeface="Noto Sans CJK SC"/>
              </a:rPr>
              <a:t>既包含病理变化，也包含扫描噪声、强度变化和残余配准误差</a:t>
            </a:r>
            <a:r>
              <a:rPr sz="2025" b="0" dirty="0">
                <a:solidFill>
                  <a:srgbClr val="19263E"/>
                </a:solidFill>
                <a:latin typeface="Noto Sans CJK SC"/>
                <a:ea typeface="Noto Sans CJK SC"/>
                <a:cs typeface="Noto Sans CJK SC"/>
              </a:rPr>
              <a:t>。</a:t>
            </a:r>
          </a:p>
          <a:p>
            <a:pPr>
              <a:defRPr sz="2025" b="0">
                <a:solidFill>
                  <a:srgbClr val="19263E"/>
                </a:solidFill>
                <a:latin typeface="Noto Sans CJK SC"/>
                <a:ea typeface="Noto Sans CJK SC"/>
                <a:cs typeface="Noto Sans CJK SC"/>
              </a:defRPr>
            </a:pPr>
            <a:r>
              <a:rPr sz="2025" b="0" dirty="0" err="1">
                <a:solidFill>
                  <a:srgbClr val="19263E"/>
                </a:solidFill>
                <a:latin typeface="Noto Sans CJK SC"/>
                <a:ea typeface="Noto Sans CJK SC"/>
                <a:cs typeface="Noto Sans CJK SC"/>
              </a:rPr>
              <a:t>如果直接拟合这些差异，模型可能把拍摄扰动也学成疾病进展</a:t>
            </a:r>
            <a:r>
              <a:rPr sz="2025" b="0" dirty="0">
                <a:solidFill>
                  <a:srgbClr val="19263E"/>
                </a:solidFill>
                <a:latin typeface="Noto Sans CJK SC"/>
                <a:ea typeface="Noto Sans CJK SC"/>
                <a:cs typeface="Noto Sans CJK SC"/>
              </a:rPr>
              <a:t>。</a:t>
            </a:r>
          </a:p>
        </p:txBody>
      </p:sp>
      <p:pic>
        <p:nvPicPr>
          <p:cNvPr id="8" name="图片 7">
            <a:extLst>
              <a:ext uri="{FF2B5EF4-FFF2-40B4-BE49-F238E27FC236}">
                <a16:creationId xmlns:a16="http://schemas.microsoft.com/office/drawing/2014/main" id="{FABF690E-7BF2-5EEC-55A5-8AA4704321BB}"/>
              </a:ext>
            </a:extLst>
          </p:cNvPr>
          <p:cNvPicPr>
            <a:picLocks noChangeAspect="1"/>
          </p:cNvPicPr>
          <p:nvPr/>
        </p:nvPicPr>
        <p:blipFill>
          <a:blip r:embed="rId3"/>
          <a:srcRect t="17974"/>
          <a:stretch/>
        </p:blipFill>
        <p:spPr>
          <a:xfrm>
            <a:off x="8377664" y="1177636"/>
            <a:ext cx="2957086" cy="1277432"/>
          </a:xfrm>
          <a:prstGeom prst="rect">
            <a:avLst/>
          </a:prstGeom>
        </p:spPr>
      </p:pic>
    </p:spTree>
    <p:extLst>
      <p:ext uri="{BB962C8B-B14F-4D97-AF65-F5344CB8AC3E}">
        <p14:creationId xmlns:p14="http://schemas.microsoft.com/office/powerpoint/2010/main" val="334006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04">
            <a:extLst>
              <a:ext uri="{FF2B5EF4-FFF2-40B4-BE49-F238E27FC236}">
                <a16:creationId xmlns:a16="http://schemas.microsoft.com/office/drawing/2014/main" id="{08963460-3051-4CFE-A4E0-31A1D39C0C2C}"/>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04</a:t>
            </a:r>
          </a:p>
        </p:txBody>
      </p:sp>
      <p:sp>
        <p:nvSpPr>
          <p:cNvPr id="3" name="任务定义与直接预测基线">
            <a:extLst>
              <a:ext uri="{FF2B5EF4-FFF2-40B4-BE49-F238E27FC236}">
                <a16:creationId xmlns:a16="http://schemas.microsoft.com/office/drawing/2014/main" id="{CC488205-B3B4-47C9-9976-F40A99008896}"/>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a:solidFill>
                  <a:srgbClr val="19263E"/>
                </a:solidFill>
                <a:latin typeface="Noto Sans CJK SC"/>
                <a:ea typeface="Noto Sans CJK SC"/>
                <a:cs typeface="Noto Sans CJK SC"/>
              </a:rPr>
              <a:t>任务定义</a:t>
            </a:r>
          </a:p>
        </p:txBody>
      </p:sp>
      <p:sp>
        <p:nvSpPr>
          <p:cNvPr id="5" name="输入与输出">
            <a:extLst>
              <a:ext uri="{FF2B5EF4-FFF2-40B4-BE49-F238E27FC236}">
                <a16:creationId xmlns:a16="http://schemas.microsoft.com/office/drawing/2014/main" id="{A72A0E15-B140-4A35-A79A-573EEBC60BAF}"/>
              </a:ext>
            </a:extLst>
          </p:cNvPr>
          <p:cNvSpPr>
            <a:spLocks noGrp="1"/>
          </p:cNvSpPr>
          <p:nvPr/>
        </p:nvSpPr>
        <p:spPr>
          <a:xfrm>
            <a:off x="609600" y="1581150"/>
            <a:ext cx="10906125" cy="342900"/>
          </a:xfrm>
          <a:prstGeom prst="rect">
            <a:avLst/>
          </a:prstGeom>
          <a:noFill/>
          <a:ln w="0">
            <a:noFill/>
          </a:ln>
        </p:spPr>
        <p:txBody>
          <a:bodyPr wrap="square" lIns="0" tIns="0" rIns="0" bIns="0" anchor="t">
            <a:noAutofit/>
          </a:bodyPr>
          <a:lstStyle>
            <a:defPPr>
              <a:defRPr sz="1950" b="1">
                <a:solidFill>
                  <a:srgbClr val="356DA7"/>
                </a:solidFill>
                <a:latin typeface="Noto Sans CJK SC"/>
                <a:ea typeface="Noto Sans CJK SC"/>
                <a:cs typeface="Noto Sans CJK SC"/>
              </a:defRPr>
            </a:defPPr>
          </a:lstStyle>
          <a:p>
            <a:pPr>
              <a:buNone/>
              <a:defRPr sz="1950" b="1">
                <a:solidFill>
                  <a:srgbClr val="356DA7"/>
                </a:solidFill>
                <a:latin typeface="Noto Sans CJK SC"/>
                <a:ea typeface="Noto Sans CJK SC"/>
                <a:cs typeface="Noto Sans CJK SC"/>
              </a:defRPr>
            </a:pPr>
            <a:r>
              <a:rPr sz="1950" b="1">
                <a:solidFill>
                  <a:srgbClr val="356DA7"/>
                </a:solidFill>
                <a:latin typeface="Noto Sans CJK SC"/>
                <a:ea typeface="Noto Sans CJK SC"/>
                <a:cs typeface="Noto Sans CJK SC"/>
              </a:rPr>
              <a:t>输入与输出</a:t>
            </a:r>
          </a:p>
        </p:txBody>
      </p:sp>
      <p:sp>
        <p:nvSpPr>
          <p:cNvPr id="6" name="输入：当前 3D MRI、临床信息 c、时间间隔 Δt&#10;输出：对应未来时间的 M">
            <a:extLst>
              <a:ext uri="{FF2B5EF4-FFF2-40B4-BE49-F238E27FC236}">
                <a16:creationId xmlns:a16="http://schemas.microsoft.com/office/drawing/2014/main" id="{FC53C85E-F4B2-4818-A506-F2D047ACA38B}"/>
              </a:ext>
            </a:extLst>
          </p:cNvPr>
          <p:cNvSpPr>
            <a:spLocks noGrp="1"/>
          </p:cNvSpPr>
          <p:nvPr/>
        </p:nvSpPr>
        <p:spPr>
          <a:xfrm>
            <a:off x="609600" y="1990725"/>
            <a:ext cx="10906125" cy="857250"/>
          </a:xfrm>
          <a:prstGeom prst="rect">
            <a:avLst/>
          </a:prstGeom>
          <a:noFill/>
          <a:ln w="0">
            <a:noFill/>
          </a:ln>
        </p:spPr>
        <p:txBody>
          <a:bodyPr wrap="square" lIns="0" tIns="0" rIns="0" bIns="0" anchor="t">
            <a:noAutofit/>
          </a:bodyPr>
          <a:lstStyle>
            <a:defPPr>
              <a:defRPr sz="1875" b="0">
                <a:solidFill>
                  <a:srgbClr val="19263E"/>
                </a:solidFill>
                <a:latin typeface="Noto Sans CJK SC"/>
                <a:ea typeface="Noto Sans CJK SC"/>
                <a:cs typeface="Noto Sans CJK SC"/>
              </a:defRPr>
            </a:defPPr>
          </a:lstStyle>
          <a:p>
            <a:pPr>
              <a:buNone/>
              <a:defRPr sz="1875" b="0">
                <a:solidFill>
                  <a:srgbClr val="19263E"/>
                </a:solidFill>
                <a:latin typeface="Noto Sans CJK SC"/>
                <a:ea typeface="Noto Sans CJK SC"/>
                <a:cs typeface="Noto Sans CJK SC"/>
              </a:defRPr>
            </a:pPr>
            <a:r>
              <a:rPr sz="1875" b="0" dirty="0" err="1">
                <a:solidFill>
                  <a:srgbClr val="19263E"/>
                </a:solidFill>
                <a:latin typeface="Noto Sans CJK SC"/>
                <a:ea typeface="Noto Sans CJK SC"/>
                <a:cs typeface="Noto Sans CJK SC"/>
              </a:rPr>
              <a:t>输入：当前</a:t>
            </a:r>
            <a:r>
              <a:rPr sz="1875" b="0" dirty="0">
                <a:solidFill>
                  <a:srgbClr val="19263E"/>
                </a:solidFill>
                <a:latin typeface="Noto Sans CJK SC"/>
                <a:ea typeface="Noto Sans CJK SC"/>
                <a:cs typeface="Noto Sans CJK SC"/>
              </a:rPr>
              <a:t> 3D </a:t>
            </a:r>
            <a:r>
              <a:rPr sz="1875" b="0" dirty="0" err="1">
                <a:solidFill>
                  <a:srgbClr val="19263E"/>
                </a:solidFill>
                <a:latin typeface="Noto Sans CJK SC"/>
                <a:ea typeface="Noto Sans CJK SC"/>
                <a:cs typeface="Noto Sans CJK SC"/>
              </a:rPr>
              <a:t>MRI、临床信息</a:t>
            </a:r>
            <a:r>
              <a:rPr sz="1875" b="0" dirty="0">
                <a:solidFill>
                  <a:srgbClr val="19263E"/>
                </a:solidFill>
                <a:latin typeface="Noto Sans CJK SC"/>
                <a:ea typeface="Noto Sans CJK SC"/>
                <a:cs typeface="Noto Sans CJK SC"/>
              </a:rPr>
              <a:t> </a:t>
            </a:r>
            <a:r>
              <a:rPr sz="1875" b="0" dirty="0" err="1">
                <a:solidFill>
                  <a:srgbClr val="19263E"/>
                </a:solidFill>
                <a:latin typeface="Noto Sans CJK SC"/>
                <a:ea typeface="Noto Sans CJK SC"/>
                <a:cs typeface="Noto Sans CJK SC"/>
              </a:rPr>
              <a:t>c、时间间隔</a:t>
            </a:r>
            <a:r>
              <a:rPr sz="1875" b="0" dirty="0">
                <a:solidFill>
                  <a:srgbClr val="19263E"/>
                </a:solidFill>
                <a:latin typeface="Noto Sans CJK SC"/>
                <a:ea typeface="Noto Sans CJK SC"/>
                <a:cs typeface="Noto Sans CJK SC"/>
              </a:rPr>
              <a:t> </a:t>
            </a:r>
            <a:r>
              <a:rPr sz="1875" b="0" dirty="0" err="1">
                <a:solidFill>
                  <a:srgbClr val="19263E"/>
                </a:solidFill>
                <a:latin typeface="Noto Sans CJK SC"/>
                <a:ea typeface="Noto Sans CJK SC"/>
                <a:cs typeface="Noto Sans CJK SC"/>
              </a:rPr>
              <a:t>Δt</a:t>
            </a:r>
            <a:endParaRPr sz="1875" b="0" dirty="0">
              <a:solidFill>
                <a:srgbClr val="19263E"/>
              </a:solidFill>
              <a:latin typeface="Noto Sans CJK SC"/>
              <a:ea typeface="Noto Sans CJK SC"/>
              <a:cs typeface="Noto Sans CJK SC"/>
            </a:endParaRPr>
          </a:p>
          <a:p>
            <a:pPr>
              <a:buNone/>
              <a:defRPr sz="1875" b="0">
                <a:solidFill>
                  <a:srgbClr val="19263E"/>
                </a:solidFill>
                <a:latin typeface="Noto Sans CJK SC"/>
                <a:ea typeface="Noto Sans CJK SC"/>
                <a:cs typeface="Noto Sans CJK SC"/>
              </a:defRPr>
            </a:pPr>
            <a:r>
              <a:rPr sz="1875" b="0" dirty="0" err="1">
                <a:solidFill>
                  <a:srgbClr val="19263E"/>
                </a:solidFill>
                <a:latin typeface="Noto Sans CJK SC"/>
                <a:ea typeface="Noto Sans CJK SC"/>
                <a:cs typeface="Noto Sans CJK SC"/>
              </a:rPr>
              <a:t>输出：未来时间的</a:t>
            </a:r>
            <a:r>
              <a:rPr sz="1875" b="0" dirty="0">
                <a:solidFill>
                  <a:srgbClr val="19263E"/>
                </a:solidFill>
                <a:latin typeface="Noto Sans CJK SC"/>
                <a:ea typeface="Noto Sans CJK SC"/>
                <a:cs typeface="Noto Sans CJK SC"/>
              </a:rPr>
              <a:t> MRI</a:t>
            </a:r>
          </a:p>
        </p:txBody>
      </p:sp>
      <mc:AlternateContent xmlns:mc="http://schemas.openxmlformats.org/markup-compatibility/2006" xmlns:a14="http://schemas.microsoft.com/office/drawing/2010/main">
        <mc:Choice Requires="a14">
          <p:sp>
            <p:nvSpPr>
              <p:cNvPr id="7" name="z_cur = E(x_cur)        z_fut = E(x_fut)">
                <a:extLst>
                  <a:ext uri="{FF2B5EF4-FFF2-40B4-BE49-F238E27FC236}">
                    <a16:creationId xmlns:a16="http://schemas.microsoft.com/office/drawing/2014/main" id="{10E2A7C8-7817-4B79-9D5E-7C0160E6747E}"/>
                  </a:ext>
                </a:extLst>
              </p:cNvPr>
              <p:cNvSpPr>
                <a:spLocks noGrp="1"/>
              </p:cNvSpPr>
              <p:nvPr/>
            </p:nvSpPr>
            <p:spPr>
              <a:xfrm>
                <a:off x="-1196898" y="2914650"/>
                <a:ext cx="10953750" cy="457200"/>
              </a:xfrm>
              <a:prstGeom prst="rect">
                <a:avLst/>
              </a:prstGeom>
              <a:noFill/>
              <a:ln w="0">
                <a:noFill/>
              </a:ln>
            </p:spPr>
            <p:txBody>
              <a:bodyPr wrap="square" lIns="0" tIns="0" rIns="0" bIns="0" anchor="t">
                <a:noAutofit/>
              </a:bodyPr>
              <a:lstStyle>
                <a:defPPr>
                  <a:defRPr sz="2175" b="0">
                    <a:solidFill>
                      <a:srgbClr val="19263E"/>
                    </a:solidFill>
                    <a:latin typeface="Noto Sans CJK SC"/>
                    <a:ea typeface="Noto Sans CJK SC"/>
                    <a:cs typeface="Noto Sans CJK SC"/>
                  </a:defRPr>
                </a:defPPr>
              </a:lstStyle>
              <a:p>
                <a:pPr>
                  <a:buNone/>
                  <a:defRPr sz="2175" b="0">
                    <a:solidFill>
                      <a:srgbClr val="19263E"/>
                    </a:solidFill>
                    <a:latin typeface="Noto Sans CJK SC"/>
                    <a:ea typeface="Noto Sans CJK SC"/>
                    <a:cs typeface="Noto Sans CJK SC"/>
                  </a:defRPr>
                </a:pPr>
                <a14:m>
                  <m:oMathPara xmlns:m="http://schemas.openxmlformats.org/officeDocument/2006/math">
                    <m:oMathParaPr>
                      <m:jc m:val="centerGroup"/>
                    </m:oMathParaPr>
                    <m:oMath xmlns:m="http://schemas.openxmlformats.org/officeDocument/2006/math">
                      <m:sSub>
                        <m:sSubPr>
                          <m:ctrlPr>
                            <a:rPr lang="el-GR" sz="2175" b="0" i="1" dirty="0" smtClean="0">
                              <a:solidFill>
                                <a:srgbClr val="19263E"/>
                              </a:solidFill>
                              <a:latin typeface="Cambria Math" panose="02040503050406030204" pitchFamily="18" charset="0"/>
                              <a:ea typeface="Noto Sans CJK SC"/>
                              <a:cs typeface="Noto Sans CJK SC"/>
                            </a:rPr>
                          </m:ctrlPr>
                        </m:sSubPr>
                        <m:e>
                          <m:r>
                            <a:rPr lang="el-GR" sz="2175" b="0" i="1" dirty="0" smtClean="0">
                              <a:solidFill>
                                <a:srgbClr val="19263E"/>
                              </a:solidFill>
                              <a:latin typeface="Cambria Math" panose="02040503050406030204" pitchFamily="18" charset="0"/>
                              <a:ea typeface="Noto Sans CJK SC"/>
                              <a:cs typeface="Noto Sans CJK SC"/>
                            </a:rPr>
                            <m:t>𝑧</m:t>
                          </m:r>
                        </m:e>
                        <m:sub>
                          <m:r>
                            <a:rPr lang="el-GR" sz="2175" b="0" i="1" dirty="0" smtClean="0">
                              <a:solidFill>
                                <a:srgbClr val="19263E"/>
                              </a:solidFill>
                              <a:latin typeface="Cambria Math" panose="02040503050406030204" pitchFamily="18" charset="0"/>
                              <a:ea typeface="Noto Sans CJK SC"/>
                              <a:cs typeface="Noto Sans CJK SC"/>
                            </a:rPr>
                            <m:t>𝑐𝑢𝑟</m:t>
                          </m:r>
                        </m:sub>
                      </m:sSub>
                      <m:r>
                        <a:rPr lang="el-GR" sz="2175" b="0" i="1" dirty="0">
                          <a:solidFill>
                            <a:srgbClr val="19263E"/>
                          </a:solidFill>
                          <a:latin typeface="Cambria Math" panose="02040503050406030204" pitchFamily="18" charset="0"/>
                          <a:ea typeface="Noto Sans CJK SC"/>
                          <a:cs typeface="Noto Sans CJK SC"/>
                        </a:rPr>
                        <m:t> = </m:t>
                      </m:r>
                      <m:r>
                        <a:rPr lang="el-GR" sz="2175" b="0" i="1" dirty="0">
                          <a:solidFill>
                            <a:srgbClr val="19263E"/>
                          </a:solidFill>
                          <a:latin typeface="Cambria Math" panose="02040503050406030204" pitchFamily="18" charset="0"/>
                          <a:ea typeface="Noto Sans CJK SC"/>
                          <a:cs typeface="Noto Sans CJK SC"/>
                        </a:rPr>
                        <m:t>𝐸</m:t>
                      </m:r>
                      <m:r>
                        <a:rPr lang="el-GR" sz="2175" b="0" i="1" dirty="0">
                          <a:solidFill>
                            <a:srgbClr val="19263E"/>
                          </a:solidFill>
                          <a:latin typeface="Cambria Math" panose="02040503050406030204" pitchFamily="18" charset="0"/>
                          <a:ea typeface="Noto Sans CJK SC"/>
                          <a:cs typeface="Noto Sans CJK SC"/>
                        </a:rPr>
                        <m:t>(</m:t>
                      </m:r>
                      <m:sSub>
                        <m:sSubPr>
                          <m:ctrlPr>
                            <a:rPr lang="el-GR" sz="2175" b="0" i="1" dirty="0" err="1">
                              <a:solidFill>
                                <a:srgbClr val="19263E"/>
                              </a:solidFill>
                              <a:latin typeface="Cambria Math" panose="02040503050406030204" pitchFamily="18" charset="0"/>
                              <a:ea typeface="Noto Sans CJK SC"/>
                              <a:cs typeface="Noto Sans CJK SC"/>
                            </a:rPr>
                          </m:ctrlPr>
                        </m:sSubPr>
                        <m:e>
                          <m:r>
                            <a:rPr lang="el-GR" sz="2175" b="0" i="1" dirty="0" err="1">
                              <a:solidFill>
                                <a:srgbClr val="19263E"/>
                              </a:solidFill>
                              <a:latin typeface="Cambria Math" panose="02040503050406030204" pitchFamily="18" charset="0"/>
                              <a:ea typeface="Noto Sans CJK SC"/>
                              <a:cs typeface="Noto Sans CJK SC"/>
                            </a:rPr>
                            <m:t>𝑥</m:t>
                          </m:r>
                        </m:e>
                        <m:sub>
                          <m:r>
                            <a:rPr lang="el-GR" sz="2175" b="0" i="1" dirty="0" err="1">
                              <a:solidFill>
                                <a:srgbClr val="19263E"/>
                              </a:solidFill>
                              <a:latin typeface="Cambria Math" panose="02040503050406030204" pitchFamily="18" charset="0"/>
                              <a:ea typeface="Noto Sans CJK SC"/>
                              <a:cs typeface="Noto Sans CJK SC"/>
                            </a:rPr>
                            <m:t>𝑐𝑢𝑟</m:t>
                          </m:r>
                        </m:sub>
                      </m:sSub>
                      <m:r>
                        <a:rPr lang="el-GR" sz="2175" b="0" i="1" dirty="0">
                          <a:solidFill>
                            <a:srgbClr val="19263E"/>
                          </a:solidFill>
                          <a:latin typeface="Cambria Math" panose="02040503050406030204" pitchFamily="18" charset="0"/>
                          <a:ea typeface="Noto Sans CJK SC"/>
                          <a:cs typeface="Noto Sans CJK SC"/>
                        </a:rPr>
                        <m:t>) </m:t>
                      </m:r>
                      <m:r>
                        <a:rPr lang="zh-CN" altLang="en-US" sz="2175" b="0" i="1" dirty="0" smtClean="0">
                          <a:solidFill>
                            <a:srgbClr val="19263E"/>
                          </a:solidFill>
                          <a:latin typeface="Cambria Math" panose="02040503050406030204" pitchFamily="18" charset="0"/>
                          <a:ea typeface="Noto Sans CJK SC"/>
                          <a:cs typeface="Noto Sans CJK SC"/>
                        </a:rPr>
                        <m:t>       </m:t>
                      </m:r>
                      <m:sSub>
                        <m:sSubPr>
                          <m:ctrlPr>
                            <a:rPr lang="el-GR" sz="2175" b="0" i="1" dirty="0" err="1">
                              <a:solidFill>
                                <a:srgbClr val="19263E"/>
                              </a:solidFill>
                              <a:latin typeface="Cambria Math" panose="02040503050406030204" pitchFamily="18" charset="0"/>
                              <a:ea typeface="Noto Sans CJK SC"/>
                              <a:cs typeface="Noto Sans CJK SC"/>
                            </a:rPr>
                          </m:ctrlPr>
                        </m:sSubPr>
                        <m:e>
                          <m:r>
                            <a:rPr lang="el-GR" sz="2175" b="0" i="1" dirty="0" err="1">
                              <a:solidFill>
                                <a:srgbClr val="19263E"/>
                              </a:solidFill>
                              <a:latin typeface="Cambria Math" panose="02040503050406030204" pitchFamily="18" charset="0"/>
                              <a:ea typeface="Noto Sans CJK SC"/>
                              <a:cs typeface="Noto Sans CJK SC"/>
                            </a:rPr>
                            <m:t>h</m:t>
                          </m:r>
                        </m:e>
                        <m:sub>
                          <m:r>
                            <a:rPr lang="el-GR" sz="2175" b="0" i="1" dirty="0" err="1">
                              <a:solidFill>
                                <a:srgbClr val="19263E"/>
                              </a:solidFill>
                              <a:latin typeface="Cambria Math" panose="02040503050406030204" pitchFamily="18" charset="0"/>
                              <a:ea typeface="Noto Sans CJK SC"/>
                              <a:cs typeface="Noto Sans CJK SC"/>
                            </a:rPr>
                            <m:t>𝑐𝑜𝑛𝑑</m:t>
                          </m:r>
                        </m:sub>
                      </m:sSub>
                      <m:r>
                        <a:rPr lang="el-GR" sz="2175" b="0" i="1" dirty="0">
                          <a:solidFill>
                            <a:srgbClr val="19263E"/>
                          </a:solidFill>
                          <a:latin typeface="Cambria Math" panose="02040503050406030204" pitchFamily="18" charset="0"/>
                          <a:ea typeface="Noto Sans CJK SC"/>
                          <a:cs typeface="Noto Sans CJK SC"/>
                        </a:rPr>
                        <m:t> = </m:t>
                      </m:r>
                      <m:r>
                        <a:rPr lang="el-GR" sz="2175" b="0" i="1" dirty="0">
                          <a:solidFill>
                            <a:srgbClr val="19263E"/>
                          </a:solidFill>
                          <a:latin typeface="Cambria Math" panose="02040503050406030204" pitchFamily="18" charset="0"/>
                          <a:ea typeface="Noto Sans CJK SC"/>
                          <a:cs typeface="Noto Sans CJK SC"/>
                        </a:rPr>
                        <m:t>𝑀𝐿𝑃</m:t>
                      </m:r>
                      <m:r>
                        <a:rPr lang="el-GR" sz="2175" b="0" i="1" dirty="0">
                          <a:solidFill>
                            <a:srgbClr val="19263E"/>
                          </a:solidFill>
                          <a:latin typeface="Cambria Math" panose="02040503050406030204" pitchFamily="18" charset="0"/>
                          <a:ea typeface="Noto Sans CJK SC"/>
                          <a:cs typeface="Noto Sans CJK SC"/>
                        </a:rPr>
                        <m:t>(</m:t>
                      </m:r>
                      <m:r>
                        <a:rPr lang="el-GR" sz="2175" b="0" i="1" dirty="0">
                          <a:solidFill>
                            <a:srgbClr val="19263E"/>
                          </a:solidFill>
                          <a:latin typeface="Cambria Math" panose="02040503050406030204" pitchFamily="18" charset="0"/>
                          <a:ea typeface="Noto Sans CJK SC"/>
                          <a:cs typeface="Noto Sans CJK SC"/>
                        </a:rPr>
                        <m:t>𝑐</m:t>
                      </m:r>
                      <m:r>
                        <a:rPr lang="el-GR" sz="2175" b="0" i="1" dirty="0">
                          <a:solidFill>
                            <a:srgbClr val="19263E"/>
                          </a:solidFill>
                          <a:latin typeface="Cambria Math" panose="02040503050406030204" pitchFamily="18" charset="0"/>
                          <a:ea typeface="Noto Sans CJK SC"/>
                          <a:cs typeface="Noto Sans CJK SC"/>
                        </a:rPr>
                        <m:t>, </m:t>
                      </m:r>
                      <m:r>
                        <m:rPr>
                          <m:sty m:val="p"/>
                        </m:rPr>
                        <a:rPr lang="el-GR" sz="2175" b="0" i="0" dirty="0" err="1">
                          <a:solidFill>
                            <a:srgbClr val="19263E"/>
                          </a:solidFill>
                          <a:latin typeface="Cambria Math" panose="02040503050406030204" pitchFamily="18" charset="0"/>
                          <a:ea typeface="Noto Sans CJK SC"/>
                          <a:cs typeface="Noto Sans CJK SC"/>
                        </a:rPr>
                        <m:t>Δ</m:t>
                      </m:r>
                      <m:r>
                        <a:rPr lang="el-GR" sz="2175" b="0" i="1" dirty="0" err="1">
                          <a:solidFill>
                            <a:srgbClr val="19263E"/>
                          </a:solidFill>
                          <a:latin typeface="Cambria Math" panose="02040503050406030204" pitchFamily="18" charset="0"/>
                          <a:ea typeface="Noto Sans CJK SC"/>
                          <a:cs typeface="Noto Sans CJK SC"/>
                        </a:rPr>
                        <m:t>𝑡</m:t>
                      </m:r>
                      <m:r>
                        <a:rPr lang="el-GR" sz="2175" b="0" i="1" dirty="0">
                          <a:solidFill>
                            <a:srgbClr val="19263E"/>
                          </a:solidFill>
                          <a:latin typeface="Cambria Math" panose="02040503050406030204" pitchFamily="18" charset="0"/>
                          <a:ea typeface="Noto Sans CJK SC"/>
                          <a:cs typeface="Noto Sans CJK SC"/>
                        </a:rPr>
                        <m:t>)</m:t>
                      </m:r>
                    </m:oMath>
                  </m:oMathPara>
                </a14:m>
                <a:endParaRPr sz="2175" b="0" dirty="0">
                  <a:solidFill>
                    <a:srgbClr val="19263E"/>
                  </a:solidFill>
                  <a:latin typeface="Noto Sans CJK SC"/>
                  <a:ea typeface="Noto Sans CJK SC"/>
                  <a:cs typeface="Noto Sans CJK SC"/>
                </a:endParaRPr>
              </a:p>
            </p:txBody>
          </p:sp>
        </mc:Choice>
        <mc:Fallback xmlns="">
          <p:sp>
            <p:nvSpPr>
              <p:cNvPr id="7" name="z_cur = E(x_cur)        z_fut = E(x_fut)">
                <a:extLst>
                  <a:ext uri="{FF2B5EF4-FFF2-40B4-BE49-F238E27FC236}">
                    <a16:creationId xmlns:a16="http://schemas.microsoft.com/office/drawing/2014/main" id="{10E2A7C8-7817-4B79-9D5E-7C0160E6747E}"/>
                  </a:ext>
                </a:extLst>
              </p:cNvPr>
              <p:cNvSpPr>
                <a:spLocks noGrp="1" noRot="1" noChangeAspect="1" noMove="1" noResize="1" noEditPoints="1" noAdjustHandles="1" noChangeArrowheads="1" noChangeShapeType="1" noTextEdit="1"/>
              </p:cNvSpPr>
              <p:nvPr/>
            </p:nvSpPr>
            <p:spPr>
              <a:xfrm>
                <a:off x="-1196898" y="2914650"/>
                <a:ext cx="10953750" cy="457200"/>
              </a:xfrm>
              <a:prstGeom prst="rect">
                <a:avLst/>
              </a:prstGeom>
              <a:blipFill>
                <a:blip r:embed="rId3"/>
                <a:stretch>
                  <a:fillRect t="-8108"/>
                </a:stretch>
              </a:blipFill>
              <a:ln w="0">
                <a:noFill/>
              </a:ln>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DE370B40-9EF3-4F12-B45B-7932E039784A}"/>
              </a:ext>
            </a:extLst>
          </p:cNvPr>
          <p:cNvPicPr>
            <a:picLocks noChangeAspect="1"/>
          </p:cNvPicPr>
          <p:nvPr/>
        </p:nvPicPr>
        <p:blipFill>
          <a:blip r:embed="rId4"/>
          <a:srcRect r="15880"/>
          <a:stretch/>
        </p:blipFill>
        <p:spPr>
          <a:xfrm>
            <a:off x="1839952" y="3627748"/>
            <a:ext cx="5932450" cy="582302"/>
          </a:xfrm>
          <a:prstGeom prst="rect">
            <a:avLst/>
          </a:prstGeom>
        </p:spPr>
      </p:pic>
      <mc:AlternateContent xmlns:mc="http://schemas.openxmlformats.org/markup-compatibility/2006" xmlns:a14="http://schemas.microsoft.com/office/drawing/2010/main">
        <mc:Choice Requires="a14">
          <p:sp>
            <p:nvSpPr>
              <p:cNvPr id="9" name="随后解码：x̂_fut = D(ẑ_fut)">
                <a:extLst>
                  <a:ext uri="{FF2B5EF4-FFF2-40B4-BE49-F238E27FC236}">
                    <a16:creationId xmlns:a16="http://schemas.microsoft.com/office/drawing/2014/main" id="{AEBB0102-1E6F-4568-9453-42D1DFC0104A}"/>
                  </a:ext>
                </a:extLst>
              </p:cNvPr>
              <p:cNvSpPr>
                <a:spLocks noGrp="1"/>
              </p:cNvSpPr>
              <p:nvPr/>
            </p:nvSpPr>
            <p:spPr>
              <a:xfrm>
                <a:off x="609600" y="4781550"/>
                <a:ext cx="10858500" cy="428625"/>
              </a:xfrm>
              <a:prstGeom prst="rect">
                <a:avLst/>
              </a:prstGeom>
              <a:noFill/>
              <a:ln w="0">
                <a:noFill/>
              </a:ln>
            </p:spPr>
            <p:txBody>
              <a:bodyPr wrap="square" lIns="0" tIns="0" rIns="0" bIns="0" anchor="t">
                <a:noAutofit/>
              </a:bodyPr>
              <a:lstStyle>
                <a:defPPr>
                  <a:defRPr sz="2175" b="0">
                    <a:solidFill>
                      <a:srgbClr val="356DA7"/>
                    </a:solidFill>
                    <a:latin typeface="Noto Sans CJK SC"/>
                    <a:ea typeface="Noto Sans CJK SC"/>
                    <a:cs typeface="Noto Sans CJK SC"/>
                  </a:defRPr>
                </a:defPPr>
              </a:lstStyle>
              <a:p>
                <a:pPr>
                  <a:buNone/>
                  <a:defRPr sz="2175" b="0">
                    <a:solidFill>
                      <a:srgbClr val="356DA7"/>
                    </a:solidFill>
                    <a:latin typeface="Noto Sans CJK SC"/>
                    <a:ea typeface="Noto Sans CJK SC"/>
                    <a:cs typeface="Noto Sans CJK SC"/>
                  </a:defRPr>
                </a:pPr>
                <a:r>
                  <a:rPr lang="zh-CN" altLang="en-US" sz="2175" b="0" dirty="0">
                    <a:solidFill>
                      <a:srgbClr val="356DA7"/>
                    </a:solidFill>
                    <a:latin typeface="Noto Sans CJK SC"/>
                    <a:ea typeface="Noto Sans CJK SC"/>
                    <a:cs typeface="Noto Sans CJK SC"/>
                  </a:rPr>
                  <a:t>随后解码：</a:t>
                </a:r>
                <a14:m>
                  <m:oMath xmlns:m="http://schemas.openxmlformats.org/officeDocument/2006/math">
                    <m:sSub>
                      <m:sSubPr>
                        <m:ctrlPr>
                          <a:rPr lang="ar-AE" altLang="zh-CN" sz="2175" b="0" i="1" dirty="0">
                            <a:solidFill>
                              <a:srgbClr val="356DA7"/>
                            </a:solidFill>
                            <a:latin typeface="Cambria Math" panose="02040503050406030204" pitchFamily="18" charset="0"/>
                            <a:ea typeface="Noto Sans CJK SC"/>
                            <a:cs typeface="Noto Sans CJK SC"/>
                          </a:rPr>
                        </m:ctrlPr>
                      </m:sSubPr>
                      <m:e>
                        <m:acc>
                          <m:accPr>
                            <m:chr m:val="̂"/>
                            <m:ctrlPr>
                              <a:rPr lang="ar-AE" altLang="zh-CN" sz="2175" b="0" i="1" dirty="0">
                                <a:solidFill>
                                  <a:srgbClr val="356DA7"/>
                                </a:solidFill>
                                <a:latin typeface="Cambria Math" panose="02040503050406030204" pitchFamily="18" charset="0"/>
                                <a:ea typeface="Noto Sans CJK SC"/>
                                <a:cs typeface="Noto Sans CJK SC"/>
                              </a:rPr>
                            </m:ctrlPr>
                          </m:accPr>
                          <m:e>
                            <m:r>
                              <a:rPr lang="ar-AE" altLang="zh-CN" sz="2175" b="0" i="1" dirty="0" smtClean="0">
                                <a:solidFill>
                                  <a:srgbClr val="356DA7"/>
                                </a:solidFill>
                                <a:latin typeface="Cambria Math" panose="02040503050406030204" pitchFamily="18" charset="0"/>
                                <a:ea typeface="Noto Sans CJK SC"/>
                                <a:cs typeface="Noto Sans CJK SC"/>
                              </a:rPr>
                              <m:t>𝑥</m:t>
                            </m:r>
                          </m:e>
                        </m:acc>
                      </m:e>
                      <m:sub>
                        <m:r>
                          <a:rPr lang="ar-AE" altLang="zh-CN" sz="2175" b="0" i="1" dirty="0" err="1">
                            <a:solidFill>
                              <a:srgbClr val="356DA7"/>
                            </a:solidFill>
                            <a:latin typeface="Cambria Math" panose="02040503050406030204" pitchFamily="18" charset="0"/>
                            <a:ea typeface="Noto Sans CJK SC"/>
                            <a:cs typeface="Noto Sans CJK SC"/>
                          </a:rPr>
                          <m:t>𝑓𝑢𝑡</m:t>
                        </m:r>
                      </m:sub>
                    </m:sSub>
                    <m:r>
                      <a:rPr lang="ar-AE" altLang="zh-CN" sz="2175" b="0" i="1" dirty="0">
                        <a:solidFill>
                          <a:srgbClr val="356DA7"/>
                        </a:solidFill>
                        <a:latin typeface="Cambria Math" panose="02040503050406030204" pitchFamily="18" charset="0"/>
                        <a:ea typeface="Noto Sans CJK SC"/>
                        <a:cs typeface="Noto Sans CJK SC"/>
                      </a:rPr>
                      <m:t> = </m:t>
                    </m:r>
                    <m:r>
                      <a:rPr lang="ar-AE" altLang="zh-CN" sz="2175" b="0" i="1" dirty="0">
                        <a:solidFill>
                          <a:srgbClr val="356DA7"/>
                        </a:solidFill>
                        <a:latin typeface="Cambria Math" panose="02040503050406030204" pitchFamily="18" charset="0"/>
                        <a:ea typeface="Noto Sans CJK SC"/>
                        <a:cs typeface="Noto Sans CJK SC"/>
                      </a:rPr>
                      <m:t>𝐷</m:t>
                    </m:r>
                    <m:r>
                      <a:rPr lang="ar-AE" altLang="zh-CN" sz="2175" b="0" i="1" dirty="0">
                        <a:solidFill>
                          <a:srgbClr val="356DA7"/>
                        </a:solidFill>
                        <a:latin typeface="Cambria Math" panose="02040503050406030204" pitchFamily="18" charset="0"/>
                        <a:ea typeface="Noto Sans CJK SC"/>
                        <a:cs typeface="Noto Sans CJK SC"/>
                      </a:rPr>
                      <m:t>(</m:t>
                    </m:r>
                    <m:sSub>
                      <m:sSubPr>
                        <m:ctrlPr>
                          <a:rPr lang="ar-AE" altLang="zh-CN" sz="2175" b="0" i="1" dirty="0">
                            <a:solidFill>
                              <a:srgbClr val="356DA7"/>
                            </a:solidFill>
                            <a:latin typeface="Cambria Math" panose="02040503050406030204" pitchFamily="18" charset="0"/>
                            <a:ea typeface="Noto Sans CJK SC"/>
                            <a:cs typeface="Noto Sans CJK SC"/>
                          </a:rPr>
                        </m:ctrlPr>
                      </m:sSubPr>
                      <m:e>
                        <m:acc>
                          <m:accPr>
                            <m:chr m:val="̂"/>
                            <m:ctrlPr>
                              <a:rPr lang="ar-AE" altLang="zh-CN" sz="2175" b="0" i="1" dirty="0">
                                <a:solidFill>
                                  <a:srgbClr val="356DA7"/>
                                </a:solidFill>
                                <a:latin typeface="Cambria Math" panose="02040503050406030204" pitchFamily="18" charset="0"/>
                                <a:ea typeface="Noto Sans CJK SC"/>
                                <a:cs typeface="Noto Sans CJK SC"/>
                              </a:rPr>
                            </m:ctrlPr>
                          </m:accPr>
                          <m:e>
                            <m:r>
                              <a:rPr lang="ar-AE" altLang="zh-CN" sz="2175" b="0" i="1" dirty="0">
                                <a:solidFill>
                                  <a:srgbClr val="356DA7"/>
                                </a:solidFill>
                                <a:latin typeface="Cambria Math" panose="02040503050406030204" pitchFamily="18" charset="0"/>
                                <a:ea typeface="Noto Sans CJK SC"/>
                                <a:cs typeface="Noto Sans CJK SC"/>
                              </a:rPr>
                              <m:t>𝑧</m:t>
                            </m:r>
                          </m:e>
                        </m:acc>
                      </m:e>
                      <m:sub>
                        <m:r>
                          <a:rPr lang="ar-AE" altLang="zh-CN" sz="2175" b="0" i="1" dirty="0" err="1">
                            <a:solidFill>
                              <a:srgbClr val="356DA7"/>
                            </a:solidFill>
                            <a:latin typeface="Cambria Math" panose="02040503050406030204" pitchFamily="18" charset="0"/>
                            <a:ea typeface="Noto Sans CJK SC"/>
                            <a:cs typeface="Noto Sans CJK SC"/>
                          </a:rPr>
                          <m:t>𝑓𝑢𝑡</m:t>
                        </m:r>
                      </m:sub>
                    </m:sSub>
                    <m:r>
                      <a:rPr lang="ar-AE" altLang="zh-CN" sz="2175" b="0" i="1" dirty="0">
                        <a:solidFill>
                          <a:srgbClr val="356DA7"/>
                        </a:solidFill>
                        <a:latin typeface="Cambria Math" panose="02040503050406030204" pitchFamily="18" charset="0"/>
                        <a:ea typeface="Noto Sans CJK SC"/>
                        <a:cs typeface="Noto Sans CJK SC"/>
                      </a:rPr>
                      <m:t>)</m:t>
                    </m:r>
                  </m:oMath>
                </a14:m>
                <a:endParaRPr sz="2175" b="0" dirty="0">
                  <a:solidFill>
                    <a:srgbClr val="356DA7"/>
                  </a:solidFill>
                  <a:latin typeface="Noto Sans CJK SC"/>
                  <a:ea typeface="Noto Sans CJK SC"/>
                  <a:cs typeface="Noto Sans CJK SC"/>
                </a:endParaRPr>
              </a:p>
            </p:txBody>
          </p:sp>
        </mc:Choice>
        <mc:Fallback xmlns="">
          <p:sp>
            <p:nvSpPr>
              <p:cNvPr id="9" name="随后解码：x̂_fut = D(ẑ_fut)">
                <a:extLst>
                  <a:ext uri="{FF2B5EF4-FFF2-40B4-BE49-F238E27FC236}">
                    <a16:creationId xmlns:a16="http://schemas.microsoft.com/office/drawing/2014/main" id="{AEBB0102-1E6F-4568-9453-42D1DFC0104A}"/>
                  </a:ext>
                </a:extLst>
              </p:cNvPr>
              <p:cNvSpPr>
                <a:spLocks noGrp="1" noRot="1" noChangeAspect="1" noMove="1" noResize="1" noEditPoints="1" noAdjustHandles="1" noChangeArrowheads="1" noChangeShapeType="1" noTextEdit="1"/>
              </p:cNvSpPr>
              <p:nvPr/>
            </p:nvSpPr>
            <p:spPr>
              <a:xfrm>
                <a:off x="609600" y="4781550"/>
                <a:ext cx="10858500" cy="428625"/>
              </a:xfrm>
              <a:prstGeom prst="rect">
                <a:avLst/>
              </a:prstGeom>
              <a:blipFill>
                <a:blip r:embed="rId5"/>
                <a:stretch>
                  <a:fillRect l="-1637" t="-20000" b="-14286"/>
                </a:stretch>
              </a:blipFill>
              <a:ln w="0">
                <a:noFill/>
              </a:ln>
            </p:spPr>
            <p:txBody>
              <a:bodyPr/>
              <a:lstStyle/>
              <a:p>
                <a:r>
                  <a:rPr lang="zh-CN" altLang="en-US">
                    <a:noFill/>
                  </a:rPr>
                  <a:t> </a:t>
                </a:r>
              </a:p>
            </p:txBody>
          </p:sp>
        </mc:Fallback>
      </mc:AlternateContent>
      <p:sp>
        <p:nvSpPr>
          <p:cNvPr id="10" name="该设定以单次当前影像为条件。多个随访时间可构成训练影像对。">
            <a:extLst>
              <a:ext uri="{FF2B5EF4-FFF2-40B4-BE49-F238E27FC236}">
                <a16:creationId xmlns:a16="http://schemas.microsoft.com/office/drawing/2014/main" id="{B32EDBC7-5822-4CDB-856C-1897046F9DD6}"/>
              </a:ext>
            </a:extLst>
          </p:cNvPr>
          <p:cNvSpPr>
            <a:spLocks noGrp="1"/>
          </p:cNvSpPr>
          <p:nvPr/>
        </p:nvSpPr>
        <p:spPr>
          <a:xfrm>
            <a:off x="609600" y="5572125"/>
            <a:ext cx="10858500" cy="571500"/>
          </a:xfrm>
          <a:prstGeom prst="rect">
            <a:avLst/>
          </a:prstGeom>
          <a:noFill/>
          <a:ln w="0">
            <a:noFill/>
          </a:ln>
        </p:spPr>
        <p:txBody>
          <a:bodyPr wrap="none" lIns="0" tIns="0" rIns="0" bIns="0" anchor="t">
            <a:noAutofit/>
          </a:bodyPr>
          <a:lstStyle>
            <a:defPPr algn="l">
              <a:defRPr sz="1875" b="0">
                <a:solidFill>
                  <a:srgbClr val="68758A"/>
                </a:solidFill>
                <a:latin typeface="Noto Sans CJK SC"/>
                <a:ea typeface="Noto Sans CJK SC"/>
                <a:cs typeface="Noto Sans CJK SC"/>
              </a:defRPr>
            </a:defPPr>
          </a:lstStyle>
          <a:p>
            <a:pPr algn="l">
              <a:buNone/>
              <a:defRPr sz="1875" b="0">
                <a:solidFill>
                  <a:srgbClr val="68758A"/>
                </a:solidFill>
                <a:latin typeface="Noto Sans CJK SC"/>
                <a:ea typeface="Noto Sans CJK SC"/>
                <a:cs typeface="Noto Sans CJK SC"/>
              </a:defRPr>
            </a:pPr>
            <a:r>
              <a:rPr sz="1875" b="0">
                <a:solidFill>
                  <a:srgbClr val="68758A"/>
                </a:solidFill>
                <a:latin typeface="Noto Sans CJK SC"/>
                <a:ea typeface="Noto Sans CJK SC"/>
                <a:cs typeface="Noto Sans CJK SC"/>
              </a:rPr>
              <a:t>每次预测只输入一张当前影像。训练时，同一患者不同时间的随访可以组成多对样本。</a:t>
            </a:r>
          </a:p>
        </p:txBody>
      </p:sp>
      <p:pic>
        <p:nvPicPr>
          <p:cNvPr id="4" name="图片 3">
            <a:extLst>
              <a:ext uri="{FF2B5EF4-FFF2-40B4-BE49-F238E27FC236}">
                <a16:creationId xmlns:a16="http://schemas.microsoft.com/office/drawing/2014/main" id="{0ED8E4AF-BCC4-0D1A-C55C-01F29EB06DA6}"/>
              </a:ext>
            </a:extLst>
          </p:cNvPr>
          <p:cNvPicPr>
            <a:picLocks noChangeAspect="1"/>
          </p:cNvPicPr>
          <p:nvPr/>
        </p:nvPicPr>
        <p:blipFill>
          <a:blip r:embed="rId6"/>
          <a:stretch>
            <a:fillRect/>
          </a:stretch>
        </p:blipFill>
        <p:spPr>
          <a:xfrm>
            <a:off x="7426712" y="1447800"/>
            <a:ext cx="3908038" cy="3704003"/>
          </a:xfrm>
          <a:prstGeom prst="rect">
            <a:avLst/>
          </a:prstGeom>
        </p:spPr>
      </p:pic>
    </p:spTree>
    <p:extLst>
      <p:ext uri="{BB962C8B-B14F-4D97-AF65-F5344CB8AC3E}">
        <p14:creationId xmlns:p14="http://schemas.microsoft.com/office/powerpoint/2010/main" val="566425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05">
            <a:extLst>
              <a:ext uri="{FF2B5EF4-FFF2-40B4-BE49-F238E27FC236}">
                <a16:creationId xmlns:a16="http://schemas.microsoft.com/office/drawing/2014/main" id="{69A591C3-27A6-438C-AAFC-E509E713255D}"/>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05</a:t>
            </a:r>
          </a:p>
        </p:txBody>
      </p:sp>
      <p:sp>
        <p:nvSpPr>
          <p:cNvPr id="3" name="静态结构主导与 Identity Collapse">
            <a:extLst>
              <a:ext uri="{FF2B5EF4-FFF2-40B4-BE49-F238E27FC236}">
                <a16:creationId xmlns:a16="http://schemas.microsoft.com/office/drawing/2014/main" id="{A8B4A104-5390-4DE1-868E-3605A4CE608C}"/>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a:solidFill>
                  <a:srgbClr val="19263E"/>
                </a:solidFill>
                <a:latin typeface="Noto Sans CJK SC"/>
                <a:ea typeface="Noto Sans CJK SC"/>
                <a:cs typeface="Noto Sans CJK SC"/>
              </a:rPr>
              <a:t>静态结构</a:t>
            </a:r>
          </a:p>
        </p:txBody>
      </p:sp>
      <p:pic>
        <p:nvPicPr>
          <p:cNvPr id="5" name="图片 4">
            <a:extLst>
              <a:ext uri="{FF2B5EF4-FFF2-40B4-BE49-F238E27FC236}">
                <a16:creationId xmlns:a16="http://schemas.microsoft.com/office/drawing/2014/main" id="{77728BB8-9502-4B02-ABD1-63EFF653070C}"/>
              </a:ext>
            </a:extLst>
          </p:cNvPr>
          <p:cNvPicPr>
            <a:picLocks noChangeAspect="1"/>
          </p:cNvPicPr>
          <p:nvPr/>
        </p:nvPicPr>
        <p:blipFill>
          <a:blip r:embed="rId3"/>
          <a:srcRect t="5233" r="21389"/>
          <a:stretch/>
        </p:blipFill>
        <p:spPr>
          <a:xfrm>
            <a:off x="1056218" y="1656132"/>
            <a:ext cx="7818842" cy="667968"/>
          </a:xfrm>
          <a:prstGeom prst="rect">
            <a:avLst/>
          </a:prstGeom>
        </p:spPr>
      </p:pic>
      <p:sp>
        <p:nvSpPr>
          <p:cNvPr id="6" name="分解含义">
            <a:extLst>
              <a:ext uri="{FF2B5EF4-FFF2-40B4-BE49-F238E27FC236}">
                <a16:creationId xmlns:a16="http://schemas.microsoft.com/office/drawing/2014/main" id="{D2F3A94D-845E-40AC-BFAD-88915FF0F898}"/>
              </a:ext>
            </a:extLst>
          </p:cNvPr>
          <p:cNvSpPr>
            <a:spLocks noGrp="1"/>
          </p:cNvSpPr>
          <p:nvPr/>
        </p:nvSpPr>
        <p:spPr>
          <a:xfrm>
            <a:off x="609600" y="2675307"/>
            <a:ext cx="5105400" cy="342900"/>
          </a:xfrm>
          <a:prstGeom prst="rect">
            <a:avLst/>
          </a:prstGeom>
          <a:noFill/>
          <a:ln w="0">
            <a:noFill/>
          </a:ln>
        </p:spPr>
        <p:txBody>
          <a:bodyPr wrap="square" lIns="0" tIns="0" rIns="0" bIns="0" anchor="t">
            <a:noAutofit/>
          </a:bodyPr>
          <a:lstStyle>
            <a:defPPr>
              <a:defRPr sz="1950" b="1">
                <a:solidFill>
                  <a:srgbClr val="356DA7"/>
                </a:solidFill>
                <a:latin typeface="Noto Sans CJK SC"/>
                <a:ea typeface="Noto Sans CJK SC"/>
                <a:cs typeface="Noto Sans CJK SC"/>
              </a:defRPr>
            </a:defPPr>
          </a:lstStyle>
          <a:p>
            <a:pPr>
              <a:buNone/>
              <a:defRPr sz="1950" b="1">
                <a:solidFill>
                  <a:srgbClr val="356DA7"/>
                </a:solidFill>
                <a:latin typeface="Noto Sans CJK SC"/>
                <a:ea typeface="Noto Sans CJK SC"/>
                <a:cs typeface="Noto Sans CJK SC"/>
              </a:defRPr>
            </a:pPr>
            <a:r>
              <a:rPr sz="1950" b="1" dirty="0" err="1">
                <a:solidFill>
                  <a:srgbClr val="356DA7"/>
                </a:solidFill>
                <a:latin typeface="Noto Sans CJK SC"/>
                <a:ea typeface="Noto Sans CJK SC"/>
                <a:cs typeface="Noto Sans CJK SC"/>
              </a:rPr>
              <a:t>分解含义</a:t>
            </a:r>
            <a:endParaRPr sz="1950" b="1" dirty="0">
              <a:solidFill>
                <a:srgbClr val="356DA7"/>
              </a:solidFill>
              <a:latin typeface="Noto Sans CJK SC"/>
              <a:ea typeface="Noto Sans CJK SC"/>
              <a:cs typeface="Noto Sans CJK SC"/>
            </a:endParaRPr>
          </a:p>
        </p:txBody>
      </p:sp>
      <mc:AlternateContent xmlns:mc="http://schemas.openxmlformats.org/markup-compatibility/2006" xmlns:a14="http://schemas.microsoft.com/office/drawing/2010/main">
        <mc:Choice Requires="a14">
          <p:sp>
            <p:nvSpPr>
              <p:cNvPr id="7" name="z_cur：已有解剖结构&#10;δ_pathology：真实病理变化&#10;η_nuisan">
                <a:extLst>
                  <a:ext uri="{FF2B5EF4-FFF2-40B4-BE49-F238E27FC236}">
                    <a16:creationId xmlns:a16="http://schemas.microsoft.com/office/drawing/2014/main" id="{0D5B8790-59C7-47F3-A007-7ACAAE24C598}"/>
                  </a:ext>
                </a:extLst>
              </p:cNvPr>
              <p:cNvSpPr>
                <a:spLocks noGrp="1"/>
              </p:cNvSpPr>
              <p:nvPr/>
            </p:nvSpPr>
            <p:spPr>
              <a:xfrm>
                <a:off x="609600" y="3133725"/>
                <a:ext cx="5105400" cy="1571625"/>
              </a:xfrm>
              <a:prstGeom prst="rect">
                <a:avLst/>
              </a:prstGeom>
              <a:noFill/>
              <a:ln w="0">
                <a:noFill/>
              </a:ln>
            </p:spPr>
            <p:txBody>
              <a:bodyPr wrap="square" lIns="0" tIns="0" rIns="0" bIns="0" anchor="t">
                <a:noAutofit/>
              </a:bodyPr>
              <a:lstStyle>
                <a:defPPr>
                  <a:defRPr sz="1875" b="0">
                    <a:solidFill>
                      <a:srgbClr val="19263E"/>
                    </a:solidFill>
                    <a:latin typeface="Noto Sans CJK SC"/>
                    <a:ea typeface="Noto Sans CJK SC"/>
                    <a:cs typeface="Noto Sans CJK SC"/>
                  </a:defRPr>
                </a:defPPr>
              </a:lstStyle>
              <a:p>
                <a:pPr>
                  <a:buNone/>
                  <a:defRPr sz="1875" b="0">
                    <a:solidFill>
                      <a:srgbClr val="19263E"/>
                    </a:solidFill>
                    <a:latin typeface="Noto Sans CJK SC"/>
                    <a:ea typeface="Noto Sans CJK SC"/>
                    <a:cs typeface="Noto Sans CJK SC"/>
                  </a:defRPr>
                </a:pPr>
                <a14:m>
                  <m:oMath xmlns:m="http://schemas.openxmlformats.org/officeDocument/2006/math">
                    <m:sSub>
                      <m:sSubPr>
                        <m:ctrlPr>
                          <a:rPr lang="ar-AE" altLang="zh-CN" sz="1875" b="0" i="1" dirty="0" smtClean="0">
                            <a:solidFill>
                              <a:srgbClr val="19263E"/>
                            </a:solidFill>
                            <a:latin typeface="Cambria Math" panose="02040503050406030204" pitchFamily="18" charset="0"/>
                            <a:ea typeface="Noto Sans CJK SC"/>
                            <a:cs typeface="Noto Sans CJK SC"/>
                          </a:rPr>
                        </m:ctrlPr>
                      </m:sSubPr>
                      <m:e>
                        <m:r>
                          <a:rPr lang="ar-AE" altLang="zh-CN" sz="1875" b="0" i="1" dirty="0" smtClean="0">
                            <a:solidFill>
                              <a:srgbClr val="19263E"/>
                            </a:solidFill>
                            <a:latin typeface="Cambria Math" panose="02040503050406030204" pitchFamily="18" charset="0"/>
                            <a:ea typeface="Noto Sans CJK SC"/>
                            <a:cs typeface="Noto Sans CJK SC"/>
                          </a:rPr>
                          <m:t>𝑧</m:t>
                        </m:r>
                      </m:e>
                      <m:sub>
                        <m:r>
                          <a:rPr lang="ar-AE" altLang="zh-CN" sz="1875" b="0" i="1" dirty="0" err="1">
                            <a:solidFill>
                              <a:srgbClr val="19263E"/>
                            </a:solidFill>
                            <a:latin typeface="Cambria Math" panose="02040503050406030204" pitchFamily="18" charset="0"/>
                            <a:ea typeface="Noto Sans CJK SC"/>
                            <a:cs typeface="Noto Sans CJK SC"/>
                          </a:rPr>
                          <m:t>𝑐𝑢𝑟</m:t>
                        </m:r>
                      </m:sub>
                    </m:sSub>
                  </m:oMath>
                </a14:m>
                <a:r>
                  <a:rPr lang="ar-AE" sz="1875" b="0" dirty="0" err="1">
                    <a:solidFill>
                      <a:srgbClr val="19263E"/>
                    </a:solidFill>
                    <a:latin typeface="Noto Sans CJK SC"/>
                    <a:ea typeface="Noto Sans CJK SC"/>
                    <a:cs typeface="Noto Sans CJK SC"/>
                  </a:rPr>
                  <a:t>：</a:t>
                </a:r>
                <a:r>
                  <a:rPr lang="zh-CN" altLang="en-US" sz="1875" b="0" dirty="0" err="1">
                    <a:solidFill>
                      <a:srgbClr val="19263E"/>
                    </a:solidFill>
                    <a:latin typeface="Noto Sans CJK SC"/>
                    <a:ea typeface="Noto Sans CJK SC"/>
                    <a:cs typeface="Noto Sans CJK SC"/>
                  </a:rPr>
                  <a:t>已有解剖结构</a:t>
                </a:r>
                <a:endParaRPr lang="zh-CN" altLang="en-US" sz="1875" b="0" dirty="0">
                  <a:solidFill>
                    <a:srgbClr val="19263E"/>
                  </a:solidFill>
                  <a:latin typeface="Noto Sans CJK SC"/>
                  <a:ea typeface="Noto Sans CJK SC"/>
                  <a:cs typeface="Noto Sans CJK SC"/>
                </a:endParaRPr>
              </a:p>
              <a:p>
                <a:pPr>
                  <a:buNone/>
                  <a:defRPr sz="1875" b="0">
                    <a:solidFill>
                      <a:srgbClr val="19263E"/>
                    </a:solidFill>
                    <a:latin typeface="Noto Sans CJK SC"/>
                    <a:ea typeface="Noto Sans CJK SC"/>
                    <a:cs typeface="Noto Sans CJK SC"/>
                  </a:defRPr>
                </a:pPr>
                <a14:m>
                  <m:oMath xmlns:m="http://schemas.openxmlformats.org/officeDocument/2006/math">
                    <m:sSub>
                      <m:sSubPr>
                        <m:ctrlPr>
                          <a:rPr lang="el-GR" sz="1875" b="0" i="1" dirty="0" smtClean="0">
                            <a:solidFill>
                              <a:srgbClr val="19263E"/>
                            </a:solidFill>
                            <a:latin typeface="Cambria Math" panose="02040503050406030204" pitchFamily="18" charset="0"/>
                            <a:ea typeface="Noto Sans CJK SC"/>
                            <a:cs typeface="Noto Sans CJK SC"/>
                          </a:rPr>
                        </m:ctrlPr>
                      </m:sSubPr>
                      <m:e>
                        <m:r>
                          <a:rPr lang="el-GR" sz="1875" b="0" i="1" dirty="0" smtClean="0">
                            <a:solidFill>
                              <a:srgbClr val="19263E"/>
                            </a:solidFill>
                            <a:latin typeface="Cambria Math" panose="02040503050406030204" pitchFamily="18" charset="0"/>
                            <a:ea typeface="Noto Sans CJK SC"/>
                            <a:cs typeface="Noto Sans CJK SC"/>
                          </a:rPr>
                          <m:t>𝛿</m:t>
                        </m:r>
                      </m:e>
                      <m:sub>
                        <m:r>
                          <a:rPr lang="en-US" sz="1875" b="0" i="1" dirty="0" err="1">
                            <a:solidFill>
                              <a:srgbClr val="19263E"/>
                            </a:solidFill>
                            <a:latin typeface="Cambria Math" panose="02040503050406030204" pitchFamily="18" charset="0"/>
                            <a:ea typeface="Noto Sans CJK SC"/>
                            <a:cs typeface="Noto Sans CJK SC"/>
                          </a:rPr>
                          <m:t>𝑝𝑎𝑡h𝑜𝑙𝑜𝑔𝑦</m:t>
                        </m:r>
                      </m:sub>
                    </m:sSub>
                  </m:oMath>
                </a14:m>
                <a:r>
                  <a:rPr lang="en-US" sz="1875" b="0" dirty="0" err="1">
                    <a:solidFill>
                      <a:srgbClr val="19263E"/>
                    </a:solidFill>
                    <a:latin typeface="Noto Sans CJK SC"/>
                    <a:ea typeface="Noto Sans CJK SC"/>
                    <a:cs typeface="Noto Sans CJK SC"/>
                  </a:rPr>
                  <a:t>：</a:t>
                </a:r>
                <a:r>
                  <a:rPr lang="zh-CN" altLang="en-US" sz="1875" b="0" dirty="0" err="1">
                    <a:solidFill>
                      <a:srgbClr val="19263E"/>
                    </a:solidFill>
                    <a:latin typeface="Noto Sans CJK SC"/>
                    <a:ea typeface="Noto Sans CJK SC"/>
                    <a:cs typeface="Noto Sans CJK SC"/>
                  </a:rPr>
                  <a:t>真实病理变化</a:t>
                </a:r>
                <a:endParaRPr lang="zh-CN" altLang="en-US" sz="1875" b="0" dirty="0">
                  <a:solidFill>
                    <a:srgbClr val="19263E"/>
                  </a:solidFill>
                  <a:latin typeface="Noto Sans CJK SC"/>
                  <a:ea typeface="Noto Sans CJK SC"/>
                  <a:cs typeface="Noto Sans CJK SC"/>
                </a:endParaRPr>
              </a:p>
              <a:p>
                <a:pPr>
                  <a:buNone/>
                  <a:defRPr sz="1875" b="0">
                    <a:solidFill>
                      <a:srgbClr val="19263E"/>
                    </a:solidFill>
                    <a:latin typeface="Noto Sans CJK SC"/>
                    <a:ea typeface="Noto Sans CJK SC"/>
                    <a:cs typeface="Noto Sans CJK SC"/>
                  </a:defRPr>
                </a:pPr>
                <a14:m>
                  <m:oMath xmlns:m="http://schemas.openxmlformats.org/officeDocument/2006/math">
                    <m:sSub>
                      <m:sSubPr>
                        <m:ctrlPr>
                          <a:rPr lang="el-GR" sz="1875" b="0" i="1" dirty="0" smtClean="0">
                            <a:solidFill>
                              <a:srgbClr val="19263E"/>
                            </a:solidFill>
                            <a:latin typeface="Cambria Math" panose="02040503050406030204" pitchFamily="18" charset="0"/>
                            <a:ea typeface="Noto Sans CJK SC"/>
                            <a:cs typeface="Noto Sans CJK SC"/>
                          </a:rPr>
                        </m:ctrlPr>
                      </m:sSubPr>
                      <m:e>
                        <m:r>
                          <a:rPr lang="el-GR" sz="1875" b="0" i="1" dirty="0" smtClean="0">
                            <a:solidFill>
                              <a:srgbClr val="19263E"/>
                            </a:solidFill>
                            <a:latin typeface="Cambria Math" panose="02040503050406030204" pitchFamily="18" charset="0"/>
                            <a:ea typeface="Noto Sans CJK SC"/>
                            <a:cs typeface="Noto Sans CJK SC"/>
                          </a:rPr>
                          <m:t>𝜂</m:t>
                        </m:r>
                      </m:e>
                      <m:sub>
                        <m:r>
                          <a:rPr lang="en-US" sz="1875" b="0" i="1" dirty="0" err="1">
                            <a:solidFill>
                              <a:srgbClr val="19263E"/>
                            </a:solidFill>
                            <a:latin typeface="Cambria Math" panose="02040503050406030204" pitchFamily="18" charset="0"/>
                            <a:ea typeface="Noto Sans CJK SC"/>
                            <a:cs typeface="Noto Sans CJK SC"/>
                          </a:rPr>
                          <m:t>𝑛𝑢𝑖𝑠𝑎𝑛𝑐𝑒</m:t>
                        </m:r>
                      </m:sub>
                    </m:sSub>
                  </m:oMath>
                </a14:m>
                <a:r>
                  <a:rPr lang="en-US" sz="1875" b="0" dirty="0" err="1">
                    <a:solidFill>
                      <a:srgbClr val="19263E"/>
                    </a:solidFill>
                    <a:latin typeface="Noto Sans CJK SC"/>
                    <a:ea typeface="Noto Sans CJK SC"/>
                    <a:cs typeface="Noto Sans CJK SC"/>
                  </a:rPr>
                  <a:t>：</a:t>
                </a:r>
                <a:r>
                  <a:rPr lang="zh-CN" altLang="en-US" sz="1875" b="0" dirty="0">
                    <a:solidFill>
                      <a:srgbClr val="19263E"/>
                    </a:solidFill>
                    <a:latin typeface="Noto Sans CJK SC"/>
                    <a:ea typeface="Noto Sans CJK SC"/>
                    <a:cs typeface="Noto Sans CJK SC"/>
                  </a:rPr>
                  <a:t>扫描与配准等噪声</a:t>
                </a:r>
                <a:endParaRPr sz="1875" b="0" dirty="0">
                  <a:solidFill>
                    <a:srgbClr val="19263E"/>
                  </a:solidFill>
                  <a:latin typeface="Noto Sans CJK SC"/>
                  <a:ea typeface="Noto Sans CJK SC"/>
                  <a:cs typeface="Noto Sans CJK SC"/>
                </a:endParaRPr>
              </a:p>
            </p:txBody>
          </p:sp>
        </mc:Choice>
        <mc:Fallback xmlns="">
          <p:sp>
            <p:nvSpPr>
              <p:cNvPr id="7" name="z_cur：已有解剖结构&#10;δ_pathology：真实病理变化&#10;η_nuisan">
                <a:extLst>
                  <a:ext uri="{FF2B5EF4-FFF2-40B4-BE49-F238E27FC236}">
                    <a16:creationId xmlns:a16="http://schemas.microsoft.com/office/drawing/2014/main" id="{0D5B8790-59C7-47F3-A007-7ACAAE24C598}"/>
                  </a:ext>
                </a:extLst>
              </p:cNvPr>
              <p:cNvSpPr>
                <a:spLocks noGrp="1" noRot="1" noChangeAspect="1" noMove="1" noResize="1" noEditPoints="1" noAdjustHandles="1" noChangeArrowheads="1" noChangeShapeType="1" noTextEdit="1"/>
              </p:cNvSpPr>
              <p:nvPr/>
            </p:nvSpPr>
            <p:spPr>
              <a:xfrm>
                <a:off x="609600" y="3133725"/>
                <a:ext cx="5105400" cy="1571625"/>
              </a:xfrm>
              <a:prstGeom prst="rect">
                <a:avLst/>
              </a:prstGeom>
              <a:blipFill>
                <a:blip r:embed="rId4"/>
                <a:stretch>
                  <a:fillRect l="-1737" t="-4800"/>
                </a:stretch>
              </a:blipFill>
              <a:ln w="0">
                <a:noFill/>
              </a:ln>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9535A4E0-C0CC-4805-8BA9-7D4278FEE7C8}"/>
              </a:ext>
            </a:extLst>
          </p:cNvPr>
          <p:cNvPicPr>
            <a:picLocks noChangeAspect="1"/>
          </p:cNvPicPr>
          <p:nvPr/>
        </p:nvPicPr>
        <p:blipFill>
          <a:blip r:embed="rId5"/>
          <a:stretch/>
        </p:blipFill>
        <p:spPr>
          <a:xfrm>
            <a:off x="6238875" y="2789607"/>
            <a:ext cx="5238750" cy="1888387"/>
          </a:xfrm>
          <a:prstGeom prst="rect">
            <a:avLst/>
          </a:prstGeom>
        </p:spPr>
      </p:pic>
      <p:sp>
        <p:nvSpPr>
          <p:cNvPr id="9" name="作者观察：完整状态预测的梯度较分散，变化目标的梯度更集中。">
            <a:extLst>
              <a:ext uri="{FF2B5EF4-FFF2-40B4-BE49-F238E27FC236}">
                <a16:creationId xmlns:a16="http://schemas.microsoft.com/office/drawing/2014/main" id="{E839E815-58D9-4988-A95C-8C8A7D87CA96}"/>
              </a:ext>
            </a:extLst>
          </p:cNvPr>
          <p:cNvSpPr>
            <a:spLocks noGrp="1"/>
          </p:cNvSpPr>
          <p:nvPr/>
        </p:nvSpPr>
        <p:spPr>
          <a:xfrm>
            <a:off x="6238875" y="4943475"/>
            <a:ext cx="5238750" cy="866775"/>
          </a:xfrm>
          <a:prstGeom prst="rect">
            <a:avLst/>
          </a:prstGeom>
          <a:noFill/>
          <a:ln w="0">
            <a:noFill/>
          </a:ln>
        </p:spPr>
        <p:txBody>
          <a:bodyPr wrap="none" lIns="0" tIns="0" rIns="0" bIns="0" anchor="t">
            <a:noAutofit/>
          </a:bodyPr>
          <a:lstStyle>
            <a:defPPr algn="l">
              <a:defRPr sz="1725" b="0">
                <a:solidFill>
                  <a:srgbClr val="68758A"/>
                </a:solidFill>
                <a:latin typeface="Noto Sans CJK SC"/>
                <a:ea typeface="Noto Sans CJK SC"/>
                <a:cs typeface="Noto Sans CJK SC"/>
              </a:defRPr>
            </a:defPPr>
          </a:lstStyle>
          <a:p>
            <a:pPr algn="l">
              <a:buNone/>
              <a:defRPr sz="1725" b="0">
                <a:solidFill>
                  <a:srgbClr val="68758A"/>
                </a:solidFill>
                <a:latin typeface="Noto Sans CJK SC"/>
                <a:ea typeface="Noto Sans CJK SC"/>
                <a:cs typeface="Noto Sans CJK SC"/>
              </a:defRPr>
            </a:pPr>
            <a:r>
              <a:rPr sz="1725" b="0">
                <a:solidFill>
                  <a:srgbClr val="68758A"/>
                </a:solidFill>
                <a:latin typeface="Noto Sans CJK SC"/>
                <a:ea typeface="Noto Sans CJK SC"/>
                <a:cs typeface="Noto Sans CJK SC"/>
              </a:rPr>
              <a:t>作者观察到，预测完整未来影像时梯度较分散，改为</a:t>
            </a:r>
          </a:p>
          <a:p>
            <a:pPr algn="l">
              <a:buNone/>
              <a:defRPr sz="1725" b="0">
                <a:solidFill>
                  <a:srgbClr val="68758A"/>
                </a:solidFill>
                <a:latin typeface="Noto Sans CJK SC"/>
                <a:ea typeface="Noto Sans CJK SC"/>
                <a:cs typeface="Noto Sans CJK SC"/>
              </a:defRPr>
            </a:pPr>
            <a:r>
              <a:rPr sz="1725" b="0">
                <a:solidFill>
                  <a:srgbClr val="68758A"/>
                </a:solidFill>
                <a:latin typeface="Noto Sans CJK SC"/>
                <a:ea typeface="Noto Sans CJK SC"/>
                <a:cs typeface="Noto Sans CJK SC"/>
              </a:rPr>
              <a:t>预测变化后，梯度更集中。</a:t>
            </a:r>
          </a:p>
        </p:txBody>
      </p:sp>
      <p:sp>
        <p:nvSpPr>
          <p:cNvPr id="10" name="方法动机：保留 baseline 通路，让生成分支集中表达变化。">
            <a:extLst>
              <a:ext uri="{FF2B5EF4-FFF2-40B4-BE49-F238E27FC236}">
                <a16:creationId xmlns:a16="http://schemas.microsoft.com/office/drawing/2014/main" id="{4F5A6228-3537-4B11-AF79-38A6A5F10FB7}"/>
              </a:ext>
            </a:extLst>
          </p:cNvPr>
          <p:cNvSpPr>
            <a:spLocks noGrp="1"/>
          </p:cNvSpPr>
          <p:nvPr/>
        </p:nvSpPr>
        <p:spPr>
          <a:xfrm>
            <a:off x="609600" y="5838825"/>
            <a:ext cx="10858500" cy="409575"/>
          </a:xfrm>
          <a:prstGeom prst="rect">
            <a:avLst/>
          </a:prstGeom>
          <a:noFill/>
          <a:ln w="0">
            <a:noFill/>
          </a:ln>
        </p:spPr>
        <p:txBody>
          <a:bodyPr wrap="none" lIns="0" tIns="0" rIns="0" bIns="0" anchor="t">
            <a:noAutofit/>
          </a:bodyPr>
          <a:lstStyle>
            <a:defPPr algn="l">
              <a:defRPr sz="1950" b="0">
                <a:solidFill>
                  <a:srgbClr val="356DA7"/>
                </a:solidFill>
                <a:latin typeface="Noto Sans CJK SC"/>
                <a:ea typeface="Noto Sans CJK SC"/>
                <a:cs typeface="Noto Sans CJK SC"/>
              </a:defRPr>
            </a:defPPr>
          </a:lstStyle>
          <a:p>
            <a:pPr algn="l">
              <a:buNone/>
              <a:defRPr sz="1950" b="0">
                <a:solidFill>
                  <a:srgbClr val="356DA7"/>
                </a:solidFill>
                <a:latin typeface="Noto Sans CJK SC"/>
                <a:ea typeface="Noto Sans CJK SC"/>
                <a:cs typeface="Noto Sans CJK SC"/>
              </a:defRPr>
            </a:pPr>
            <a:r>
              <a:rPr sz="1950" b="0" dirty="0" err="1">
                <a:solidFill>
                  <a:srgbClr val="356DA7"/>
                </a:solidFill>
                <a:latin typeface="Noto Sans CJK SC"/>
                <a:ea typeface="Noto Sans CJK SC"/>
                <a:cs typeface="Noto Sans CJK SC"/>
              </a:rPr>
              <a:t>因此，模型单独保留当前结构，让生成分支主要学习</a:t>
            </a:r>
            <a:r>
              <a:rPr sz="1950" b="1" dirty="0" err="1">
                <a:solidFill>
                  <a:srgbClr val="356DA7"/>
                </a:solidFill>
                <a:latin typeface="Noto Sans CJK SC"/>
                <a:ea typeface="Noto Sans CJK SC"/>
                <a:cs typeface="Noto Sans CJK SC"/>
              </a:rPr>
              <a:t>前后影像的变化</a:t>
            </a:r>
            <a:r>
              <a:rPr sz="1950" b="0" dirty="0">
                <a:solidFill>
                  <a:srgbClr val="356DA7"/>
                </a:solidFill>
                <a:latin typeface="Noto Sans CJK SC"/>
                <a:ea typeface="Noto Sans CJK SC"/>
                <a:cs typeface="Noto Sans CJK SC"/>
              </a:rPr>
              <a:t>。</a:t>
            </a:r>
          </a:p>
        </p:txBody>
      </p:sp>
    </p:spTree>
    <p:extLst>
      <p:ext uri="{BB962C8B-B14F-4D97-AF65-F5344CB8AC3E}">
        <p14:creationId xmlns:p14="http://schemas.microsoft.com/office/powerpoint/2010/main" val="813048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06">
            <a:extLst>
              <a:ext uri="{FF2B5EF4-FFF2-40B4-BE49-F238E27FC236}">
                <a16:creationId xmlns:a16="http://schemas.microsoft.com/office/drawing/2014/main" id="{D83062A4-3159-4B47-B625-71E1DAC2EF6D}"/>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06</a:t>
            </a:r>
          </a:p>
        </p:txBody>
      </p:sp>
      <p:sp>
        <p:nvSpPr>
          <p:cNvPr id="3" name="连续变化表示中的噪声">
            <a:extLst>
              <a:ext uri="{FF2B5EF4-FFF2-40B4-BE49-F238E27FC236}">
                <a16:creationId xmlns:a16="http://schemas.microsoft.com/office/drawing/2014/main" id="{9375F5AC-CC9F-47A0-8F94-7E2C90DB8D33}"/>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a:solidFill>
                  <a:srgbClr val="19263E"/>
                </a:solidFill>
                <a:latin typeface="Noto Sans CJK SC"/>
                <a:ea typeface="Noto Sans CJK SC"/>
                <a:cs typeface="Noto Sans CJK SC"/>
              </a:rPr>
              <a:t>噪声影响</a:t>
            </a:r>
          </a:p>
        </p:txBody>
      </p:sp>
      <mc:AlternateContent xmlns:mc="http://schemas.openxmlformats.org/markup-compatibility/2006" xmlns:a14="http://schemas.microsoft.com/office/drawing/2010/main">
        <mc:Choice Requires="a14">
          <p:sp>
            <p:nvSpPr>
              <p:cNvPr id="5" name="Δz = z_fut − z_cur = δ + η">
                <a:extLst>
                  <a:ext uri="{FF2B5EF4-FFF2-40B4-BE49-F238E27FC236}">
                    <a16:creationId xmlns:a16="http://schemas.microsoft.com/office/drawing/2014/main" id="{389ABDB0-D79B-4074-9B41-1BB6137094D1}"/>
                  </a:ext>
                </a:extLst>
              </p:cNvPr>
              <p:cNvSpPr>
                <a:spLocks noGrp="1"/>
              </p:cNvSpPr>
              <p:nvPr/>
            </p:nvSpPr>
            <p:spPr>
              <a:xfrm>
                <a:off x="609600" y="1657350"/>
                <a:ext cx="10668000" cy="552450"/>
              </a:xfrm>
              <a:prstGeom prst="rect">
                <a:avLst/>
              </a:prstGeom>
              <a:noFill/>
              <a:ln w="0">
                <a:noFill/>
              </a:ln>
            </p:spPr>
            <p:txBody>
              <a:bodyPr wrap="square" lIns="0" tIns="0" rIns="0" bIns="0" anchor="t">
                <a:noAutofit/>
              </a:bodyPr>
              <a:lstStyle>
                <a:defPPr>
                  <a:defRPr sz="2700" b="1">
                    <a:solidFill>
                      <a:srgbClr val="19263E"/>
                    </a:solidFill>
                    <a:latin typeface="Noto Sans CJK SC"/>
                    <a:ea typeface="Noto Sans CJK SC"/>
                    <a:cs typeface="Noto Sans CJK SC"/>
                  </a:defRPr>
                </a:defPPr>
              </a:lstStyle>
              <a:p>
                <a:pPr>
                  <a:buNone/>
                  <a:defRPr sz="2700" b="1">
                    <a:solidFill>
                      <a:srgbClr val="19263E"/>
                    </a:solidFill>
                    <a:latin typeface="Noto Sans CJK SC"/>
                    <a:ea typeface="Noto Sans CJK SC"/>
                    <a:cs typeface="Noto Sans CJK SC"/>
                  </a:defRPr>
                </a:pPr>
                <a14:m>
                  <m:oMathPara xmlns:m="http://schemas.openxmlformats.org/officeDocument/2006/math">
                    <m:oMathParaPr>
                      <m:jc m:val="left"/>
                    </m:oMathParaPr>
                    <m:oMath xmlns:m="http://schemas.openxmlformats.org/officeDocument/2006/math">
                      <m:r>
                        <a:rPr lang="zh-CN" altLang="en-US" sz="2700" b="1" i="0" dirty="0" smtClean="0">
                          <a:solidFill>
                            <a:srgbClr val="19263E"/>
                          </a:solidFill>
                          <a:latin typeface="Cambria Math" panose="02040503050406030204" pitchFamily="18" charset="0"/>
                          <a:ea typeface="Noto Sans CJK SC"/>
                          <a:cs typeface="Noto Sans CJK SC"/>
                        </a:rPr>
                        <m:t>𝚫</m:t>
                      </m:r>
                      <m:r>
                        <a:rPr lang="zh-CN" altLang="en-US" sz="2700" b="1" i="1" dirty="0" err="1">
                          <a:solidFill>
                            <a:srgbClr val="19263E"/>
                          </a:solidFill>
                          <a:latin typeface="Cambria Math" panose="02040503050406030204" pitchFamily="18" charset="0"/>
                          <a:ea typeface="Noto Sans CJK SC"/>
                          <a:cs typeface="Noto Sans CJK SC"/>
                        </a:rPr>
                        <m:t>𝒛</m:t>
                      </m:r>
                      <m:r>
                        <a:rPr lang="zh-CN" altLang="en-US" sz="2700" b="1" i="1" dirty="0">
                          <a:solidFill>
                            <a:srgbClr val="19263E"/>
                          </a:solidFill>
                          <a:latin typeface="Cambria Math" panose="02040503050406030204" pitchFamily="18" charset="0"/>
                          <a:ea typeface="Noto Sans CJK SC"/>
                          <a:cs typeface="Noto Sans CJK SC"/>
                        </a:rPr>
                        <m:t> </m:t>
                      </m:r>
                      <m:r>
                        <a:rPr lang="en-US" altLang="zh-CN" sz="2700" b="1" i="1" dirty="0">
                          <a:solidFill>
                            <a:srgbClr val="19263E"/>
                          </a:solidFill>
                          <a:latin typeface="Cambria Math" panose="02040503050406030204" pitchFamily="18" charset="0"/>
                          <a:ea typeface="Noto Sans CJK SC"/>
                          <a:cs typeface="Noto Sans CJK SC"/>
                        </a:rPr>
                        <m:t>= </m:t>
                      </m:r>
                      <m:sSub>
                        <m:sSubPr>
                          <m:ctrlPr>
                            <a:rPr lang="en-US" altLang="zh-CN" sz="2700" b="1" i="1" dirty="0" err="1">
                              <a:solidFill>
                                <a:srgbClr val="19263E"/>
                              </a:solidFill>
                              <a:latin typeface="Cambria Math" panose="02040503050406030204" pitchFamily="18" charset="0"/>
                              <a:ea typeface="Noto Sans CJK SC"/>
                              <a:cs typeface="Noto Sans CJK SC"/>
                            </a:rPr>
                          </m:ctrlPr>
                        </m:sSubPr>
                        <m:e>
                          <m:r>
                            <a:rPr lang="zh-CN" altLang="en-US" sz="2700" b="1" i="1" dirty="0" err="1">
                              <a:solidFill>
                                <a:srgbClr val="19263E"/>
                              </a:solidFill>
                              <a:latin typeface="Cambria Math" panose="02040503050406030204" pitchFamily="18" charset="0"/>
                              <a:ea typeface="Noto Sans CJK SC"/>
                              <a:cs typeface="Noto Sans CJK SC"/>
                            </a:rPr>
                            <m:t>𝒛</m:t>
                          </m:r>
                        </m:e>
                        <m:sub>
                          <m:r>
                            <a:rPr lang="en-US" altLang="zh-CN" sz="2700" b="1" i="1" dirty="0" err="1">
                              <a:solidFill>
                                <a:srgbClr val="19263E"/>
                              </a:solidFill>
                              <a:latin typeface="Cambria Math" panose="02040503050406030204" pitchFamily="18" charset="0"/>
                              <a:ea typeface="Noto Sans CJK SC"/>
                              <a:cs typeface="Noto Sans CJK SC"/>
                            </a:rPr>
                            <m:t>𝒇𝒖𝒕</m:t>
                          </m:r>
                        </m:sub>
                      </m:sSub>
                      <m:r>
                        <a:rPr lang="zh-CN" altLang="en-US" sz="2700" b="1" i="1" dirty="0">
                          <a:solidFill>
                            <a:srgbClr val="19263E"/>
                          </a:solidFill>
                          <a:latin typeface="Cambria Math" panose="02040503050406030204" pitchFamily="18" charset="0"/>
                          <a:ea typeface="Noto Sans CJK SC"/>
                          <a:cs typeface="Noto Sans CJK SC"/>
                        </a:rPr>
                        <m:t> − </m:t>
                      </m:r>
                      <m:sSub>
                        <m:sSubPr>
                          <m:ctrlPr>
                            <a:rPr lang="en-US" altLang="zh-CN" sz="2700" b="1" i="1" dirty="0" err="1">
                              <a:solidFill>
                                <a:srgbClr val="19263E"/>
                              </a:solidFill>
                              <a:latin typeface="Cambria Math" panose="02040503050406030204" pitchFamily="18" charset="0"/>
                              <a:ea typeface="Noto Sans CJK SC"/>
                              <a:cs typeface="Noto Sans CJK SC"/>
                            </a:rPr>
                          </m:ctrlPr>
                        </m:sSubPr>
                        <m:e>
                          <m:r>
                            <a:rPr lang="zh-CN" altLang="en-US" sz="2700" b="1" i="1" dirty="0" err="1">
                              <a:solidFill>
                                <a:srgbClr val="19263E"/>
                              </a:solidFill>
                              <a:latin typeface="Cambria Math" panose="02040503050406030204" pitchFamily="18" charset="0"/>
                              <a:ea typeface="Noto Sans CJK SC"/>
                              <a:cs typeface="Noto Sans CJK SC"/>
                            </a:rPr>
                            <m:t>𝒛</m:t>
                          </m:r>
                        </m:e>
                        <m:sub>
                          <m:r>
                            <a:rPr lang="en-US" altLang="zh-CN" sz="2700" b="1" i="1" dirty="0" err="1">
                              <a:solidFill>
                                <a:srgbClr val="19263E"/>
                              </a:solidFill>
                              <a:latin typeface="Cambria Math" panose="02040503050406030204" pitchFamily="18" charset="0"/>
                              <a:ea typeface="Noto Sans CJK SC"/>
                              <a:cs typeface="Noto Sans CJK SC"/>
                            </a:rPr>
                            <m:t>𝒄𝒖𝒓</m:t>
                          </m:r>
                        </m:sub>
                      </m:sSub>
                      <m:r>
                        <a:rPr lang="zh-CN" altLang="en-US" sz="2700" b="1" i="1" dirty="0">
                          <a:solidFill>
                            <a:srgbClr val="19263E"/>
                          </a:solidFill>
                          <a:latin typeface="Cambria Math" panose="02040503050406030204" pitchFamily="18" charset="0"/>
                          <a:ea typeface="Noto Sans CJK SC"/>
                          <a:cs typeface="Noto Sans CJK SC"/>
                        </a:rPr>
                        <m:t> </m:t>
                      </m:r>
                      <m:r>
                        <a:rPr lang="en-US" altLang="zh-CN" sz="2700" b="1" i="1" dirty="0">
                          <a:solidFill>
                            <a:srgbClr val="19263E"/>
                          </a:solidFill>
                          <a:latin typeface="Cambria Math" panose="02040503050406030204" pitchFamily="18" charset="0"/>
                          <a:ea typeface="Noto Sans CJK SC"/>
                          <a:cs typeface="Noto Sans CJK SC"/>
                        </a:rPr>
                        <m:t>= </m:t>
                      </m:r>
                      <m:r>
                        <a:rPr lang="zh-CN" altLang="en-US" sz="2700" b="1" i="1" dirty="0" err="1">
                          <a:solidFill>
                            <a:srgbClr val="19263E"/>
                          </a:solidFill>
                          <a:latin typeface="Cambria Math" panose="02040503050406030204" pitchFamily="18" charset="0"/>
                          <a:ea typeface="Noto Sans CJK SC"/>
                          <a:cs typeface="Noto Sans CJK SC"/>
                        </a:rPr>
                        <m:t>𝜹</m:t>
                      </m:r>
                      <m:r>
                        <a:rPr lang="zh-CN" altLang="en-US" sz="2700" b="1" i="1" dirty="0">
                          <a:solidFill>
                            <a:srgbClr val="19263E"/>
                          </a:solidFill>
                          <a:latin typeface="Cambria Math" panose="02040503050406030204" pitchFamily="18" charset="0"/>
                          <a:ea typeface="Noto Sans CJK SC"/>
                          <a:cs typeface="Noto Sans CJK SC"/>
                        </a:rPr>
                        <m:t> </m:t>
                      </m:r>
                      <m:r>
                        <a:rPr lang="en-US" altLang="zh-CN" sz="2700" b="1" i="1" dirty="0">
                          <a:solidFill>
                            <a:srgbClr val="19263E"/>
                          </a:solidFill>
                          <a:latin typeface="Cambria Math" panose="02040503050406030204" pitchFamily="18" charset="0"/>
                          <a:ea typeface="Noto Sans CJK SC"/>
                          <a:cs typeface="Noto Sans CJK SC"/>
                        </a:rPr>
                        <m:t>+ </m:t>
                      </m:r>
                      <m:r>
                        <a:rPr lang="zh-CN" altLang="en-US" sz="2700" b="1" i="1" dirty="0" err="1">
                          <a:solidFill>
                            <a:srgbClr val="19263E"/>
                          </a:solidFill>
                          <a:latin typeface="Cambria Math" panose="02040503050406030204" pitchFamily="18" charset="0"/>
                          <a:ea typeface="Noto Sans CJK SC"/>
                          <a:cs typeface="Noto Sans CJK SC"/>
                        </a:rPr>
                        <m:t>𝜼</m:t>
                      </m:r>
                    </m:oMath>
                  </m:oMathPara>
                </a14:m>
                <a:endParaRPr sz="2700" b="1" dirty="0">
                  <a:solidFill>
                    <a:srgbClr val="19263E"/>
                  </a:solidFill>
                  <a:latin typeface="Noto Sans CJK SC"/>
                  <a:ea typeface="Noto Sans CJK SC"/>
                  <a:cs typeface="Noto Sans CJK SC"/>
                </a:endParaRPr>
              </a:p>
            </p:txBody>
          </p:sp>
        </mc:Choice>
        <mc:Fallback xmlns="">
          <p:sp>
            <p:nvSpPr>
              <p:cNvPr id="5" name="Δz = z_fut − z_cur = δ + η">
                <a:extLst>
                  <a:ext uri="{FF2B5EF4-FFF2-40B4-BE49-F238E27FC236}">
                    <a16:creationId xmlns:a16="http://schemas.microsoft.com/office/drawing/2014/main" id="{389ABDB0-D79B-4074-9B41-1BB6137094D1}"/>
                  </a:ext>
                </a:extLst>
              </p:cNvPr>
              <p:cNvSpPr>
                <a:spLocks noGrp="1" noRot="1" noChangeAspect="1" noMove="1" noResize="1" noEditPoints="1" noAdjustHandles="1" noChangeArrowheads="1" noChangeShapeType="1" noTextEdit="1"/>
              </p:cNvSpPr>
              <p:nvPr/>
            </p:nvSpPr>
            <p:spPr>
              <a:xfrm>
                <a:off x="609600" y="1657350"/>
                <a:ext cx="10668000" cy="552450"/>
              </a:xfrm>
              <a:prstGeom prst="rect">
                <a:avLst/>
              </a:prstGeom>
              <a:blipFill>
                <a:blip r:embed="rId3"/>
                <a:stretch>
                  <a:fillRect l="-1189" t="-4444" b="-4444"/>
                </a:stretch>
              </a:blipFill>
              <a:ln w="0">
                <a:noFill/>
              </a:ln>
            </p:spPr>
            <p:txBody>
              <a:bodyPr/>
              <a:lstStyle/>
              <a:p>
                <a:r>
                  <a:rPr lang="zh-CN" altLang="en-US">
                    <a:noFill/>
                  </a:rPr>
                  <a:t> </a:t>
                </a:r>
              </a:p>
            </p:txBody>
          </p:sp>
        </mc:Fallback>
      </mc:AlternateContent>
      <p:sp>
        <p:nvSpPr>
          <p:cNvPr id="6" name="作者的建模假设">
            <a:extLst>
              <a:ext uri="{FF2B5EF4-FFF2-40B4-BE49-F238E27FC236}">
                <a16:creationId xmlns:a16="http://schemas.microsoft.com/office/drawing/2014/main" id="{6BF8BCD2-4311-454E-AC99-39CBE7CBA9C1}"/>
              </a:ext>
            </a:extLst>
          </p:cNvPr>
          <p:cNvSpPr>
            <a:spLocks noGrp="1"/>
          </p:cNvSpPr>
          <p:nvPr/>
        </p:nvSpPr>
        <p:spPr>
          <a:xfrm>
            <a:off x="609600" y="2505075"/>
            <a:ext cx="10906125" cy="342900"/>
          </a:xfrm>
          <a:prstGeom prst="rect">
            <a:avLst/>
          </a:prstGeom>
          <a:noFill/>
          <a:ln w="0">
            <a:noFill/>
          </a:ln>
        </p:spPr>
        <p:txBody>
          <a:bodyPr wrap="square" lIns="0" tIns="0" rIns="0" bIns="0" anchor="t">
            <a:noAutofit/>
          </a:bodyPr>
          <a:lstStyle>
            <a:defPPr>
              <a:defRPr sz="1950" b="1">
                <a:solidFill>
                  <a:srgbClr val="356DA7"/>
                </a:solidFill>
                <a:latin typeface="Noto Sans CJK SC"/>
                <a:ea typeface="Noto Sans CJK SC"/>
                <a:cs typeface="Noto Sans CJK SC"/>
              </a:defRPr>
            </a:defPPr>
          </a:lstStyle>
          <a:p>
            <a:pPr>
              <a:buNone/>
              <a:defRPr sz="1950" b="1">
                <a:solidFill>
                  <a:srgbClr val="356DA7"/>
                </a:solidFill>
                <a:latin typeface="Noto Sans CJK SC"/>
                <a:ea typeface="Noto Sans CJK SC"/>
                <a:cs typeface="Noto Sans CJK SC"/>
              </a:defRPr>
            </a:pPr>
            <a:r>
              <a:rPr sz="1950" b="1" dirty="0" err="1">
                <a:solidFill>
                  <a:srgbClr val="356DA7"/>
                </a:solidFill>
                <a:latin typeface="Noto Sans CJK SC"/>
                <a:ea typeface="Noto Sans CJK SC"/>
                <a:cs typeface="Noto Sans CJK SC"/>
              </a:rPr>
              <a:t>建模假设</a:t>
            </a:r>
            <a:endParaRPr sz="1950" b="1" dirty="0">
              <a:solidFill>
                <a:srgbClr val="356DA7"/>
              </a:solidFill>
              <a:latin typeface="Noto Sans CJK SC"/>
              <a:ea typeface="Noto Sans CJK SC"/>
              <a:cs typeface="Noto Sans CJK SC"/>
            </a:endParaRPr>
          </a:p>
        </p:txBody>
      </p:sp>
      <p:sp>
        <p:nvSpPr>
          <p:cNvPr id="7" name="真实变化 δ 在 latent 坐标中稀疏。噪声 η 稠密、零均值，并具有有界幅">
            <a:extLst>
              <a:ext uri="{FF2B5EF4-FFF2-40B4-BE49-F238E27FC236}">
                <a16:creationId xmlns:a16="http://schemas.microsoft.com/office/drawing/2014/main" id="{F92AECC1-ED87-4C55-AE39-45BAB58178DF}"/>
              </a:ext>
            </a:extLst>
          </p:cNvPr>
          <p:cNvSpPr>
            <a:spLocks noGrp="1"/>
          </p:cNvSpPr>
          <p:nvPr/>
        </p:nvSpPr>
        <p:spPr>
          <a:xfrm>
            <a:off x="609600" y="2914650"/>
            <a:ext cx="10906125" cy="800100"/>
          </a:xfrm>
          <a:prstGeom prst="rect">
            <a:avLst/>
          </a:prstGeom>
          <a:noFill/>
          <a:ln w="0">
            <a:noFill/>
          </a:ln>
        </p:spPr>
        <p:txBody>
          <a:bodyPr wrap="square" lIns="0" tIns="0" rIns="0" bIns="0" anchor="t">
            <a:noAutofit/>
          </a:bodyPr>
          <a:lstStyle>
            <a:defPPr>
              <a:defRPr sz="1875" b="0">
                <a:solidFill>
                  <a:srgbClr val="19263E"/>
                </a:solidFill>
                <a:latin typeface="Noto Sans CJK SC"/>
                <a:ea typeface="Noto Sans CJK SC"/>
                <a:cs typeface="Noto Sans CJK SC"/>
              </a:defRPr>
            </a:defPPr>
          </a:lstStyle>
          <a:p>
            <a:pPr>
              <a:buNone/>
              <a:defRPr sz="1875" b="0">
                <a:solidFill>
                  <a:srgbClr val="19263E"/>
                </a:solidFill>
                <a:latin typeface="Noto Sans CJK SC"/>
                <a:ea typeface="Noto Sans CJK SC"/>
                <a:cs typeface="Noto Sans CJK SC"/>
              </a:defRPr>
            </a:pPr>
            <a:r>
              <a:rPr sz="1875" b="0">
                <a:solidFill>
                  <a:srgbClr val="19263E"/>
                </a:solidFill>
                <a:latin typeface="Noto Sans CJK SC"/>
                <a:ea typeface="Noto Sans CJK SC"/>
                <a:cs typeface="Noto Sans CJK SC"/>
              </a:rPr>
              <a:t>真实变化 δ 在 latent 坐标中稀疏。噪声 η 稠密、零均值，并具有有界幅度。</a:t>
            </a:r>
          </a:p>
        </p:txBody>
      </p:sp>
      <p:pic>
        <p:nvPicPr>
          <p:cNvPr id="8" name="图片 7">
            <a:extLst>
              <a:ext uri="{FF2B5EF4-FFF2-40B4-BE49-F238E27FC236}">
                <a16:creationId xmlns:a16="http://schemas.microsoft.com/office/drawing/2014/main" id="{69BA3F11-08B3-4CE6-BB7F-9FBE9A50A551}"/>
              </a:ext>
            </a:extLst>
          </p:cNvPr>
          <p:cNvPicPr>
            <a:picLocks noChangeAspect="1"/>
          </p:cNvPicPr>
          <p:nvPr/>
        </p:nvPicPr>
        <p:blipFill>
          <a:blip r:embed="rId4"/>
          <a:srcRect r="23836"/>
          <a:stretch/>
        </p:blipFill>
        <p:spPr>
          <a:xfrm>
            <a:off x="1676400" y="3943620"/>
            <a:ext cx="6674224" cy="780510"/>
          </a:xfrm>
          <a:prstGeom prst="rect">
            <a:avLst/>
          </a:prstGeom>
        </p:spPr>
      </p:pic>
      <p:sp>
        <p:nvSpPr>
          <p:cNvPr id="9" name="作者希望通过量化，降低第二阶段监督中细小无关扰动的影响。">
            <a:extLst>
              <a:ext uri="{FF2B5EF4-FFF2-40B4-BE49-F238E27FC236}">
                <a16:creationId xmlns:a16="http://schemas.microsoft.com/office/drawing/2014/main" id="{35166ADB-1B55-4F87-9367-1BB538455761}"/>
              </a:ext>
            </a:extLst>
          </p:cNvPr>
          <p:cNvSpPr>
            <a:spLocks noGrp="1"/>
          </p:cNvSpPr>
          <p:nvPr/>
        </p:nvSpPr>
        <p:spPr>
          <a:xfrm>
            <a:off x="733425" y="5046140"/>
            <a:ext cx="10858500" cy="609600"/>
          </a:xfrm>
          <a:prstGeom prst="rect">
            <a:avLst/>
          </a:prstGeom>
          <a:noFill/>
          <a:ln w="0">
            <a:noFill/>
          </a:ln>
        </p:spPr>
        <p:txBody>
          <a:bodyPr wrap="square" lIns="0" tIns="0" rIns="0" bIns="0" anchor="t">
            <a:noAutofit/>
          </a:bodyPr>
          <a:lstStyle>
            <a:defPPr>
              <a:defRPr sz="2025" b="0">
                <a:solidFill>
                  <a:srgbClr val="356DA7"/>
                </a:solidFill>
                <a:latin typeface="Noto Sans CJK SC"/>
                <a:ea typeface="Noto Sans CJK SC"/>
                <a:cs typeface="Noto Sans CJK SC"/>
              </a:defRPr>
            </a:defPPr>
          </a:lstStyle>
          <a:p>
            <a:pPr>
              <a:buNone/>
              <a:defRPr sz="2025" b="0">
                <a:solidFill>
                  <a:srgbClr val="356DA7"/>
                </a:solidFill>
                <a:latin typeface="Noto Sans CJK SC"/>
                <a:ea typeface="Noto Sans CJK SC"/>
                <a:cs typeface="Noto Sans CJK SC"/>
              </a:defRPr>
            </a:pPr>
            <a:r>
              <a:rPr b="0" dirty="0" err="1">
                <a:solidFill>
                  <a:srgbClr val="356DA7"/>
                </a:solidFill>
                <a:latin typeface="Noto Sans CJK SC"/>
                <a:ea typeface="Noto Sans CJK SC"/>
                <a:cs typeface="Noto Sans CJK SC"/>
              </a:rPr>
              <a:t>通过量化，降低第二阶段监督中细小无关扰动的影响</a:t>
            </a:r>
            <a:r>
              <a:rPr b="0" dirty="0">
                <a:solidFill>
                  <a:srgbClr val="356DA7"/>
                </a:solidFill>
                <a:latin typeface="Noto Sans CJK SC"/>
                <a:ea typeface="Noto Sans CJK SC"/>
                <a:cs typeface="Noto Sans CJK SC"/>
              </a:rPr>
              <a:t>。</a:t>
            </a:r>
          </a:p>
        </p:txBody>
      </p:sp>
      <p:sp>
        <p:nvSpPr>
          <p:cNvPr id="10" name="讨论边界：该结论依赖附录中的插值假设，不能视为连续预测器的一般不可能性。">
            <a:extLst>
              <a:ext uri="{FF2B5EF4-FFF2-40B4-BE49-F238E27FC236}">
                <a16:creationId xmlns:a16="http://schemas.microsoft.com/office/drawing/2014/main" id="{C3A434F1-00E8-4163-9210-B8004123FFB8}"/>
              </a:ext>
            </a:extLst>
          </p:cNvPr>
          <p:cNvSpPr>
            <a:spLocks noGrp="1"/>
          </p:cNvSpPr>
          <p:nvPr/>
        </p:nvSpPr>
        <p:spPr>
          <a:xfrm>
            <a:off x="609600" y="5857875"/>
            <a:ext cx="10858500" cy="466725"/>
          </a:xfrm>
          <a:prstGeom prst="rect">
            <a:avLst/>
          </a:prstGeom>
          <a:noFill/>
          <a:ln w="0">
            <a:noFill/>
          </a:ln>
        </p:spPr>
        <p:txBody>
          <a:bodyPr wrap="none" lIns="0" tIns="0" rIns="0" bIns="0" anchor="t">
            <a:noAutofit/>
          </a:bodyPr>
          <a:lstStyle>
            <a:defPPr algn="l">
              <a:defRPr sz="1575" b="0">
                <a:solidFill>
                  <a:srgbClr val="AC473D"/>
                </a:solidFill>
                <a:latin typeface="Noto Sans CJK SC"/>
                <a:ea typeface="Noto Sans CJK SC"/>
                <a:cs typeface="Noto Sans CJK SC"/>
              </a:defRPr>
            </a:defPPr>
          </a:lstStyle>
          <a:p>
            <a:pPr algn="l">
              <a:buNone/>
              <a:defRPr sz="1575" b="0">
                <a:solidFill>
                  <a:srgbClr val="AC473D"/>
                </a:solidFill>
                <a:latin typeface="Noto Sans CJK SC"/>
                <a:ea typeface="Noto Sans CJK SC"/>
                <a:cs typeface="Noto Sans CJK SC"/>
              </a:defRPr>
            </a:pPr>
            <a:endParaRPr sz="1575" b="0" dirty="0">
              <a:solidFill>
                <a:srgbClr val="AC473D"/>
              </a:solidFill>
              <a:latin typeface="Noto Sans CJK SC"/>
              <a:ea typeface="Noto Sans CJK SC"/>
              <a:cs typeface="Noto Sans CJK SC"/>
            </a:endParaRPr>
          </a:p>
        </p:txBody>
      </p:sp>
    </p:spTree>
    <p:extLst>
      <p:ext uri="{BB962C8B-B14F-4D97-AF65-F5344CB8AC3E}">
        <p14:creationId xmlns:p14="http://schemas.microsoft.com/office/powerpoint/2010/main" val="81370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07">
            <a:extLst>
              <a:ext uri="{FF2B5EF4-FFF2-40B4-BE49-F238E27FC236}">
                <a16:creationId xmlns:a16="http://schemas.microsoft.com/office/drawing/2014/main" id="{2846662A-EBC9-433C-99F0-9F96545473F2}"/>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07</a:t>
            </a:r>
          </a:p>
        </p:txBody>
      </p:sp>
      <p:sp>
        <p:nvSpPr>
          <p:cNvPr id="3" name="Latent Drift 的两阶段框架">
            <a:extLst>
              <a:ext uri="{FF2B5EF4-FFF2-40B4-BE49-F238E27FC236}">
                <a16:creationId xmlns:a16="http://schemas.microsoft.com/office/drawing/2014/main" id="{F8C488B9-5E78-42AC-AF33-CB58EB1F9B73}"/>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a:solidFill>
                  <a:srgbClr val="19263E"/>
                </a:solidFill>
                <a:latin typeface="Noto Sans CJK SC"/>
                <a:ea typeface="Noto Sans CJK SC"/>
                <a:cs typeface="Noto Sans CJK SC"/>
              </a:rPr>
              <a:t>方法框架</a:t>
            </a:r>
          </a:p>
        </p:txBody>
      </p:sp>
      <p:pic>
        <p:nvPicPr>
          <p:cNvPr id="5" name="图片 4">
            <a:extLst>
              <a:ext uri="{FF2B5EF4-FFF2-40B4-BE49-F238E27FC236}">
                <a16:creationId xmlns:a16="http://schemas.microsoft.com/office/drawing/2014/main" id="{5FFF4A6B-015E-4AEE-B9EE-F75AECD9649D}"/>
              </a:ext>
            </a:extLst>
          </p:cNvPr>
          <p:cNvPicPr>
            <a:picLocks noChangeAspect="1"/>
          </p:cNvPicPr>
          <p:nvPr/>
        </p:nvPicPr>
        <p:blipFill>
          <a:blip r:embed="rId3"/>
          <a:stretch/>
        </p:blipFill>
        <p:spPr>
          <a:xfrm>
            <a:off x="609600" y="1432250"/>
            <a:ext cx="10953750" cy="3945875"/>
          </a:xfrm>
          <a:prstGeom prst="rect">
            <a:avLst/>
          </a:prstGeom>
        </p:spPr>
      </p:pic>
      <p:sp>
        <p:nvSpPr>
          <p:cNvPr id="6" name="阶段一：当前影像与真实未来影像，训练变化 tokenizer 与重建 decod">
            <a:extLst>
              <a:ext uri="{FF2B5EF4-FFF2-40B4-BE49-F238E27FC236}">
                <a16:creationId xmlns:a16="http://schemas.microsoft.com/office/drawing/2014/main" id="{F2862C0E-E650-4105-992A-54C2717A1BA1}"/>
              </a:ext>
            </a:extLst>
          </p:cNvPr>
          <p:cNvSpPr>
            <a:spLocks noGrp="1"/>
          </p:cNvSpPr>
          <p:nvPr/>
        </p:nvSpPr>
        <p:spPr>
          <a:xfrm>
            <a:off x="609600" y="5600700"/>
            <a:ext cx="5300546" cy="333375"/>
          </a:xfrm>
          <a:prstGeom prst="rect">
            <a:avLst/>
          </a:prstGeom>
          <a:noFill/>
          <a:ln w="0">
            <a:noFill/>
          </a:ln>
        </p:spPr>
        <p:txBody>
          <a:bodyPr wrap="none" lIns="0" tIns="0" rIns="0" bIns="0" anchor="t">
            <a:noAutofit/>
          </a:bodyPr>
          <a:lstStyle>
            <a:defPPr algn="l">
              <a:defRPr sz="1800" b="0">
                <a:solidFill>
                  <a:srgbClr val="356DA7"/>
                </a:solidFill>
                <a:latin typeface="Noto Sans CJK SC"/>
                <a:ea typeface="Noto Sans CJK SC"/>
                <a:cs typeface="Noto Sans CJK SC"/>
              </a:defRPr>
            </a:defPPr>
          </a:lstStyle>
          <a:p>
            <a:pPr algn="l">
              <a:buNone/>
              <a:defRPr sz="1800" b="0">
                <a:solidFill>
                  <a:srgbClr val="356DA7"/>
                </a:solidFill>
                <a:latin typeface="Noto Sans CJK SC"/>
                <a:ea typeface="Noto Sans CJK SC"/>
                <a:cs typeface="Noto Sans CJK SC"/>
              </a:defRPr>
            </a:pPr>
            <a:endParaRPr sz="1800" b="0" dirty="0">
              <a:solidFill>
                <a:srgbClr val="356DA7"/>
              </a:solidFill>
              <a:latin typeface="Noto Sans CJK SC"/>
              <a:ea typeface="Noto Sans CJK SC"/>
              <a:cs typeface="Noto Sans CJK SC"/>
            </a:endParaRPr>
          </a:p>
        </p:txBody>
      </p:sp>
      <p:sp>
        <p:nvSpPr>
          <p:cNvPr id="7" name="阶段二：当前影像与时间等条件，预测冻结 tokenizer 产生的离散变化标签。">
            <a:extLst>
              <a:ext uri="{FF2B5EF4-FFF2-40B4-BE49-F238E27FC236}">
                <a16:creationId xmlns:a16="http://schemas.microsoft.com/office/drawing/2014/main" id="{5941F64D-48B8-4BBD-AEB1-6B189E619124}"/>
              </a:ext>
            </a:extLst>
          </p:cNvPr>
          <p:cNvSpPr>
            <a:spLocks noGrp="1"/>
          </p:cNvSpPr>
          <p:nvPr/>
        </p:nvSpPr>
        <p:spPr>
          <a:xfrm>
            <a:off x="7501053" y="6286500"/>
            <a:ext cx="10953750" cy="333375"/>
          </a:xfrm>
          <a:prstGeom prst="rect">
            <a:avLst/>
          </a:prstGeom>
          <a:noFill/>
          <a:ln w="0">
            <a:noFill/>
          </a:ln>
        </p:spPr>
        <p:txBody>
          <a:bodyPr wrap="none" lIns="0" tIns="0" rIns="0" bIns="0" anchor="t">
            <a:noAutofit/>
          </a:bodyPr>
          <a:lstStyle>
            <a:defPPr algn="l">
              <a:defRPr sz="1800" b="0">
                <a:solidFill>
                  <a:srgbClr val="168F85"/>
                </a:solidFill>
                <a:latin typeface="Noto Sans CJK SC"/>
                <a:ea typeface="Noto Sans CJK SC"/>
                <a:cs typeface="Noto Sans CJK SC"/>
              </a:defRPr>
            </a:defPPr>
          </a:lstStyle>
          <a:p>
            <a:pPr algn="l">
              <a:buNone/>
              <a:defRPr sz="1800" b="0">
                <a:solidFill>
                  <a:srgbClr val="168F85"/>
                </a:solidFill>
                <a:latin typeface="Noto Sans CJK SC"/>
                <a:ea typeface="Noto Sans CJK SC"/>
                <a:cs typeface="Noto Sans CJK SC"/>
              </a:defRPr>
            </a:pPr>
            <a:endParaRPr sz="1800" b="0" dirty="0">
              <a:solidFill>
                <a:srgbClr val="168F85"/>
              </a:solidFill>
              <a:latin typeface="Noto Sans CJK SC"/>
              <a:ea typeface="Noto Sans CJK SC"/>
              <a:cs typeface="Noto Sans CJK SC"/>
            </a:endParaRPr>
          </a:p>
        </p:txBody>
      </p:sp>
      <p:sp>
        <p:nvSpPr>
          <p:cNvPr id="8" name="文本框 7">
            <a:extLst>
              <a:ext uri="{FF2B5EF4-FFF2-40B4-BE49-F238E27FC236}">
                <a16:creationId xmlns:a16="http://schemas.microsoft.com/office/drawing/2014/main" id="{5725AD6F-A5FD-D551-F21D-6181419F0573}"/>
              </a:ext>
            </a:extLst>
          </p:cNvPr>
          <p:cNvSpPr txBox="1"/>
          <p:nvPr/>
        </p:nvSpPr>
        <p:spPr>
          <a:xfrm>
            <a:off x="609600" y="5640169"/>
            <a:ext cx="6237249" cy="646331"/>
          </a:xfrm>
          <a:prstGeom prst="rect">
            <a:avLst/>
          </a:prstGeom>
          <a:noFill/>
        </p:spPr>
        <p:txBody>
          <a:bodyPr wrap="square">
            <a:spAutoFit/>
          </a:bodyPr>
          <a:lstStyle/>
          <a:p>
            <a:pPr algn="l">
              <a:buNone/>
              <a:defRPr sz="1800" b="0">
                <a:solidFill>
                  <a:srgbClr val="356DA7"/>
                </a:solidFill>
                <a:latin typeface="Noto Sans CJK SC"/>
                <a:ea typeface="Noto Sans CJK SC"/>
                <a:cs typeface="Noto Sans CJK SC"/>
              </a:defRPr>
            </a:pPr>
            <a:r>
              <a:rPr lang="zh-CN" altLang="en-US" sz="1800" b="0" dirty="0">
                <a:solidFill>
                  <a:srgbClr val="356DA7"/>
                </a:solidFill>
                <a:latin typeface="Noto Sans CJK SC"/>
                <a:ea typeface="Noto Sans CJK SC"/>
                <a:cs typeface="Noto Sans CJK SC"/>
              </a:rPr>
              <a:t>阶段一：输入当前影像和真实未来影像，训练变化 </a:t>
            </a:r>
            <a:r>
              <a:rPr lang="en" altLang="zh-CN" sz="1800" b="0" dirty="0">
                <a:solidFill>
                  <a:srgbClr val="356DA7"/>
                </a:solidFill>
                <a:latin typeface="Noto Sans CJK SC"/>
                <a:ea typeface="Noto Sans CJK SC"/>
                <a:cs typeface="Noto Sans CJK SC"/>
              </a:rPr>
              <a:t>tokenizer </a:t>
            </a:r>
            <a:r>
              <a:rPr lang="zh-CN" altLang="en-US" sz="1800" b="0" dirty="0">
                <a:solidFill>
                  <a:srgbClr val="356DA7"/>
                </a:solidFill>
                <a:latin typeface="Noto Sans CJK SC"/>
                <a:ea typeface="Noto Sans CJK SC"/>
                <a:cs typeface="Noto Sans CJK SC"/>
              </a:rPr>
              <a:t>与重建 </a:t>
            </a:r>
            <a:r>
              <a:rPr lang="en" altLang="zh-CN" sz="1800" b="0" dirty="0">
                <a:solidFill>
                  <a:srgbClr val="356DA7"/>
                </a:solidFill>
                <a:latin typeface="Noto Sans CJK SC"/>
                <a:ea typeface="Noto Sans CJK SC"/>
                <a:cs typeface="Noto Sans CJK SC"/>
              </a:rPr>
              <a:t>decoder</a:t>
            </a:r>
            <a:r>
              <a:rPr lang="zh-CN" altLang="en" sz="1800" b="0" dirty="0">
                <a:solidFill>
                  <a:srgbClr val="356DA7"/>
                </a:solidFill>
                <a:latin typeface="Noto Sans CJK SC"/>
                <a:ea typeface="Noto Sans CJK SC"/>
                <a:cs typeface="Noto Sans CJK SC"/>
              </a:rPr>
              <a:t>。</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B2DB8547-D85B-9A9E-5A7E-C922175D4E88}"/>
                  </a:ext>
                </a:extLst>
              </p:cNvPr>
              <p:cNvSpPr txBox="1"/>
              <p:nvPr/>
            </p:nvSpPr>
            <p:spPr>
              <a:xfrm>
                <a:off x="8045141" y="5614639"/>
                <a:ext cx="3341880" cy="646331"/>
              </a:xfrm>
              <a:prstGeom prst="rect">
                <a:avLst/>
              </a:prstGeom>
              <a:noFill/>
            </p:spPr>
            <p:txBody>
              <a:bodyPr wrap="square">
                <a:spAutoFit/>
              </a:bodyPr>
              <a:lstStyle/>
              <a:p>
                <a:pPr algn="l">
                  <a:buNone/>
                  <a:defRPr sz="1800" b="0">
                    <a:solidFill>
                      <a:srgbClr val="168F85"/>
                    </a:solidFill>
                    <a:latin typeface="Noto Sans CJK SC"/>
                    <a:ea typeface="Noto Sans CJK SC"/>
                    <a:cs typeface="Noto Sans CJK SC"/>
                  </a:defRPr>
                </a:pPr>
                <a:r>
                  <a:rPr lang="zh-CN" altLang="en-US" sz="1800" b="0" dirty="0">
                    <a:solidFill>
                      <a:srgbClr val="168F85"/>
                    </a:solidFill>
                    <a:latin typeface="Noto Sans CJK SC"/>
                    <a:ea typeface="Noto Sans CJK SC"/>
                    <a:cs typeface="Noto Sans CJK SC"/>
                  </a:rPr>
                  <a:t>阶段二：根据当前影像和时间等条件，</a:t>
                </a:r>
                <a:r>
                  <a:rPr lang="zh-CN" altLang="en-US" dirty="0">
                    <a:solidFill>
                      <a:srgbClr val="168F85"/>
                    </a:solidFill>
                    <a:latin typeface="Noto Sans CJK SC"/>
                    <a:ea typeface="Noto Sans CJK SC"/>
                    <a:cs typeface="Noto Sans CJK SC"/>
                  </a:rPr>
                  <a:t>训练</a:t>
                </a:r>
                <a:r>
                  <a:rPr lang="en-US" altLang="zh-CN" dirty="0">
                    <a:solidFill>
                      <a:srgbClr val="168F85"/>
                    </a:solidFill>
                    <a:latin typeface="Noto Sans CJK SC"/>
                    <a:ea typeface="Noto Sans CJK SC"/>
                    <a:cs typeface="Noto Sans CJK SC"/>
                  </a:rPr>
                  <a:t>AR</a:t>
                </a:r>
                <a:r>
                  <a:rPr lang="zh-CN" altLang="en-US" dirty="0">
                    <a:solidFill>
                      <a:srgbClr val="168F85"/>
                    </a:solidFill>
                    <a:latin typeface="Noto Sans CJK SC"/>
                    <a:ea typeface="Noto Sans CJK SC"/>
                    <a:cs typeface="Noto Sans CJK SC"/>
                  </a:rPr>
                  <a:t>模型预测</a:t>
                </a:r>
                <a14:m>
                  <m:oMath xmlns:m="http://schemas.openxmlformats.org/officeDocument/2006/math">
                    <m:r>
                      <a:rPr lang="zh-CN" altLang="en-US" b="0" i="1" dirty="0">
                        <a:solidFill>
                          <a:srgbClr val="168F85"/>
                        </a:solidFill>
                        <a:latin typeface="Cambria Math" panose="02040503050406030204" pitchFamily="18" charset="0"/>
                        <a:ea typeface="Noto Sans CJK SC"/>
                        <a:cs typeface="Noto Sans CJK SC"/>
                      </a:rPr>
                      <m:t>𝛥</m:t>
                    </m:r>
                    <m:r>
                      <a:rPr lang="zh-CN" altLang="en-US" b="0" i="1" dirty="0" err="1">
                        <a:solidFill>
                          <a:srgbClr val="168F85"/>
                        </a:solidFill>
                        <a:latin typeface="Cambria Math" panose="02040503050406030204" pitchFamily="18" charset="0"/>
                        <a:ea typeface="Noto Sans CJK SC"/>
                        <a:cs typeface="Noto Sans CJK SC"/>
                      </a:rPr>
                      <m:t>𝑧</m:t>
                    </m:r>
                  </m:oMath>
                </a14:m>
                <a:endParaRPr lang="zh-CN" altLang="en-US" dirty="0">
                  <a:solidFill>
                    <a:srgbClr val="168F85"/>
                  </a:solidFill>
                  <a:latin typeface="Noto Sans CJK SC"/>
                  <a:ea typeface="Noto Sans CJK SC"/>
                  <a:cs typeface="Noto Sans CJK SC"/>
                </a:endParaRPr>
              </a:p>
            </p:txBody>
          </p:sp>
        </mc:Choice>
        <mc:Fallback xmlns="">
          <p:sp>
            <p:nvSpPr>
              <p:cNvPr id="10" name="文本框 9">
                <a:extLst>
                  <a:ext uri="{FF2B5EF4-FFF2-40B4-BE49-F238E27FC236}">
                    <a16:creationId xmlns:a16="http://schemas.microsoft.com/office/drawing/2014/main" id="{B2DB8547-D85B-9A9E-5A7E-C922175D4E88}"/>
                  </a:ext>
                </a:extLst>
              </p:cNvPr>
              <p:cNvSpPr txBox="1">
                <a:spLocks noRot="1" noChangeAspect="1" noMove="1" noResize="1" noEditPoints="1" noAdjustHandles="1" noChangeArrowheads="1" noChangeShapeType="1" noTextEdit="1"/>
              </p:cNvSpPr>
              <p:nvPr/>
            </p:nvSpPr>
            <p:spPr>
              <a:xfrm>
                <a:off x="8045141" y="5614639"/>
                <a:ext cx="3341880" cy="646331"/>
              </a:xfrm>
              <a:prstGeom prst="rect">
                <a:avLst/>
              </a:prstGeom>
              <a:blipFill>
                <a:blip r:embed="rId4"/>
                <a:stretch>
                  <a:fillRect l="-1515" t="-3922" b="-176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41286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08">
            <a:extLst>
              <a:ext uri="{FF2B5EF4-FFF2-40B4-BE49-F238E27FC236}">
                <a16:creationId xmlns:a16="http://schemas.microsoft.com/office/drawing/2014/main" id="{3B8B1125-B3B2-48A3-AD29-050598A486D1}"/>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08</a:t>
            </a:r>
          </a:p>
        </p:txBody>
      </p:sp>
      <p:sp>
        <p:nvSpPr>
          <p:cNvPr id="3" name="阶段一：变化编码与未来影像重建">
            <a:extLst>
              <a:ext uri="{FF2B5EF4-FFF2-40B4-BE49-F238E27FC236}">
                <a16:creationId xmlns:a16="http://schemas.microsoft.com/office/drawing/2014/main" id="{017EB96B-FD4A-47C1-8E3B-78BCDBA77BC1}"/>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a:solidFill>
                  <a:srgbClr val="19263E"/>
                </a:solidFill>
                <a:latin typeface="Noto Sans CJK SC"/>
                <a:ea typeface="Noto Sans CJK SC"/>
                <a:cs typeface="Noto Sans CJK SC"/>
              </a:rPr>
              <a:t>变化编码</a:t>
            </a:r>
          </a:p>
        </p:txBody>
      </p:sp>
      <p:pic>
        <p:nvPicPr>
          <p:cNvPr id="5" name="图片 4">
            <a:extLst>
              <a:ext uri="{FF2B5EF4-FFF2-40B4-BE49-F238E27FC236}">
                <a16:creationId xmlns:a16="http://schemas.microsoft.com/office/drawing/2014/main" id="{33AA32A4-65DF-460B-B20E-B9783A5BBCFE}"/>
              </a:ext>
            </a:extLst>
          </p:cNvPr>
          <p:cNvPicPr>
            <a:picLocks noChangeAspect="1"/>
          </p:cNvPicPr>
          <p:nvPr/>
        </p:nvPicPr>
        <p:blipFill>
          <a:blip r:embed="rId3"/>
          <a:srcRect r="26365" b="-2360"/>
          <a:stretch/>
        </p:blipFill>
        <p:spPr>
          <a:xfrm>
            <a:off x="594677" y="1775902"/>
            <a:ext cx="3735276" cy="440426"/>
          </a:xfrm>
          <a:prstGeom prst="rect">
            <a:avLst/>
          </a:prstGeom>
        </p:spPr>
      </p:pic>
      <p:pic>
        <p:nvPicPr>
          <p:cNvPr id="6" name="图片 5">
            <a:extLst>
              <a:ext uri="{FF2B5EF4-FFF2-40B4-BE49-F238E27FC236}">
                <a16:creationId xmlns:a16="http://schemas.microsoft.com/office/drawing/2014/main" id="{EB9B46CC-5CAD-4D1D-BC42-83DC84F3F9FC}"/>
              </a:ext>
            </a:extLst>
          </p:cNvPr>
          <p:cNvPicPr>
            <a:picLocks noChangeAspect="1"/>
          </p:cNvPicPr>
          <p:nvPr/>
        </p:nvPicPr>
        <p:blipFill>
          <a:blip r:embed="rId4"/>
          <a:srcRect r="34417" b="-9474"/>
          <a:stretch/>
        </p:blipFill>
        <p:spPr>
          <a:xfrm>
            <a:off x="6286500" y="1765750"/>
            <a:ext cx="3435724" cy="482150"/>
          </a:xfrm>
          <a:prstGeom prst="rect">
            <a:avLst/>
          </a:prstGeom>
        </p:spPr>
      </p:pic>
      <p:sp>
        <p:nvSpPr>
          <p:cNvPr id="7" name="变化分支">
            <a:extLst>
              <a:ext uri="{FF2B5EF4-FFF2-40B4-BE49-F238E27FC236}">
                <a16:creationId xmlns:a16="http://schemas.microsoft.com/office/drawing/2014/main" id="{D03BD1B5-9BDB-4122-98B6-BDC9E81E85AC}"/>
              </a:ext>
            </a:extLst>
          </p:cNvPr>
          <p:cNvSpPr>
            <a:spLocks noGrp="1"/>
          </p:cNvSpPr>
          <p:nvPr/>
        </p:nvSpPr>
        <p:spPr>
          <a:xfrm>
            <a:off x="609600" y="2876550"/>
            <a:ext cx="5105400" cy="342900"/>
          </a:xfrm>
          <a:prstGeom prst="rect">
            <a:avLst/>
          </a:prstGeom>
          <a:noFill/>
          <a:ln w="0">
            <a:noFill/>
          </a:ln>
        </p:spPr>
        <p:txBody>
          <a:bodyPr wrap="square" lIns="0" tIns="0" rIns="0" bIns="0" anchor="t">
            <a:noAutofit/>
          </a:bodyPr>
          <a:lstStyle>
            <a:defPPr>
              <a:defRPr sz="1950" b="1">
                <a:solidFill>
                  <a:srgbClr val="356DA7"/>
                </a:solidFill>
                <a:latin typeface="Noto Sans CJK SC"/>
                <a:ea typeface="Noto Sans CJK SC"/>
                <a:cs typeface="Noto Sans CJK SC"/>
              </a:defRPr>
            </a:defPPr>
          </a:lstStyle>
          <a:p>
            <a:pPr>
              <a:buNone/>
              <a:defRPr sz="1950" b="1">
                <a:solidFill>
                  <a:srgbClr val="356DA7"/>
                </a:solidFill>
                <a:latin typeface="Noto Sans CJK SC"/>
                <a:ea typeface="Noto Sans CJK SC"/>
                <a:cs typeface="Noto Sans CJK SC"/>
              </a:defRPr>
            </a:pPr>
            <a:r>
              <a:rPr sz="1950" b="1">
                <a:solidFill>
                  <a:srgbClr val="356DA7"/>
                </a:solidFill>
                <a:latin typeface="Noto Sans CJK SC"/>
                <a:ea typeface="Noto Sans CJK SC"/>
                <a:cs typeface="Noto Sans CJK SC"/>
              </a:rPr>
              <a:t>变化分支</a:t>
            </a:r>
          </a:p>
        </p:txBody>
      </p:sp>
      <mc:AlternateContent xmlns:mc="http://schemas.openxmlformats.org/markup-compatibility/2006" xmlns:a14="http://schemas.microsoft.com/office/drawing/2010/main">
        <mc:Choice Requires="a14">
          <p:sp>
            <p:nvSpPr>
              <p:cNvPr id="8" name="前后影像编码后计算差分，再经过 FSQ，得到离散变化表示 Δz_q。">
                <a:extLst>
                  <a:ext uri="{FF2B5EF4-FFF2-40B4-BE49-F238E27FC236}">
                    <a16:creationId xmlns:a16="http://schemas.microsoft.com/office/drawing/2014/main" id="{72262402-FBC2-4C2B-8960-EF203A8D12CB}"/>
                  </a:ext>
                </a:extLst>
              </p:cNvPr>
              <p:cNvSpPr>
                <a:spLocks noGrp="1"/>
              </p:cNvSpPr>
              <p:nvPr/>
            </p:nvSpPr>
            <p:spPr>
              <a:xfrm>
                <a:off x="609600" y="3286125"/>
                <a:ext cx="5105400" cy="981075"/>
              </a:xfrm>
              <a:prstGeom prst="rect">
                <a:avLst/>
              </a:prstGeom>
              <a:noFill/>
              <a:ln w="0">
                <a:noFill/>
              </a:ln>
            </p:spPr>
            <p:txBody>
              <a:bodyPr wrap="square" lIns="0" tIns="0" rIns="0" bIns="0" anchor="t">
                <a:noAutofit/>
              </a:bodyPr>
              <a:lstStyle>
                <a:defPPr>
                  <a:defRPr sz="1875" b="0">
                    <a:solidFill>
                      <a:srgbClr val="19263E"/>
                    </a:solidFill>
                    <a:latin typeface="Noto Sans CJK SC"/>
                    <a:ea typeface="Noto Sans CJK SC"/>
                    <a:cs typeface="Noto Sans CJK SC"/>
                  </a:defRPr>
                </a:defPPr>
              </a:lstStyle>
              <a:p>
                <a:pPr>
                  <a:buNone/>
                  <a:defRPr sz="1875" b="0">
                    <a:solidFill>
                      <a:srgbClr val="19263E"/>
                    </a:solidFill>
                    <a:latin typeface="Noto Sans CJK SC"/>
                    <a:ea typeface="Noto Sans CJK SC"/>
                    <a:cs typeface="Noto Sans CJK SC"/>
                  </a:defRPr>
                </a:pPr>
                <a:r>
                  <a:rPr lang="zh-CN" altLang="en-US" sz="1875" b="0" dirty="0">
                    <a:solidFill>
                      <a:srgbClr val="19263E"/>
                    </a:solidFill>
                    <a:latin typeface="Noto Sans CJK SC"/>
                    <a:ea typeface="Noto Sans CJK SC"/>
                    <a:cs typeface="Noto Sans CJK SC"/>
                  </a:rPr>
                  <a:t>前后影像编码后计算差分，再经过 </a:t>
                </a:r>
                <a:r>
                  <a:rPr lang="en" sz="1875" b="0" dirty="0" err="1">
                    <a:solidFill>
                      <a:srgbClr val="19263E"/>
                    </a:solidFill>
                    <a:latin typeface="Noto Sans CJK SC"/>
                    <a:ea typeface="Noto Sans CJK SC"/>
                    <a:cs typeface="Noto Sans CJK SC"/>
                  </a:rPr>
                  <a:t>FSQ，</a:t>
                </a:r>
                <a:r>
                  <a:rPr lang="zh-CN" altLang="en-US" sz="1875" b="0" dirty="0" err="1">
                    <a:solidFill>
                      <a:srgbClr val="19263E"/>
                    </a:solidFill>
                    <a:latin typeface="Noto Sans CJK SC"/>
                    <a:ea typeface="Noto Sans CJK SC"/>
                    <a:cs typeface="Noto Sans CJK SC"/>
                  </a:rPr>
                  <a:t>得到离散变化表示</a:t>
                </a:r>
                <a:r>
                  <a:rPr lang="zh-CN" altLang="en-US" sz="1875" b="0" dirty="0">
                    <a:solidFill>
                      <a:srgbClr val="19263E"/>
                    </a:solidFill>
                    <a:latin typeface="Noto Sans CJK SC"/>
                    <a:ea typeface="Noto Sans CJK SC"/>
                    <a:cs typeface="Noto Sans CJK SC"/>
                  </a:rPr>
                  <a:t> </a:t>
                </a:r>
                <a14:m>
                  <m:oMath xmlns:m="http://schemas.openxmlformats.org/officeDocument/2006/math">
                    <m:r>
                      <m:rPr>
                        <m:sty m:val="p"/>
                      </m:rPr>
                      <a:rPr lang="el-GR" sz="1875" b="0" i="0" dirty="0" smtClean="0">
                        <a:solidFill>
                          <a:srgbClr val="19263E"/>
                        </a:solidFill>
                        <a:latin typeface="Cambria Math" panose="02040503050406030204" pitchFamily="18" charset="0"/>
                        <a:ea typeface="Noto Sans CJK SC"/>
                        <a:cs typeface="Noto Sans CJK SC"/>
                      </a:rPr>
                      <m:t>Δ</m:t>
                    </m:r>
                    <m:sSub>
                      <m:sSubPr>
                        <m:ctrlPr>
                          <a:rPr lang="ar-AE" sz="1875" b="0" i="1" dirty="0" err="1">
                            <a:solidFill>
                              <a:srgbClr val="19263E"/>
                            </a:solidFill>
                            <a:latin typeface="Cambria Math" panose="02040503050406030204" pitchFamily="18" charset="0"/>
                            <a:ea typeface="Noto Sans CJK SC"/>
                            <a:cs typeface="Noto Sans CJK SC"/>
                          </a:rPr>
                        </m:ctrlPr>
                      </m:sSubPr>
                      <m:e>
                        <m:r>
                          <a:rPr lang="ar-AE" sz="1875" b="0" i="1" dirty="0" err="1">
                            <a:solidFill>
                              <a:srgbClr val="19263E"/>
                            </a:solidFill>
                            <a:latin typeface="Cambria Math" panose="02040503050406030204" pitchFamily="18" charset="0"/>
                            <a:ea typeface="Noto Sans CJK SC"/>
                            <a:cs typeface="Noto Sans CJK SC"/>
                          </a:rPr>
                          <m:t>𝑧</m:t>
                        </m:r>
                      </m:e>
                      <m:sub>
                        <m:r>
                          <a:rPr lang="ar-AE" sz="1875" b="0" i="1" dirty="0" err="1">
                            <a:solidFill>
                              <a:srgbClr val="19263E"/>
                            </a:solidFill>
                            <a:latin typeface="Cambria Math" panose="02040503050406030204" pitchFamily="18" charset="0"/>
                            <a:ea typeface="Noto Sans CJK SC"/>
                            <a:cs typeface="Noto Sans CJK SC"/>
                          </a:rPr>
                          <m:t>𝑞</m:t>
                        </m:r>
                      </m:sub>
                    </m:sSub>
                  </m:oMath>
                </a14:m>
                <a:r>
                  <a:rPr lang="ar-AE" sz="1875" b="0" dirty="0">
                    <a:solidFill>
                      <a:srgbClr val="19263E"/>
                    </a:solidFill>
                    <a:latin typeface="Noto Sans CJK SC"/>
                    <a:ea typeface="Noto Sans CJK SC"/>
                    <a:cs typeface="Noto Sans CJK SC"/>
                  </a:rPr>
                  <a:t>。</a:t>
                </a:r>
                <a:endParaRPr sz="1875" b="0" dirty="0">
                  <a:solidFill>
                    <a:srgbClr val="19263E"/>
                  </a:solidFill>
                  <a:latin typeface="Noto Sans CJK SC"/>
                  <a:ea typeface="Noto Sans CJK SC"/>
                  <a:cs typeface="Noto Sans CJK SC"/>
                </a:endParaRPr>
              </a:p>
            </p:txBody>
          </p:sp>
        </mc:Choice>
        <mc:Fallback xmlns="">
          <p:sp>
            <p:nvSpPr>
              <p:cNvPr id="8" name="前后影像编码后计算差分，再经过 FSQ，得到离散变化表示 Δz_q。">
                <a:extLst>
                  <a:ext uri="{FF2B5EF4-FFF2-40B4-BE49-F238E27FC236}">
                    <a16:creationId xmlns:a16="http://schemas.microsoft.com/office/drawing/2014/main" id="{72262402-FBC2-4C2B-8960-EF203A8D12CB}"/>
                  </a:ext>
                </a:extLst>
              </p:cNvPr>
              <p:cNvSpPr>
                <a:spLocks noGrp="1" noRot="1" noChangeAspect="1" noMove="1" noResize="1" noEditPoints="1" noAdjustHandles="1" noChangeArrowheads="1" noChangeShapeType="1" noTextEdit="1"/>
              </p:cNvSpPr>
              <p:nvPr/>
            </p:nvSpPr>
            <p:spPr>
              <a:xfrm>
                <a:off x="609600" y="3286125"/>
                <a:ext cx="5105400" cy="981075"/>
              </a:xfrm>
              <a:prstGeom prst="rect">
                <a:avLst/>
              </a:prstGeom>
              <a:blipFill>
                <a:blip r:embed="rId5"/>
                <a:stretch>
                  <a:fillRect l="-2978" t="-7692"/>
                </a:stretch>
              </a:blipFill>
              <a:ln w="0">
                <a:noFill/>
              </a:ln>
            </p:spPr>
            <p:txBody>
              <a:bodyPr/>
              <a:lstStyle/>
              <a:p>
                <a:r>
                  <a:rPr lang="zh-CN" altLang="en-US">
                    <a:noFill/>
                  </a:rPr>
                  <a:t> </a:t>
                </a:r>
              </a:p>
            </p:txBody>
          </p:sp>
        </mc:Fallback>
      </mc:AlternateContent>
      <p:sp>
        <p:nvSpPr>
          <p:cNvPr id="9" name="当前结构分支">
            <a:extLst>
              <a:ext uri="{FF2B5EF4-FFF2-40B4-BE49-F238E27FC236}">
                <a16:creationId xmlns:a16="http://schemas.microsoft.com/office/drawing/2014/main" id="{BDDF9C19-47A6-4851-863B-CA535B21B4A2}"/>
              </a:ext>
            </a:extLst>
          </p:cNvPr>
          <p:cNvSpPr>
            <a:spLocks noGrp="1"/>
          </p:cNvSpPr>
          <p:nvPr/>
        </p:nvSpPr>
        <p:spPr>
          <a:xfrm>
            <a:off x="6362700" y="2876550"/>
            <a:ext cx="5105400" cy="342900"/>
          </a:xfrm>
          <a:prstGeom prst="rect">
            <a:avLst/>
          </a:prstGeom>
          <a:noFill/>
          <a:ln w="0">
            <a:noFill/>
          </a:ln>
        </p:spPr>
        <p:txBody>
          <a:bodyPr wrap="square" lIns="0" tIns="0" rIns="0" bIns="0" anchor="t">
            <a:noAutofit/>
          </a:bodyPr>
          <a:lstStyle>
            <a:defPPr>
              <a:defRPr sz="1950" b="1">
                <a:solidFill>
                  <a:srgbClr val="168F85"/>
                </a:solidFill>
                <a:latin typeface="Noto Sans CJK SC"/>
                <a:ea typeface="Noto Sans CJK SC"/>
                <a:cs typeface="Noto Sans CJK SC"/>
              </a:defRPr>
            </a:defPPr>
          </a:lstStyle>
          <a:p>
            <a:pPr>
              <a:buNone/>
              <a:defRPr sz="1950" b="1">
                <a:solidFill>
                  <a:srgbClr val="168F85"/>
                </a:solidFill>
                <a:latin typeface="Noto Sans CJK SC"/>
                <a:ea typeface="Noto Sans CJK SC"/>
                <a:cs typeface="Noto Sans CJK SC"/>
              </a:defRPr>
            </a:pPr>
            <a:r>
              <a:rPr sz="1950" b="1">
                <a:solidFill>
                  <a:srgbClr val="168F85"/>
                </a:solidFill>
                <a:latin typeface="Noto Sans CJK SC"/>
                <a:ea typeface="Noto Sans CJK SC"/>
                <a:cs typeface="Noto Sans CJK SC"/>
              </a:rPr>
              <a:t>当前结构分支</a:t>
            </a:r>
          </a:p>
        </p:txBody>
      </p:sp>
      <p:sp>
        <p:nvSpPr>
          <p:cNvPr id="10" name="保留当前影像的连续特征，与量化变化一起重建真实未来 MRI。">
            <a:extLst>
              <a:ext uri="{FF2B5EF4-FFF2-40B4-BE49-F238E27FC236}">
                <a16:creationId xmlns:a16="http://schemas.microsoft.com/office/drawing/2014/main" id="{72B94555-7058-446F-AA90-E02707F7C71C}"/>
              </a:ext>
            </a:extLst>
          </p:cNvPr>
          <p:cNvSpPr>
            <a:spLocks noGrp="1"/>
          </p:cNvSpPr>
          <p:nvPr/>
        </p:nvSpPr>
        <p:spPr>
          <a:xfrm>
            <a:off x="6362700" y="3286125"/>
            <a:ext cx="5105400" cy="981075"/>
          </a:xfrm>
          <a:prstGeom prst="rect">
            <a:avLst/>
          </a:prstGeom>
          <a:noFill/>
          <a:ln w="0">
            <a:noFill/>
          </a:ln>
        </p:spPr>
        <p:txBody>
          <a:bodyPr wrap="square" lIns="0" tIns="0" rIns="0" bIns="0" anchor="t">
            <a:noAutofit/>
          </a:bodyPr>
          <a:lstStyle>
            <a:defPPr>
              <a:defRPr sz="1875" b="0">
                <a:solidFill>
                  <a:srgbClr val="19263E"/>
                </a:solidFill>
                <a:latin typeface="Noto Sans CJK SC"/>
                <a:ea typeface="Noto Sans CJK SC"/>
                <a:cs typeface="Noto Sans CJK SC"/>
              </a:defRPr>
            </a:defPPr>
          </a:lstStyle>
          <a:p>
            <a:pPr>
              <a:buNone/>
              <a:defRPr sz="1875" b="0">
                <a:solidFill>
                  <a:srgbClr val="19263E"/>
                </a:solidFill>
                <a:latin typeface="Noto Sans CJK SC"/>
                <a:ea typeface="Noto Sans CJK SC"/>
                <a:cs typeface="Noto Sans CJK SC"/>
              </a:defRPr>
            </a:pPr>
            <a:r>
              <a:rPr sz="1875" b="0">
                <a:solidFill>
                  <a:srgbClr val="19263E"/>
                </a:solidFill>
                <a:latin typeface="Noto Sans CJK SC"/>
                <a:ea typeface="Noto Sans CJK SC"/>
                <a:cs typeface="Noto Sans CJK SC"/>
              </a:rPr>
              <a:t>保留当前影像的连续特征，与量化变化一起重建真实未来 MRI。</a:t>
            </a:r>
          </a:p>
        </p:txBody>
      </p:sp>
      <p:sp>
        <p:nvSpPr>
          <p:cNvPr id="11" name="训练目标：MSE + LPIPS + GAN loss">
            <a:extLst>
              <a:ext uri="{FF2B5EF4-FFF2-40B4-BE49-F238E27FC236}">
                <a16:creationId xmlns:a16="http://schemas.microsoft.com/office/drawing/2014/main" id="{90821CF2-9472-4DBF-A14C-973538B9CB7C}"/>
              </a:ext>
            </a:extLst>
          </p:cNvPr>
          <p:cNvSpPr>
            <a:spLocks noGrp="1"/>
          </p:cNvSpPr>
          <p:nvPr/>
        </p:nvSpPr>
        <p:spPr>
          <a:xfrm>
            <a:off x="609600" y="4610100"/>
            <a:ext cx="10810875" cy="428625"/>
          </a:xfrm>
          <a:prstGeom prst="rect">
            <a:avLst/>
          </a:prstGeom>
          <a:noFill/>
          <a:ln w="0">
            <a:noFill/>
          </a:ln>
        </p:spPr>
        <p:txBody>
          <a:bodyPr wrap="square" lIns="0" tIns="0" rIns="0" bIns="0" anchor="t">
            <a:noAutofit/>
          </a:bodyPr>
          <a:lstStyle>
            <a:defPPr>
              <a:defRPr sz="2325" b="1">
                <a:solidFill>
                  <a:srgbClr val="19263E"/>
                </a:solidFill>
                <a:latin typeface="Noto Sans CJK SC"/>
                <a:ea typeface="Noto Sans CJK SC"/>
                <a:cs typeface="Noto Sans CJK SC"/>
              </a:defRPr>
            </a:defPPr>
          </a:lstStyle>
          <a:p>
            <a:pPr>
              <a:buNone/>
              <a:defRPr sz="2325" b="1">
                <a:solidFill>
                  <a:srgbClr val="19263E"/>
                </a:solidFill>
                <a:latin typeface="Noto Sans CJK SC"/>
                <a:ea typeface="Noto Sans CJK SC"/>
                <a:cs typeface="Noto Sans CJK SC"/>
              </a:defRPr>
            </a:pPr>
            <a:r>
              <a:rPr sz="2325" b="1" dirty="0" err="1">
                <a:solidFill>
                  <a:srgbClr val="19263E"/>
                </a:solidFill>
                <a:latin typeface="Noto Sans CJK SC"/>
                <a:ea typeface="Noto Sans CJK SC"/>
                <a:cs typeface="Noto Sans CJK SC"/>
              </a:rPr>
              <a:t>训练目标：MSE</a:t>
            </a:r>
            <a:r>
              <a:rPr sz="2325" b="1" dirty="0">
                <a:solidFill>
                  <a:srgbClr val="19263E"/>
                </a:solidFill>
                <a:latin typeface="Noto Sans CJK SC"/>
                <a:ea typeface="Noto Sans CJK SC"/>
                <a:cs typeface="Noto Sans CJK SC"/>
              </a:rPr>
              <a:t> + LPIPS + GAN loss</a:t>
            </a:r>
          </a:p>
        </p:txBody>
      </p:sp>
      <p:sp>
        <p:nvSpPr>
          <p:cNvPr id="12" name="监督的是完整未来影像。没有独立的“纯病理变化”标签。">
            <a:extLst>
              <a:ext uri="{FF2B5EF4-FFF2-40B4-BE49-F238E27FC236}">
                <a16:creationId xmlns:a16="http://schemas.microsoft.com/office/drawing/2014/main" id="{07F5D75A-D14E-48D6-90B3-C585104CE77A}"/>
              </a:ext>
            </a:extLst>
          </p:cNvPr>
          <p:cNvSpPr>
            <a:spLocks noGrp="1"/>
          </p:cNvSpPr>
          <p:nvPr/>
        </p:nvSpPr>
        <p:spPr>
          <a:xfrm>
            <a:off x="609600" y="5248275"/>
            <a:ext cx="10858500" cy="495300"/>
          </a:xfrm>
          <a:prstGeom prst="rect">
            <a:avLst/>
          </a:prstGeom>
          <a:noFill/>
          <a:ln w="0">
            <a:noFill/>
          </a:ln>
        </p:spPr>
        <p:txBody>
          <a:bodyPr wrap="none" lIns="0" tIns="0" rIns="0" bIns="0" anchor="t">
            <a:noAutofit/>
          </a:bodyPr>
          <a:lstStyle>
            <a:defPPr algn="l">
              <a:defRPr sz="2025" b="0">
                <a:solidFill>
                  <a:srgbClr val="356DA7"/>
                </a:solidFill>
                <a:latin typeface="Noto Sans CJK SC"/>
                <a:ea typeface="Noto Sans CJK SC"/>
                <a:cs typeface="Noto Sans CJK SC"/>
              </a:defRPr>
            </a:defPPr>
          </a:lstStyle>
          <a:p>
            <a:pPr algn="l">
              <a:buNone/>
              <a:defRPr sz="2025" b="0">
                <a:solidFill>
                  <a:srgbClr val="356DA7"/>
                </a:solidFill>
                <a:latin typeface="Noto Sans CJK SC"/>
                <a:ea typeface="Noto Sans CJK SC"/>
                <a:cs typeface="Noto Sans CJK SC"/>
              </a:defRPr>
            </a:pPr>
            <a:endParaRPr sz="2000" b="0" dirty="0">
              <a:latin typeface="Noto Sans CJK SC"/>
              <a:ea typeface="Noto Sans CJK SC"/>
              <a:cs typeface="Noto Sans CJK SC"/>
            </a:endParaRPr>
          </a:p>
        </p:txBody>
      </p:sp>
      <p:sp>
        <p:nvSpPr>
          <p:cNvPr id="14" name="文本框 13">
            <a:extLst>
              <a:ext uri="{FF2B5EF4-FFF2-40B4-BE49-F238E27FC236}">
                <a16:creationId xmlns:a16="http://schemas.microsoft.com/office/drawing/2014/main" id="{8431911C-3DB3-011A-AAB1-EE731007F7CE}"/>
              </a:ext>
            </a:extLst>
          </p:cNvPr>
          <p:cNvSpPr txBox="1"/>
          <p:nvPr/>
        </p:nvSpPr>
        <p:spPr>
          <a:xfrm>
            <a:off x="507380" y="5288518"/>
            <a:ext cx="9294542" cy="380873"/>
          </a:xfrm>
          <a:prstGeom prst="rect">
            <a:avLst/>
          </a:prstGeom>
          <a:noFill/>
        </p:spPr>
        <p:txBody>
          <a:bodyPr wrap="square">
            <a:spAutoFit/>
          </a:bodyPr>
          <a:lstStyle/>
          <a:p>
            <a:pPr>
              <a:buNone/>
              <a:defRPr sz="2025" b="0">
                <a:solidFill>
                  <a:srgbClr val="356DA7"/>
                </a:solidFill>
                <a:latin typeface="Noto Sans CJK SC"/>
                <a:ea typeface="Noto Sans CJK SC"/>
                <a:cs typeface="Noto Sans CJK SC"/>
              </a:defRPr>
            </a:pPr>
            <a:r>
              <a:rPr lang="zh-CN" altLang="en-US" sz="1875" dirty="0">
                <a:solidFill>
                  <a:srgbClr val="19263E"/>
                </a:solidFill>
                <a:latin typeface="Noto Sans CJK SC"/>
              </a:rPr>
              <a:t>重建的目标是完整的未来影像，训练数据中没有单独标注纯病理变化。</a:t>
            </a:r>
          </a:p>
        </p:txBody>
      </p:sp>
    </p:spTree>
    <p:extLst>
      <p:ext uri="{BB962C8B-B14F-4D97-AF65-F5344CB8AC3E}">
        <p14:creationId xmlns:p14="http://schemas.microsoft.com/office/powerpoint/2010/main" val="530608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09">
            <a:extLst>
              <a:ext uri="{FF2B5EF4-FFF2-40B4-BE49-F238E27FC236}">
                <a16:creationId xmlns:a16="http://schemas.microsoft.com/office/drawing/2014/main" id="{77BE54E1-8E37-449E-98D5-C360B902C8BF}"/>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09</a:t>
            </a:r>
          </a:p>
        </p:txBody>
      </p:sp>
      <p:sp>
        <p:nvSpPr>
          <p:cNvPr id="3" name="FSQ：量化变化表示">
            <a:extLst>
              <a:ext uri="{FF2B5EF4-FFF2-40B4-BE49-F238E27FC236}">
                <a16:creationId xmlns:a16="http://schemas.microsoft.com/office/drawing/2014/main" id="{F1FFF8CD-5A53-43F9-87F7-97CCED67F4C4}"/>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a:solidFill>
                  <a:srgbClr val="19263E"/>
                </a:solidFill>
                <a:latin typeface="Noto Sans CJK SC"/>
                <a:ea typeface="Noto Sans CJK SC"/>
                <a:cs typeface="Noto Sans CJK SC"/>
              </a:rPr>
              <a:t>量化</a:t>
            </a:r>
          </a:p>
        </p:txBody>
      </p:sp>
      <p:pic>
        <p:nvPicPr>
          <p:cNvPr id="5" name="图片 4">
            <a:extLst>
              <a:ext uri="{FF2B5EF4-FFF2-40B4-BE49-F238E27FC236}">
                <a16:creationId xmlns:a16="http://schemas.microsoft.com/office/drawing/2014/main" id="{ACEFD0A9-6B58-4F01-829E-AE4430D22055}"/>
              </a:ext>
            </a:extLst>
          </p:cNvPr>
          <p:cNvPicPr>
            <a:picLocks noChangeAspect="1"/>
          </p:cNvPicPr>
          <p:nvPr/>
        </p:nvPicPr>
        <p:blipFill>
          <a:blip r:embed="rId3"/>
          <a:srcRect r="9481"/>
          <a:stretch/>
        </p:blipFill>
        <p:spPr>
          <a:xfrm>
            <a:off x="1135334" y="1676400"/>
            <a:ext cx="8963407" cy="1219200"/>
          </a:xfrm>
          <a:prstGeom prst="rect">
            <a:avLst/>
          </a:prstGeom>
        </p:spPr>
      </p:pic>
      <p:sp>
        <p:nvSpPr>
          <p:cNvPr id="6" name="前向量化">
            <a:extLst>
              <a:ext uri="{FF2B5EF4-FFF2-40B4-BE49-F238E27FC236}">
                <a16:creationId xmlns:a16="http://schemas.microsoft.com/office/drawing/2014/main" id="{A0107693-B750-424A-BEE8-83E384FC4A2F}"/>
              </a:ext>
            </a:extLst>
          </p:cNvPr>
          <p:cNvSpPr>
            <a:spLocks noGrp="1"/>
          </p:cNvSpPr>
          <p:nvPr/>
        </p:nvSpPr>
        <p:spPr>
          <a:xfrm>
            <a:off x="609600" y="3314700"/>
            <a:ext cx="5143500" cy="342900"/>
          </a:xfrm>
          <a:prstGeom prst="rect">
            <a:avLst/>
          </a:prstGeom>
          <a:noFill/>
          <a:ln w="0">
            <a:noFill/>
          </a:ln>
        </p:spPr>
        <p:txBody>
          <a:bodyPr wrap="square" lIns="0" tIns="0" rIns="0" bIns="0" anchor="t">
            <a:noAutofit/>
          </a:bodyPr>
          <a:lstStyle>
            <a:defPPr>
              <a:defRPr sz="1950" b="1">
                <a:solidFill>
                  <a:srgbClr val="356DA7"/>
                </a:solidFill>
                <a:latin typeface="Noto Sans CJK SC"/>
                <a:ea typeface="Noto Sans CJK SC"/>
                <a:cs typeface="Noto Sans CJK SC"/>
              </a:defRPr>
            </a:defPPr>
          </a:lstStyle>
          <a:p>
            <a:pPr>
              <a:buNone/>
              <a:defRPr sz="1950" b="1">
                <a:solidFill>
                  <a:srgbClr val="356DA7"/>
                </a:solidFill>
                <a:latin typeface="Noto Sans CJK SC"/>
                <a:ea typeface="Noto Sans CJK SC"/>
                <a:cs typeface="Noto Sans CJK SC"/>
              </a:defRPr>
            </a:pPr>
            <a:r>
              <a:rPr sz="1950" b="1">
                <a:solidFill>
                  <a:srgbClr val="356DA7"/>
                </a:solidFill>
                <a:latin typeface="Noto Sans CJK SC"/>
                <a:ea typeface="Noto Sans CJK SC"/>
                <a:cs typeface="Noto Sans CJK SC"/>
              </a:rPr>
              <a:t>前向量化</a:t>
            </a:r>
          </a:p>
        </p:txBody>
      </p:sp>
      <mc:AlternateContent xmlns:mc="http://schemas.openxmlformats.org/markup-compatibility/2006" xmlns:a14="http://schemas.microsoft.com/office/drawing/2010/main">
        <mc:Choice Requires="a14">
          <p:sp>
            <p:nvSpPr>
              <p:cNvPr id="7" name="按步长 s 取整，并限制网格范围。零附近满足 |Δz_raw| &lt; s/2 时，">
                <a:extLst>
                  <a:ext uri="{FF2B5EF4-FFF2-40B4-BE49-F238E27FC236}">
                    <a16:creationId xmlns:a16="http://schemas.microsoft.com/office/drawing/2014/main" id="{F019A27A-7611-4B84-8A65-0A50CB368185}"/>
                  </a:ext>
                </a:extLst>
              </p:cNvPr>
              <p:cNvSpPr>
                <a:spLocks noGrp="1"/>
              </p:cNvSpPr>
              <p:nvPr/>
            </p:nvSpPr>
            <p:spPr>
              <a:xfrm>
                <a:off x="609600" y="3724275"/>
                <a:ext cx="5143500" cy="1304925"/>
              </a:xfrm>
              <a:prstGeom prst="rect">
                <a:avLst/>
              </a:prstGeom>
              <a:noFill/>
              <a:ln w="0">
                <a:noFill/>
              </a:ln>
            </p:spPr>
            <p:txBody>
              <a:bodyPr wrap="square" lIns="0" tIns="0" rIns="0" bIns="0" anchor="t">
                <a:noAutofit/>
              </a:bodyPr>
              <a:lstStyle>
                <a:defPPr>
                  <a:defRPr sz="1875" b="0">
                    <a:solidFill>
                      <a:srgbClr val="19263E"/>
                    </a:solidFill>
                    <a:latin typeface="Noto Sans CJK SC"/>
                    <a:ea typeface="Noto Sans CJK SC"/>
                    <a:cs typeface="Noto Sans CJK SC"/>
                  </a:defRPr>
                </a:defPPr>
              </a:lstStyle>
              <a:p>
                <a:pPr>
                  <a:buNone/>
                  <a:defRPr sz="1875" b="0">
                    <a:solidFill>
                      <a:srgbClr val="19263E"/>
                    </a:solidFill>
                    <a:latin typeface="Noto Sans CJK SC"/>
                    <a:ea typeface="Noto Sans CJK SC"/>
                    <a:cs typeface="Noto Sans CJK SC"/>
                  </a:defRPr>
                </a:pPr>
                <a:r>
                  <a:rPr lang="zh-CN" altLang="en-US" sz="1875" b="0" dirty="0">
                    <a:solidFill>
                      <a:srgbClr val="19263E"/>
                    </a:solidFill>
                    <a:latin typeface="Noto Sans CJK SC"/>
                    <a:ea typeface="Noto Sans CJK SC"/>
                    <a:cs typeface="Noto Sans CJK SC"/>
                  </a:rPr>
                  <a:t>每维按步长 </a:t>
                </a:r>
                <a:r>
                  <a:rPr lang="en" sz="1875" b="0" dirty="0">
                    <a:solidFill>
                      <a:srgbClr val="19263E"/>
                    </a:solidFill>
                    <a:latin typeface="Noto Sans CJK SC"/>
                    <a:ea typeface="Noto Sans CJK SC"/>
                    <a:cs typeface="Noto Sans CJK SC"/>
                  </a:rPr>
                  <a:t>s </a:t>
                </a:r>
                <a:r>
                  <a:rPr lang="zh-CN" altLang="en-US" sz="1875" b="0" dirty="0" err="1">
                    <a:solidFill>
                      <a:srgbClr val="19263E"/>
                    </a:solidFill>
                    <a:latin typeface="Noto Sans CJK SC"/>
                    <a:ea typeface="Noto Sans CJK SC"/>
                    <a:cs typeface="Noto Sans CJK SC"/>
                  </a:rPr>
                  <a:t>取整，并限制网格范围。零附近满足</a:t>
                </a:r>
                <a:r>
                  <a:rPr lang="zh-CN" altLang="en-US" sz="1875" b="0" dirty="0">
                    <a:solidFill>
                      <a:srgbClr val="19263E"/>
                    </a:solidFill>
                    <a:latin typeface="Noto Sans CJK SC"/>
                    <a:ea typeface="Noto Sans CJK SC"/>
                    <a:cs typeface="Noto Sans CJK SC"/>
                  </a:rPr>
                  <a:t> </a:t>
                </a:r>
                <a14:m>
                  <m:oMath xmlns:m="http://schemas.openxmlformats.org/officeDocument/2006/math">
                    <m:r>
                      <a:rPr lang="en-US" altLang="zh-CN" sz="1875" b="0" i="1" dirty="0" smtClean="0">
                        <a:solidFill>
                          <a:srgbClr val="19263E"/>
                        </a:solidFill>
                        <a:latin typeface="Cambria Math" panose="02040503050406030204" pitchFamily="18" charset="0"/>
                        <a:ea typeface="Noto Sans CJK SC"/>
                        <a:cs typeface="Noto Sans CJK SC"/>
                      </a:rPr>
                      <m:t>|</m:t>
                    </m:r>
                    <m:r>
                      <m:rPr>
                        <m:sty m:val="p"/>
                      </m:rPr>
                      <a:rPr lang="el-GR" sz="1875" b="0" i="0" dirty="0" err="1">
                        <a:solidFill>
                          <a:srgbClr val="19263E"/>
                        </a:solidFill>
                        <a:latin typeface="Cambria Math" panose="02040503050406030204" pitchFamily="18" charset="0"/>
                        <a:ea typeface="Noto Sans CJK SC"/>
                        <a:cs typeface="Noto Sans CJK SC"/>
                      </a:rPr>
                      <m:t>Δ</m:t>
                    </m:r>
                    <m:sSub>
                      <m:sSubPr>
                        <m:ctrlPr>
                          <a:rPr lang="ar-AE" sz="1875" b="0" i="1" dirty="0" err="1">
                            <a:solidFill>
                              <a:srgbClr val="19263E"/>
                            </a:solidFill>
                            <a:latin typeface="Cambria Math" panose="02040503050406030204" pitchFamily="18" charset="0"/>
                            <a:ea typeface="Noto Sans CJK SC"/>
                            <a:cs typeface="Noto Sans CJK SC"/>
                          </a:rPr>
                        </m:ctrlPr>
                      </m:sSubPr>
                      <m:e>
                        <m:r>
                          <a:rPr lang="ar-AE" sz="1875" b="0" i="1" dirty="0" err="1">
                            <a:solidFill>
                              <a:srgbClr val="19263E"/>
                            </a:solidFill>
                            <a:latin typeface="Cambria Math" panose="02040503050406030204" pitchFamily="18" charset="0"/>
                            <a:ea typeface="Noto Sans CJK SC"/>
                            <a:cs typeface="Noto Sans CJK SC"/>
                          </a:rPr>
                          <m:t>𝑧</m:t>
                        </m:r>
                      </m:e>
                      <m:sub>
                        <m:r>
                          <a:rPr lang="ar-AE" sz="1875" b="0" i="1" dirty="0" err="1">
                            <a:solidFill>
                              <a:srgbClr val="19263E"/>
                            </a:solidFill>
                            <a:latin typeface="Cambria Math" panose="02040503050406030204" pitchFamily="18" charset="0"/>
                            <a:ea typeface="Noto Sans CJK SC"/>
                            <a:cs typeface="Noto Sans CJK SC"/>
                          </a:rPr>
                          <m:t>𝑟𝑎𝑤</m:t>
                        </m:r>
                      </m:sub>
                    </m:sSub>
                    <m:r>
                      <a:rPr lang="ar-AE" sz="1875" b="0" i="1" dirty="0">
                        <a:solidFill>
                          <a:srgbClr val="19263E"/>
                        </a:solidFill>
                        <a:latin typeface="Cambria Math" panose="02040503050406030204" pitchFamily="18" charset="0"/>
                        <a:ea typeface="Noto Sans CJK SC"/>
                        <a:cs typeface="Noto Sans CJK SC"/>
                      </a:rPr>
                      <m:t>| &lt; </m:t>
                    </m:r>
                    <m:r>
                      <a:rPr lang="ar-AE" sz="1875" b="0" i="1" dirty="0">
                        <a:solidFill>
                          <a:srgbClr val="19263E"/>
                        </a:solidFill>
                        <a:latin typeface="Cambria Math" panose="02040503050406030204" pitchFamily="18" charset="0"/>
                        <a:ea typeface="Noto Sans CJK SC"/>
                        <a:cs typeface="Noto Sans CJK SC"/>
                      </a:rPr>
                      <m:t>𝑠</m:t>
                    </m:r>
                    <m:r>
                      <a:rPr lang="ar-AE" sz="1875" b="0" i="1" dirty="0">
                        <a:solidFill>
                          <a:srgbClr val="19263E"/>
                        </a:solidFill>
                        <a:latin typeface="Cambria Math" panose="02040503050406030204" pitchFamily="18" charset="0"/>
                        <a:ea typeface="Noto Sans CJK SC"/>
                        <a:cs typeface="Noto Sans CJK SC"/>
                      </a:rPr>
                      <m:t>/2 </m:t>
                    </m:r>
                  </m:oMath>
                </a14:m>
                <a:r>
                  <a:rPr lang="zh-CN" altLang="en-US" sz="1875" b="0" dirty="0" err="1">
                    <a:solidFill>
                      <a:srgbClr val="19263E"/>
                    </a:solidFill>
                    <a:latin typeface="Noto Sans CJK SC"/>
                    <a:ea typeface="Noto Sans CJK SC"/>
                    <a:cs typeface="Noto Sans CJK SC"/>
                  </a:rPr>
                  <a:t>时，量化结果为零</a:t>
                </a:r>
                <a:r>
                  <a:rPr lang="zh-CN" altLang="en-US" sz="1875" b="0" dirty="0">
                    <a:solidFill>
                      <a:srgbClr val="19263E"/>
                    </a:solidFill>
                    <a:latin typeface="Noto Sans CJK SC"/>
                    <a:ea typeface="Noto Sans CJK SC"/>
                    <a:cs typeface="Noto Sans CJK SC"/>
                  </a:rPr>
                  <a:t>。</a:t>
                </a:r>
                <a:endParaRPr sz="1875" b="0" dirty="0">
                  <a:solidFill>
                    <a:srgbClr val="19263E"/>
                  </a:solidFill>
                  <a:latin typeface="Noto Sans CJK SC"/>
                  <a:ea typeface="Noto Sans CJK SC"/>
                  <a:cs typeface="Noto Sans CJK SC"/>
                </a:endParaRPr>
              </a:p>
            </p:txBody>
          </p:sp>
        </mc:Choice>
        <mc:Fallback xmlns="">
          <p:sp>
            <p:nvSpPr>
              <p:cNvPr id="7" name="按步长 s 取整，并限制网格范围。零附近满足 |Δz_raw| &lt; s/2 时，">
                <a:extLst>
                  <a:ext uri="{FF2B5EF4-FFF2-40B4-BE49-F238E27FC236}">
                    <a16:creationId xmlns:a16="http://schemas.microsoft.com/office/drawing/2014/main" id="{F019A27A-7611-4B84-8A65-0A50CB368185}"/>
                  </a:ext>
                </a:extLst>
              </p:cNvPr>
              <p:cNvSpPr>
                <a:spLocks noGrp="1" noRot="1" noChangeAspect="1" noMove="1" noResize="1" noEditPoints="1" noAdjustHandles="1" noChangeArrowheads="1" noChangeShapeType="1" noTextEdit="1"/>
              </p:cNvSpPr>
              <p:nvPr/>
            </p:nvSpPr>
            <p:spPr>
              <a:xfrm>
                <a:off x="609600" y="3724275"/>
                <a:ext cx="5143500" cy="1304925"/>
              </a:xfrm>
              <a:prstGeom prst="rect">
                <a:avLst/>
              </a:prstGeom>
              <a:blipFill>
                <a:blip r:embed="rId4"/>
                <a:stretch>
                  <a:fillRect l="-2956" t="-5825"/>
                </a:stretch>
              </a:blipFill>
              <a:ln w="0">
                <a:noFill/>
              </a:ln>
            </p:spPr>
            <p:txBody>
              <a:bodyPr/>
              <a:lstStyle/>
              <a:p>
                <a:r>
                  <a:rPr lang="zh-CN" altLang="en-US">
                    <a:noFill/>
                  </a:rPr>
                  <a:t> </a:t>
                </a:r>
              </a:p>
            </p:txBody>
          </p:sp>
        </mc:Fallback>
      </mc:AlternateContent>
      <p:sp>
        <p:nvSpPr>
          <p:cNvPr id="8" name="反向传播">
            <a:extLst>
              <a:ext uri="{FF2B5EF4-FFF2-40B4-BE49-F238E27FC236}">
                <a16:creationId xmlns:a16="http://schemas.microsoft.com/office/drawing/2014/main" id="{3306DD78-6A11-4DF5-9E1A-FE02FC167C18}"/>
              </a:ext>
            </a:extLst>
          </p:cNvPr>
          <p:cNvSpPr>
            <a:spLocks noGrp="1"/>
          </p:cNvSpPr>
          <p:nvPr/>
        </p:nvSpPr>
        <p:spPr>
          <a:xfrm>
            <a:off x="6362700" y="3314700"/>
            <a:ext cx="5143500" cy="342900"/>
          </a:xfrm>
          <a:prstGeom prst="rect">
            <a:avLst/>
          </a:prstGeom>
          <a:noFill/>
          <a:ln w="0">
            <a:noFill/>
          </a:ln>
        </p:spPr>
        <p:txBody>
          <a:bodyPr wrap="square" lIns="0" tIns="0" rIns="0" bIns="0" anchor="t">
            <a:noAutofit/>
          </a:bodyPr>
          <a:lstStyle>
            <a:defPPr>
              <a:defRPr sz="1950" b="1">
                <a:solidFill>
                  <a:srgbClr val="168F85"/>
                </a:solidFill>
                <a:latin typeface="Noto Sans CJK SC"/>
                <a:ea typeface="Noto Sans CJK SC"/>
                <a:cs typeface="Noto Sans CJK SC"/>
              </a:defRPr>
            </a:defPPr>
          </a:lstStyle>
          <a:p>
            <a:pPr>
              <a:buNone/>
              <a:defRPr sz="1950" b="1">
                <a:solidFill>
                  <a:srgbClr val="168F85"/>
                </a:solidFill>
                <a:latin typeface="Noto Sans CJK SC"/>
                <a:ea typeface="Noto Sans CJK SC"/>
                <a:cs typeface="Noto Sans CJK SC"/>
              </a:defRPr>
            </a:pPr>
            <a:r>
              <a:rPr sz="1950" b="1">
                <a:solidFill>
                  <a:srgbClr val="168F85"/>
                </a:solidFill>
                <a:latin typeface="Noto Sans CJK SC"/>
                <a:ea typeface="Noto Sans CJK SC"/>
                <a:cs typeface="Noto Sans CJK SC"/>
              </a:rPr>
              <a:t>反向传播</a:t>
            </a:r>
          </a:p>
        </p:txBody>
      </p:sp>
      <p:sp>
        <p:nvSpPr>
          <p:cNvPr id="9" name="sg 表示 stop-gradient。STE 保留近似梯度，使 encoder">
            <a:extLst>
              <a:ext uri="{FF2B5EF4-FFF2-40B4-BE49-F238E27FC236}">
                <a16:creationId xmlns:a16="http://schemas.microsoft.com/office/drawing/2014/main" id="{4858C307-E2E0-4EA6-B833-8243301DBA84}"/>
              </a:ext>
            </a:extLst>
          </p:cNvPr>
          <p:cNvSpPr>
            <a:spLocks noGrp="1"/>
          </p:cNvSpPr>
          <p:nvPr/>
        </p:nvSpPr>
        <p:spPr>
          <a:xfrm>
            <a:off x="6362700" y="3724275"/>
            <a:ext cx="5143500" cy="1304925"/>
          </a:xfrm>
          <a:prstGeom prst="rect">
            <a:avLst/>
          </a:prstGeom>
          <a:noFill/>
          <a:ln w="0">
            <a:noFill/>
          </a:ln>
        </p:spPr>
        <p:txBody>
          <a:bodyPr wrap="square" lIns="0" tIns="0" rIns="0" bIns="0" anchor="t">
            <a:noAutofit/>
          </a:bodyPr>
          <a:lstStyle>
            <a:defPPr>
              <a:defRPr sz="1875" b="0">
                <a:solidFill>
                  <a:srgbClr val="19263E"/>
                </a:solidFill>
                <a:latin typeface="Noto Sans CJK SC"/>
                <a:ea typeface="Noto Sans CJK SC"/>
                <a:cs typeface="Noto Sans CJK SC"/>
              </a:defRPr>
            </a:defPPr>
          </a:lstStyle>
          <a:p>
            <a:pPr>
              <a:buNone/>
              <a:defRPr sz="1875" b="0">
                <a:solidFill>
                  <a:srgbClr val="19263E"/>
                </a:solidFill>
                <a:latin typeface="Noto Sans CJK SC"/>
                <a:ea typeface="Noto Sans CJK SC"/>
                <a:cs typeface="Noto Sans CJK SC"/>
              </a:defRPr>
            </a:pPr>
            <a:r>
              <a:rPr sz="1875" b="0" dirty="0">
                <a:solidFill>
                  <a:srgbClr val="19263E"/>
                </a:solidFill>
                <a:latin typeface="Noto Sans CJK SC"/>
                <a:ea typeface="Noto Sans CJK SC"/>
                <a:cs typeface="Noto Sans CJK SC"/>
              </a:rPr>
              <a:t>sg </a:t>
            </a:r>
            <a:r>
              <a:rPr sz="1875" b="0" dirty="0" err="1">
                <a:solidFill>
                  <a:srgbClr val="19263E"/>
                </a:solidFill>
                <a:latin typeface="Noto Sans CJK SC"/>
                <a:ea typeface="Noto Sans CJK SC"/>
                <a:cs typeface="Noto Sans CJK SC"/>
              </a:rPr>
              <a:t>表示</a:t>
            </a:r>
            <a:r>
              <a:rPr sz="1875" b="0" dirty="0">
                <a:solidFill>
                  <a:srgbClr val="19263E"/>
                </a:solidFill>
                <a:latin typeface="Noto Sans CJK SC"/>
                <a:ea typeface="Noto Sans CJK SC"/>
                <a:cs typeface="Noto Sans CJK SC"/>
              </a:rPr>
              <a:t> </a:t>
            </a:r>
            <a:r>
              <a:rPr sz="1875" b="0" dirty="0" err="1">
                <a:solidFill>
                  <a:srgbClr val="19263E"/>
                </a:solidFill>
                <a:latin typeface="Noto Sans CJK SC"/>
                <a:ea typeface="Noto Sans CJK SC"/>
                <a:cs typeface="Noto Sans CJK SC"/>
              </a:rPr>
              <a:t>stop-gradient。STE</a:t>
            </a:r>
            <a:r>
              <a:rPr sz="1875" b="0" dirty="0">
                <a:solidFill>
                  <a:srgbClr val="19263E"/>
                </a:solidFill>
                <a:latin typeface="Noto Sans CJK SC"/>
                <a:ea typeface="Noto Sans CJK SC"/>
                <a:cs typeface="Noto Sans CJK SC"/>
              </a:rPr>
              <a:t> </a:t>
            </a:r>
            <a:r>
              <a:rPr sz="1875" b="0" dirty="0" err="1">
                <a:solidFill>
                  <a:srgbClr val="19263E"/>
                </a:solidFill>
                <a:latin typeface="Noto Sans CJK SC"/>
                <a:ea typeface="Noto Sans CJK SC"/>
                <a:cs typeface="Noto Sans CJK SC"/>
              </a:rPr>
              <a:t>保留近似梯度，使</a:t>
            </a:r>
            <a:r>
              <a:rPr lang="zh-CN" altLang="en-US" sz="1875" b="0" dirty="0">
                <a:solidFill>
                  <a:srgbClr val="19263E"/>
                </a:solidFill>
                <a:latin typeface="Noto Sans CJK SC"/>
                <a:ea typeface="Noto Sans CJK SC"/>
                <a:cs typeface="Noto Sans CJK SC"/>
              </a:rPr>
              <a:t>梯度经过离散</a:t>
            </a:r>
            <a:r>
              <a:rPr lang="en-US" altLang="zh-CN" sz="1875" b="0" dirty="0">
                <a:solidFill>
                  <a:srgbClr val="19263E"/>
                </a:solidFill>
                <a:latin typeface="Noto Sans CJK SC"/>
                <a:ea typeface="Noto Sans CJK SC"/>
                <a:cs typeface="Noto Sans CJK SC"/>
              </a:rPr>
              <a:t>clip</a:t>
            </a:r>
            <a:r>
              <a:rPr lang="zh-CN" altLang="en-US" sz="1875" b="0" dirty="0">
                <a:solidFill>
                  <a:srgbClr val="19263E"/>
                </a:solidFill>
                <a:latin typeface="Noto Sans CJK SC"/>
                <a:ea typeface="Noto Sans CJK SC"/>
                <a:cs typeface="Noto Sans CJK SC"/>
              </a:rPr>
              <a:t>操作</a:t>
            </a:r>
            <a:r>
              <a:rPr sz="1875" b="0" dirty="0">
                <a:solidFill>
                  <a:srgbClr val="19263E"/>
                </a:solidFill>
                <a:latin typeface="Noto Sans CJK SC"/>
                <a:ea typeface="Noto Sans CJK SC"/>
                <a:cs typeface="Noto Sans CJK SC"/>
              </a:rPr>
              <a:t>。</a:t>
            </a:r>
          </a:p>
        </p:txBody>
      </p:sp>
      <p:sp>
        <p:nvSpPr>
          <p:cNvPr id="10" name="量化依据是 learned latent 的幅度。小噪声与小病变都可能被归零。">
            <a:extLst>
              <a:ext uri="{FF2B5EF4-FFF2-40B4-BE49-F238E27FC236}">
                <a16:creationId xmlns:a16="http://schemas.microsoft.com/office/drawing/2014/main" id="{46CA9A97-32C9-4E48-AD68-97EDA45669A6}"/>
              </a:ext>
            </a:extLst>
          </p:cNvPr>
          <p:cNvSpPr>
            <a:spLocks noGrp="1"/>
          </p:cNvSpPr>
          <p:nvPr/>
        </p:nvSpPr>
        <p:spPr>
          <a:xfrm>
            <a:off x="609600" y="5457825"/>
            <a:ext cx="10858500" cy="657225"/>
          </a:xfrm>
          <a:prstGeom prst="rect">
            <a:avLst/>
          </a:prstGeom>
          <a:noFill/>
          <a:ln w="0">
            <a:noFill/>
          </a:ln>
        </p:spPr>
        <p:txBody>
          <a:bodyPr wrap="none" lIns="0" tIns="0" rIns="0" bIns="0" anchor="t">
            <a:noAutofit/>
          </a:bodyPr>
          <a:lstStyle>
            <a:defPPr algn="l">
              <a:defRPr sz="1950" b="0">
                <a:solidFill>
                  <a:srgbClr val="AC473D"/>
                </a:solidFill>
                <a:latin typeface="Noto Sans CJK SC"/>
                <a:ea typeface="Noto Sans CJK SC"/>
                <a:cs typeface="Noto Sans CJK SC"/>
              </a:defRPr>
            </a:defPPr>
          </a:lstStyle>
          <a:p>
            <a:pPr algn="l">
              <a:buNone/>
              <a:defRPr sz="1950" b="0">
                <a:solidFill>
                  <a:srgbClr val="AC473D"/>
                </a:solidFill>
                <a:latin typeface="Noto Sans CJK SC"/>
                <a:ea typeface="Noto Sans CJK SC"/>
                <a:cs typeface="Noto Sans CJK SC"/>
              </a:defRPr>
            </a:pPr>
            <a:r>
              <a:rPr sz="1875" dirty="0" err="1">
                <a:solidFill>
                  <a:srgbClr val="19263E"/>
                </a:solidFill>
                <a:latin typeface="Noto Sans CJK SC"/>
              </a:rPr>
              <a:t>量化根据学到的</a:t>
            </a:r>
            <a:r>
              <a:rPr sz="1875" dirty="0">
                <a:solidFill>
                  <a:srgbClr val="19263E"/>
                </a:solidFill>
                <a:latin typeface="Noto Sans CJK SC"/>
              </a:rPr>
              <a:t> latent </a:t>
            </a:r>
            <a:r>
              <a:rPr sz="1875" dirty="0" err="1">
                <a:solidFill>
                  <a:srgbClr val="19263E"/>
                </a:solidFill>
                <a:latin typeface="Noto Sans CJK SC"/>
              </a:rPr>
              <a:t>数值大小进行取整，小噪声和细微病变都有可能被归零</a:t>
            </a:r>
            <a:r>
              <a:rPr sz="1875" dirty="0">
                <a:solidFill>
                  <a:srgbClr val="19263E"/>
                </a:solidFill>
                <a:latin typeface="Noto Sans CJK SC"/>
              </a:rPr>
              <a:t>。</a:t>
            </a:r>
          </a:p>
        </p:txBody>
      </p:sp>
    </p:spTree>
    <p:extLst>
      <p:ext uri="{BB962C8B-B14F-4D97-AF65-F5344CB8AC3E}">
        <p14:creationId xmlns:p14="http://schemas.microsoft.com/office/powerpoint/2010/main" val="1314516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0">
            <a:extLst>
              <a:ext uri="{FF2B5EF4-FFF2-40B4-BE49-F238E27FC236}">
                <a16:creationId xmlns:a16="http://schemas.microsoft.com/office/drawing/2014/main" id="{F6D63F08-88C0-4899-93D5-A8CE1AC56A7A}"/>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10</a:t>
            </a:r>
          </a:p>
        </p:txBody>
      </p:sp>
      <p:sp>
        <p:nvSpPr>
          <p:cNvPr id="3" name="阶段二：离散变化标签的预测">
            <a:extLst>
              <a:ext uri="{FF2B5EF4-FFF2-40B4-BE49-F238E27FC236}">
                <a16:creationId xmlns:a16="http://schemas.microsoft.com/office/drawing/2014/main" id="{B5A88B29-DF18-4746-BD1B-2DB43402D2D0}"/>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a:solidFill>
                  <a:srgbClr val="19263E"/>
                </a:solidFill>
                <a:latin typeface="Noto Sans CJK SC"/>
                <a:ea typeface="Noto Sans CJK SC"/>
                <a:cs typeface="Noto Sans CJK SC"/>
              </a:rPr>
              <a:t>变化预测</a:t>
            </a:r>
          </a:p>
        </p:txBody>
      </p:sp>
      <p:pic>
        <p:nvPicPr>
          <p:cNvPr id="5" name="图片 4">
            <a:extLst>
              <a:ext uri="{FF2B5EF4-FFF2-40B4-BE49-F238E27FC236}">
                <a16:creationId xmlns:a16="http://schemas.microsoft.com/office/drawing/2014/main" id="{FB24A26D-F824-406E-BAA4-6FC49526E2FD}"/>
              </a:ext>
            </a:extLst>
          </p:cNvPr>
          <p:cNvPicPr>
            <a:picLocks noChangeAspect="1"/>
          </p:cNvPicPr>
          <p:nvPr/>
        </p:nvPicPr>
        <p:blipFill>
          <a:blip r:embed="rId3"/>
          <a:srcRect r="13436"/>
          <a:stretch/>
        </p:blipFill>
        <p:spPr>
          <a:xfrm>
            <a:off x="714375" y="1658561"/>
            <a:ext cx="9317131" cy="750052"/>
          </a:xfrm>
          <a:prstGeom prst="rect">
            <a:avLst/>
          </a:prstGeom>
        </p:spPr>
      </p:pic>
      <p:sp>
        <p:nvSpPr>
          <p:cNvPr id="6" name="训练标签">
            <a:extLst>
              <a:ext uri="{FF2B5EF4-FFF2-40B4-BE49-F238E27FC236}">
                <a16:creationId xmlns:a16="http://schemas.microsoft.com/office/drawing/2014/main" id="{5ADC6A7A-ECF3-46A1-ACB8-ABFAA69534AE}"/>
              </a:ext>
            </a:extLst>
          </p:cNvPr>
          <p:cNvSpPr>
            <a:spLocks noGrp="1"/>
          </p:cNvSpPr>
          <p:nvPr/>
        </p:nvSpPr>
        <p:spPr>
          <a:xfrm>
            <a:off x="609600" y="2905125"/>
            <a:ext cx="5143500" cy="342900"/>
          </a:xfrm>
          <a:prstGeom prst="rect">
            <a:avLst/>
          </a:prstGeom>
          <a:noFill/>
          <a:ln w="0">
            <a:noFill/>
          </a:ln>
        </p:spPr>
        <p:txBody>
          <a:bodyPr wrap="square" lIns="0" tIns="0" rIns="0" bIns="0" anchor="t">
            <a:noAutofit/>
          </a:bodyPr>
          <a:lstStyle>
            <a:defPPr>
              <a:defRPr sz="1950" b="1">
                <a:solidFill>
                  <a:srgbClr val="356DA7"/>
                </a:solidFill>
                <a:latin typeface="Noto Sans CJK SC"/>
                <a:ea typeface="Noto Sans CJK SC"/>
                <a:cs typeface="Noto Sans CJK SC"/>
              </a:defRPr>
            </a:defPPr>
          </a:lstStyle>
          <a:p>
            <a:pPr>
              <a:buNone/>
              <a:defRPr sz="1950" b="1">
                <a:solidFill>
                  <a:srgbClr val="356DA7"/>
                </a:solidFill>
                <a:latin typeface="Noto Sans CJK SC"/>
                <a:ea typeface="Noto Sans CJK SC"/>
                <a:cs typeface="Noto Sans CJK SC"/>
              </a:defRPr>
            </a:pPr>
            <a:r>
              <a:rPr sz="1950" b="1">
                <a:solidFill>
                  <a:srgbClr val="356DA7"/>
                </a:solidFill>
                <a:latin typeface="Noto Sans CJK SC"/>
                <a:ea typeface="Noto Sans CJK SC"/>
                <a:cs typeface="Noto Sans CJK SC"/>
              </a:rPr>
              <a:t>训练标签</a:t>
            </a:r>
          </a:p>
        </p:txBody>
      </p:sp>
      <mc:AlternateContent xmlns:mc="http://schemas.openxmlformats.org/markup-compatibility/2006" xmlns:a14="http://schemas.microsoft.com/office/drawing/2010/main">
        <mc:Choice Requires="a14">
          <p:sp>
            <p:nvSpPr>
              <p:cNvPr id="7" name="冻结第一阶段 tokenizer，以真实影像对提取 Δz_q 对应的 token">
                <a:extLst>
                  <a:ext uri="{FF2B5EF4-FFF2-40B4-BE49-F238E27FC236}">
                    <a16:creationId xmlns:a16="http://schemas.microsoft.com/office/drawing/2014/main" id="{F312B1D5-B5B6-41FB-83CA-CA5DC59A11E2}"/>
                  </a:ext>
                </a:extLst>
              </p:cNvPr>
              <p:cNvSpPr>
                <a:spLocks noGrp="1"/>
              </p:cNvSpPr>
              <p:nvPr/>
            </p:nvSpPr>
            <p:spPr>
              <a:xfrm>
                <a:off x="609600" y="3314700"/>
                <a:ext cx="5143500" cy="1485900"/>
              </a:xfrm>
              <a:prstGeom prst="rect">
                <a:avLst/>
              </a:prstGeom>
              <a:noFill/>
              <a:ln w="0">
                <a:noFill/>
              </a:ln>
            </p:spPr>
            <p:txBody>
              <a:bodyPr wrap="square" lIns="0" tIns="0" rIns="0" bIns="0" anchor="t">
                <a:noAutofit/>
              </a:bodyPr>
              <a:lstStyle>
                <a:defPPr>
                  <a:defRPr sz="1875" b="0">
                    <a:solidFill>
                      <a:srgbClr val="19263E"/>
                    </a:solidFill>
                    <a:latin typeface="Noto Sans CJK SC"/>
                    <a:ea typeface="Noto Sans CJK SC"/>
                    <a:cs typeface="Noto Sans CJK SC"/>
                  </a:defRPr>
                </a:defPPr>
              </a:lstStyle>
              <a:p>
                <a:pPr>
                  <a:buNone/>
                  <a:defRPr sz="1875" b="0">
                    <a:solidFill>
                      <a:srgbClr val="19263E"/>
                    </a:solidFill>
                    <a:latin typeface="Noto Sans CJK SC"/>
                    <a:ea typeface="Noto Sans CJK SC"/>
                    <a:cs typeface="Noto Sans CJK SC"/>
                  </a:defRPr>
                </a:pPr>
                <a:r>
                  <a:rPr lang="zh-CN" altLang="en-US" sz="1875" b="0" dirty="0">
                    <a:solidFill>
                      <a:srgbClr val="19263E"/>
                    </a:solidFill>
                    <a:latin typeface="Noto Sans CJK SC"/>
                    <a:ea typeface="Noto Sans CJK SC"/>
                    <a:cs typeface="Noto Sans CJK SC"/>
                  </a:rPr>
                  <a:t>冻结第一阶段 </a:t>
                </a:r>
                <a:r>
                  <a:rPr lang="en" sz="1875" b="0" dirty="0" err="1">
                    <a:solidFill>
                      <a:srgbClr val="19263E"/>
                    </a:solidFill>
                    <a:latin typeface="Noto Sans CJK SC"/>
                    <a:ea typeface="Noto Sans CJK SC"/>
                    <a:cs typeface="Noto Sans CJK SC"/>
                  </a:rPr>
                  <a:t>tokenizer，</a:t>
                </a:r>
                <a:r>
                  <a:rPr lang="zh-CN" altLang="en-US" sz="1875" b="0" dirty="0" err="1">
                    <a:solidFill>
                      <a:srgbClr val="19263E"/>
                    </a:solidFill>
                    <a:latin typeface="Noto Sans CJK SC"/>
                    <a:ea typeface="Noto Sans CJK SC"/>
                    <a:cs typeface="Noto Sans CJK SC"/>
                  </a:rPr>
                  <a:t>以真实影像对提取</a:t>
                </a:r>
                <a:r>
                  <a:rPr lang="zh-CN" altLang="en-US" sz="1875" b="0" dirty="0">
                    <a:solidFill>
                      <a:srgbClr val="19263E"/>
                    </a:solidFill>
                    <a:latin typeface="Noto Sans CJK SC"/>
                    <a:ea typeface="Noto Sans CJK SC"/>
                    <a:cs typeface="Noto Sans CJK SC"/>
                  </a:rPr>
                  <a:t> </a:t>
                </a:r>
                <a14:m>
                  <m:oMath xmlns:m="http://schemas.openxmlformats.org/officeDocument/2006/math">
                    <m:r>
                      <m:rPr>
                        <m:sty m:val="p"/>
                      </m:rPr>
                      <a:rPr lang="el-GR" sz="1875" b="0" i="0" dirty="0" smtClean="0">
                        <a:solidFill>
                          <a:srgbClr val="19263E"/>
                        </a:solidFill>
                        <a:latin typeface="Cambria Math" panose="02040503050406030204" pitchFamily="18" charset="0"/>
                        <a:ea typeface="Noto Sans CJK SC"/>
                        <a:cs typeface="Noto Sans CJK SC"/>
                      </a:rPr>
                      <m:t>Δ</m:t>
                    </m:r>
                    <m:sSub>
                      <m:sSubPr>
                        <m:ctrlPr>
                          <a:rPr lang="ar-AE" sz="1875" b="0" i="1" dirty="0" err="1">
                            <a:solidFill>
                              <a:srgbClr val="19263E"/>
                            </a:solidFill>
                            <a:latin typeface="Cambria Math" panose="02040503050406030204" pitchFamily="18" charset="0"/>
                            <a:ea typeface="Noto Sans CJK SC"/>
                            <a:cs typeface="Noto Sans CJK SC"/>
                          </a:rPr>
                        </m:ctrlPr>
                      </m:sSubPr>
                      <m:e>
                        <m:r>
                          <a:rPr lang="ar-AE" sz="1875" b="0" i="1" dirty="0" err="1">
                            <a:solidFill>
                              <a:srgbClr val="19263E"/>
                            </a:solidFill>
                            <a:latin typeface="Cambria Math" panose="02040503050406030204" pitchFamily="18" charset="0"/>
                            <a:ea typeface="Noto Sans CJK SC"/>
                            <a:cs typeface="Noto Sans CJK SC"/>
                          </a:rPr>
                          <m:t>𝑧</m:t>
                        </m:r>
                      </m:e>
                      <m:sub>
                        <m:r>
                          <a:rPr lang="ar-AE" sz="1875" b="0" i="1" dirty="0" err="1">
                            <a:solidFill>
                              <a:srgbClr val="19263E"/>
                            </a:solidFill>
                            <a:latin typeface="Cambria Math" panose="02040503050406030204" pitchFamily="18" charset="0"/>
                            <a:ea typeface="Noto Sans CJK SC"/>
                            <a:cs typeface="Noto Sans CJK SC"/>
                          </a:rPr>
                          <m:t>𝑞</m:t>
                        </m:r>
                      </m:sub>
                    </m:sSub>
                  </m:oMath>
                </a14:m>
                <a:r>
                  <a:rPr lang="ar-AE" sz="1875" b="0" dirty="0">
                    <a:solidFill>
                      <a:srgbClr val="19263E"/>
                    </a:solidFill>
                    <a:latin typeface="Noto Sans CJK SC"/>
                    <a:ea typeface="Noto Sans CJK SC"/>
                    <a:cs typeface="Noto Sans CJK SC"/>
                  </a:rPr>
                  <a:t> </a:t>
                </a:r>
                <a:r>
                  <a:rPr lang="zh-CN" altLang="en-US" sz="1875" b="0" dirty="0" err="1">
                    <a:solidFill>
                      <a:srgbClr val="19263E"/>
                    </a:solidFill>
                    <a:latin typeface="Noto Sans CJK SC"/>
                    <a:ea typeface="Noto Sans CJK SC"/>
                    <a:cs typeface="Noto Sans CJK SC"/>
                  </a:rPr>
                  <a:t>对应的</a:t>
                </a:r>
                <a:r>
                  <a:rPr lang="zh-CN" altLang="en-US" sz="1875" b="0" dirty="0">
                    <a:solidFill>
                      <a:srgbClr val="19263E"/>
                    </a:solidFill>
                    <a:latin typeface="Noto Sans CJK SC"/>
                    <a:ea typeface="Noto Sans CJK SC"/>
                    <a:cs typeface="Noto Sans CJK SC"/>
                  </a:rPr>
                  <a:t> </a:t>
                </a:r>
                <a:r>
                  <a:rPr lang="en" sz="1875" b="0" dirty="0">
                    <a:solidFill>
                      <a:srgbClr val="19263E"/>
                    </a:solidFill>
                    <a:latin typeface="Noto Sans CJK SC"/>
                    <a:ea typeface="Noto Sans CJK SC"/>
                    <a:cs typeface="Noto Sans CJK SC"/>
                  </a:rPr>
                  <a:t>token </a:t>
                </a:r>
                <a:r>
                  <a:rPr lang="en" sz="1875" b="0" dirty="0" err="1">
                    <a:solidFill>
                      <a:srgbClr val="19263E"/>
                    </a:solidFill>
                    <a:latin typeface="Noto Sans CJK SC"/>
                    <a:ea typeface="Noto Sans CJK SC"/>
                    <a:cs typeface="Noto Sans CJK SC"/>
                  </a:rPr>
                  <a:t>IDs。transformer</a:t>
                </a:r>
                <a:r>
                  <a:rPr lang="zh-CN" altLang="en-US" sz="1875" b="0" dirty="0">
                    <a:solidFill>
                      <a:srgbClr val="19263E"/>
                    </a:solidFill>
                    <a:latin typeface="Noto Sans CJK SC"/>
                    <a:ea typeface="Noto Sans CJK SC"/>
                    <a:cs typeface="Noto Sans CJK SC"/>
                  </a:rPr>
                  <a:t>用交叉熵学习离散</a:t>
                </a:r>
                <a:r>
                  <a:rPr lang="zh-CN" altLang="en-US" sz="1875" dirty="0">
                    <a:solidFill>
                      <a:srgbClr val="19263E"/>
                    </a:solidFill>
                    <a:latin typeface="Noto Sans CJK SC"/>
                    <a:ea typeface="Noto Sans CJK SC"/>
                    <a:cs typeface="Noto Sans CJK SC"/>
                  </a:rPr>
                  <a:t>变化</a:t>
                </a:r>
                <a:r>
                  <a:rPr lang="zh-CN" altLang="en-US" sz="1875" b="0" dirty="0">
                    <a:solidFill>
                      <a:srgbClr val="19263E"/>
                    </a:solidFill>
                    <a:latin typeface="Noto Sans CJK SC"/>
                    <a:ea typeface="Noto Sans CJK SC"/>
                    <a:cs typeface="Noto Sans CJK SC"/>
                  </a:rPr>
                  <a:t>。</a:t>
                </a:r>
                <a:endParaRPr sz="1875" b="0" dirty="0">
                  <a:solidFill>
                    <a:srgbClr val="19263E"/>
                  </a:solidFill>
                  <a:latin typeface="Noto Sans CJK SC"/>
                  <a:ea typeface="Noto Sans CJK SC"/>
                  <a:cs typeface="Noto Sans CJK SC"/>
                </a:endParaRPr>
              </a:p>
            </p:txBody>
          </p:sp>
        </mc:Choice>
        <mc:Fallback xmlns="">
          <p:sp>
            <p:nvSpPr>
              <p:cNvPr id="7" name="冻结第一阶段 tokenizer，以真实影像对提取 Δz_q 对应的 token">
                <a:extLst>
                  <a:ext uri="{FF2B5EF4-FFF2-40B4-BE49-F238E27FC236}">
                    <a16:creationId xmlns:a16="http://schemas.microsoft.com/office/drawing/2014/main" id="{F312B1D5-B5B6-41FB-83CA-CA5DC59A11E2}"/>
                  </a:ext>
                </a:extLst>
              </p:cNvPr>
              <p:cNvSpPr>
                <a:spLocks noGrp="1" noRot="1" noChangeAspect="1" noMove="1" noResize="1" noEditPoints="1" noAdjustHandles="1" noChangeArrowheads="1" noChangeShapeType="1" noTextEdit="1"/>
              </p:cNvSpPr>
              <p:nvPr/>
            </p:nvSpPr>
            <p:spPr>
              <a:xfrm>
                <a:off x="609600" y="3314700"/>
                <a:ext cx="5143500" cy="1485900"/>
              </a:xfrm>
              <a:prstGeom prst="rect">
                <a:avLst/>
              </a:prstGeom>
              <a:blipFill>
                <a:blip r:embed="rId4"/>
                <a:stretch>
                  <a:fillRect l="-2956" t="-5932"/>
                </a:stretch>
              </a:blipFill>
              <a:ln w="0">
                <a:noFill/>
              </a:ln>
            </p:spPr>
            <p:txBody>
              <a:bodyPr/>
              <a:lstStyle/>
              <a:p>
                <a:r>
                  <a:rPr lang="zh-CN" altLang="en-US">
                    <a:noFill/>
                  </a:rPr>
                  <a:t> </a:t>
                </a:r>
              </a:p>
            </p:txBody>
          </p:sp>
        </mc:Fallback>
      </mc:AlternateContent>
      <p:sp>
        <p:nvSpPr>
          <p:cNvPr id="8" name="推理过程">
            <a:extLst>
              <a:ext uri="{FF2B5EF4-FFF2-40B4-BE49-F238E27FC236}">
                <a16:creationId xmlns:a16="http://schemas.microsoft.com/office/drawing/2014/main" id="{A6EF7138-B43E-49AD-A6CD-FB74533234B5}"/>
              </a:ext>
            </a:extLst>
          </p:cNvPr>
          <p:cNvSpPr>
            <a:spLocks noGrp="1"/>
          </p:cNvSpPr>
          <p:nvPr/>
        </p:nvSpPr>
        <p:spPr>
          <a:xfrm>
            <a:off x="6362700" y="2905125"/>
            <a:ext cx="5143500" cy="342900"/>
          </a:xfrm>
          <a:prstGeom prst="rect">
            <a:avLst/>
          </a:prstGeom>
          <a:noFill/>
          <a:ln w="0">
            <a:noFill/>
          </a:ln>
        </p:spPr>
        <p:txBody>
          <a:bodyPr wrap="square" lIns="0" tIns="0" rIns="0" bIns="0" anchor="t">
            <a:noAutofit/>
          </a:bodyPr>
          <a:lstStyle>
            <a:defPPr>
              <a:defRPr sz="1950" b="1">
                <a:solidFill>
                  <a:srgbClr val="168F85"/>
                </a:solidFill>
                <a:latin typeface="Noto Sans CJK SC"/>
                <a:ea typeface="Noto Sans CJK SC"/>
                <a:cs typeface="Noto Sans CJK SC"/>
              </a:defRPr>
            </a:defPPr>
          </a:lstStyle>
          <a:p>
            <a:pPr>
              <a:buNone/>
              <a:defRPr sz="1950" b="1">
                <a:solidFill>
                  <a:srgbClr val="168F85"/>
                </a:solidFill>
                <a:latin typeface="Noto Sans CJK SC"/>
                <a:ea typeface="Noto Sans CJK SC"/>
                <a:cs typeface="Noto Sans CJK SC"/>
              </a:defRPr>
            </a:pPr>
            <a:r>
              <a:rPr sz="1950" b="1">
                <a:solidFill>
                  <a:srgbClr val="168F85"/>
                </a:solidFill>
                <a:latin typeface="Noto Sans CJK SC"/>
                <a:ea typeface="Noto Sans CJK SC"/>
                <a:cs typeface="Noto Sans CJK SC"/>
              </a:rPr>
              <a:t>推理过程</a:t>
            </a:r>
          </a:p>
        </p:txBody>
      </p:sp>
      <p:sp>
        <p:nvSpPr>
          <p:cNvPr id="9" name="只输入当前 MRI 和目标时间等条件。预测 token IDs，映射回量化向量，">
            <a:extLst>
              <a:ext uri="{FF2B5EF4-FFF2-40B4-BE49-F238E27FC236}">
                <a16:creationId xmlns:a16="http://schemas.microsoft.com/office/drawing/2014/main" id="{678B065D-FDD7-4A5B-A8CB-184A4872289C}"/>
              </a:ext>
            </a:extLst>
          </p:cNvPr>
          <p:cNvSpPr>
            <a:spLocks noGrp="1"/>
          </p:cNvSpPr>
          <p:nvPr/>
        </p:nvSpPr>
        <p:spPr>
          <a:xfrm>
            <a:off x="6362700" y="3314700"/>
            <a:ext cx="5143500" cy="1485900"/>
          </a:xfrm>
          <a:prstGeom prst="rect">
            <a:avLst/>
          </a:prstGeom>
          <a:noFill/>
          <a:ln w="0">
            <a:noFill/>
          </a:ln>
        </p:spPr>
        <p:txBody>
          <a:bodyPr wrap="square" lIns="0" tIns="0" rIns="0" bIns="0" anchor="t">
            <a:noAutofit/>
          </a:bodyPr>
          <a:lstStyle>
            <a:defPPr>
              <a:defRPr sz="1875" b="0">
                <a:solidFill>
                  <a:srgbClr val="19263E"/>
                </a:solidFill>
                <a:latin typeface="Noto Sans CJK SC"/>
                <a:ea typeface="Noto Sans CJK SC"/>
                <a:cs typeface="Noto Sans CJK SC"/>
              </a:defRPr>
            </a:defPPr>
          </a:lstStyle>
          <a:p>
            <a:pPr>
              <a:buNone/>
              <a:defRPr sz="1875" b="0">
                <a:solidFill>
                  <a:srgbClr val="19263E"/>
                </a:solidFill>
                <a:latin typeface="Noto Sans CJK SC"/>
                <a:ea typeface="Noto Sans CJK SC"/>
                <a:cs typeface="Noto Sans CJK SC"/>
              </a:defRPr>
            </a:pPr>
            <a:r>
              <a:rPr sz="1875" b="0">
                <a:solidFill>
                  <a:srgbClr val="19263E"/>
                </a:solidFill>
                <a:latin typeface="Noto Sans CJK SC"/>
                <a:ea typeface="Noto Sans CJK SC"/>
                <a:cs typeface="Noto Sans CJK SC"/>
              </a:rPr>
              <a:t>只输入当前 MRI 和目标时间等条件。预测 token IDs，映射回量化向量，再与当前结构一起解码。</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2E303CF-C437-38B5-8F50-901099664E5E}"/>
                  </a:ext>
                </a:extLst>
              </p:cNvPr>
              <p:cNvSpPr txBox="1"/>
              <p:nvPr/>
            </p:nvSpPr>
            <p:spPr>
              <a:xfrm>
                <a:off x="518532" y="4848225"/>
                <a:ext cx="6099716" cy="390748"/>
              </a:xfrm>
              <a:prstGeom prst="rect">
                <a:avLst/>
              </a:prstGeom>
              <a:noFill/>
            </p:spPr>
            <p:txBody>
              <a:bodyPr wrap="square">
                <a:spAutoFit/>
              </a:bodyPr>
              <a:lstStyle/>
              <a:p>
                <a:r>
                  <a:rPr lang="zh-CN" altLang="en-US" dirty="0">
                    <a:solidFill>
                      <a:srgbClr val="19263E"/>
                    </a:solidFill>
                    <a:ea typeface="Noto Sans CJK SC"/>
                    <a:cs typeface="Noto Sans CJK SC"/>
                  </a:rPr>
                  <a:t>预测目标是量化后的变化</a:t>
                </a:r>
                <a14:m>
                  <m:oMath xmlns:m="http://schemas.openxmlformats.org/officeDocument/2006/math">
                    <m:r>
                      <m:rPr>
                        <m:sty m:val="p"/>
                      </m:rPr>
                      <a:rPr lang="el-GR" altLang="zh-CN" b="0" dirty="0">
                        <a:solidFill>
                          <a:srgbClr val="19263E"/>
                        </a:solidFill>
                        <a:latin typeface="Cambria Math" panose="02040503050406030204" pitchFamily="18" charset="0"/>
                        <a:ea typeface="Noto Sans CJK SC"/>
                        <a:cs typeface="Noto Sans CJK SC"/>
                      </a:rPr>
                      <m:t>Δ</m:t>
                    </m:r>
                    <m:sSub>
                      <m:sSubPr>
                        <m:ctrlPr>
                          <a:rPr lang="ar-AE" altLang="zh-CN" i="1" dirty="0" err="1">
                            <a:solidFill>
                              <a:srgbClr val="19263E"/>
                            </a:solidFill>
                            <a:latin typeface="Cambria Math" panose="02040503050406030204" pitchFamily="18" charset="0"/>
                            <a:ea typeface="Noto Sans CJK SC"/>
                            <a:cs typeface="Noto Sans CJK SC"/>
                          </a:rPr>
                        </m:ctrlPr>
                      </m:sSubPr>
                      <m:e>
                        <m:r>
                          <a:rPr lang="ar-AE" altLang="zh-CN" b="0" i="1" dirty="0" err="1">
                            <a:solidFill>
                              <a:srgbClr val="19263E"/>
                            </a:solidFill>
                            <a:latin typeface="Cambria Math" panose="02040503050406030204" pitchFamily="18" charset="0"/>
                            <a:ea typeface="Noto Sans CJK SC"/>
                            <a:cs typeface="Noto Sans CJK SC"/>
                          </a:rPr>
                          <m:t>𝑧</m:t>
                        </m:r>
                      </m:e>
                      <m:sub>
                        <m:r>
                          <a:rPr lang="ar-AE" altLang="zh-CN" b="0" i="1" dirty="0" err="1">
                            <a:solidFill>
                              <a:srgbClr val="19263E"/>
                            </a:solidFill>
                            <a:latin typeface="Cambria Math" panose="02040503050406030204" pitchFamily="18" charset="0"/>
                            <a:ea typeface="Noto Sans CJK SC"/>
                            <a:cs typeface="Noto Sans CJK SC"/>
                          </a:rPr>
                          <m:t>𝑞</m:t>
                        </m:r>
                      </m:sub>
                    </m:sSub>
                  </m:oMath>
                </a14:m>
                <a:r>
                  <a:rPr lang="ar-AE" altLang="zh-CN" dirty="0">
                    <a:solidFill>
                      <a:srgbClr val="19263E"/>
                    </a:solidFill>
                    <a:ea typeface="Noto Sans CJK SC"/>
                    <a:cs typeface="Noto Sans CJK SC"/>
                  </a:rPr>
                  <a:t> </a:t>
                </a:r>
                <a:r>
                  <a:rPr lang="zh-CN" altLang="ar-AE" dirty="0">
                    <a:solidFill>
                      <a:srgbClr val="19263E"/>
                    </a:solidFill>
                    <a:ea typeface="Noto Sans CJK SC"/>
                    <a:cs typeface="Noto Sans CJK SC"/>
                  </a:rPr>
                  <a:t>，</a:t>
                </a:r>
                <a:r>
                  <a:rPr lang="zh-CN" altLang="en-US" dirty="0">
                    <a:solidFill>
                      <a:srgbClr val="19263E"/>
                    </a:solidFill>
                    <a:ea typeface="Noto Sans CJK SC"/>
                    <a:cs typeface="Noto Sans CJK SC"/>
                  </a:rPr>
                  <a:t>不是原始连续差值 </a:t>
                </a:r>
                <a14:m>
                  <m:oMath xmlns:m="http://schemas.openxmlformats.org/officeDocument/2006/math">
                    <m:r>
                      <a:rPr lang="zh-CN" altLang="en-US" b="0" i="1" dirty="0">
                        <a:solidFill>
                          <a:srgbClr val="19263E"/>
                        </a:solidFill>
                        <a:latin typeface="Cambria Math" panose="02040503050406030204" pitchFamily="18" charset="0"/>
                        <a:ea typeface="Noto Sans CJK SC"/>
                        <a:cs typeface="Noto Sans CJK SC"/>
                      </a:rPr>
                      <m:t>𝛥</m:t>
                    </m:r>
                    <m:sSub>
                      <m:sSubPr>
                        <m:ctrlPr>
                          <a:rPr lang="ar-AE" altLang="zh-CN" i="1" dirty="0" err="1">
                            <a:solidFill>
                              <a:srgbClr val="19263E"/>
                            </a:solidFill>
                            <a:latin typeface="Cambria Math" panose="02040503050406030204" pitchFamily="18" charset="0"/>
                            <a:ea typeface="Noto Sans CJK SC"/>
                            <a:cs typeface="Noto Sans CJK SC"/>
                          </a:rPr>
                        </m:ctrlPr>
                      </m:sSubPr>
                      <m:e>
                        <m:r>
                          <a:rPr lang="ar-AE" altLang="zh-CN" b="0" i="1" dirty="0" err="1">
                            <a:solidFill>
                              <a:srgbClr val="19263E"/>
                            </a:solidFill>
                            <a:latin typeface="Cambria Math" panose="02040503050406030204" pitchFamily="18" charset="0"/>
                            <a:ea typeface="Noto Sans CJK SC"/>
                            <a:cs typeface="Noto Sans CJK SC"/>
                          </a:rPr>
                          <m:t>𝑧</m:t>
                        </m:r>
                      </m:e>
                      <m:sub>
                        <m:r>
                          <a:rPr lang="ar-AE" altLang="zh-CN" b="0" i="1" dirty="0" err="1">
                            <a:solidFill>
                              <a:srgbClr val="19263E"/>
                            </a:solidFill>
                            <a:latin typeface="Cambria Math" panose="02040503050406030204" pitchFamily="18" charset="0"/>
                            <a:ea typeface="Noto Sans CJK SC"/>
                            <a:cs typeface="Noto Sans CJK SC"/>
                          </a:rPr>
                          <m:t>𝑟𝑎𝑤</m:t>
                        </m:r>
                      </m:sub>
                    </m:sSub>
                  </m:oMath>
                </a14:m>
                <a:endParaRPr lang="zh-CN" altLang="en-US" dirty="0"/>
              </a:p>
            </p:txBody>
          </p:sp>
        </mc:Choice>
        <mc:Fallback xmlns="">
          <p:sp>
            <p:nvSpPr>
              <p:cNvPr id="16" name="文本框 15">
                <a:extLst>
                  <a:ext uri="{FF2B5EF4-FFF2-40B4-BE49-F238E27FC236}">
                    <a16:creationId xmlns:a16="http://schemas.microsoft.com/office/drawing/2014/main" id="{32E303CF-C437-38B5-8F50-901099664E5E}"/>
                  </a:ext>
                </a:extLst>
              </p:cNvPr>
              <p:cNvSpPr txBox="1">
                <a:spLocks noRot="1" noChangeAspect="1" noMove="1" noResize="1" noEditPoints="1" noAdjustHandles="1" noChangeArrowheads="1" noChangeShapeType="1" noTextEdit="1"/>
              </p:cNvSpPr>
              <p:nvPr/>
            </p:nvSpPr>
            <p:spPr>
              <a:xfrm>
                <a:off x="518532" y="4848225"/>
                <a:ext cx="6099716" cy="390748"/>
              </a:xfrm>
              <a:prstGeom prst="rect">
                <a:avLst/>
              </a:prstGeom>
              <a:blipFill>
                <a:blip r:embed="rId5"/>
                <a:stretch>
                  <a:fillRect l="-830" t="-6250" b="-187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6102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11">
            <a:extLst>
              <a:ext uri="{FF2B5EF4-FFF2-40B4-BE49-F238E27FC236}">
                <a16:creationId xmlns:a16="http://schemas.microsoft.com/office/drawing/2014/main" id="{EB1BB55C-2EC0-4D95-80EB-D77E8E88F097}"/>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11</a:t>
            </a:r>
          </a:p>
        </p:txBody>
      </p:sp>
      <p:sp>
        <p:nvSpPr>
          <p:cNvPr id="3" name="FSQ 去噪解释的成立条件">
            <a:extLst>
              <a:ext uri="{FF2B5EF4-FFF2-40B4-BE49-F238E27FC236}">
                <a16:creationId xmlns:a16="http://schemas.microsoft.com/office/drawing/2014/main" id="{F24DE994-7812-4913-BA88-9BF706C7686E}"/>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a:solidFill>
                  <a:srgbClr val="19263E"/>
                </a:solidFill>
                <a:latin typeface="Noto Sans CJK SC"/>
                <a:ea typeface="Noto Sans CJK SC"/>
                <a:cs typeface="Noto Sans CJK SC"/>
              </a:rPr>
              <a:t>去噪条件</a:t>
            </a:r>
          </a:p>
        </p:txBody>
      </p:sp>
      <p:pic>
        <p:nvPicPr>
          <p:cNvPr id="5" name="图片 4">
            <a:extLst>
              <a:ext uri="{FF2B5EF4-FFF2-40B4-BE49-F238E27FC236}">
                <a16:creationId xmlns:a16="http://schemas.microsoft.com/office/drawing/2014/main" id="{7AF384F2-AEC8-47E2-B901-AC73E4E32E0B}"/>
              </a:ext>
            </a:extLst>
          </p:cNvPr>
          <p:cNvPicPr>
            <a:picLocks noChangeAspect="1"/>
          </p:cNvPicPr>
          <p:nvPr/>
        </p:nvPicPr>
        <p:blipFill>
          <a:blip r:embed="rId3"/>
          <a:srcRect t="-14078" r="18404" b="-1"/>
          <a:stretch/>
        </p:blipFill>
        <p:spPr>
          <a:xfrm>
            <a:off x="714376" y="1676401"/>
            <a:ext cx="3924860" cy="805474"/>
          </a:xfrm>
          <a:prstGeom prst="rect">
            <a:avLst/>
          </a:prstGeom>
        </p:spPr>
      </p:pic>
      <p:pic>
        <p:nvPicPr>
          <p:cNvPr id="6" name="图片 5">
            <a:extLst>
              <a:ext uri="{FF2B5EF4-FFF2-40B4-BE49-F238E27FC236}">
                <a16:creationId xmlns:a16="http://schemas.microsoft.com/office/drawing/2014/main" id="{8FF8EF66-96F9-4A2E-A16C-1C2B64E28186}"/>
              </a:ext>
            </a:extLst>
          </p:cNvPr>
          <p:cNvPicPr>
            <a:picLocks noChangeAspect="1"/>
          </p:cNvPicPr>
          <p:nvPr/>
        </p:nvPicPr>
        <p:blipFill>
          <a:blip r:embed="rId4"/>
          <a:srcRect r="21162" b="8579"/>
          <a:stretch/>
        </p:blipFill>
        <p:spPr>
          <a:xfrm>
            <a:off x="6772275" y="1941299"/>
            <a:ext cx="3003737" cy="342900"/>
          </a:xfrm>
          <a:prstGeom prst="rect">
            <a:avLst/>
          </a:prstGeom>
        </p:spPr>
      </p:pic>
      <p:sp>
        <p:nvSpPr>
          <p:cNvPr id="7" name="纯噪声位置">
            <a:extLst>
              <a:ext uri="{FF2B5EF4-FFF2-40B4-BE49-F238E27FC236}">
                <a16:creationId xmlns:a16="http://schemas.microsoft.com/office/drawing/2014/main" id="{65E21C06-8C1D-40DB-A6A7-AC8265EB6286}"/>
              </a:ext>
            </a:extLst>
          </p:cNvPr>
          <p:cNvSpPr>
            <a:spLocks noGrp="1"/>
          </p:cNvSpPr>
          <p:nvPr/>
        </p:nvSpPr>
        <p:spPr>
          <a:xfrm>
            <a:off x="609600" y="3048000"/>
            <a:ext cx="5143500" cy="342900"/>
          </a:xfrm>
          <a:prstGeom prst="rect">
            <a:avLst/>
          </a:prstGeom>
          <a:noFill/>
          <a:ln w="0">
            <a:noFill/>
          </a:ln>
        </p:spPr>
        <p:txBody>
          <a:bodyPr wrap="square" lIns="0" tIns="0" rIns="0" bIns="0" anchor="t">
            <a:noAutofit/>
          </a:bodyPr>
          <a:lstStyle>
            <a:defPPr>
              <a:defRPr sz="1950" b="1">
                <a:solidFill>
                  <a:srgbClr val="356DA7"/>
                </a:solidFill>
                <a:latin typeface="Noto Sans CJK SC"/>
                <a:ea typeface="Noto Sans CJK SC"/>
                <a:cs typeface="Noto Sans CJK SC"/>
              </a:defRPr>
            </a:defPPr>
          </a:lstStyle>
          <a:p>
            <a:pPr>
              <a:buNone/>
              <a:defRPr sz="1950" b="1">
                <a:solidFill>
                  <a:srgbClr val="356DA7"/>
                </a:solidFill>
                <a:latin typeface="Noto Sans CJK SC"/>
                <a:ea typeface="Noto Sans CJK SC"/>
                <a:cs typeface="Noto Sans CJK SC"/>
              </a:defRPr>
            </a:pPr>
            <a:r>
              <a:rPr sz="1950" b="1">
                <a:solidFill>
                  <a:srgbClr val="356DA7"/>
                </a:solidFill>
                <a:latin typeface="Noto Sans CJK SC"/>
                <a:ea typeface="Noto Sans CJK SC"/>
                <a:cs typeface="Noto Sans CJK SC"/>
              </a:rPr>
              <a:t>纯噪声位置</a:t>
            </a:r>
          </a:p>
        </p:txBody>
      </p:sp>
      <mc:AlternateContent xmlns:mc="http://schemas.openxmlformats.org/markup-compatibility/2006" xmlns:a14="http://schemas.microsoft.com/office/drawing/2010/main">
        <mc:Choice Requires="a14">
          <p:sp>
            <p:nvSpPr>
              <p:cNvPr id="8" name="若 δ_j = 0 且 |η_j| ≤ ε &lt; h/2，则量化结果为零。">
                <a:extLst>
                  <a:ext uri="{FF2B5EF4-FFF2-40B4-BE49-F238E27FC236}">
                    <a16:creationId xmlns:a16="http://schemas.microsoft.com/office/drawing/2014/main" id="{601B79C3-82EB-4E60-AB05-09CCB0202105}"/>
                  </a:ext>
                </a:extLst>
              </p:cNvPr>
              <p:cNvSpPr>
                <a:spLocks noGrp="1"/>
              </p:cNvSpPr>
              <p:nvPr/>
            </p:nvSpPr>
            <p:spPr>
              <a:xfrm>
                <a:off x="609600" y="3457575"/>
                <a:ext cx="5143500" cy="1019175"/>
              </a:xfrm>
              <a:prstGeom prst="rect">
                <a:avLst/>
              </a:prstGeom>
              <a:noFill/>
              <a:ln w="0">
                <a:noFill/>
              </a:ln>
            </p:spPr>
            <p:txBody>
              <a:bodyPr wrap="square" lIns="0" tIns="0" rIns="0" bIns="0" anchor="t">
                <a:noAutofit/>
              </a:bodyPr>
              <a:lstStyle>
                <a:defPPr>
                  <a:defRPr sz="1875" b="0">
                    <a:solidFill>
                      <a:srgbClr val="19263E"/>
                    </a:solidFill>
                    <a:latin typeface="Noto Sans CJK SC"/>
                    <a:ea typeface="Noto Sans CJK SC"/>
                    <a:cs typeface="Noto Sans CJK SC"/>
                  </a:defRPr>
                </a:defPPr>
              </a:lstStyle>
              <a:p>
                <a:pPr>
                  <a:buNone/>
                  <a:defRPr sz="1875" b="0">
                    <a:solidFill>
                      <a:srgbClr val="19263E"/>
                    </a:solidFill>
                    <a:latin typeface="Noto Sans CJK SC"/>
                    <a:ea typeface="Noto Sans CJK SC"/>
                    <a:cs typeface="Noto Sans CJK SC"/>
                  </a:defRPr>
                </a:pPr>
                <a:r>
                  <a:rPr lang="zh-CN" altLang="en-US" sz="1875" b="0" dirty="0">
                    <a:solidFill>
                      <a:srgbClr val="19263E"/>
                    </a:solidFill>
                    <a:latin typeface="Noto Sans CJK SC"/>
                    <a:ea typeface="Noto Sans CJK SC"/>
                    <a:cs typeface="Noto Sans CJK SC"/>
                  </a:rPr>
                  <a:t>若 </a:t>
                </a:r>
                <a14:m>
                  <m:oMath xmlns:m="http://schemas.openxmlformats.org/officeDocument/2006/math">
                    <m:sSub>
                      <m:sSubPr>
                        <m:ctrlPr>
                          <a:rPr lang="ar-AE" altLang="zh-CN" sz="1875" b="0" i="1" dirty="0" err="1">
                            <a:solidFill>
                              <a:srgbClr val="19263E"/>
                            </a:solidFill>
                            <a:latin typeface="Cambria Math" panose="02040503050406030204" pitchFamily="18" charset="0"/>
                            <a:ea typeface="Noto Sans CJK SC"/>
                            <a:cs typeface="Noto Sans CJK SC"/>
                          </a:rPr>
                        </m:ctrlPr>
                      </m:sSubPr>
                      <m:e>
                        <m:r>
                          <a:rPr lang="ar-AE" altLang="zh-CN" sz="1875" b="0" i="1" dirty="0" smtClean="0">
                            <a:solidFill>
                              <a:srgbClr val="19263E"/>
                            </a:solidFill>
                            <a:latin typeface="Cambria Math" panose="02040503050406030204" pitchFamily="18" charset="0"/>
                            <a:ea typeface="Noto Sans CJK SC"/>
                            <a:cs typeface="Noto Sans CJK SC"/>
                          </a:rPr>
                          <m:t>𝛿</m:t>
                        </m:r>
                      </m:e>
                      <m:sub>
                        <m:r>
                          <a:rPr lang="ar-AE" altLang="zh-CN" sz="1875" b="0" i="1" dirty="0" err="1">
                            <a:solidFill>
                              <a:srgbClr val="19263E"/>
                            </a:solidFill>
                            <a:latin typeface="Cambria Math" panose="02040503050406030204" pitchFamily="18" charset="0"/>
                            <a:ea typeface="Noto Sans CJK SC"/>
                            <a:cs typeface="Noto Sans CJK SC"/>
                          </a:rPr>
                          <m:t>𝑗</m:t>
                        </m:r>
                      </m:sub>
                    </m:sSub>
                  </m:oMath>
                </a14:m>
                <a:r>
                  <a:rPr lang="ar-AE" sz="1875" b="0" dirty="0">
                    <a:solidFill>
                      <a:srgbClr val="19263E"/>
                    </a:solidFill>
                    <a:latin typeface="Noto Sans CJK SC"/>
                    <a:ea typeface="Noto Sans CJK SC"/>
                    <a:cs typeface="Noto Sans CJK SC"/>
                  </a:rPr>
                  <a:t> = 0 </a:t>
                </a:r>
                <a:r>
                  <a:rPr lang="zh-CN" altLang="en-US" sz="1875" b="0" dirty="0" err="1">
                    <a:solidFill>
                      <a:srgbClr val="19263E"/>
                    </a:solidFill>
                    <a:latin typeface="Noto Sans CJK SC"/>
                    <a:ea typeface="Noto Sans CJK SC"/>
                    <a:cs typeface="Noto Sans CJK SC"/>
                  </a:rPr>
                  <a:t>且</a:t>
                </a:r>
                <a:r>
                  <a:rPr lang="zh-CN" altLang="en-US" sz="1875" b="0" dirty="0">
                    <a:solidFill>
                      <a:srgbClr val="19263E"/>
                    </a:solidFill>
                    <a:latin typeface="Noto Sans CJK SC"/>
                    <a:ea typeface="Noto Sans CJK SC"/>
                    <a:cs typeface="Noto Sans CJK SC"/>
                  </a:rPr>
                  <a:t> </a:t>
                </a:r>
                <a:r>
                  <a:rPr lang="en-US" altLang="zh-CN" sz="1875" b="0" dirty="0">
                    <a:solidFill>
                      <a:srgbClr val="19263E"/>
                    </a:solidFill>
                    <a:latin typeface="Noto Sans CJK SC"/>
                    <a:ea typeface="Noto Sans CJK SC"/>
                    <a:cs typeface="Noto Sans CJK SC"/>
                  </a:rPr>
                  <a:t>|</a:t>
                </a:r>
                <a14:m>
                  <m:oMath xmlns:m="http://schemas.openxmlformats.org/officeDocument/2006/math">
                    <m:sSub>
                      <m:sSubPr>
                        <m:ctrlPr>
                          <a:rPr lang="el-GR" sz="1875" b="0" i="1" dirty="0" smtClean="0">
                            <a:solidFill>
                              <a:srgbClr val="19263E"/>
                            </a:solidFill>
                            <a:latin typeface="Cambria Math" panose="02040503050406030204" pitchFamily="18" charset="0"/>
                            <a:ea typeface="Noto Sans CJK SC"/>
                            <a:cs typeface="Noto Sans CJK SC"/>
                          </a:rPr>
                        </m:ctrlPr>
                      </m:sSubPr>
                      <m:e>
                        <m:r>
                          <a:rPr lang="el-GR" sz="1875" b="0" i="1" dirty="0" smtClean="0">
                            <a:solidFill>
                              <a:srgbClr val="19263E"/>
                            </a:solidFill>
                            <a:latin typeface="Cambria Math" panose="02040503050406030204" pitchFamily="18" charset="0"/>
                            <a:ea typeface="Noto Sans CJK SC"/>
                            <a:cs typeface="Noto Sans CJK SC"/>
                          </a:rPr>
                          <m:t>𝜂</m:t>
                        </m:r>
                      </m:e>
                      <m:sub>
                        <m:r>
                          <a:rPr lang="en" sz="1875" b="0" i="1" dirty="0" err="1">
                            <a:solidFill>
                              <a:srgbClr val="19263E"/>
                            </a:solidFill>
                            <a:latin typeface="Cambria Math" panose="02040503050406030204" pitchFamily="18" charset="0"/>
                            <a:ea typeface="Noto Sans CJK SC"/>
                            <a:cs typeface="Noto Sans CJK SC"/>
                          </a:rPr>
                          <m:t>𝑗</m:t>
                        </m:r>
                      </m:sub>
                    </m:sSub>
                  </m:oMath>
                </a14:m>
                <a:r>
                  <a:rPr lang="en" sz="1875" b="0" dirty="0">
                    <a:solidFill>
                      <a:srgbClr val="19263E"/>
                    </a:solidFill>
                    <a:latin typeface="Noto Sans CJK SC"/>
                    <a:ea typeface="Noto Sans CJK SC"/>
                    <a:cs typeface="Noto Sans CJK SC"/>
                  </a:rPr>
                  <a:t>| ≤ </a:t>
                </a:r>
                <a:r>
                  <a:rPr lang="el-GR" sz="1875" b="0" dirty="0" err="1">
                    <a:solidFill>
                      <a:srgbClr val="19263E"/>
                    </a:solidFill>
                    <a:latin typeface="Noto Sans CJK SC"/>
                    <a:ea typeface="Noto Sans CJK SC"/>
                    <a:cs typeface="Noto Sans CJK SC"/>
                  </a:rPr>
                  <a:t>ε</a:t>
                </a:r>
                <a:r>
                  <a:rPr lang="el-GR" sz="1875" b="0" dirty="0">
                    <a:solidFill>
                      <a:srgbClr val="19263E"/>
                    </a:solidFill>
                    <a:latin typeface="Noto Sans CJK SC"/>
                    <a:ea typeface="Noto Sans CJK SC"/>
                    <a:cs typeface="Noto Sans CJK SC"/>
                  </a:rPr>
                  <a:t> &lt; </a:t>
                </a:r>
                <a:r>
                  <a:rPr lang="en" sz="1875" b="0" dirty="0">
                    <a:solidFill>
                      <a:srgbClr val="19263E"/>
                    </a:solidFill>
                    <a:latin typeface="Noto Sans CJK SC"/>
                    <a:ea typeface="Noto Sans CJK SC"/>
                    <a:cs typeface="Noto Sans CJK SC"/>
                  </a:rPr>
                  <a:t>h/2，</a:t>
                </a:r>
                <a:r>
                  <a:rPr lang="zh-CN" altLang="en-US" sz="1875" b="0" dirty="0">
                    <a:solidFill>
                      <a:srgbClr val="19263E"/>
                    </a:solidFill>
                    <a:latin typeface="Noto Sans CJK SC"/>
                    <a:ea typeface="Noto Sans CJK SC"/>
                    <a:cs typeface="Noto Sans CJK SC"/>
                  </a:rPr>
                  <a:t>则量化结果为零。</a:t>
                </a:r>
                <a:endParaRPr sz="1875" b="0" dirty="0">
                  <a:solidFill>
                    <a:srgbClr val="19263E"/>
                  </a:solidFill>
                  <a:latin typeface="Noto Sans CJK SC"/>
                  <a:ea typeface="Noto Sans CJK SC"/>
                  <a:cs typeface="Noto Sans CJK SC"/>
                </a:endParaRPr>
              </a:p>
            </p:txBody>
          </p:sp>
        </mc:Choice>
        <mc:Fallback xmlns="">
          <p:sp>
            <p:nvSpPr>
              <p:cNvPr id="8" name="若 δ_j = 0 且 |η_j| ≤ ε &lt; h/2，则量化结果为零。">
                <a:extLst>
                  <a:ext uri="{FF2B5EF4-FFF2-40B4-BE49-F238E27FC236}">
                    <a16:creationId xmlns:a16="http://schemas.microsoft.com/office/drawing/2014/main" id="{601B79C3-82EB-4E60-AB05-09CCB0202105}"/>
                  </a:ext>
                </a:extLst>
              </p:cNvPr>
              <p:cNvSpPr>
                <a:spLocks noGrp="1" noRot="1" noChangeAspect="1" noMove="1" noResize="1" noEditPoints="1" noAdjustHandles="1" noChangeArrowheads="1" noChangeShapeType="1" noTextEdit="1"/>
              </p:cNvSpPr>
              <p:nvPr/>
            </p:nvSpPr>
            <p:spPr>
              <a:xfrm>
                <a:off x="609600" y="3457575"/>
                <a:ext cx="5143500" cy="1019175"/>
              </a:xfrm>
              <a:prstGeom prst="rect">
                <a:avLst/>
              </a:prstGeom>
              <a:blipFill>
                <a:blip r:embed="rId5"/>
                <a:stretch>
                  <a:fillRect l="-2956" t="-7407"/>
                </a:stretch>
              </a:blipFill>
              <a:ln w="0">
                <a:noFill/>
              </a:ln>
            </p:spPr>
            <p:txBody>
              <a:bodyPr/>
              <a:lstStyle/>
              <a:p>
                <a:r>
                  <a:rPr lang="zh-CN" altLang="en-US">
                    <a:noFill/>
                  </a:rPr>
                  <a:t> </a:t>
                </a:r>
              </a:p>
            </p:txBody>
          </p:sp>
        </mc:Fallback>
      </mc:AlternateContent>
      <p:sp>
        <p:nvSpPr>
          <p:cNvPr id="9" name="真实信号位置">
            <a:extLst>
              <a:ext uri="{FF2B5EF4-FFF2-40B4-BE49-F238E27FC236}">
                <a16:creationId xmlns:a16="http://schemas.microsoft.com/office/drawing/2014/main" id="{B607C7CF-B9C3-48EE-B1F1-ADD5E2631682}"/>
              </a:ext>
            </a:extLst>
          </p:cNvPr>
          <p:cNvSpPr>
            <a:spLocks noGrp="1"/>
          </p:cNvSpPr>
          <p:nvPr/>
        </p:nvSpPr>
        <p:spPr>
          <a:xfrm>
            <a:off x="6362700" y="3048000"/>
            <a:ext cx="5143500" cy="342900"/>
          </a:xfrm>
          <a:prstGeom prst="rect">
            <a:avLst/>
          </a:prstGeom>
          <a:noFill/>
          <a:ln w="0">
            <a:noFill/>
          </a:ln>
        </p:spPr>
        <p:txBody>
          <a:bodyPr wrap="none" lIns="0" tIns="0" rIns="0" bIns="0" anchor="t">
            <a:noAutofit/>
          </a:bodyPr>
          <a:lstStyle>
            <a:defPPr algn="l">
              <a:defRPr sz="1950" b="1">
                <a:solidFill>
                  <a:srgbClr val="168F85"/>
                </a:solidFill>
                <a:latin typeface="Noto Sans CJK SC"/>
                <a:ea typeface="Noto Sans CJK SC"/>
                <a:cs typeface="Noto Sans CJK SC"/>
              </a:defRPr>
            </a:defPPr>
          </a:lstStyle>
          <a:p>
            <a:pPr algn="l">
              <a:buNone/>
              <a:defRPr sz="1950" b="1">
                <a:solidFill>
                  <a:srgbClr val="168F85"/>
                </a:solidFill>
                <a:latin typeface="Noto Sans CJK SC"/>
                <a:ea typeface="Noto Sans CJK SC"/>
                <a:cs typeface="Noto Sans CJK SC"/>
              </a:defRPr>
            </a:pPr>
            <a:r>
              <a:rPr sz="1950" b="1">
                <a:solidFill>
                  <a:srgbClr val="168F85"/>
                </a:solidFill>
                <a:latin typeface="Noto Sans CJK SC"/>
                <a:ea typeface="Noto Sans CJK SC"/>
                <a:cs typeface="Noto Sans CJK SC"/>
              </a:rPr>
              <a:t>有真实信号的位置</a:t>
            </a:r>
          </a:p>
        </p:txBody>
      </p:sp>
      <mc:AlternateContent xmlns:mc="http://schemas.openxmlformats.org/markup-compatibility/2006" xmlns:a14="http://schemas.microsoft.com/office/drawing/2010/main">
        <mc:Choice Requires="a14">
          <p:sp>
            <p:nvSpPr>
              <p:cNvPr id="10" name="若 |δ_j| ≥ γ，最坏情况下 |δ_j + η_j| ≥ γ − ε。还需">
                <a:extLst>
                  <a:ext uri="{FF2B5EF4-FFF2-40B4-BE49-F238E27FC236}">
                    <a16:creationId xmlns:a16="http://schemas.microsoft.com/office/drawing/2014/main" id="{8BA99002-A751-4EA7-B614-749EF61A0467}"/>
                  </a:ext>
                </a:extLst>
              </p:cNvPr>
              <p:cNvSpPr>
                <a:spLocks noGrp="1"/>
              </p:cNvSpPr>
              <p:nvPr/>
            </p:nvSpPr>
            <p:spPr>
              <a:xfrm>
                <a:off x="6362700" y="3457575"/>
                <a:ext cx="5143500" cy="1019175"/>
              </a:xfrm>
              <a:prstGeom prst="rect">
                <a:avLst/>
              </a:prstGeom>
              <a:noFill/>
              <a:ln w="0">
                <a:noFill/>
              </a:ln>
            </p:spPr>
            <p:txBody>
              <a:bodyPr wrap="none" lIns="0" tIns="0" rIns="0" bIns="0" anchor="t">
                <a:noAutofit/>
              </a:bodyPr>
              <a:lstStyle>
                <a:defPPr algn="l">
                  <a:defRPr sz="1875" b="0">
                    <a:solidFill>
                      <a:srgbClr val="19263E"/>
                    </a:solidFill>
                    <a:latin typeface="Noto Sans CJK SC"/>
                    <a:ea typeface="Noto Sans CJK SC"/>
                    <a:cs typeface="Noto Sans CJK SC"/>
                  </a:defRPr>
                </a:defPPr>
              </a:lstStyle>
              <a:p>
                <a:pPr algn="l">
                  <a:buNone/>
                  <a:defRPr sz="1875" b="0">
                    <a:solidFill>
                      <a:srgbClr val="19263E"/>
                    </a:solidFill>
                    <a:latin typeface="Noto Sans CJK SC"/>
                    <a:ea typeface="Noto Sans CJK SC"/>
                    <a:cs typeface="Noto Sans CJK SC"/>
                  </a:defRPr>
                </a:pPr>
                <a:r>
                  <a:rPr lang="zh-CN" altLang="en-US" sz="1875" b="0" dirty="0">
                    <a:solidFill>
                      <a:srgbClr val="19263E"/>
                    </a:solidFill>
                    <a:latin typeface="Noto Sans CJK SC"/>
                    <a:ea typeface="Noto Sans CJK SC"/>
                    <a:cs typeface="Noto Sans CJK SC"/>
                  </a:rPr>
                  <a:t>若 </a:t>
                </a:r>
                <a:r>
                  <a:rPr lang="en-US" altLang="zh-CN" sz="1875" b="0" dirty="0">
                    <a:solidFill>
                      <a:srgbClr val="19263E"/>
                    </a:solidFill>
                    <a:latin typeface="Noto Sans CJK SC"/>
                    <a:ea typeface="Noto Sans CJK SC"/>
                    <a:cs typeface="Noto Sans CJK SC"/>
                  </a:rPr>
                  <a:t>|</a:t>
                </a:r>
                <a14:m>
                  <m:oMath xmlns:m="http://schemas.openxmlformats.org/officeDocument/2006/math">
                    <m:sSub>
                      <m:sSubPr>
                        <m:ctrlPr>
                          <a:rPr lang="ar-AE" altLang="zh-CN" sz="1875" b="0" i="1" dirty="0" err="1">
                            <a:solidFill>
                              <a:srgbClr val="19263E"/>
                            </a:solidFill>
                            <a:latin typeface="Cambria Math" panose="02040503050406030204" pitchFamily="18" charset="0"/>
                            <a:ea typeface="Noto Sans CJK SC"/>
                            <a:cs typeface="Noto Sans CJK SC"/>
                          </a:rPr>
                        </m:ctrlPr>
                      </m:sSubPr>
                      <m:e>
                        <m:r>
                          <a:rPr lang="ar-AE" altLang="zh-CN" sz="1875" b="0" i="1" dirty="0" smtClean="0">
                            <a:solidFill>
                              <a:srgbClr val="19263E"/>
                            </a:solidFill>
                            <a:latin typeface="Cambria Math" panose="02040503050406030204" pitchFamily="18" charset="0"/>
                            <a:ea typeface="Noto Sans CJK SC"/>
                            <a:cs typeface="Noto Sans CJK SC"/>
                          </a:rPr>
                          <m:t>𝛿</m:t>
                        </m:r>
                      </m:e>
                      <m:sub>
                        <m:r>
                          <a:rPr lang="ar-AE" altLang="zh-CN" sz="1875" b="0" i="1" dirty="0" err="1">
                            <a:solidFill>
                              <a:srgbClr val="19263E"/>
                            </a:solidFill>
                            <a:latin typeface="Cambria Math" panose="02040503050406030204" pitchFamily="18" charset="0"/>
                            <a:ea typeface="Noto Sans CJK SC"/>
                            <a:cs typeface="Noto Sans CJK SC"/>
                          </a:rPr>
                          <m:t>𝑗</m:t>
                        </m:r>
                      </m:sub>
                    </m:sSub>
                  </m:oMath>
                </a14:m>
                <a:r>
                  <a:rPr lang="ar-AE" sz="1875" b="0" dirty="0">
                    <a:solidFill>
                      <a:srgbClr val="19263E"/>
                    </a:solidFill>
                    <a:latin typeface="Noto Sans CJK SC"/>
                    <a:ea typeface="Noto Sans CJK SC"/>
                    <a:cs typeface="Noto Sans CJK SC"/>
                  </a:rPr>
                  <a:t>| ≥ </a:t>
                </a:r>
                <a:r>
                  <a:rPr lang="el-GR" sz="1875" b="0" dirty="0" err="1">
                    <a:solidFill>
                      <a:srgbClr val="19263E"/>
                    </a:solidFill>
                    <a:latin typeface="Noto Sans CJK SC"/>
                    <a:ea typeface="Noto Sans CJK SC"/>
                    <a:cs typeface="Noto Sans CJK SC"/>
                  </a:rPr>
                  <a:t>γ，</a:t>
                </a:r>
                <a:r>
                  <a:rPr lang="zh-CN" altLang="en-US" sz="1875" b="0" dirty="0" err="1">
                    <a:solidFill>
                      <a:srgbClr val="19263E"/>
                    </a:solidFill>
                    <a:latin typeface="Noto Sans CJK SC"/>
                    <a:ea typeface="Noto Sans CJK SC"/>
                    <a:cs typeface="Noto Sans CJK SC"/>
                  </a:rPr>
                  <a:t>最坏情况下</a:t>
                </a:r>
                <a:r>
                  <a:rPr lang="zh-CN" altLang="en-US" sz="1875" b="0" dirty="0">
                    <a:solidFill>
                      <a:srgbClr val="19263E"/>
                    </a:solidFill>
                    <a:latin typeface="Noto Sans CJK SC"/>
                    <a:ea typeface="Noto Sans CJK SC"/>
                    <a:cs typeface="Noto Sans CJK SC"/>
                  </a:rPr>
                  <a:t> </a:t>
                </a:r>
                <a:r>
                  <a:rPr lang="en-US" altLang="zh-CN" sz="1875" b="0" dirty="0">
                    <a:solidFill>
                      <a:srgbClr val="19263E"/>
                    </a:solidFill>
                    <a:latin typeface="Noto Sans CJK SC"/>
                    <a:ea typeface="Noto Sans CJK SC"/>
                    <a:cs typeface="Noto Sans CJK SC"/>
                  </a:rPr>
                  <a:t>|</a:t>
                </a:r>
                <a14:m>
                  <m:oMath xmlns:m="http://schemas.openxmlformats.org/officeDocument/2006/math">
                    <m:sSub>
                      <m:sSubPr>
                        <m:ctrlPr>
                          <a:rPr lang="el-GR" sz="1875" b="0" i="1" dirty="0" smtClean="0">
                            <a:solidFill>
                              <a:srgbClr val="19263E"/>
                            </a:solidFill>
                            <a:latin typeface="Cambria Math" panose="02040503050406030204" pitchFamily="18" charset="0"/>
                            <a:ea typeface="Noto Sans CJK SC"/>
                            <a:cs typeface="Noto Sans CJK SC"/>
                          </a:rPr>
                        </m:ctrlPr>
                      </m:sSubPr>
                      <m:e>
                        <m:r>
                          <a:rPr lang="el-GR" sz="1875" b="0" i="1" dirty="0" smtClean="0">
                            <a:solidFill>
                              <a:srgbClr val="19263E"/>
                            </a:solidFill>
                            <a:latin typeface="Cambria Math" panose="02040503050406030204" pitchFamily="18" charset="0"/>
                            <a:ea typeface="Noto Sans CJK SC"/>
                            <a:cs typeface="Noto Sans CJK SC"/>
                          </a:rPr>
                          <m:t>𝛿</m:t>
                        </m:r>
                      </m:e>
                      <m:sub>
                        <m:r>
                          <a:rPr lang="en" sz="1875" b="0" i="1" dirty="0" err="1">
                            <a:solidFill>
                              <a:srgbClr val="19263E"/>
                            </a:solidFill>
                            <a:latin typeface="Cambria Math" panose="02040503050406030204" pitchFamily="18" charset="0"/>
                            <a:ea typeface="Noto Sans CJK SC"/>
                            <a:cs typeface="Noto Sans CJK SC"/>
                          </a:rPr>
                          <m:t>𝑗</m:t>
                        </m:r>
                      </m:sub>
                    </m:sSub>
                    <m:r>
                      <a:rPr lang="en" sz="1875" b="0" i="1" dirty="0">
                        <a:solidFill>
                          <a:srgbClr val="19263E"/>
                        </a:solidFill>
                        <a:latin typeface="Cambria Math" panose="02040503050406030204" pitchFamily="18" charset="0"/>
                        <a:ea typeface="Noto Sans CJK SC"/>
                        <a:cs typeface="Noto Sans CJK SC"/>
                      </a:rPr>
                      <m:t> + </m:t>
                    </m:r>
                    <m:sSub>
                      <m:sSubPr>
                        <m:ctrlPr>
                          <a:rPr lang="el-GR" sz="1875" b="0" i="1" dirty="0" err="1">
                            <a:solidFill>
                              <a:srgbClr val="19263E"/>
                            </a:solidFill>
                            <a:latin typeface="Cambria Math" panose="02040503050406030204" pitchFamily="18" charset="0"/>
                            <a:ea typeface="Noto Sans CJK SC"/>
                            <a:cs typeface="Noto Sans CJK SC"/>
                          </a:rPr>
                        </m:ctrlPr>
                      </m:sSubPr>
                      <m:e>
                        <m:r>
                          <a:rPr lang="el-GR" sz="1875" b="0" i="1" dirty="0" err="1">
                            <a:solidFill>
                              <a:srgbClr val="19263E"/>
                            </a:solidFill>
                            <a:latin typeface="Cambria Math" panose="02040503050406030204" pitchFamily="18" charset="0"/>
                            <a:ea typeface="Noto Sans CJK SC"/>
                            <a:cs typeface="Noto Sans CJK SC"/>
                          </a:rPr>
                          <m:t>𝜂</m:t>
                        </m:r>
                      </m:e>
                      <m:sub>
                        <m:r>
                          <a:rPr lang="en" sz="1875" b="0" i="1" dirty="0" err="1">
                            <a:solidFill>
                              <a:srgbClr val="19263E"/>
                            </a:solidFill>
                            <a:latin typeface="Cambria Math" panose="02040503050406030204" pitchFamily="18" charset="0"/>
                            <a:ea typeface="Noto Sans CJK SC"/>
                            <a:cs typeface="Noto Sans CJK SC"/>
                          </a:rPr>
                          <m:t>𝑗</m:t>
                        </m:r>
                      </m:sub>
                    </m:sSub>
                  </m:oMath>
                </a14:m>
                <a:r>
                  <a:rPr lang="en" sz="1875" b="0" dirty="0">
                    <a:solidFill>
                      <a:srgbClr val="19263E"/>
                    </a:solidFill>
                    <a:latin typeface="Noto Sans CJK SC"/>
                    <a:ea typeface="Noto Sans CJK SC"/>
                    <a:cs typeface="Noto Sans CJK SC"/>
                  </a:rPr>
                  <a:t>| ≥ </a:t>
                </a:r>
                <a:r>
                  <a:rPr lang="el-GR" sz="1875" b="0" dirty="0" err="1">
                    <a:solidFill>
                      <a:srgbClr val="19263E"/>
                    </a:solidFill>
                    <a:latin typeface="Noto Sans CJK SC"/>
                    <a:ea typeface="Noto Sans CJK SC"/>
                    <a:cs typeface="Noto Sans CJK SC"/>
                  </a:rPr>
                  <a:t>γ</a:t>
                </a:r>
                <a:r>
                  <a:rPr lang="el-GR" sz="1875" b="0" dirty="0">
                    <a:solidFill>
                      <a:srgbClr val="19263E"/>
                    </a:solidFill>
                    <a:latin typeface="Noto Sans CJK SC"/>
                    <a:ea typeface="Noto Sans CJK SC"/>
                    <a:cs typeface="Noto Sans CJK SC"/>
                  </a:rPr>
                  <a:t> − </a:t>
                </a:r>
                <a:r>
                  <a:rPr lang="el-GR" sz="1875" b="0" dirty="0" err="1">
                    <a:solidFill>
                      <a:srgbClr val="19263E"/>
                    </a:solidFill>
                    <a:latin typeface="Noto Sans CJK SC"/>
                    <a:ea typeface="Noto Sans CJK SC"/>
                    <a:cs typeface="Noto Sans CJK SC"/>
                  </a:rPr>
                  <a:t>ε。</a:t>
                </a:r>
                <a:r>
                  <a:rPr lang="zh-CN" altLang="en-US" sz="1875" b="0" dirty="0" err="1">
                    <a:solidFill>
                      <a:srgbClr val="19263E"/>
                    </a:solidFill>
                    <a:latin typeface="Noto Sans CJK SC"/>
                    <a:ea typeface="Noto Sans CJK SC"/>
                    <a:cs typeface="Noto Sans CJK SC"/>
                  </a:rPr>
                  <a:t>要</a:t>
                </a:r>
                <a:endParaRPr lang="zh-CN" altLang="en-US" sz="1875" b="0" dirty="0">
                  <a:solidFill>
                    <a:srgbClr val="19263E"/>
                  </a:solidFill>
                  <a:latin typeface="Noto Sans CJK SC"/>
                  <a:ea typeface="Noto Sans CJK SC"/>
                  <a:cs typeface="Noto Sans CJK SC"/>
                </a:endParaRPr>
              </a:p>
              <a:p>
                <a:pPr algn="l">
                  <a:buNone/>
                  <a:defRPr sz="1875" b="0">
                    <a:solidFill>
                      <a:srgbClr val="19263E"/>
                    </a:solidFill>
                    <a:latin typeface="Noto Sans CJK SC"/>
                    <a:ea typeface="Noto Sans CJK SC"/>
                    <a:cs typeface="Noto Sans CJK SC"/>
                  </a:defRPr>
                </a:pPr>
                <a:r>
                  <a:rPr lang="zh-CN" altLang="en-US" sz="1875" b="0" dirty="0" err="1">
                    <a:solidFill>
                      <a:srgbClr val="19263E"/>
                    </a:solidFill>
                    <a:latin typeface="Noto Sans CJK SC"/>
                    <a:ea typeface="Noto Sans CJK SC"/>
                    <a:cs typeface="Noto Sans CJK SC"/>
                  </a:rPr>
                  <a:t>保留信号，该值还必须落在零量化区间之外</a:t>
                </a:r>
                <a:r>
                  <a:rPr lang="zh-CN" altLang="en-US" sz="1875" b="0" dirty="0">
                    <a:solidFill>
                      <a:srgbClr val="19263E"/>
                    </a:solidFill>
                    <a:latin typeface="Noto Sans CJK SC"/>
                    <a:ea typeface="Noto Sans CJK SC"/>
                    <a:cs typeface="Noto Sans CJK SC"/>
                  </a:rPr>
                  <a:t>。</a:t>
                </a:r>
                <a:endParaRPr sz="1875" b="0" dirty="0">
                  <a:solidFill>
                    <a:srgbClr val="19263E"/>
                  </a:solidFill>
                  <a:latin typeface="Noto Sans CJK SC"/>
                  <a:ea typeface="Noto Sans CJK SC"/>
                  <a:cs typeface="Noto Sans CJK SC"/>
                </a:endParaRPr>
              </a:p>
            </p:txBody>
          </p:sp>
        </mc:Choice>
        <mc:Fallback xmlns="">
          <p:sp>
            <p:nvSpPr>
              <p:cNvPr id="10" name="若 |δ_j| ≥ γ，最坏情况下 |δ_j + η_j| ≥ γ − ε。还需">
                <a:extLst>
                  <a:ext uri="{FF2B5EF4-FFF2-40B4-BE49-F238E27FC236}">
                    <a16:creationId xmlns:a16="http://schemas.microsoft.com/office/drawing/2014/main" id="{8BA99002-A751-4EA7-B614-749EF61A0467}"/>
                  </a:ext>
                </a:extLst>
              </p:cNvPr>
              <p:cNvSpPr>
                <a:spLocks noGrp="1" noRot="1" noChangeAspect="1" noMove="1" noResize="1" noEditPoints="1" noAdjustHandles="1" noChangeArrowheads="1" noChangeShapeType="1" noTextEdit="1"/>
              </p:cNvSpPr>
              <p:nvPr/>
            </p:nvSpPr>
            <p:spPr>
              <a:xfrm>
                <a:off x="6362700" y="3457575"/>
                <a:ext cx="5143500" cy="1019175"/>
              </a:xfrm>
              <a:prstGeom prst="rect">
                <a:avLst/>
              </a:prstGeom>
              <a:blipFill>
                <a:blip r:embed="rId6"/>
                <a:stretch>
                  <a:fillRect l="-2956" t="-7407"/>
                </a:stretch>
              </a:blipFill>
              <a:ln w="0">
                <a:noFill/>
              </a:ln>
            </p:spPr>
            <p:txBody>
              <a:bodyPr/>
              <a:lstStyle/>
              <a:p>
                <a:r>
                  <a:rPr lang="zh-CN" altLang="en-US">
                    <a:noFill/>
                  </a:rPr>
                  <a:t> </a:t>
                </a:r>
              </a:p>
            </p:txBody>
          </p:sp>
        </mc:Fallback>
      </mc:AlternateContent>
      <p:sp>
        <p:nvSpPr>
          <p:cNvPr id="11" name="补充的充分条件：2ε &lt; h &lt; 2(γ − ε)，因此需要 γ &gt; 2ε">
            <a:extLst>
              <a:ext uri="{FF2B5EF4-FFF2-40B4-BE49-F238E27FC236}">
                <a16:creationId xmlns:a16="http://schemas.microsoft.com/office/drawing/2014/main" id="{9352993A-E713-4892-9EAF-BC7E14551052}"/>
              </a:ext>
            </a:extLst>
          </p:cNvPr>
          <p:cNvSpPr>
            <a:spLocks noGrp="1"/>
          </p:cNvSpPr>
          <p:nvPr/>
        </p:nvSpPr>
        <p:spPr>
          <a:xfrm>
            <a:off x="609600" y="4848225"/>
            <a:ext cx="10953750" cy="581025"/>
          </a:xfrm>
          <a:prstGeom prst="rect">
            <a:avLst/>
          </a:prstGeom>
          <a:noFill/>
          <a:ln w="0">
            <a:noFill/>
          </a:ln>
        </p:spPr>
        <p:txBody>
          <a:bodyPr wrap="square" lIns="0" tIns="0" rIns="0" bIns="0" anchor="t">
            <a:noAutofit/>
          </a:bodyPr>
          <a:lstStyle>
            <a:defPPr>
              <a:defRPr sz="2250" b="1">
                <a:solidFill>
                  <a:srgbClr val="AC473D"/>
                </a:solidFill>
                <a:latin typeface="Noto Sans CJK SC"/>
                <a:ea typeface="Noto Sans CJK SC"/>
                <a:cs typeface="Noto Sans CJK SC"/>
              </a:defRPr>
            </a:defPPr>
          </a:lstStyle>
          <a:p>
            <a:pPr>
              <a:buNone/>
              <a:defRPr sz="2250" b="1">
                <a:solidFill>
                  <a:srgbClr val="AC473D"/>
                </a:solidFill>
                <a:latin typeface="Noto Sans CJK SC"/>
                <a:ea typeface="Noto Sans CJK SC"/>
                <a:cs typeface="Noto Sans CJK SC"/>
              </a:defRPr>
            </a:pPr>
            <a:r>
              <a:rPr sz="2250" b="1">
                <a:solidFill>
                  <a:srgbClr val="AC473D"/>
                </a:solidFill>
                <a:latin typeface="Noto Sans CJK SC"/>
                <a:ea typeface="Noto Sans CJK SC"/>
                <a:cs typeface="Noto Sans CJK SC"/>
              </a:rPr>
              <a:t>补充的充分条件：2ε &lt; h &lt; 2(γ − ε)，因此需要 γ &gt; 2ε</a:t>
            </a:r>
          </a:p>
        </p:txBody>
      </p:sp>
      <p:sp>
        <p:nvSpPr>
          <p:cNvPr id="12" name="这个条件保证支持集保留，不保证 Q(δ + η) = δ，也不保证真实数据满足幅">
            <a:extLst>
              <a:ext uri="{FF2B5EF4-FFF2-40B4-BE49-F238E27FC236}">
                <a16:creationId xmlns:a16="http://schemas.microsoft.com/office/drawing/2014/main" id="{1300183B-5273-48B9-9EF1-628FE33EC867}"/>
              </a:ext>
            </a:extLst>
          </p:cNvPr>
          <p:cNvSpPr>
            <a:spLocks noGrp="1"/>
          </p:cNvSpPr>
          <p:nvPr/>
        </p:nvSpPr>
        <p:spPr>
          <a:xfrm>
            <a:off x="609600" y="5705475"/>
            <a:ext cx="10858500" cy="581025"/>
          </a:xfrm>
          <a:prstGeom prst="rect">
            <a:avLst/>
          </a:prstGeom>
          <a:noFill/>
          <a:ln w="0">
            <a:noFill/>
          </a:ln>
        </p:spPr>
        <p:txBody>
          <a:bodyPr wrap="none" lIns="0" tIns="0" rIns="0" bIns="0" anchor="t">
            <a:noAutofit/>
          </a:bodyPr>
          <a:lstStyle>
            <a:defPPr algn="l">
              <a:defRPr sz="1800" b="0">
                <a:solidFill>
                  <a:srgbClr val="68758A"/>
                </a:solidFill>
                <a:latin typeface="Noto Sans CJK SC"/>
                <a:ea typeface="Noto Sans CJK SC"/>
                <a:cs typeface="Noto Sans CJK SC"/>
              </a:defRPr>
            </a:defPPr>
          </a:lstStyle>
          <a:p>
            <a:pPr algn="l">
              <a:buNone/>
              <a:defRPr sz="1800" b="0">
                <a:solidFill>
                  <a:srgbClr val="68758A"/>
                </a:solidFill>
                <a:latin typeface="Noto Sans CJK SC"/>
                <a:ea typeface="Noto Sans CJK SC"/>
                <a:cs typeface="Noto Sans CJK SC"/>
              </a:defRPr>
            </a:pPr>
            <a:r>
              <a:rPr sz="1800" b="0">
                <a:solidFill>
                  <a:srgbClr val="68758A"/>
                </a:solidFill>
                <a:latin typeface="Noto Sans CJK SC"/>
                <a:ea typeface="Noto Sans CJK SC"/>
                <a:cs typeface="Noto Sans CJK SC"/>
              </a:rPr>
              <a:t>这个条件只能保证非零位置被保留，不能保证 Q(δ + η) = δ。真实数据是否满足条件，还需验证。</a:t>
            </a:r>
          </a:p>
        </p:txBody>
      </p:sp>
    </p:spTree>
    <p:extLst>
      <p:ext uri="{BB962C8B-B14F-4D97-AF65-F5344CB8AC3E}">
        <p14:creationId xmlns:p14="http://schemas.microsoft.com/office/powerpoint/2010/main" val="1226980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2">
            <a:extLst>
              <a:ext uri="{FF2B5EF4-FFF2-40B4-BE49-F238E27FC236}">
                <a16:creationId xmlns:a16="http://schemas.microsoft.com/office/drawing/2014/main" id="{C4F9F763-C309-4076-A583-7AE0BC04C21D}"/>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12</a:t>
            </a:r>
          </a:p>
        </p:txBody>
      </p:sp>
      <p:sp>
        <p:nvSpPr>
          <p:cNvPr id="3" name="实验设置与评价指标">
            <a:extLst>
              <a:ext uri="{FF2B5EF4-FFF2-40B4-BE49-F238E27FC236}">
                <a16:creationId xmlns:a16="http://schemas.microsoft.com/office/drawing/2014/main" id="{F319D0EF-7B48-495E-838A-20BDF3D6DD15}"/>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a:solidFill>
                  <a:srgbClr val="19263E"/>
                </a:solidFill>
                <a:latin typeface="Noto Sans CJK SC"/>
                <a:ea typeface="Noto Sans CJK SC"/>
                <a:cs typeface="Noto Sans CJK SC"/>
              </a:rPr>
              <a:t>实验设置</a:t>
            </a:r>
          </a:p>
        </p:txBody>
      </p:sp>
      <p:sp>
        <p:nvSpPr>
          <p:cNvPr id="4" name="数据">
            <a:extLst>
              <a:ext uri="{FF2B5EF4-FFF2-40B4-BE49-F238E27FC236}">
                <a16:creationId xmlns:a16="http://schemas.microsoft.com/office/drawing/2014/main" id="{A3AEA862-621C-4179-B09C-E1E708D9C437}"/>
              </a:ext>
            </a:extLst>
          </p:cNvPr>
          <p:cNvSpPr>
            <a:spLocks noGrp="1"/>
          </p:cNvSpPr>
          <p:nvPr/>
        </p:nvSpPr>
        <p:spPr>
          <a:xfrm>
            <a:off x="609600" y="1676400"/>
            <a:ext cx="5143500" cy="400050"/>
          </a:xfrm>
          <a:prstGeom prst="rect">
            <a:avLst/>
          </a:prstGeom>
          <a:noFill/>
          <a:ln w="0">
            <a:noFill/>
          </a:ln>
        </p:spPr>
        <p:txBody>
          <a:bodyPr wrap="none" lIns="0" tIns="0" rIns="0" bIns="0" anchor="t">
            <a:noAutofit/>
          </a:bodyPr>
          <a:lstStyle>
            <a:defPPr>
              <a:defRPr sz="2175" b="1">
                <a:solidFill>
                  <a:srgbClr val="356DA7"/>
                </a:solidFill>
                <a:latin typeface="Noto Sans CJK SC"/>
                <a:ea typeface="Noto Sans CJK SC"/>
                <a:cs typeface="Noto Sans CJK SC"/>
              </a:defRPr>
            </a:defPPr>
          </a:lstStyle>
          <a:p>
            <a:pPr>
              <a:defRPr sz="2175" b="1">
                <a:solidFill>
                  <a:srgbClr val="356DA7"/>
                </a:solidFill>
                <a:latin typeface="Noto Sans CJK SC"/>
                <a:ea typeface="Noto Sans CJK SC"/>
                <a:cs typeface="Noto Sans CJK SC"/>
              </a:defRPr>
            </a:pPr>
            <a:r>
              <a:rPr sz="2175" b="1">
                <a:solidFill>
                  <a:srgbClr val="356DA7"/>
                </a:solidFill>
                <a:latin typeface="Noto Sans CJK SC"/>
                <a:ea typeface="Noto Sans CJK SC"/>
                <a:cs typeface="Noto Sans CJK SC"/>
              </a:rPr>
              <a:t>数据</a:t>
            </a:r>
          </a:p>
        </p:txBody>
      </p:sp>
      <p:sp>
        <p:nvSpPr>
          <p:cNvPr id="5" name="ADNI 与 AIBL 纵向 3D 脑 MRI&#10;1,195 名患者，共 3,98">
            <a:extLst>
              <a:ext uri="{FF2B5EF4-FFF2-40B4-BE49-F238E27FC236}">
                <a16:creationId xmlns:a16="http://schemas.microsoft.com/office/drawing/2014/main" id="{27615110-C227-4CF5-A7CA-A8A01BB4E9CC}"/>
              </a:ext>
            </a:extLst>
          </p:cNvPr>
          <p:cNvSpPr>
            <a:spLocks noGrp="1"/>
          </p:cNvSpPr>
          <p:nvPr/>
        </p:nvSpPr>
        <p:spPr>
          <a:xfrm>
            <a:off x="609600" y="2266950"/>
            <a:ext cx="5143500" cy="3238500"/>
          </a:xfrm>
          <a:prstGeom prst="rect">
            <a:avLst/>
          </a:prstGeom>
          <a:noFill/>
          <a:ln w="0">
            <a:noFill/>
          </a:ln>
        </p:spPr>
        <p:txBody>
          <a:bodyPr wrap="none" lIns="0" tIns="0" rIns="0" bIns="0" anchor="t">
            <a:noAutofit/>
          </a:bodyPr>
          <a:lstStyle>
            <a:defPPr>
              <a:defRPr sz="1950" b="0">
                <a:solidFill>
                  <a:srgbClr val="19263E"/>
                </a:solidFill>
                <a:latin typeface="Noto Sans CJK SC"/>
                <a:ea typeface="Noto Sans CJK SC"/>
                <a:cs typeface="Noto Sans CJK SC"/>
              </a:defRPr>
            </a:defPPr>
          </a:lstStyle>
          <a:p>
            <a:pPr>
              <a:defRPr sz="1950" b="0">
                <a:solidFill>
                  <a:srgbClr val="19263E"/>
                </a:solidFill>
                <a:latin typeface="Noto Sans CJK SC"/>
                <a:ea typeface="Noto Sans CJK SC"/>
                <a:cs typeface="Noto Sans CJK SC"/>
              </a:defRPr>
            </a:pPr>
            <a:r>
              <a:rPr sz="1950" b="0" dirty="0">
                <a:solidFill>
                  <a:srgbClr val="19263E"/>
                </a:solidFill>
                <a:latin typeface="Noto Sans CJK SC"/>
                <a:ea typeface="Noto Sans CJK SC"/>
                <a:cs typeface="Noto Sans CJK SC"/>
              </a:rPr>
              <a:t>ADNI </a:t>
            </a:r>
            <a:r>
              <a:rPr sz="1950" b="0" dirty="0" err="1">
                <a:solidFill>
                  <a:srgbClr val="19263E"/>
                </a:solidFill>
                <a:latin typeface="Noto Sans CJK SC"/>
                <a:ea typeface="Noto Sans CJK SC"/>
                <a:cs typeface="Noto Sans CJK SC"/>
              </a:rPr>
              <a:t>与</a:t>
            </a:r>
            <a:r>
              <a:rPr sz="1950" b="0" dirty="0">
                <a:solidFill>
                  <a:srgbClr val="19263E"/>
                </a:solidFill>
                <a:latin typeface="Noto Sans CJK SC"/>
                <a:ea typeface="Noto Sans CJK SC"/>
                <a:cs typeface="Noto Sans CJK SC"/>
              </a:rPr>
              <a:t> AIBL </a:t>
            </a:r>
            <a:r>
              <a:rPr sz="1950" b="0" dirty="0" err="1">
                <a:solidFill>
                  <a:srgbClr val="19263E"/>
                </a:solidFill>
                <a:latin typeface="Noto Sans CJK SC"/>
                <a:ea typeface="Noto Sans CJK SC"/>
                <a:cs typeface="Noto Sans CJK SC"/>
              </a:rPr>
              <a:t>纵向</a:t>
            </a:r>
            <a:r>
              <a:rPr sz="1950" b="0" dirty="0">
                <a:solidFill>
                  <a:srgbClr val="19263E"/>
                </a:solidFill>
                <a:latin typeface="Noto Sans CJK SC"/>
                <a:ea typeface="Noto Sans CJK SC"/>
                <a:cs typeface="Noto Sans CJK SC"/>
              </a:rPr>
              <a:t> 3D </a:t>
            </a:r>
            <a:r>
              <a:rPr sz="1950" b="0" dirty="0" err="1">
                <a:solidFill>
                  <a:srgbClr val="19263E"/>
                </a:solidFill>
                <a:latin typeface="Noto Sans CJK SC"/>
                <a:ea typeface="Noto Sans CJK SC"/>
                <a:cs typeface="Noto Sans CJK SC"/>
              </a:rPr>
              <a:t>脑</a:t>
            </a:r>
            <a:r>
              <a:rPr sz="1950" b="0" dirty="0">
                <a:solidFill>
                  <a:srgbClr val="19263E"/>
                </a:solidFill>
                <a:latin typeface="Noto Sans CJK SC"/>
                <a:ea typeface="Noto Sans CJK SC"/>
                <a:cs typeface="Noto Sans CJK SC"/>
              </a:rPr>
              <a:t> MRI</a:t>
            </a:r>
          </a:p>
          <a:p>
            <a:pPr>
              <a:defRPr sz="1950" b="0">
                <a:solidFill>
                  <a:srgbClr val="19263E"/>
                </a:solidFill>
                <a:latin typeface="Noto Sans CJK SC"/>
                <a:ea typeface="Noto Sans CJK SC"/>
                <a:cs typeface="Noto Sans CJK SC"/>
              </a:defRPr>
            </a:pPr>
            <a:r>
              <a:rPr sz="1950" b="0" dirty="0">
                <a:solidFill>
                  <a:srgbClr val="19263E"/>
                </a:solidFill>
                <a:latin typeface="Noto Sans CJK SC"/>
                <a:ea typeface="Noto Sans CJK SC"/>
                <a:cs typeface="Noto Sans CJK SC"/>
              </a:rPr>
              <a:t>1,195 </a:t>
            </a:r>
            <a:r>
              <a:rPr sz="1950" b="0" dirty="0" err="1">
                <a:solidFill>
                  <a:srgbClr val="19263E"/>
                </a:solidFill>
                <a:latin typeface="Noto Sans CJK SC"/>
                <a:ea typeface="Noto Sans CJK SC"/>
                <a:cs typeface="Noto Sans CJK SC"/>
              </a:rPr>
              <a:t>名患者，共</a:t>
            </a:r>
            <a:r>
              <a:rPr sz="1950" b="0" dirty="0">
                <a:solidFill>
                  <a:srgbClr val="19263E"/>
                </a:solidFill>
                <a:latin typeface="Noto Sans CJK SC"/>
                <a:ea typeface="Noto Sans CJK SC"/>
                <a:cs typeface="Noto Sans CJK SC"/>
              </a:rPr>
              <a:t> 3,981 </a:t>
            </a:r>
            <a:r>
              <a:rPr sz="1950" b="0" dirty="0" err="1">
                <a:solidFill>
                  <a:srgbClr val="19263E"/>
                </a:solidFill>
                <a:latin typeface="Noto Sans CJK SC"/>
                <a:ea typeface="Noto Sans CJK SC"/>
                <a:cs typeface="Noto Sans CJK SC"/>
              </a:rPr>
              <a:t>对影像</a:t>
            </a:r>
            <a:endParaRPr sz="1950" b="0" dirty="0">
              <a:solidFill>
                <a:srgbClr val="19263E"/>
              </a:solidFill>
              <a:latin typeface="Noto Sans CJK SC"/>
              <a:ea typeface="Noto Sans CJK SC"/>
              <a:cs typeface="Noto Sans CJK SC"/>
            </a:endParaRPr>
          </a:p>
          <a:p>
            <a:pPr>
              <a:defRPr sz="1950" b="0">
                <a:solidFill>
                  <a:srgbClr val="19263E"/>
                </a:solidFill>
                <a:latin typeface="Noto Sans CJK SC"/>
                <a:ea typeface="Noto Sans CJK SC"/>
                <a:cs typeface="Noto Sans CJK SC"/>
              </a:defRPr>
            </a:pPr>
            <a:r>
              <a:rPr sz="1950" b="0" dirty="0" err="1">
                <a:solidFill>
                  <a:srgbClr val="19263E"/>
                </a:solidFill>
                <a:latin typeface="Noto Sans CJK SC"/>
                <a:ea typeface="Noto Sans CJK SC"/>
                <a:cs typeface="Noto Sans CJK SC"/>
              </a:rPr>
              <a:t>测试集含</a:t>
            </a:r>
            <a:r>
              <a:rPr sz="1950" b="0" dirty="0">
                <a:solidFill>
                  <a:srgbClr val="19263E"/>
                </a:solidFill>
                <a:latin typeface="Noto Sans CJK SC"/>
                <a:ea typeface="Noto Sans CJK SC"/>
                <a:cs typeface="Noto Sans CJK SC"/>
              </a:rPr>
              <a:t> 342 名患者、1,140 </a:t>
            </a:r>
            <a:r>
              <a:rPr sz="1950" b="0" dirty="0" err="1">
                <a:solidFill>
                  <a:srgbClr val="19263E"/>
                </a:solidFill>
                <a:latin typeface="Noto Sans CJK SC"/>
                <a:ea typeface="Noto Sans CJK SC"/>
                <a:cs typeface="Noto Sans CJK SC"/>
              </a:rPr>
              <a:t>对影像</a:t>
            </a:r>
            <a:endParaRPr sz="1950" b="0" dirty="0">
              <a:solidFill>
                <a:srgbClr val="19263E"/>
              </a:solidFill>
              <a:latin typeface="Noto Sans CJK SC"/>
              <a:ea typeface="Noto Sans CJK SC"/>
              <a:cs typeface="Noto Sans CJK SC"/>
            </a:endParaRPr>
          </a:p>
          <a:p>
            <a:endParaRPr sz="1950" b="0" dirty="0">
              <a:solidFill>
                <a:srgbClr val="19263E"/>
              </a:solidFill>
              <a:latin typeface="Noto Sans CJK SC"/>
              <a:ea typeface="Noto Sans CJK SC"/>
              <a:cs typeface="Noto Sans CJK SC"/>
            </a:endParaRPr>
          </a:p>
          <a:p>
            <a:pPr>
              <a:defRPr sz="1950" b="0">
                <a:solidFill>
                  <a:srgbClr val="19263E"/>
                </a:solidFill>
                <a:latin typeface="Noto Sans CJK SC"/>
                <a:ea typeface="Noto Sans CJK SC"/>
                <a:cs typeface="Noto Sans CJK SC"/>
              </a:defRPr>
            </a:pPr>
            <a:r>
              <a:rPr sz="1950" b="0" dirty="0" err="1">
                <a:solidFill>
                  <a:srgbClr val="19263E"/>
                </a:solidFill>
                <a:latin typeface="Noto Sans CJK SC"/>
                <a:ea typeface="Noto Sans CJK SC"/>
                <a:cs typeface="Noto Sans CJK SC"/>
              </a:rPr>
              <a:t>预测间隔不超过</a:t>
            </a:r>
            <a:r>
              <a:rPr sz="1950" b="0" dirty="0">
                <a:solidFill>
                  <a:srgbClr val="19263E"/>
                </a:solidFill>
                <a:latin typeface="Noto Sans CJK SC"/>
                <a:ea typeface="Noto Sans CJK SC"/>
                <a:cs typeface="Noto Sans CJK SC"/>
              </a:rPr>
              <a:t> 48 </a:t>
            </a:r>
            <a:r>
              <a:rPr sz="1950" b="0" dirty="0" err="1">
                <a:solidFill>
                  <a:srgbClr val="19263E"/>
                </a:solidFill>
                <a:latin typeface="Noto Sans CJK SC"/>
                <a:ea typeface="Noto Sans CJK SC"/>
                <a:cs typeface="Noto Sans CJK SC"/>
              </a:rPr>
              <a:t>个月</a:t>
            </a:r>
            <a:endParaRPr sz="1950" b="0" dirty="0">
              <a:solidFill>
                <a:srgbClr val="19263E"/>
              </a:solidFill>
              <a:latin typeface="Noto Sans CJK SC"/>
              <a:ea typeface="Noto Sans CJK SC"/>
              <a:cs typeface="Noto Sans CJK SC"/>
            </a:endParaRPr>
          </a:p>
        </p:txBody>
      </p:sp>
      <p:sp>
        <p:nvSpPr>
          <p:cNvPr id="6" name="评价指标">
            <a:extLst>
              <a:ext uri="{FF2B5EF4-FFF2-40B4-BE49-F238E27FC236}">
                <a16:creationId xmlns:a16="http://schemas.microsoft.com/office/drawing/2014/main" id="{3C163A58-C92C-4CFF-BF0B-287E940E7899}"/>
              </a:ext>
            </a:extLst>
          </p:cNvPr>
          <p:cNvSpPr>
            <a:spLocks noGrp="1"/>
          </p:cNvSpPr>
          <p:nvPr/>
        </p:nvSpPr>
        <p:spPr>
          <a:xfrm>
            <a:off x="6362700" y="1676400"/>
            <a:ext cx="5200650" cy="400050"/>
          </a:xfrm>
          <a:prstGeom prst="rect">
            <a:avLst/>
          </a:prstGeom>
          <a:noFill/>
          <a:ln w="0">
            <a:noFill/>
          </a:ln>
        </p:spPr>
        <p:txBody>
          <a:bodyPr wrap="none" lIns="0" tIns="0" rIns="0" bIns="0" anchor="t">
            <a:noAutofit/>
          </a:bodyPr>
          <a:lstStyle>
            <a:defPPr>
              <a:defRPr sz="2175" b="1">
                <a:solidFill>
                  <a:srgbClr val="168F85"/>
                </a:solidFill>
                <a:latin typeface="Noto Sans CJK SC"/>
                <a:ea typeface="Noto Sans CJK SC"/>
                <a:cs typeface="Noto Sans CJK SC"/>
              </a:defRPr>
            </a:defPPr>
          </a:lstStyle>
          <a:p>
            <a:pPr>
              <a:defRPr sz="2175" b="1">
                <a:solidFill>
                  <a:srgbClr val="168F85"/>
                </a:solidFill>
                <a:latin typeface="Noto Sans CJK SC"/>
                <a:ea typeface="Noto Sans CJK SC"/>
                <a:cs typeface="Noto Sans CJK SC"/>
              </a:defRPr>
            </a:pPr>
            <a:r>
              <a:rPr sz="2175" b="1" dirty="0" err="1">
                <a:solidFill>
                  <a:srgbClr val="168F85"/>
                </a:solidFill>
                <a:latin typeface="Noto Sans CJK SC"/>
                <a:ea typeface="Noto Sans CJK SC"/>
                <a:cs typeface="Noto Sans CJK SC"/>
              </a:rPr>
              <a:t>评价指标</a:t>
            </a:r>
            <a:endParaRPr sz="2175" b="1" dirty="0">
              <a:solidFill>
                <a:srgbClr val="168F85"/>
              </a:solidFill>
              <a:latin typeface="Noto Sans CJK SC"/>
              <a:ea typeface="Noto Sans CJK SC"/>
              <a:cs typeface="Noto Sans CJK SC"/>
            </a:endParaRPr>
          </a:p>
        </p:txBody>
      </p:sp>
      <p:sp>
        <p:nvSpPr>
          <p:cNvPr id="7" name="Pix-SSIM、NCC">
            <a:extLst>
              <a:ext uri="{FF2B5EF4-FFF2-40B4-BE49-F238E27FC236}">
                <a16:creationId xmlns:a16="http://schemas.microsoft.com/office/drawing/2014/main" id="{79F71A88-CF17-421D-AC9E-5B58FD39BA4F}"/>
              </a:ext>
            </a:extLst>
          </p:cNvPr>
          <p:cNvSpPr>
            <a:spLocks noGrp="1"/>
          </p:cNvSpPr>
          <p:nvPr/>
        </p:nvSpPr>
        <p:spPr>
          <a:xfrm>
            <a:off x="6362700" y="2266950"/>
            <a:ext cx="5200650" cy="361950"/>
          </a:xfrm>
          <a:prstGeom prst="rect">
            <a:avLst/>
          </a:prstGeom>
          <a:noFill/>
          <a:ln w="0">
            <a:noFill/>
          </a:ln>
        </p:spPr>
        <p:txBody>
          <a:bodyPr wrap="none" lIns="0" tIns="0" rIns="0" bIns="0" anchor="t">
            <a:noAutofit/>
          </a:bodyPr>
          <a:lstStyle>
            <a:defPPr>
              <a:defRPr sz="1950" b="1">
                <a:solidFill>
                  <a:srgbClr val="19263E"/>
                </a:solidFill>
                <a:latin typeface="Noto Sans CJK SC"/>
                <a:ea typeface="Noto Sans CJK SC"/>
                <a:cs typeface="Noto Sans CJK SC"/>
              </a:defRPr>
            </a:defPPr>
          </a:lstStyle>
          <a:p>
            <a:pPr>
              <a:defRPr sz="1950" b="1">
                <a:solidFill>
                  <a:srgbClr val="19263E"/>
                </a:solidFill>
                <a:latin typeface="Noto Sans CJK SC"/>
                <a:ea typeface="Noto Sans CJK SC"/>
                <a:cs typeface="Noto Sans CJK SC"/>
              </a:defRPr>
            </a:pPr>
            <a:r>
              <a:rPr sz="1950" b="1">
                <a:solidFill>
                  <a:srgbClr val="19263E"/>
                </a:solidFill>
                <a:latin typeface="Noto Sans CJK SC"/>
                <a:ea typeface="Noto Sans CJK SC"/>
                <a:cs typeface="Noto Sans CJK SC"/>
              </a:rPr>
              <a:t>Pix-SSIM、NCC</a:t>
            </a:r>
          </a:p>
        </p:txBody>
      </p:sp>
      <p:sp>
        <p:nvSpPr>
          <p:cNvPr id="8" name="比较预测影像与真实未来影像的结构。">
            <a:extLst>
              <a:ext uri="{FF2B5EF4-FFF2-40B4-BE49-F238E27FC236}">
                <a16:creationId xmlns:a16="http://schemas.microsoft.com/office/drawing/2014/main" id="{21F82407-6D80-479E-A926-D11212064B1D}"/>
              </a:ext>
            </a:extLst>
          </p:cNvPr>
          <p:cNvSpPr>
            <a:spLocks noGrp="1"/>
          </p:cNvSpPr>
          <p:nvPr/>
        </p:nvSpPr>
        <p:spPr>
          <a:xfrm>
            <a:off x="6362700" y="2667000"/>
            <a:ext cx="5200650" cy="552450"/>
          </a:xfrm>
          <a:prstGeom prst="rect">
            <a:avLst/>
          </a:prstGeom>
          <a:noFill/>
          <a:ln w="0">
            <a:noFill/>
          </a:ln>
        </p:spPr>
        <p:txBody>
          <a:bodyPr wrap="none" lIns="0" tIns="0" rIns="0" bIns="0" anchor="t">
            <a:noAutofit/>
          </a:bodyPr>
          <a:lstStyle>
            <a:defPPr>
              <a:defRPr sz="1875" b="0">
                <a:solidFill>
                  <a:srgbClr val="19263E"/>
                </a:solidFill>
                <a:latin typeface="Noto Sans CJK SC"/>
                <a:ea typeface="Noto Sans CJK SC"/>
                <a:cs typeface="Noto Sans CJK SC"/>
              </a:defRPr>
            </a:defPPr>
          </a:lstStyle>
          <a:p>
            <a:pPr>
              <a:defRPr sz="1875" b="0">
                <a:solidFill>
                  <a:srgbClr val="19263E"/>
                </a:solidFill>
                <a:latin typeface="Noto Sans CJK SC"/>
                <a:ea typeface="Noto Sans CJK SC"/>
                <a:cs typeface="Noto Sans CJK SC"/>
              </a:defRPr>
            </a:pPr>
            <a:r>
              <a:rPr sz="1875" b="0" dirty="0" err="1">
                <a:solidFill>
                  <a:srgbClr val="19263E"/>
                </a:solidFill>
                <a:latin typeface="Noto Sans CJK SC"/>
                <a:ea typeface="Noto Sans CJK SC"/>
                <a:cs typeface="Noto Sans CJK SC"/>
              </a:rPr>
              <a:t>比较预测影像与真实未来影像的结构</a:t>
            </a:r>
            <a:r>
              <a:rPr sz="1875" b="0" dirty="0">
                <a:solidFill>
                  <a:srgbClr val="19263E"/>
                </a:solidFill>
                <a:latin typeface="Noto Sans CJK SC"/>
                <a:ea typeface="Noto Sans CJK SC"/>
                <a:cs typeface="Noto Sans CJK SC"/>
              </a:rPr>
              <a:t>。</a:t>
            </a:r>
          </a:p>
        </p:txBody>
      </p:sp>
      <p:sp>
        <p:nvSpPr>
          <p:cNvPr id="9" name="Diff-SSIM">
            <a:extLst>
              <a:ext uri="{FF2B5EF4-FFF2-40B4-BE49-F238E27FC236}">
                <a16:creationId xmlns:a16="http://schemas.microsoft.com/office/drawing/2014/main" id="{070236C0-0C8F-4B76-9754-E4027DEE3CF9}"/>
              </a:ext>
            </a:extLst>
          </p:cNvPr>
          <p:cNvSpPr>
            <a:spLocks noGrp="1"/>
          </p:cNvSpPr>
          <p:nvPr/>
        </p:nvSpPr>
        <p:spPr>
          <a:xfrm>
            <a:off x="6362700" y="3419475"/>
            <a:ext cx="5200650" cy="361950"/>
          </a:xfrm>
          <a:prstGeom prst="rect">
            <a:avLst/>
          </a:prstGeom>
          <a:noFill/>
          <a:ln w="0">
            <a:noFill/>
          </a:ln>
        </p:spPr>
        <p:txBody>
          <a:bodyPr wrap="none" lIns="0" tIns="0" rIns="0" bIns="0" anchor="t">
            <a:noAutofit/>
          </a:bodyPr>
          <a:lstStyle>
            <a:defPPr>
              <a:defRPr sz="1950" b="1">
                <a:solidFill>
                  <a:srgbClr val="19263E"/>
                </a:solidFill>
                <a:latin typeface="Noto Sans CJK SC"/>
                <a:ea typeface="Noto Sans CJK SC"/>
                <a:cs typeface="Noto Sans CJK SC"/>
              </a:defRPr>
            </a:defPPr>
          </a:lstStyle>
          <a:p>
            <a:pPr>
              <a:defRPr sz="1950" b="1">
                <a:solidFill>
                  <a:srgbClr val="19263E"/>
                </a:solidFill>
                <a:latin typeface="Noto Sans CJK SC"/>
                <a:ea typeface="Noto Sans CJK SC"/>
                <a:cs typeface="Noto Sans CJK SC"/>
              </a:defRPr>
            </a:pPr>
            <a:r>
              <a:rPr sz="1950" b="1">
                <a:solidFill>
                  <a:srgbClr val="19263E"/>
                </a:solidFill>
                <a:latin typeface="Noto Sans CJK SC"/>
                <a:ea typeface="Noto Sans CJK SC"/>
                <a:cs typeface="Noto Sans CJK SC"/>
              </a:rPr>
              <a:t>Diff-SSIM</a:t>
            </a:r>
          </a:p>
        </p:txBody>
      </p:sp>
      <p:sp>
        <p:nvSpPr>
          <p:cNvPr id="10" name="比较两者相对当前影像的变化。">
            <a:extLst>
              <a:ext uri="{FF2B5EF4-FFF2-40B4-BE49-F238E27FC236}">
                <a16:creationId xmlns:a16="http://schemas.microsoft.com/office/drawing/2014/main" id="{562A81FC-4C68-40B1-AB32-37847BA820C8}"/>
              </a:ext>
            </a:extLst>
          </p:cNvPr>
          <p:cNvSpPr>
            <a:spLocks noGrp="1"/>
          </p:cNvSpPr>
          <p:nvPr/>
        </p:nvSpPr>
        <p:spPr>
          <a:xfrm>
            <a:off x="6362700" y="3819525"/>
            <a:ext cx="5200650" cy="552450"/>
          </a:xfrm>
          <a:prstGeom prst="rect">
            <a:avLst/>
          </a:prstGeom>
          <a:noFill/>
          <a:ln w="0">
            <a:noFill/>
          </a:ln>
        </p:spPr>
        <p:txBody>
          <a:bodyPr wrap="none" lIns="0" tIns="0" rIns="0" bIns="0" anchor="t">
            <a:noAutofit/>
          </a:bodyPr>
          <a:lstStyle>
            <a:defPPr>
              <a:defRPr sz="1875" b="0">
                <a:solidFill>
                  <a:srgbClr val="19263E"/>
                </a:solidFill>
                <a:latin typeface="Noto Sans CJK SC"/>
                <a:ea typeface="Noto Sans CJK SC"/>
                <a:cs typeface="Noto Sans CJK SC"/>
              </a:defRPr>
            </a:defPPr>
          </a:lstStyle>
          <a:p>
            <a:pPr>
              <a:defRPr sz="1875" b="0">
                <a:solidFill>
                  <a:srgbClr val="19263E"/>
                </a:solidFill>
                <a:latin typeface="Noto Sans CJK SC"/>
                <a:ea typeface="Noto Sans CJK SC"/>
                <a:cs typeface="Noto Sans CJK SC"/>
              </a:defRPr>
            </a:pPr>
            <a:r>
              <a:rPr sz="1875" b="0">
                <a:solidFill>
                  <a:srgbClr val="19263E"/>
                </a:solidFill>
                <a:latin typeface="Noto Sans CJK SC"/>
                <a:ea typeface="Noto Sans CJK SC"/>
                <a:cs typeface="Noto Sans CJK SC"/>
              </a:rPr>
              <a:t>比较两者相对当前影像的变化。</a:t>
            </a:r>
          </a:p>
        </p:txBody>
      </p:sp>
      <p:sp>
        <p:nvSpPr>
          <p:cNvPr id="11" name="临床分类与 FID">
            <a:extLst>
              <a:ext uri="{FF2B5EF4-FFF2-40B4-BE49-F238E27FC236}">
                <a16:creationId xmlns:a16="http://schemas.microsoft.com/office/drawing/2014/main" id="{5E741063-27A8-464F-862F-A62236792F9A}"/>
              </a:ext>
            </a:extLst>
          </p:cNvPr>
          <p:cNvSpPr>
            <a:spLocks noGrp="1"/>
          </p:cNvSpPr>
          <p:nvPr/>
        </p:nvSpPr>
        <p:spPr>
          <a:xfrm>
            <a:off x="6362700" y="4572000"/>
            <a:ext cx="5200650" cy="361950"/>
          </a:xfrm>
          <a:prstGeom prst="rect">
            <a:avLst/>
          </a:prstGeom>
          <a:noFill/>
          <a:ln w="0">
            <a:noFill/>
          </a:ln>
        </p:spPr>
        <p:txBody>
          <a:bodyPr wrap="none" lIns="0" tIns="0" rIns="0" bIns="0" anchor="t">
            <a:noAutofit/>
          </a:bodyPr>
          <a:lstStyle>
            <a:defPPr>
              <a:defRPr sz="1950" b="1">
                <a:solidFill>
                  <a:srgbClr val="19263E"/>
                </a:solidFill>
                <a:latin typeface="Noto Sans CJK SC"/>
                <a:ea typeface="Noto Sans CJK SC"/>
                <a:cs typeface="Noto Sans CJK SC"/>
              </a:defRPr>
            </a:defPPr>
          </a:lstStyle>
          <a:p>
            <a:pPr>
              <a:defRPr sz="1950" b="1">
                <a:solidFill>
                  <a:srgbClr val="19263E"/>
                </a:solidFill>
                <a:latin typeface="Noto Sans CJK SC"/>
                <a:ea typeface="Noto Sans CJK SC"/>
                <a:cs typeface="Noto Sans CJK SC"/>
              </a:defRPr>
            </a:pPr>
            <a:r>
              <a:rPr sz="1950" b="1">
                <a:solidFill>
                  <a:srgbClr val="19263E"/>
                </a:solidFill>
                <a:latin typeface="Noto Sans CJK SC"/>
                <a:ea typeface="Noto Sans CJK SC"/>
                <a:cs typeface="Noto Sans CJK SC"/>
              </a:rPr>
              <a:t>临床分类与 FID</a:t>
            </a:r>
          </a:p>
        </p:txBody>
      </p:sp>
      <p:sp>
        <p:nvSpPr>
          <p:cNvPr id="12" name="用冻结的 AD 分类器评估诊断信息。&#10;用 I3D / AD 分类器特征计算 FI">
            <a:extLst>
              <a:ext uri="{FF2B5EF4-FFF2-40B4-BE49-F238E27FC236}">
                <a16:creationId xmlns:a16="http://schemas.microsoft.com/office/drawing/2014/main" id="{7EA085D6-8814-44CA-8698-5CBE6DBD40B3}"/>
              </a:ext>
            </a:extLst>
          </p:cNvPr>
          <p:cNvSpPr>
            <a:spLocks noGrp="1"/>
          </p:cNvSpPr>
          <p:nvPr/>
        </p:nvSpPr>
        <p:spPr>
          <a:xfrm>
            <a:off x="6362700" y="4972050"/>
            <a:ext cx="5200650" cy="1143000"/>
          </a:xfrm>
          <a:prstGeom prst="rect">
            <a:avLst/>
          </a:prstGeom>
          <a:noFill/>
          <a:ln w="0">
            <a:noFill/>
          </a:ln>
        </p:spPr>
        <p:txBody>
          <a:bodyPr wrap="none" lIns="0" tIns="0" rIns="0" bIns="0" anchor="t">
            <a:noAutofit/>
          </a:bodyPr>
          <a:lstStyle>
            <a:defPPr>
              <a:defRPr sz="1875" b="0">
                <a:solidFill>
                  <a:srgbClr val="19263E"/>
                </a:solidFill>
                <a:latin typeface="Noto Sans CJK SC"/>
                <a:ea typeface="Noto Sans CJK SC"/>
                <a:cs typeface="Noto Sans CJK SC"/>
              </a:defRPr>
            </a:defPPr>
          </a:lstStyle>
          <a:p>
            <a:pPr>
              <a:defRPr sz="1875" b="0">
                <a:solidFill>
                  <a:srgbClr val="19263E"/>
                </a:solidFill>
                <a:latin typeface="Noto Sans CJK SC"/>
                <a:ea typeface="Noto Sans CJK SC"/>
                <a:cs typeface="Noto Sans CJK SC"/>
              </a:defRPr>
            </a:pPr>
            <a:r>
              <a:rPr sz="1875" b="0">
                <a:solidFill>
                  <a:srgbClr val="19263E"/>
                </a:solidFill>
                <a:latin typeface="Noto Sans CJK SC"/>
                <a:ea typeface="Noto Sans CJK SC"/>
                <a:cs typeface="Noto Sans CJK SC"/>
              </a:rPr>
              <a:t>用冻结的 AD 分类器评估诊断信息。</a:t>
            </a:r>
          </a:p>
          <a:p>
            <a:pPr>
              <a:defRPr sz="1875" b="0">
                <a:solidFill>
                  <a:srgbClr val="19263E"/>
                </a:solidFill>
                <a:latin typeface="Noto Sans CJK SC"/>
                <a:ea typeface="Noto Sans CJK SC"/>
                <a:cs typeface="Noto Sans CJK SC"/>
              </a:defRPr>
            </a:pPr>
            <a:r>
              <a:rPr sz="1875" b="0">
                <a:solidFill>
                  <a:srgbClr val="19263E"/>
                </a:solidFill>
                <a:latin typeface="Noto Sans CJK SC"/>
                <a:ea typeface="Noto Sans CJK SC"/>
                <a:cs typeface="Noto Sans CJK SC"/>
              </a:rPr>
              <a:t>用 I3D / AD 分类器特征计算 FID，</a:t>
            </a:r>
          </a:p>
          <a:p>
            <a:pPr>
              <a:defRPr sz="1875" b="0">
                <a:solidFill>
                  <a:srgbClr val="19263E"/>
                </a:solidFill>
                <a:latin typeface="Noto Sans CJK SC"/>
                <a:ea typeface="Noto Sans CJK SC"/>
                <a:cs typeface="Noto Sans CJK SC"/>
              </a:defRPr>
            </a:pPr>
            <a:r>
              <a:rPr sz="1875" b="0">
                <a:solidFill>
                  <a:srgbClr val="19263E"/>
                </a:solidFill>
                <a:latin typeface="Noto Sans CJK SC"/>
                <a:ea typeface="Noto Sans CJK SC"/>
                <a:cs typeface="Noto Sans CJK SC"/>
              </a:rPr>
              <a:t>评价生成影像与真实影像的分布差异。</a:t>
            </a:r>
          </a:p>
        </p:txBody>
      </p:sp>
    </p:spTree>
    <p:extLst>
      <p:ext uri="{BB962C8B-B14F-4D97-AF65-F5344CB8AC3E}">
        <p14:creationId xmlns:p14="http://schemas.microsoft.com/office/powerpoint/2010/main" val="1586400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3">
            <a:extLst>
              <a:ext uri="{FF2B5EF4-FFF2-40B4-BE49-F238E27FC236}">
                <a16:creationId xmlns:a16="http://schemas.microsoft.com/office/drawing/2014/main" id="{1FF41317-4626-45C8-8CB9-4602AF678120}"/>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13</a:t>
            </a:r>
          </a:p>
        </p:txBody>
      </p:sp>
      <p:sp>
        <p:nvSpPr>
          <p:cNvPr id="3" name="主要定量结果">
            <a:extLst>
              <a:ext uri="{FF2B5EF4-FFF2-40B4-BE49-F238E27FC236}">
                <a16:creationId xmlns:a16="http://schemas.microsoft.com/office/drawing/2014/main" id="{662C7E95-3018-45EE-BC82-0444523A686F}"/>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a:solidFill>
                  <a:srgbClr val="19263E"/>
                </a:solidFill>
                <a:latin typeface="Noto Sans CJK SC"/>
                <a:ea typeface="Noto Sans CJK SC"/>
                <a:cs typeface="Noto Sans CJK SC"/>
              </a:rPr>
              <a:t>实验结果</a:t>
            </a:r>
          </a:p>
        </p:txBody>
      </p:sp>
      <p:sp>
        <p:nvSpPr>
          <p:cNvPr id="4" name="变化一致性和临床分类指标较好，但 FID 和完整影像的 SSIM 不是最好的。">
            <a:extLst>
              <a:ext uri="{FF2B5EF4-FFF2-40B4-BE49-F238E27FC236}">
                <a16:creationId xmlns:a16="http://schemas.microsoft.com/office/drawing/2014/main" id="{004BC850-B3C5-4F49-8A75-32091893999A}"/>
              </a:ext>
            </a:extLst>
          </p:cNvPr>
          <p:cNvSpPr>
            <a:spLocks noGrp="1"/>
          </p:cNvSpPr>
          <p:nvPr/>
        </p:nvSpPr>
        <p:spPr>
          <a:xfrm>
            <a:off x="609600" y="1562100"/>
            <a:ext cx="10953750" cy="523875"/>
          </a:xfrm>
          <a:prstGeom prst="rect">
            <a:avLst/>
          </a:prstGeom>
          <a:noFill/>
          <a:ln w="0">
            <a:noFill/>
          </a:ln>
        </p:spPr>
        <p:txBody>
          <a:bodyPr wrap="none" lIns="0" tIns="0" rIns="0" bIns="0" anchor="t">
            <a:noAutofit/>
          </a:bodyPr>
          <a:lstStyle>
            <a:defPPr>
              <a:defRPr sz="1875" b="0">
                <a:solidFill>
                  <a:srgbClr val="356DA7"/>
                </a:solidFill>
                <a:latin typeface="Noto Sans CJK SC"/>
                <a:ea typeface="Noto Sans CJK SC"/>
                <a:cs typeface="Noto Sans CJK SC"/>
              </a:defRPr>
            </a:defPPr>
          </a:lstStyle>
          <a:p>
            <a:pPr>
              <a:defRPr sz="1875" b="0">
                <a:solidFill>
                  <a:srgbClr val="356DA7"/>
                </a:solidFill>
                <a:latin typeface="Noto Sans CJK SC"/>
                <a:ea typeface="Noto Sans CJK SC"/>
                <a:cs typeface="Noto Sans CJK SC"/>
              </a:defRPr>
            </a:pPr>
            <a:r>
              <a:rPr sz="1875" b="0" dirty="0" err="1">
                <a:solidFill>
                  <a:srgbClr val="356DA7"/>
                </a:solidFill>
                <a:latin typeface="Noto Sans CJK SC"/>
                <a:ea typeface="Noto Sans CJK SC"/>
                <a:cs typeface="Noto Sans CJK SC"/>
              </a:rPr>
              <a:t>变化一致性和临床分类指标较好</a:t>
            </a:r>
            <a:endParaRPr sz="1875" b="0" dirty="0">
              <a:solidFill>
                <a:srgbClr val="356DA7"/>
              </a:solidFill>
              <a:latin typeface="Noto Sans CJK SC"/>
              <a:ea typeface="Noto Sans CJK SC"/>
              <a:cs typeface="Noto Sans CJK SC"/>
            </a:endParaRPr>
          </a:p>
        </p:txBody>
      </p:sp>
      <p:pic>
        <p:nvPicPr>
          <p:cNvPr id="5" name="图片 4">
            <a:extLst>
              <a:ext uri="{FF2B5EF4-FFF2-40B4-BE49-F238E27FC236}">
                <a16:creationId xmlns:a16="http://schemas.microsoft.com/office/drawing/2014/main" id="{D0A59DDB-6F40-4DFB-B963-3B48E80486F4}"/>
              </a:ext>
            </a:extLst>
          </p:cNvPr>
          <p:cNvPicPr>
            <a:picLocks noChangeAspect="1"/>
          </p:cNvPicPr>
          <p:nvPr/>
        </p:nvPicPr>
        <p:blipFill>
          <a:blip r:embed="rId3"/>
          <a:stretch/>
        </p:blipFill>
        <p:spPr>
          <a:xfrm>
            <a:off x="609600" y="2201863"/>
            <a:ext cx="10953750" cy="4064000"/>
          </a:xfrm>
          <a:prstGeom prst="rect">
            <a:avLst/>
          </a:prstGeom>
        </p:spPr>
      </p:pic>
    </p:spTree>
    <p:extLst>
      <p:ext uri="{BB962C8B-B14F-4D97-AF65-F5344CB8AC3E}">
        <p14:creationId xmlns:p14="http://schemas.microsoft.com/office/powerpoint/2010/main" val="948541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5">
            <a:extLst>
              <a:ext uri="{FF2B5EF4-FFF2-40B4-BE49-F238E27FC236}">
                <a16:creationId xmlns:a16="http://schemas.microsoft.com/office/drawing/2014/main" id="{DC7859F8-54FD-4E55-AC07-5C7BEE44CAE8}"/>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14</a:t>
            </a:r>
          </a:p>
        </p:txBody>
      </p:sp>
      <p:sp>
        <p:nvSpPr>
          <p:cNvPr id="3" name="长期轨迹与不同脑区的变化">
            <a:extLst>
              <a:ext uri="{FF2B5EF4-FFF2-40B4-BE49-F238E27FC236}">
                <a16:creationId xmlns:a16="http://schemas.microsoft.com/office/drawing/2014/main" id="{EECE8C0B-231E-41DD-BBAD-149F7DEACEA0}"/>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a:solidFill>
                  <a:srgbClr val="19263E"/>
                </a:solidFill>
                <a:latin typeface="Noto Sans CJK SC"/>
                <a:ea typeface="Noto Sans CJK SC"/>
                <a:cs typeface="Noto Sans CJK SC"/>
              </a:rPr>
              <a:t>长期预测</a:t>
            </a:r>
          </a:p>
        </p:txBody>
      </p:sp>
      <p:pic>
        <p:nvPicPr>
          <p:cNvPr id="5" name="图片 4">
            <a:extLst>
              <a:ext uri="{FF2B5EF4-FFF2-40B4-BE49-F238E27FC236}">
                <a16:creationId xmlns:a16="http://schemas.microsoft.com/office/drawing/2014/main" id="{34E817C9-1FD0-4F13-8AE5-E9B8371624B2}"/>
              </a:ext>
            </a:extLst>
          </p:cNvPr>
          <p:cNvPicPr>
            <a:picLocks noChangeAspect="1"/>
          </p:cNvPicPr>
          <p:nvPr/>
        </p:nvPicPr>
        <p:blipFill>
          <a:blip r:embed="rId3"/>
          <a:stretch/>
        </p:blipFill>
        <p:spPr>
          <a:xfrm>
            <a:off x="609600" y="1679938"/>
            <a:ext cx="5019675" cy="3155224"/>
          </a:xfrm>
          <a:prstGeom prst="rect">
            <a:avLst/>
          </a:prstGeom>
        </p:spPr>
      </p:pic>
      <p:pic>
        <p:nvPicPr>
          <p:cNvPr id="6" name="图片 5">
            <a:extLst>
              <a:ext uri="{FF2B5EF4-FFF2-40B4-BE49-F238E27FC236}">
                <a16:creationId xmlns:a16="http://schemas.microsoft.com/office/drawing/2014/main" id="{E855ED72-CBF1-4A2A-B8E8-54999643B30B}"/>
              </a:ext>
            </a:extLst>
          </p:cNvPr>
          <p:cNvPicPr>
            <a:picLocks noChangeAspect="1"/>
          </p:cNvPicPr>
          <p:nvPr/>
        </p:nvPicPr>
        <p:blipFill>
          <a:blip r:embed="rId4"/>
          <a:stretch/>
        </p:blipFill>
        <p:spPr>
          <a:xfrm>
            <a:off x="6143625" y="2786322"/>
            <a:ext cx="5429250" cy="2143537"/>
          </a:xfrm>
          <a:prstGeom prst="rect">
            <a:avLst/>
          </a:prstGeom>
        </p:spPr>
      </p:pic>
      <p:sp>
        <p:nvSpPr>
          <p:cNvPr id="7" name="48 个月轨迹">
            <a:extLst>
              <a:ext uri="{FF2B5EF4-FFF2-40B4-BE49-F238E27FC236}">
                <a16:creationId xmlns:a16="http://schemas.microsoft.com/office/drawing/2014/main" id="{D7D5459E-537D-40E7-9B32-CE98DACEF6C1}"/>
              </a:ext>
            </a:extLst>
          </p:cNvPr>
          <p:cNvSpPr>
            <a:spLocks noGrp="1"/>
          </p:cNvSpPr>
          <p:nvPr/>
        </p:nvSpPr>
        <p:spPr>
          <a:xfrm>
            <a:off x="609600" y="5200650"/>
            <a:ext cx="5019675" cy="342900"/>
          </a:xfrm>
          <a:prstGeom prst="rect">
            <a:avLst/>
          </a:prstGeom>
          <a:noFill/>
          <a:ln w="0">
            <a:noFill/>
          </a:ln>
        </p:spPr>
        <p:txBody>
          <a:bodyPr wrap="square" lIns="0" tIns="0" rIns="0" bIns="0" anchor="t">
            <a:noAutofit/>
          </a:bodyPr>
          <a:lstStyle>
            <a:defPPr>
              <a:defRPr sz="1950" b="1">
                <a:solidFill>
                  <a:srgbClr val="356DA7"/>
                </a:solidFill>
                <a:latin typeface="Noto Sans CJK SC"/>
                <a:ea typeface="Noto Sans CJK SC"/>
                <a:cs typeface="Noto Sans CJK SC"/>
              </a:defRPr>
            </a:defPPr>
          </a:lstStyle>
          <a:p>
            <a:pPr>
              <a:buNone/>
              <a:defRPr sz="1950" b="1">
                <a:solidFill>
                  <a:srgbClr val="356DA7"/>
                </a:solidFill>
                <a:latin typeface="Noto Sans CJK SC"/>
                <a:ea typeface="Noto Sans CJK SC"/>
                <a:cs typeface="Noto Sans CJK SC"/>
              </a:defRPr>
            </a:pPr>
            <a:r>
              <a:rPr sz="1950" b="1">
                <a:solidFill>
                  <a:srgbClr val="356DA7"/>
                </a:solidFill>
                <a:latin typeface="Noto Sans CJK SC"/>
                <a:ea typeface="Noto Sans CJK SC"/>
                <a:cs typeface="Noto Sans CJK SC"/>
              </a:rPr>
              <a:t>48 个月轨迹</a:t>
            </a:r>
          </a:p>
        </p:txBody>
      </p:sp>
      <p:sp>
        <p:nvSpPr>
          <p:cNvPr id="8" name="比较预测与 baseline 的相似度曲线，检查接近恒等映射或过度漂移。">
            <a:extLst>
              <a:ext uri="{FF2B5EF4-FFF2-40B4-BE49-F238E27FC236}">
                <a16:creationId xmlns:a16="http://schemas.microsoft.com/office/drawing/2014/main" id="{B0E2DAF3-A42B-47F3-A532-322930BA407A}"/>
              </a:ext>
            </a:extLst>
          </p:cNvPr>
          <p:cNvSpPr>
            <a:spLocks noGrp="1"/>
          </p:cNvSpPr>
          <p:nvPr/>
        </p:nvSpPr>
        <p:spPr>
          <a:xfrm>
            <a:off x="609600" y="5610225"/>
            <a:ext cx="5019675" cy="714375"/>
          </a:xfrm>
          <a:prstGeom prst="rect">
            <a:avLst/>
          </a:prstGeom>
          <a:noFill/>
          <a:ln w="0">
            <a:noFill/>
          </a:ln>
        </p:spPr>
        <p:txBody>
          <a:bodyPr wrap="none" lIns="0" tIns="0" rIns="0" bIns="0" anchor="t">
            <a:noAutofit/>
          </a:bodyPr>
          <a:lstStyle>
            <a:defPPr algn="l">
              <a:defRPr sz="1725" b="0">
                <a:solidFill>
                  <a:srgbClr val="19263E"/>
                </a:solidFill>
                <a:latin typeface="Noto Sans CJK SC"/>
                <a:ea typeface="Noto Sans CJK SC"/>
                <a:cs typeface="Noto Sans CJK SC"/>
              </a:defRPr>
            </a:defPPr>
          </a:lstStyle>
          <a:p>
            <a:pPr algn="l">
              <a:buNone/>
              <a:defRPr sz="1725" b="0">
                <a:solidFill>
                  <a:srgbClr val="19263E"/>
                </a:solidFill>
                <a:latin typeface="Noto Sans CJK SC"/>
                <a:ea typeface="Noto Sans CJK SC"/>
                <a:cs typeface="Noto Sans CJK SC"/>
              </a:defRPr>
            </a:pPr>
            <a:r>
              <a:rPr sz="1725" b="0">
                <a:solidFill>
                  <a:srgbClr val="19263E"/>
                </a:solidFill>
                <a:latin typeface="Noto Sans CJK SC"/>
                <a:ea typeface="Noto Sans CJK SC"/>
                <a:cs typeface="Noto Sans CJK SC"/>
              </a:rPr>
              <a:t>比较预测影像与 baseline 的相似度，检查模型是否</a:t>
            </a:r>
          </a:p>
          <a:p>
            <a:pPr algn="l">
              <a:buNone/>
              <a:defRPr sz="1725" b="0">
                <a:solidFill>
                  <a:srgbClr val="19263E"/>
                </a:solidFill>
                <a:latin typeface="Noto Sans CJK SC"/>
                <a:ea typeface="Noto Sans CJK SC"/>
                <a:cs typeface="Noto Sans CJK SC"/>
              </a:defRPr>
            </a:pPr>
            <a:r>
              <a:rPr sz="1725" b="0">
                <a:solidFill>
                  <a:srgbClr val="19263E"/>
                </a:solidFill>
                <a:latin typeface="Noto Sans CJK SC"/>
                <a:ea typeface="Noto Sans CJK SC"/>
                <a:cs typeface="Noto Sans CJK SC"/>
              </a:rPr>
              <a:t>几乎没有预测变化，或把变化预测得过大。</a:t>
            </a:r>
          </a:p>
        </p:txBody>
      </p:sp>
      <p:sp>
        <p:nvSpPr>
          <p:cNvPr id="9" name="ROI 变化比例">
            <a:extLst>
              <a:ext uri="{FF2B5EF4-FFF2-40B4-BE49-F238E27FC236}">
                <a16:creationId xmlns:a16="http://schemas.microsoft.com/office/drawing/2014/main" id="{CD3BBDF0-C37A-4F94-B806-73A041183178}"/>
              </a:ext>
            </a:extLst>
          </p:cNvPr>
          <p:cNvSpPr>
            <a:spLocks noGrp="1"/>
          </p:cNvSpPr>
          <p:nvPr/>
        </p:nvSpPr>
        <p:spPr>
          <a:xfrm>
            <a:off x="6143625" y="5200650"/>
            <a:ext cx="5429250" cy="342900"/>
          </a:xfrm>
          <a:prstGeom prst="rect">
            <a:avLst/>
          </a:prstGeom>
          <a:noFill/>
          <a:ln w="0">
            <a:noFill/>
          </a:ln>
        </p:spPr>
        <p:txBody>
          <a:bodyPr wrap="square" lIns="0" tIns="0" rIns="0" bIns="0" anchor="t">
            <a:noAutofit/>
          </a:bodyPr>
          <a:lstStyle>
            <a:defPPr>
              <a:defRPr sz="1950" b="1">
                <a:solidFill>
                  <a:srgbClr val="168F85"/>
                </a:solidFill>
                <a:latin typeface="Noto Sans CJK SC"/>
                <a:ea typeface="Noto Sans CJK SC"/>
                <a:cs typeface="Noto Sans CJK SC"/>
              </a:defRPr>
            </a:defPPr>
          </a:lstStyle>
          <a:p>
            <a:pPr>
              <a:buNone/>
              <a:defRPr sz="1950" b="1">
                <a:solidFill>
                  <a:srgbClr val="168F85"/>
                </a:solidFill>
                <a:latin typeface="Noto Sans CJK SC"/>
                <a:ea typeface="Noto Sans CJK SC"/>
                <a:cs typeface="Noto Sans CJK SC"/>
              </a:defRPr>
            </a:pPr>
            <a:r>
              <a:rPr sz="1950" b="1">
                <a:solidFill>
                  <a:srgbClr val="168F85"/>
                </a:solidFill>
                <a:latin typeface="Noto Sans CJK SC"/>
                <a:ea typeface="Noto Sans CJK SC"/>
                <a:cs typeface="Noto Sans CJK SC"/>
              </a:rPr>
              <a:t>ROI 变化比例</a:t>
            </a:r>
          </a:p>
        </p:txBody>
      </p:sp>
      <p:sp>
        <p:nvSpPr>
          <p:cNvPr id="10" name="比较海马、小脑、脑室的恢复变化与理想变化，比值接近 1 更好。">
            <a:extLst>
              <a:ext uri="{FF2B5EF4-FFF2-40B4-BE49-F238E27FC236}">
                <a16:creationId xmlns:a16="http://schemas.microsoft.com/office/drawing/2014/main" id="{48F53C1B-4479-404C-AA69-BFFC7F4E79E1}"/>
              </a:ext>
            </a:extLst>
          </p:cNvPr>
          <p:cNvSpPr>
            <a:spLocks noGrp="1"/>
          </p:cNvSpPr>
          <p:nvPr/>
        </p:nvSpPr>
        <p:spPr>
          <a:xfrm>
            <a:off x="6143625" y="5610225"/>
            <a:ext cx="5429250" cy="714375"/>
          </a:xfrm>
          <a:prstGeom prst="rect">
            <a:avLst/>
          </a:prstGeom>
          <a:noFill/>
          <a:ln w="0">
            <a:noFill/>
          </a:ln>
        </p:spPr>
        <p:txBody>
          <a:bodyPr wrap="none" lIns="0" tIns="0" rIns="0" bIns="0" anchor="t">
            <a:noAutofit/>
          </a:bodyPr>
          <a:lstStyle>
            <a:defPPr algn="l">
              <a:defRPr sz="1725" b="0">
                <a:solidFill>
                  <a:srgbClr val="19263E"/>
                </a:solidFill>
                <a:latin typeface="Noto Sans CJK SC"/>
                <a:ea typeface="Noto Sans CJK SC"/>
                <a:cs typeface="Noto Sans CJK SC"/>
              </a:defRPr>
            </a:defPPr>
          </a:lstStyle>
          <a:p>
            <a:pPr algn="l">
              <a:buNone/>
              <a:defRPr sz="1725" b="0">
                <a:solidFill>
                  <a:srgbClr val="19263E"/>
                </a:solidFill>
                <a:latin typeface="Noto Sans CJK SC"/>
                <a:ea typeface="Noto Sans CJK SC"/>
                <a:cs typeface="Noto Sans CJK SC"/>
              </a:defRPr>
            </a:pPr>
            <a:r>
              <a:rPr sz="1725" b="0">
                <a:solidFill>
                  <a:srgbClr val="19263E"/>
                </a:solidFill>
                <a:latin typeface="Noto Sans CJK SC"/>
                <a:ea typeface="Noto Sans CJK SC"/>
                <a:cs typeface="Noto Sans CJK SC"/>
              </a:rPr>
              <a:t>分别比较海马、小脑和脑室中预测变化与真实变化的比</a:t>
            </a:r>
          </a:p>
          <a:p>
            <a:pPr algn="l">
              <a:buNone/>
              <a:defRPr sz="1725" b="0">
                <a:solidFill>
                  <a:srgbClr val="19263E"/>
                </a:solidFill>
                <a:latin typeface="Noto Sans CJK SC"/>
                <a:ea typeface="Noto Sans CJK SC"/>
                <a:cs typeface="Noto Sans CJK SC"/>
              </a:defRPr>
            </a:pPr>
            <a:r>
              <a:rPr sz="1725" b="0">
                <a:solidFill>
                  <a:srgbClr val="19263E"/>
                </a:solidFill>
                <a:latin typeface="Noto Sans CJK SC"/>
                <a:ea typeface="Noto Sans CJK SC"/>
                <a:cs typeface="Noto Sans CJK SC"/>
              </a:rPr>
              <a:t>值，越接近 1 越好。</a:t>
            </a:r>
          </a:p>
        </p:txBody>
      </p:sp>
      <p:pic>
        <p:nvPicPr>
          <p:cNvPr id="4" name="图片 3">
            <a:extLst>
              <a:ext uri="{FF2B5EF4-FFF2-40B4-BE49-F238E27FC236}">
                <a16:creationId xmlns:a16="http://schemas.microsoft.com/office/drawing/2014/main" id="{30527EA7-C57B-BA1E-AF36-175270CA83A4}"/>
              </a:ext>
            </a:extLst>
          </p:cNvPr>
          <p:cNvPicPr>
            <a:picLocks noChangeAspect="1"/>
          </p:cNvPicPr>
          <p:nvPr/>
        </p:nvPicPr>
        <p:blipFill>
          <a:blip r:embed="rId5"/>
          <a:stretch>
            <a:fillRect/>
          </a:stretch>
        </p:blipFill>
        <p:spPr>
          <a:xfrm>
            <a:off x="6413346" y="523875"/>
            <a:ext cx="5150004" cy="2090979"/>
          </a:xfrm>
          <a:prstGeom prst="rect">
            <a:avLst/>
          </a:prstGeom>
        </p:spPr>
      </p:pic>
    </p:spTree>
    <p:extLst>
      <p:ext uri="{BB962C8B-B14F-4D97-AF65-F5344CB8AC3E}">
        <p14:creationId xmlns:p14="http://schemas.microsoft.com/office/powerpoint/2010/main" val="33970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6">
            <a:extLst>
              <a:ext uri="{FF2B5EF4-FFF2-40B4-BE49-F238E27FC236}">
                <a16:creationId xmlns:a16="http://schemas.microsoft.com/office/drawing/2014/main" id="{9FDE06F1-50CF-46E6-A3C0-7D6C1D37ED76}"/>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15</a:t>
            </a:r>
          </a:p>
        </p:txBody>
      </p:sp>
      <p:sp>
        <p:nvSpPr>
          <p:cNvPr id="3" name="消融：预测目标与量化机制">
            <a:extLst>
              <a:ext uri="{FF2B5EF4-FFF2-40B4-BE49-F238E27FC236}">
                <a16:creationId xmlns:a16="http://schemas.microsoft.com/office/drawing/2014/main" id="{E65D5F9E-2FA9-47BE-8735-95EF1B7F1649}"/>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a:solidFill>
                  <a:srgbClr val="19263E"/>
                </a:solidFill>
                <a:latin typeface="Noto Sans CJK SC"/>
                <a:ea typeface="Noto Sans CJK SC"/>
                <a:cs typeface="Noto Sans CJK SC"/>
              </a:rPr>
              <a:t>消融实验</a:t>
            </a:r>
          </a:p>
        </p:txBody>
      </p:sp>
      <p:sp>
        <p:nvSpPr>
          <p:cNvPr id="4" name="预测目标">
            <a:extLst>
              <a:ext uri="{FF2B5EF4-FFF2-40B4-BE49-F238E27FC236}">
                <a16:creationId xmlns:a16="http://schemas.microsoft.com/office/drawing/2014/main" id="{63AA301B-9454-4904-8502-672BA76B0B08}"/>
              </a:ext>
            </a:extLst>
          </p:cNvPr>
          <p:cNvSpPr>
            <a:spLocks noGrp="1"/>
          </p:cNvSpPr>
          <p:nvPr/>
        </p:nvSpPr>
        <p:spPr>
          <a:xfrm>
            <a:off x="609600" y="1666875"/>
            <a:ext cx="5219700" cy="400050"/>
          </a:xfrm>
          <a:prstGeom prst="rect">
            <a:avLst/>
          </a:prstGeom>
          <a:noFill/>
          <a:ln w="0">
            <a:noFill/>
          </a:ln>
        </p:spPr>
        <p:txBody>
          <a:bodyPr wrap="none" lIns="0" tIns="0" rIns="0" bIns="0" anchor="t">
            <a:noAutofit/>
          </a:bodyPr>
          <a:lstStyle>
            <a:defPPr>
              <a:defRPr sz="2175" b="1">
                <a:solidFill>
                  <a:srgbClr val="356DA7"/>
                </a:solidFill>
                <a:latin typeface="Noto Sans CJK SC"/>
                <a:ea typeface="Noto Sans CJK SC"/>
                <a:cs typeface="Noto Sans CJK SC"/>
              </a:defRPr>
            </a:defPPr>
          </a:lstStyle>
          <a:p>
            <a:pPr>
              <a:defRPr sz="2175" b="1">
                <a:solidFill>
                  <a:srgbClr val="356DA7"/>
                </a:solidFill>
                <a:latin typeface="Noto Sans CJK SC"/>
                <a:ea typeface="Noto Sans CJK SC"/>
                <a:cs typeface="Noto Sans CJK SC"/>
              </a:defRPr>
            </a:pPr>
            <a:r>
              <a:rPr sz="2175" b="1" dirty="0" err="1">
                <a:solidFill>
                  <a:srgbClr val="356DA7"/>
                </a:solidFill>
                <a:latin typeface="Noto Sans CJK SC"/>
                <a:ea typeface="Noto Sans CJK SC"/>
                <a:cs typeface="Noto Sans CJK SC"/>
              </a:rPr>
              <a:t>预测目标</a:t>
            </a:r>
            <a:r>
              <a:rPr lang="zh-CN" altLang="en-US" sz="2175" b="1" dirty="0">
                <a:solidFill>
                  <a:srgbClr val="356DA7"/>
                </a:solidFill>
                <a:latin typeface="Noto Sans CJK SC"/>
                <a:ea typeface="Noto Sans CJK SC"/>
                <a:cs typeface="Noto Sans CJK SC"/>
              </a:rPr>
              <a:t>对比</a:t>
            </a:r>
            <a:endParaRPr sz="2175" b="1" dirty="0">
              <a:solidFill>
                <a:srgbClr val="356DA7"/>
              </a:solidFill>
              <a:latin typeface="Noto Sans CJK SC"/>
              <a:ea typeface="Noto Sans CJK SC"/>
              <a:cs typeface="Noto Sans CJK SC"/>
            </a:endParaRPr>
          </a:p>
        </p:txBody>
      </p:sp>
      <p:sp>
        <p:nvSpPr>
          <p:cNvPr id="5" name="量化方法">
            <a:extLst>
              <a:ext uri="{FF2B5EF4-FFF2-40B4-BE49-F238E27FC236}">
                <a16:creationId xmlns:a16="http://schemas.microsoft.com/office/drawing/2014/main" id="{BF0B6E60-2982-47FA-B911-C25E71C51E7D}"/>
              </a:ext>
            </a:extLst>
          </p:cNvPr>
          <p:cNvSpPr>
            <a:spLocks noGrp="1"/>
          </p:cNvSpPr>
          <p:nvPr/>
        </p:nvSpPr>
        <p:spPr>
          <a:xfrm>
            <a:off x="6343650" y="1666875"/>
            <a:ext cx="5219700" cy="400050"/>
          </a:xfrm>
          <a:prstGeom prst="rect">
            <a:avLst/>
          </a:prstGeom>
          <a:noFill/>
          <a:ln w="0">
            <a:noFill/>
          </a:ln>
        </p:spPr>
        <p:txBody>
          <a:bodyPr wrap="none" lIns="0" tIns="0" rIns="0" bIns="0" anchor="t">
            <a:noAutofit/>
          </a:bodyPr>
          <a:lstStyle>
            <a:defPPr>
              <a:defRPr sz="2175" b="1">
                <a:solidFill>
                  <a:srgbClr val="168F85"/>
                </a:solidFill>
                <a:latin typeface="Noto Sans CJK SC"/>
                <a:ea typeface="Noto Sans CJK SC"/>
                <a:cs typeface="Noto Sans CJK SC"/>
              </a:defRPr>
            </a:defPPr>
          </a:lstStyle>
          <a:p>
            <a:pPr>
              <a:defRPr sz="2175" b="1">
                <a:solidFill>
                  <a:srgbClr val="168F85"/>
                </a:solidFill>
                <a:latin typeface="Noto Sans CJK SC"/>
                <a:ea typeface="Noto Sans CJK SC"/>
                <a:cs typeface="Noto Sans CJK SC"/>
              </a:defRPr>
            </a:pPr>
            <a:r>
              <a:rPr lang="zh-CN" altLang="en-US" sz="2175" b="1" dirty="0">
                <a:solidFill>
                  <a:srgbClr val="168F85"/>
                </a:solidFill>
                <a:latin typeface="Noto Sans CJK SC"/>
                <a:ea typeface="Noto Sans CJK SC"/>
                <a:cs typeface="Noto Sans CJK SC"/>
              </a:rPr>
              <a:t>不同</a:t>
            </a:r>
            <a:r>
              <a:rPr sz="2175" b="1" dirty="0" err="1">
                <a:solidFill>
                  <a:srgbClr val="168F85"/>
                </a:solidFill>
                <a:latin typeface="Noto Sans CJK SC"/>
                <a:ea typeface="Noto Sans CJK SC"/>
                <a:cs typeface="Noto Sans CJK SC"/>
              </a:rPr>
              <a:t>量化方法</a:t>
            </a:r>
            <a:r>
              <a:rPr lang="zh-CN" altLang="en-US" sz="2175" b="1" dirty="0">
                <a:solidFill>
                  <a:srgbClr val="168F85"/>
                </a:solidFill>
                <a:latin typeface="Noto Sans CJK SC"/>
                <a:ea typeface="Noto Sans CJK SC"/>
                <a:cs typeface="Noto Sans CJK SC"/>
              </a:rPr>
              <a:t>对比</a:t>
            </a:r>
            <a:endParaRPr sz="2175" b="1" dirty="0">
              <a:solidFill>
                <a:srgbClr val="168F85"/>
              </a:solidFill>
              <a:latin typeface="Noto Sans CJK SC"/>
              <a:ea typeface="Noto Sans CJK SC"/>
              <a:cs typeface="Noto Sans CJK SC"/>
            </a:endParaRPr>
          </a:p>
        </p:txBody>
      </p:sp>
      <p:pic>
        <p:nvPicPr>
          <p:cNvPr id="6" name="图片 5">
            <a:extLst>
              <a:ext uri="{FF2B5EF4-FFF2-40B4-BE49-F238E27FC236}">
                <a16:creationId xmlns:a16="http://schemas.microsoft.com/office/drawing/2014/main" id="{FE781FFE-A075-45DC-85A4-905DFDBAD689}"/>
              </a:ext>
            </a:extLst>
          </p:cNvPr>
          <p:cNvPicPr>
            <a:picLocks noChangeAspect="1"/>
          </p:cNvPicPr>
          <p:nvPr/>
        </p:nvPicPr>
        <p:blipFill>
          <a:blip r:embed="rId3"/>
          <a:stretch/>
        </p:blipFill>
        <p:spPr>
          <a:xfrm>
            <a:off x="609600" y="2327352"/>
            <a:ext cx="5219700" cy="1241270"/>
          </a:xfrm>
          <a:prstGeom prst="rect">
            <a:avLst/>
          </a:prstGeom>
        </p:spPr>
      </p:pic>
      <p:pic>
        <p:nvPicPr>
          <p:cNvPr id="7" name="图片 6">
            <a:extLst>
              <a:ext uri="{FF2B5EF4-FFF2-40B4-BE49-F238E27FC236}">
                <a16:creationId xmlns:a16="http://schemas.microsoft.com/office/drawing/2014/main" id="{0E1CEEB2-402C-4BE8-98F4-757EE94D57BE}"/>
              </a:ext>
            </a:extLst>
          </p:cNvPr>
          <p:cNvPicPr>
            <a:picLocks noChangeAspect="1"/>
          </p:cNvPicPr>
          <p:nvPr/>
        </p:nvPicPr>
        <p:blipFill>
          <a:blip r:embed="rId4"/>
          <a:stretch/>
        </p:blipFill>
        <p:spPr>
          <a:xfrm>
            <a:off x="6362702" y="2327352"/>
            <a:ext cx="5039887" cy="1924320"/>
          </a:xfrm>
          <a:prstGeom prst="rect">
            <a:avLst/>
          </a:prstGeom>
        </p:spPr>
      </p:pic>
      <p:sp>
        <p:nvSpPr>
          <p:cNvPr id="8" name="预测变化的结果更好。不过，这组实验&#10;同时改变了表示空间和预测目标，无法&#10;单独判断">
            <a:extLst>
              <a:ext uri="{FF2B5EF4-FFF2-40B4-BE49-F238E27FC236}">
                <a16:creationId xmlns:a16="http://schemas.microsoft.com/office/drawing/2014/main" id="{9416DA93-C8D7-4906-8409-549818E11DAB}"/>
              </a:ext>
            </a:extLst>
          </p:cNvPr>
          <p:cNvSpPr>
            <a:spLocks noGrp="1"/>
          </p:cNvSpPr>
          <p:nvPr/>
        </p:nvSpPr>
        <p:spPr>
          <a:xfrm>
            <a:off x="609600" y="4714875"/>
            <a:ext cx="5219700" cy="1381125"/>
          </a:xfrm>
          <a:prstGeom prst="rect">
            <a:avLst/>
          </a:prstGeom>
          <a:noFill/>
          <a:ln w="0">
            <a:noFill/>
          </a:ln>
        </p:spPr>
        <p:txBody>
          <a:bodyPr wrap="none" lIns="0" tIns="0" rIns="0" bIns="0" anchor="t">
            <a:noAutofit/>
          </a:bodyPr>
          <a:lstStyle>
            <a:defPPr>
              <a:defRPr sz="1875" b="0">
                <a:solidFill>
                  <a:srgbClr val="19263E"/>
                </a:solidFill>
                <a:latin typeface="Noto Sans CJK SC"/>
                <a:ea typeface="Noto Sans CJK SC"/>
                <a:cs typeface="Noto Sans CJK SC"/>
              </a:defRPr>
            </a:defPPr>
          </a:lstStyle>
          <a:p>
            <a:pPr>
              <a:defRPr sz="1875" b="0">
                <a:solidFill>
                  <a:srgbClr val="19263E"/>
                </a:solidFill>
                <a:latin typeface="Noto Sans CJK SC"/>
                <a:ea typeface="Noto Sans CJK SC"/>
                <a:cs typeface="Noto Sans CJK SC"/>
              </a:defRPr>
            </a:pPr>
            <a:r>
              <a:rPr sz="1875" b="0" dirty="0" err="1">
                <a:solidFill>
                  <a:srgbClr val="19263E"/>
                </a:solidFill>
                <a:latin typeface="Noto Sans CJK SC"/>
                <a:ea typeface="Noto Sans CJK SC"/>
                <a:cs typeface="Noto Sans CJK SC"/>
              </a:rPr>
              <a:t>预测变化的结果</a:t>
            </a:r>
            <a:r>
              <a:rPr lang="en-US" sz="1875" b="0" dirty="0" err="1">
                <a:solidFill>
                  <a:srgbClr val="19263E"/>
                </a:solidFill>
                <a:latin typeface="Noto Sans CJK SC"/>
                <a:ea typeface="Noto Sans CJK SC"/>
                <a:cs typeface="Noto Sans CJK SC"/>
              </a:rPr>
              <a:t>优于预测完整影像</a:t>
            </a:r>
            <a:r>
              <a:rPr lang="zh-CN" altLang="en-US" sz="1875" b="0" dirty="0">
                <a:solidFill>
                  <a:srgbClr val="19263E"/>
                </a:solidFill>
                <a:latin typeface="Noto Sans CJK SC"/>
                <a:ea typeface="Noto Sans CJK SC"/>
                <a:cs typeface="Noto Sans CJK SC"/>
              </a:rPr>
              <a:t>（像素空间）</a:t>
            </a:r>
            <a:endParaRPr sz="1875" b="0" dirty="0">
              <a:solidFill>
                <a:srgbClr val="19263E"/>
              </a:solidFill>
              <a:latin typeface="Noto Sans CJK SC"/>
              <a:ea typeface="Noto Sans CJK SC"/>
              <a:cs typeface="Noto Sans CJK SC"/>
            </a:endParaRPr>
          </a:p>
        </p:txBody>
      </p:sp>
      <p:sp>
        <p:nvSpPr>
          <p:cNvPr id="9" name="FSQ 的临床分类指标最好，&#10;但 Diff-SSIM 略低于 VQ 和 LFQ。">
            <a:extLst>
              <a:ext uri="{FF2B5EF4-FFF2-40B4-BE49-F238E27FC236}">
                <a16:creationId xmlns:a16="http://schemas.microsoft.com/office/drawing/2014/main" id="{E56D3A78-5C5C-476F-BC98-104B602746D1}"/>
              </a:ext>
            </a:extLst>
          </p:cNvPr>
          <p:cNvSpPr>
            <a:spLocks noGrp="1"/>
          </p:cNvSpPr>
          <p:nvPr/>
        </p:nvSpPr>
        <p:spPr>
          <a:xfrm>
            <a:off x="6441685" y="4667250"/>
            <a:ext cx="5219700" cy="1047750"/>
          </a:xfrm>
          <a:prstGeom prst="rect">
            <a:avLst/>
          </a:prstGeom>
          <a:noFill/>
          <a:ln w="0">
            <a:noFill/>
          </a:ln>
        </p:spPr>
        <p:txBody>
          <a:bodyPr wrap="none" lIns="0" tIns="0" rIns="0" bIns="0" anchor="t">
            <a:noAutofit/>
          </a:bodyPr>
          <a:lstStyle>
            <a:defPPr>
              <a:defRPr sz="1875" b="0">
                <a:solidFill>
                  <a:srgbClr val="19263E"/>
                </a:solidFill>
                <a:latin typeface="Noto Sans CJK SC"/>
                <a:ea typeface="Noto Sans CJK SC"/>
                <a:cs typeface="Noto Sans CJK SC"/>
              </a:defRPr>
            </a:defPPr>
          </a:lstStyle>
          <a:p>
            <a:pPr>
              <a:defRPr sz="1875" b="0">
                <a:solidFill>
                  <a:srgbClr val="19263E"/>
                </a:solidFill>
                <a:latin typeface="Noto Sans CJK SC"/>
                <a:ea typeface="Noto Sans CJK SC"/>
                <a:cs typeface="Noto Sans CJK SC"/>
              </a:defRPr>
            </a:pPr>
            <a:r>
              <a:rPr sz="1875" b="0" dirty="0">
                <a:solidFill>
                  <a:srgbClr val="19263E"/>
                </a:solidFill>
                <a:latin typeface="Noto Sans CJK SC"/>
                <a:ea typeface="Noto Sans CJK SC"/>
                <a:cs typeface="Noto Sans CJK SC"/>
              </a:rPr>
              <a:t>FSQ </a:t>
            </a:r>
            <a:r>
              <a:rPr sz="1875" b="0" dirty="0" err="1">
                <a:solidFill>
                  <a:srgbClr val="19263E"/>
                </a:solidFill>
                <a:latin typeface="Noto Sans CJK SC"/>
                <a:ea typeface="Noto Sans CJK SC"/>
                <a:cs typeface="Noto Sans CJK SC"/>
              </a:rPr>
              <a:t>的临床分类指标最好</a:t>
            </a:r>
            <a:r>
              <a:rPr sz="1875" b="0" dirty="0">
                <a:solidFill>
                  <a:srgbClr val="19263E"/>
                </a:solidFill>
                <a:latin typeface="Noto Sans CJK SC"/>
                <a:ea typeface="Noto Sans CJK SC"/>
                <a:cs typeface="Noto Sans CJK SC"/>
              </a:rPr>
              <a:t>，</a:t>
            </a:r>
          </a:p>
          <a:p>
            <a:pPr>
              <a:defRPr sz="1875" b="0">
                <a:solidFill>
                  <a:srgbClr val="19263E"/>
                </a:solidFill>
                <a:latin typeface="Noto Sans CJK SC"/>
                <a:ea typeface="Noto Sans CJK SC"/>
                <a:cs typeface="Noto Sans CJK SC"/>
              </a:defRPr>
            </a:pPr>
            <a:r>
              <a:rPr sz="1875" b="0" dirty="0" err="1">
                <a:solidFill>
                  <a:srgbClr val="19263E"/>
                </a:solidFill>
                <a:latin typeface="Noto Sans CJK SC"/>
                <a:ea typeface="Noto Sans CJK SC"/>
                <a:cs typeface="Noto Sans CJK SC"/>
              </a:rPr>
              <a:t>但</a:t>
            </a:r>
            <a:r>
              <a:rPr sz="1875" b="0" dirty="0">
                <a:solidFill>
                  <a:srgbClr val="19263E"/>
                </a:solidFill>
                <a:latin typeface="Noto Sans CJK SC"/>
                <a:ea typeface="Noto Sans CJK SC"/>
                <a:cs typeface="Noto Sans CJK SC"/>
              </a:rPr>
              <a:t> Diff-SSIM </a:t>
            </a:r>
            <a:r>
              <a:rPr sz="1875" b="0" dirty="0" err="1">
                <a:solidFill>
                  <a:srgbClr val="19263E"/>
                </a:solidFill>
                <a:latin typeface="Noto Sans CJK SC"/>
                <a:ea typeface="Noto Sans CJK SC"/>
                <a:cs typeface="Noto Sans CJK SC"/>
              </a:rPr>
              <a:t>略低于</a:t>
            </a:r>
            <a:r>
              <a:rPr sz="1875" b="0" dirty="0">
                <a:solidFill>
                  <a:srgbClr val="19263E"/>
                </a:solidFill>
                <a:latin typeface="Noto Sans CJK SC"/>
                <a:ea typeface="Noto Sans CJK SC"/>
                <a:cs typeface="Noto Sans CJK SC"/>
              </a:rPr>
              <a:t> VQ </a:t>
            </a:r>
            <a:r>
              <a:rPr sz="1875" b="0" dirty="0" err="1">
                <a:solidFill>
                  <a:srgbClr val="19263E"/>
                </a:solidFill>
                <a:latin typeface="Noto Sans CJK SC"/>
                <a:ea typeface="Noto Sans CJK SC"/>
                <a:cs typeface="Noto Sans CJK SC"/>
              </a:rPr>
              <a:t>和</a:t>
            </a:r>
            <a:r>
              <a:rPr sz="1875" b="0" dirty="0">
                <a:solidFill>
                  <a:srgbClr val="19263E"/>
                </a:solidFill>
                <a:latin typeface="Noto Sans CJK SC"/>
                <a:ea typeface="Noto Sans CJK SC"/>
                <a:cs typeface="Noto Sans CJK SC"/>
              </a:rPr>
              <a:t> LFQ</a:t>
            </a:r>
          </a:p>
        </p:txBody>
      </p:sp>
      <p:sp>
        <p:nvSpPr>
          <p:cNvPr id="11" name="文本框 10">
            <a:extLst>
              <a:ext uri="{FF2B5EF4-FFF2-40B4-BE49-F238E27FC236}">
                <a16:creationId xmlns:a16="http://schemas.microsoft.com/office/drawing/2014/main" id="{A01EEBD4-601C-E5A8-9233-0241D46C4F5A}"/>
              </a:ext>
            </a:extLst>
          </p:cNvPr>
          <p:cNvSpPr txBox="1"/>
          <p:nvPr/>
        </p:nvSpPr>
        <p:spPr>
          <a:xfrm>
            <a:off x="530615" y="5238750"/>
            <a:ext cx="4966936" cy="669414"/>
          </a:xfrm>
          <a:prstGeom prst="rect">
            <a:avLst/>
          </a:prstGeom>
          <a:noFill/>
        </p:spPr>
        <p:txBody>
          <a:bodyPr wrap="square">
            <a:spAutoFit/>
          </a:bodyPr>
          <a:lstStyle/>
          <a:p>
            <a:pPr>
              <a:defRPr sz="1875" b="0">
                <a:solidFill>
                  <a:srgbClr val="19263E"/>
                </a:solidFill>
                <a:latin typeface="Noto Sans CJK SC"/>
                <a:ea typeface="Noto Sans CJK SC"/>
                <a:cs typeface="Noto Sans CJK SC"/>
              </a:defRPr>
            </a:pPr>
            <a:r>
              <a:rPr lang="zh-CN" altLang="en-US" b="0" dirty="0">
                <a:solidFill>
                  <a:srgbClr val="19263E"/>
                </a:solidFill>
                <a:latin typeface="Noto Sans CJK SC"/>
                <a:ea typeface="Noto Sans CJK SC"/>
                <a:cs typeface="Noto Sans CJK SC"/>
              </a:rPr>
              <a:t>同时改变了表示空间和预测目标，无法单独判断“做差”带来了多少提升</a:t>
            </a:r>
            <a:endParaRPr lang="zh-CN" altLang="en-US" dirty="0"/>
          </a:p>
        </p:txBody>
      </p:sp>
    </p:spTree>
    <p:extLst>
      <p:ext uri="{BB962C8B-B14F-4D97-AF65-F5344CB8AC3E}">
        <p14:creationId xmlns:p14="http://schemas.microsoft.com/office/powerpoint/2010/main" val="596211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8">
            <a:extLst>
              <a:ext uri="{FF2B5EF4-FFF2-40B4-BE49-F238E27FC236}">
                <a16:creationId xmlns:a16="http://schemas.microsoft.com/office/drawing/2014/main" id="{8550B24D-717F-4FA5-8810-D2F88DB3A8AF}"/>
              </a:ext>
            </a:extLst>
          </p:cNvPr>
          <p:cNvSpPr>
            <a:spLocks noGrp="1"/>
          </p:cNvSpPr>
          <p:nvPr/>
        </p:nvSpPr>
        <p:spPr>
          <a:xfrm>
            <a:off x="11077575" y="238125"/>
            <a:ext cx="514350" cy="285750"/>
          </a:xfrm>
          <a:prstGeom prst="rect">
            <a:avLst/>
          </a:prstGeom>
          <a:noFill/>
          <a:ln w="0">
            <a:noFill/>
          </a:ln>
        </p:spPr>
        <p:txBody>
          <a:bodyPr wrap="none" lIns="0" tIns="0" rIns="0" bIns="0" anchor="t">
            <a:noAutofit/>
          </a:bodyPr>
          <a:lstStyle>
            <a:defPPr algn="l">
              <a:defRPr sz="1200" b="0">
                <a:solidFill>
                  <a:srgbClr val="68758A"/>
                </a:solidFill>
                <a:latin typeface="Noto Sans CJK SC"/>
                <a:ea typeface="Noto Sans CJK SC"/>
                <a:cs typeface="Noto Sans CJK SC"/>
              </a:defRPr>
            </a:defPPr>
          </a:lstStyle>
          <a:p>
            <a:pPr algn="l">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16</a:t>
            </a:r>
          </a:p>
        </p:txBody>
      </p:sp>
      <p:sp>
        <p:nvSpPr>
          <p:cNvPr id="3" name="结论与方法边界">
            <a:extLst>
              <a:ext uri="{FF2B5EF4-FFF2-40B4-BE49-F238E27FC236}">
                <a16:creationId xmlns:a16="http://schemas.microsoft.com/office/drawing/2014/main" id="{218A788F-376E-4064-A9D7-05CF125EBB25}"/>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lang="zh-CN" altLang="en-US" sz="2925" b="1" dirty="0">
                <a:solidFill>
                  <a:srgbClr val="19263E"/>
                </a:solidFill>
                <a:latin typeface="Noto Sans CJK SC"/>
                <a:ea typeface="Noto Sans CJK SC"/>
                <a:cs typeface="Noto Sans CJK SC"/>
              </a:rPr>
              <a:t>总结</a:t>
            </a:r>
            <a:endParaRPr sz="2925" b="1" dirty="0">
              <a:solidFill>
                <a:srgbClr val="19263E"/>
              </a:solidFill>
              <a:latin typeface="Noto Sans CJK SC"/>
              <a:ea typeface="Noto Sans CJK SC"/>
              <a:cs typeface="Noto Sans CJK SC"/>
            </a:endParaRPr>
          </a:p>
        </p:txBody>
      </p:sp>
      <p:sp>
        <p:nvSpPr>
          <p:cNvPr id="5" name="方法贡献">
            <a:extLst>
              <a:ext uri="{FF2B5EF4-FFF2-40B4-BE49-F238E27FC236}">
                <a16:creationId xmlns:a16="http://schemas.microsoft.com/office/drawing/2014/main" id="{81FD19B6-1792-435F-A9A7-433EFFD428DD}"/>
              </a:ext>
            </a:extLst>
          </p:cNvPr>
          <p:cNvSpPr>
            <a:spLocks noGrp="1"/>
          </p:cNvSpPr>
          <p:nvPr/>
        </p:nvSpPr>
        <p:spPr>
          <a:xfrm>
            <a:off x="609600" y="1647825"/>
            <a:ext cx="10858500" cy="342900"/>
          </a:xfrm>
          <a:prstGeom prst="rect">
            <a:avLst/>
          </a:prstGeom>
          <a:noFill/>
          <a:ln w="0">
            <a:noFill/>
          </a:ln>
        </p:spPr>
        <p:txBody>
          <a:bodyPr wrap="none" lIns="0" tIns="0" rIns="0" bIns="0" anchor="t">
            <a:noAutofit/>
          </a:bodyPr>
          <a:lstStyle>
            <a:defPPr algn="l">
              <a:defRPr sz="1950" b="1">
                <a:solidFill>
                  <a:srgbClr val="356DA7"/>
                </a:solidFill>
                <a:latin typeface="Noto Sans CJK SC"/>
                <a:ea typeface="Noto Sans CJK SC"/>
                <a:cs typeface="Noto Sans CJK SC"/>
              </a:defRPr>
            </a:defPPr>
          </a:lstStyle>
          <a:p>
            <a:pPr algn="l">
              <a:buNone/>
              <a:defRPr sz="1950" b="1">
                <a:solidFill>
                  <a:srgbClr val="356DA7"/>
                </a:solidFill>
                <a:latin typeface="Noto Sans CJK SC"/>
                <a:ea typeface="Noto Sans CJK SC"/>
                <a:cs typeface="Noto Sans CJK SC"/>
              </a:defRPr>
            </a:pPr>
            <a:r>
              <a:rPr sz="1950" b="1">
                <a:solidFill>
                  <a:srgbClr val="356DA7"/>
                </a:solidFill>
                <a:latin typeface="Noto Sans CJK SC"/>
                <a:ea typeface="Noto Sans CJK SC"/>
                <a:cs typeface="Noto Sans CJK SC"/>
              </a:rPr>
              <a:t>方法</a:t>
            </a:r>
          </a:p>
        </p:txBody>
      </p:sp>
      <p:sp>
        <p:nvSpPr>
          <p:cNvPr id="6" name="通过当前结构通路与离散变化通路分工，先学习变化表示，再训练条件预测器。">
            <a:extLst>
              <a:ext uri="{FF2B5EF4-FFF2-40B4-BE49-F238E27FC236}">
                <a16:creationId xmlns:a16="http://schemas.microsoft.com/office/drawing/2014/main" id="{B0BB16C3-DF6B-4579-A6C8-A577162718D2}"/>
              </a:ext>
            </a:extLst>
          </p:cNvPr>
          <p:cNvSpPr>
            <a:spLocks noGrp="1"/>
          </p:cNvSpPr>
          <p:nvPr/>
        </p:nvSpPr>
        <p:spPr>
          <a:xfrm>
            <a:off x="609600" y="2057400"/>
            <a:ext cx="10858500" cy="742950"/>
          </a:xfrm>
          <a:prstGeom prst="rect">
            <a:avLst/>
          </a:prstGeom>
          <a:noFill/>
          <a:ln w="0">
            <a:noFill/>
          </a:ln>
        </p:spPr>
        <p:txBody>
          <a:bodyPr wrap="none" lIns="0" tIns="0" rIns="0" bIns="0" anchor="t">
            <a:noAutofit/>
          </a:bodyPr>
          <a:lstStyle>
            <a:defPPr algn="l">
              <a:defRPr sz="1875" b="0">
                <a:solidFill>
                  <a:srgbClr val="19263E"/>
                </a:solidFill>
                <a:latin typeface="Noto Sans CJK SC"/>
                <a:ea typeface="Noto Sans CJK SC"/>
                <a:cs typeface="Noto Sans CJK SC"/>
              </a:defRPr>
            </a:defPPr>
          </a:lstStyle>
          <a:p>
            <a:pPr algn="l">
              <a:buNone/>
              <a:defRPr sz="1875" b="0">
                <a:solidFill>
                  <a:srgbClr val="19263E"/>
                </a:solidFill>
                <a:latin typeface="Noto Sans CJK SC"/>
                <a:ea typeface="Noto Sans CJK SC"/>
                <a:cs typeface="Noto Sans CJK SC"/>
              </a:defRPr>
            </a:pPr>
            <a:r>
              <a:rPr sz="1875" b="0">
                <a:solidFill>
                  <a:srgbClr val="19263E"/>
                </a:solidFill>
                <a:latin typeface="Noto Sans CJK SC"/>
                <a:ea typeface="Noto Sans CJK SC"/>
                <a:cs typeface="Noto Sans CJK SC"/>
              </a:rPr>
              <a:t>模型保留当前影像的结构，另用离散 token 表示前后变化。先训练变化表示，再训练预测器。</a:t>
            </a:r>
          </a:p>
        </p:txBody>
      </p:sp>
      <p:sp>
        <p:nvSpPr>
          <p:cNvPr id="7" name="实验支持">
            <a:extLst>
              <a:ext uri="{FF2B5EF4-FFF2-40B4-BE49-F238E27FC236}">
                <a16:creationId xmlns:a16="http://schemas.microsoft.com/office/drawing/2014/main" id="{C8D4508F-1911-476D-A9E6-45AE76F0D961}"/>
              </a:ext>
            </a:extLst>
          </p:cNvPr>
          <p:cNvSpPr>
            <a:spLocks noGrp="1"/>
          </p:cNvSpPr>
          <p:nvPr/>
        </p:nvSpPr>
        <p:spPr>
          <a:xfrm>
            <a:off x="609600" y="2667000"/>
            <a:ext cx="10858500" cy="342900"/>
          </a:xfrm>
          <a:prstGeom prst="rect">
            <a:avLst/>
          </a:prstGeom>
          <a:noFill/>
          <a:ln w="0">
            <a:noFill/>
          </a:ln>
        </p:spPr>
        <p:txBody>
          <a:bodyPr wrap="none" lIns="0" tIns="0" rIns="0" bIns="0" anchor="t">
            <a:noAutofit/>
          </a:bodyPr>
          <a:lstStyle>
            <a:defPPr algn="l">
              <a:defRPr sz="1950" b="1">
                <a:solidFill>
                  <a:srgbClr val="168F85"/>
                </a:solidFill>
                <a:latin typeface="Noto Sans CJK SC"/>
                <a:ea typeface="Noto Sans CJK SC"/>
                <a:cs typeface="Noto Sans CJK SC"/>
              </a:defRPr>
            </a:defPPr>
          </a:lstStyle>
          <a:p>
            <a:pPr algn="l">
              <a:buNone/>
              <a:defRPr sz="1950" b="1">
                <a:solidFill>
                  <a:srgbClr val="168F85"/>
                </a:solidFill>
                <a:latin typeface="Noto Sans CJK SC"/>
                <a:ea typeface="Noto Sans CJK SC"/>
                <a:cs typeface="Noto Sans CJK SC"/>
              </a:defRPr>
            </a:pPr>
            <a:r>
              <a:rPr sz="1950" b="1" dirty="0" err="1">
                <a:solidFill>
                  <a:srgbClr val="168F85"/>
                </a:solidFill>
                <a:latin typeface="Noto Sans CJK SC"/>
                <a:ea typeface="Noto Sans CJK SC"/>
                <a:cs typeface="Noto Sans CJK SC"/>
              </a:rPr>
              <a:t>实验结果</a:t>
            </a:r>
            <a:endParaRPr sz="1950" b="1" dirty="0">
              <a:solidFill>
                <a:srgbClr val="168F85"/>
              </a:solidFill>
              <a:latin typeface="Noto Sans CJK SC"/>
              <a:ea typeface="Noto Sans CJK SC"/>
              <a:cs typeface="Noto Sans CJK SC"/>
            </a:endParaRPr>
          </a:p>
        </p:txBody>
      </p:sp>
      <p:sp>
        <p:nvSpPr>
          <p:cNvPr id="8" name="在所测 ADNI / AIBL 设定下，变化一致性和临床分类指标优于表中多数基线">
            <a:extLst>
              <a:ext uri="{FF2B5EF4-FFF2-40B4-BE49-F238E27FC236}">
                <a16:creationId xmlns:a16="http://schemas.microsoft.com/office/drawing/2014/main" id="{0A143F83-8EA2-4D36-BA05-8A9303C087EB}"/>
              </a:ext>
            </a:extLst>
          </p:cNvPr>
          <p:cNvSpPr>
            <a:spLocks noGrp="1"/>
          </p:cNvSpPr>
          <p:nvPr/>
        </p:nvSpPr>
        <p:spPr>
          <a:xfrm>
            <a:off x="609600" y="3076575"/>
            <a:ext cx="10858500" cy="742950"/>
          </a:xfrm>
          <a:prstGeom prst="rect">
            <a:avLst/>
          </a:prstGeom>
          <a:noFill/>
          <a:ln w="0">
            <a:noFill/>
          </a:ln>
        </p:spPr>
        <p:txBody>
          <a:bodyPr wrap="none" lIns="0" tIns="0" rIns="0" bIns="0" anchor="t">
            <a:noAutofit/>
          </a:bodyPr>
          <a:lstStyle>
            <a:defPPr algn="l">
              <a:defRPr sz="1875" b="0">
                <a:solidFill>
                  <a:srgbClr val="19263E"/>
                </a:solidFill>
                <a:latin typeface="Noto Sans CJK SC"/>
                <a:ea typeface="Noto Sans CJK SC"/>
                <a:cs typeface="Noto Sans CJK SC"/>
              </a:defRPr>
            </a:defPPr>
          </a:lstStyle>
          <a:p>
            <a:pPr algn="l">
              <a:buNone/>
              <a:defRPr sz="1875" b="0">
                <a:solidFill>
                  <a:srgbClr val="19263E"/>
                </a:solidFill>
                <a:latin typeface="Noto Sans CJK SC"/>
                <a:ea typeface="Noto Sans CJK SC"/>
                <a:cs typeface="Noto Sans CJK SC"/>
              </a:defRPr>
            </a:pPr>
            <a:r>
              <a:rPr sz="1875" b="0" dirty="0" err="1">
                <a:solidFill>
                  <a:srgbClr val="19263E"/>
                </a:solidFill>
                <a:latin typeface="Noto Sans CJK SC"/>
                <a:ea typeface="Noto Sans CJK SC"/>
                <a:cs typeface="Noto Sans CJK SC"/>
              </a:rPr>
              <a:t>在</a:t>
            </a:r>
            <a:r>
              <a:rPr sz="1875" b="0" dirty="0">
                <a:solidFill>
                  <a:srgbClr val="19263E"/>
                </a:solidFill>
                <a:latin typeface="Noto Sans CJK SC"/>
                <a:ea typeface="Noto Sans CJK SC"/>
                <a:cs typeface="Noto Sans CJK SC"/>
              </a:rPr>
              <a:t> ADNI / AIBL </a:t>
            </a:r>
            <a:r>
              <a:rPr sz="1875" b="0" dirty="0" err="1">
                <a:solidFill>
                  <a:srgbClr val="19263E"/>
                </a:solidFill>
                <a:latin typeface="Noto Sans CJK SC"/>
                <a:ea typeface="Noto Sans CJK SC"/>
                <a:cs typeface="Noto Sans CJK SC"/>
              </a:rPr>
              <a:t>实验中，模型的变化一致性和临床分类指标优于多数</a:t>
            </a:r>
            <a:r>
              <a:rPr lang="zh-CN" altLang="en-US" sz="1875" b="0" dirty="0">
                <a:solidFill>
                  <a:srgbClr val="19263E"/>
                </a:solidFill>
                <a:latin typeface="Noto Sans CJK SC"/>
                <a:ea typeface="Noto Sans CJK SC"/>
                <a:cs typeface="Noto Sans CJK SC"/>
              </a:rPr>
              <a:t>生成</a:t>
            </a:r>
            <a:r>
              <a:rPr sz="1875" b="0" dirty="0" err="1">
                <a:solidFill>
                  <a:srgbClr val="19263E"/>
                </a:solidFill>
                <a:latin typeface="Noto Sans CJK SC"/>
                <a:ea typeface="Noto Sans CJK SC"/>
                <a:cs typeface="Noto Sans CJK SC"/>
              </a:rPr>
              <a:t>方法</a:t>
            </a:r>
            <a:r>
              <a:rPr sz="1875" b="0" dirty="0">
                <a:solidFill>
                  <a:srgbClr val="19263E"/>
                </a:solidFill>
                <a:latin typeface="Noto Sans CJK SC"/>
                <a:ea typeface="Noto Sans CJK SC"/>
                <a:cs typeface="Noto Sans CJK SC"/>
              </a:rPr>
              <a:t>。</a:t>
            </a:r>
          </a:p>
        </p:txBody>
      </p:sp>
      <p:sp>
        <p:nvSpPr>
          <p:cNvPr id="9" name="适用边界">
            <a:extLst>
              <a:ext uri="{FF2B5EF4-FFF2-40B4-BE49-F238E27FC236}">
                <a16:creationId xmlns:a16="http://schemas.microsoft.com/office/drawing/2014/main" id="{E2EF9F1E-70A2-46A6-AC91-EEDC9D35BD2C}"/>
              </a:ext>
            </a:extLst>
          </p:cNvPr>
          <p:cNvSpPr>
            <a:spLocks noGrp="1"/>
          </p:cNvSpPr>
          <p:nvPr/>
        </p:nvSpPr>
        <p:spPr>
          <a:xfrm>
            <a:off x="609600" y="3743325"/>
            <a:ext cx="10858500" cy="342900"/>
          </a:xfrm>
          <a:prstGeom prst="rect">
            <a:avLst/>
          </a:prstGeom>
          <a:noFill/>
          <a:ln w="0">
            <a:noFill/>
          </a:ln>
        </p:spPr>
        <p:txBody>
          <a:bodyPr wrap="none" lIns="0" tIns="0" rIns="0" bIns="0" anchor="t">
            <a:noAutofit/>
          </a:bodyPr>
          <a:lstStyle>
            <a:defPPr algn="l">
              <a:defRPr sz="1950" b="1">
                <a:solidFill>
                  <a:srgbClr val="B57815"/>
                </a:solidFill>
                <a:latin typeface="Noto Sans CJK SC"/>
                <a:ea typeface="Noto Sans CJK SC"/>
                <a:cs typeface="Noto Sans CJK SC"/>
              </a:defRPr>
            </a:defPPr>
          </a:lstStyle>
          <a:p>
            <a:pPr algn="l">
              <a:buNone/>
              <a:defRPr sz="1950" b="1">
                <a:solidFill>
                  <a:srgbClr val="B57815"/>
                </a:solidFill>
                <a:latin typeface="Noto Sans CJK SC"/>
                <a:ea typeface="Noto Sans CJK SC"/>
                <a:cs typeface="Noto Sans CJK SC"/>
              </a:defRPr>
            </a:pPr>
            <a:r>
              <a:rPr sz="1950" b="1" dirty="0" err="1">
                <a:solidFill>
                  <a:srgbClr val="B57815"/>
                </a:solidFill>
                <a:latin typeface="Noto Sans CJK SC"/>
                <a:ea typeface="Noto Sans CJK SC"/>
                <a:cs typeface="Noto Sans CJK SC"/>
              </a:rPr>
              <a:t>局限</a:t>
            </a:r>
            <a:r>
              <a:rPr lang="zh-CN" altLang="en-US" sz="1950" b="1" dirty="0">
                <a:solidFill>
                  <a:srgbClr val="B57815"/>
                </a:solidFill>
                <a:latin typeface="Noto Sans CJK SC"/>
                <a:ea typeface="Noto Sans CJK SC"/>
                <a:cs typeface="Noto Sans CJK SC"/>
              </a:rPr>
              <a:t>性</a:t>
            </a:r>
            <a:endParaRPr sz="1950" b="1" dirty="0">
              <a:solidFill>
                <a:srgbClr val="B57815"/>
              </a:solidFill>
              <a:latin typeface="Noto Sans CJK SC"/>
              <a:ea typeface="Noto Sans CJK SC"/>
              <a:cs typeface="Noto Sans CJK SC"/>
            </a:endParaRPr>
          </a:p>
        </p:txBody>
      </p:sp>
      <p:sp>
        <p:nvSpPr>
          <p:cNvPr id="10" name="单次当前影像条件、配准并降采样的脑 MRI。量化对慢性微小变化的保留依赖学到的表">
            <a:extLst>
              <a:ext uri="{FF2B5EF4-FFF2-40B4-BE49-F238E27FC236}">
                <a16:creationId xmlns:a16="http://schemas.microsoft.com/office/drawing/2014/main" id="{EFAB1DA7-AA98-47DC-8D29-1E3C933D2450}"/>
              </a:ext>
            </a:extLst>
          </p:cNvPr>
          <p:cNvSpPr>
            <a:spLocks noGrp="1"/>
          </p:cNvSpPr>
          <p:nvPr/>
        </p:nvSpPr>
        <p:spPr>
          <a:xfrm>
            <a:off x="609600" y="4152900"/>
            <a:ext cx="10858500" cy="866775"/>
          </a:xfrm>
          <a:prstGeom prst="rect">
            <a:avLst/>
          </a:prstGeom>
          <a:noFill/>
          <a:ln w="0">
            <a:noFill/>
          </a:ln>
        </p:spPr>
        <p:txBody>
          <a:bodyPr wrap="none" lIns="0" tIns="0" rIns="0" bIns="0" anchor="t">
            <a:noAutofit/>
          </a:bodyPr>
          <a:lstStyle>
            <a:defPPr algn="l">
              <a:defRPr sz="1875" b="0">
                <a:solidFill>
                  <a:srgbClr val="19263E"/>
                </a:solidFill>
                <a:latin typeface="Noto Sans CJK SC"/>
                <a:ea typeface="Noto Sans CJK SC"/>
                <a:cs typeface="Noto Sans CJK SC"/>
              </a:defRPr>
            </a:defPPr>
          </a:lstStyle>
          <a:p>
            <a:pPr>
              <a:defRPr sz="1875" b="0">
                <a:solidFill>
                  <a:srgbClr val="19263E"/>
                </a:solidFill>
                <a:latin typeface="Noto Sans CJK SC"/>
                <a:ea typeface="Noto Sans CJK SC"/>
                <a:cs typeface="Noto Sans CJK SC"/>
              </a:defRPr>
            </a:pPr>
            <a:endParaRPr sz="1875" b="0" dirty="0">
              <a:latin typeface="Noto Sans CJK SC"/>
              <a:ea typeface="Noto Sans CJK SC"/>
              <a:cs typeface="Noto Sans CJK SC"/>
            </a:endParaRPr>
          </a:p>
        </p:txBody>
      </p:sp>
      <p:sp>
        <p:nvSpPr>
          <p:cNvPr id="12" name="文本框 11">
            <a:extLst>
              <a:ext uri="{FF2B5EF4-FFF2-40B4-BE49-F238E27FC236}">
                <a16:creationId xmlns:a16="http://schemas.microsoft.com/office/drawing/2014/main" id="{B639B55F-8CAE-1239-F917-1ACE208707E4}"/>
              </a:ext>
            </a:extLst>
          </p:cNvPr>
          <p:cNvSpPr txBox="1"/>
          <p:nvPr/>
        </p:nvSpPr>
        <p:spPr>
          <a:xfrm>
            <a:off x="520390" y="4247277"/>
            <a:ext cx="10062118" cy="669414"/>
          </a:xfrm>
          <a:prstGeom prst="rect">
            <a:avLst/>
          </a:prstGeom>
          <a:noFill/>
        </p:spPr>
        <p:txBody>
          <a:bodyPr wrap="square">
            <a:spAutoFit/>
          </a:bodyPr>
          <a:lstStyle/>
          <a:p>
            <a:pPr>
              <a:defRPr sz="1875" b="0">
                <a:solidFill>
                  <a:srgbClr val="19263E"/>
                </a:solidFill>
                <a:latin typeface="Noto Sans CJK SC"/>
                <a:ea typeface="Noto Sans CJK SC"/>
                <a:cs typeface="Noto Sans CJK SC"/>
              </a:defRPr>
            </a:pPr>
            <a:r>
              <a:rPr lang="zh-CN" altLang="en-US" sz="1875" dirty="0">
                <a:solidFill>
                  <a:srgbClr val="19263E"/>
                </a:solidFill>
                <a:latin typeface="Noto Sans CJK SC"/>
              </a:rPr>
              <a:t>量化能否保留细微病变，依赖于噪声远小于病变的假设。为了重建真实未来影像，变化 </a:t>
            </a:r>
            <a:r>
              <a:rPr lang="en" altLang="zh-CN" sz="1875" dirty="0">
                <a:solidFill>
                  <a:srgbClr val="19263E"/>
                </a:solidFill>
                <a:latin typeface="Noto Sans CJK SC"/>
              </a:rPr>
              <a:t>token </a:t>
            </a:r>
            <a:r>
              <a:rPr lang="zh-CN" altLang="en-US" sz="1875" dirty="0">
                <a:solidFill>
                  <a:srgbClr val="19263E"/>
                </a:solidFill>
                <a:latin typeface="Noto Sans CJK SC"/>
              </a:rPr>
              <a:t>可能既保留病理信息，也保留残余位移和强度差异。现有结果不足以证明病理与噪声已被分离</a:t>
            </a:r>
          </a:p>
        </p:txBody>
      </p:sp>
    </p:spTree>
    <p:extLst>
      <p:ext uri="{BB962C8B-B14F-4D97-AF65-F5344CB8AC3E}">
        <p14:creationId xmlns:p14="http://schemas.microsoft.com/office/powerpoint/2010/main" val="144106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写作分析">
            <a:extLst>
              <a:ext uri="{FF2B5EF4-FFF2-40B4-BE49-F238E27FC236}">
                <a16:creationId xmlns:a16="http://schemas.microsoft.com/office/drawing/2014/main" id="{DF65DEED-9313-4696-8907-5B3D86AC77D0}"/>
              </a:ext>
            </a:extLst>
          </p:cNvPr>
          <p:cNvSpPr>
            <a:spLocks noGrp="1"/>
          </p:cNvSpPr>
          <p:nvPr/>
        </p:nvSpPr>
        <p:spPr>
          <a:xfrm>
            <a:off x="609600" y="238125"/>
            <a:ext cx="9715500" cy="285750"/>
          </a:xfrm>
          <a:prstGeom prst="rect">
            <a:avLst/>
          </a:prstGeom>
          <a:noFill/>
          <a:ln w="0">
            <a:noFill/>
          </a:ln>
        </p:spPr>
        <p:txBody>
          <a:bodyPr wrap="square" lIns="0" tIns="0" rIns="0" bIns="0" anchor="t">
            <a:noAutofit/>
          </a:bodyPr>
          <a:lstStyle>
            <a:defPPr>
              <a:defRPr sz="1200" b="1">
                <a:solidFill>
                  <a:srgbClr val="356DA7"/>
                </a:solidFill>
                <a:latin typeface="Noto Sans CJK SC"/>
                <a:ea typeface="Noto Sans CJK SC"/>
                <a:cs typeface="Noto Sans CJK SC"/>
              </a:defRPr>
            </a:defPPr>
          </a:lstStyle>
          <a:p>
            <a:pPr>
              <a:buNone/>
              <a:defRPr sz="1200" b="1">
                <a:solidFill>
                  <a:srgbClr val="356DA7"/>
                </a:solidFill>
                <a:latin typeface="Noto Sans CJK SC"/>
                <a:ea typeface="Noto Sans CJK SC"/>
                <a:cs typeface="Noto Sans CJK SC"/>
              </a:defRPr>
            </a:pPr>
            <a:r>
              <a:rPr sz="1200" b="1" dirty="0" err="1">
                <a:solidFill>
                  <a:srgbClr val="356DA7"/>
                </a:solidFill>
                <a:latin typeface="Noto Sans CJK SC"/>
                <a:ea typeface="Noto Sans CJK SC"/>
                <a:cs typeface="Noto Sans CJK SC"/>
              </a:rPr>
              <a:t>写作</a:t>
            </a:r>
            <a:endParaRPr sz="1200" b="1" dirty="0">
              <a:solidFill>
                <a:srgbClr val="356DA7"/>
              </a:solidFill>
              <a:latin typeface="Noto Sans CJK SC"/>
              <a:ea typeface="Noto Sans CJK SC"/>
              <a:cs typeface="Noto Sans CJK SC"/>
            </a:endParaRPr>
          </a:p>
        </p:txBody>
      </p:sp>
      <p:sp>
        <p:nvSpPr>
          <p:cNvPr id="2" name="20">
            <a:extLst>
              <a:ext uri="{FF2B5EF4-FFF2-40B4-BE49-F238E27FC236}">
                <a16:creationId xmlns:a16="http://schemas.microsoft.com/office/drawing/2014/main" id="{54B0A3EB-9D20-4CBB-A8C9-31B207029C43}"/>
              </a:ext>
            </a:extLst>
          </p:cNvPr>
          <p:cNvSpPr>
            <a:spLocks noGrp="1"/>
          </p:cNvSpPr>
          <p:nvPr/>
        </p:nvSpPr>
        <p:spPr>
          <a:xfrm>
            <a:off x="11077575" y="238125"/>
            <a:ext cx="514350" cy="285750"/>
          </a:xfrm>
          <a:prstGeom prst="rect">
            <a:avLst/>
          </a:prstGeom>
          <a:noFill/>
          <a:ln w="0">
            <a:noFill/>
          </a:ln>
        </p:spPr>
        <p:txBody>
          <a:bodyPr wrap="square" lIns="0" tIns="0" rIns="0" bIns="0" anchor="t">
            <a:noAutofit/>
          </a:bodyPr>
          <a:lstStyle>
            <a:defPPr>
              <a:defRPr sz="1200" b="0">
                <a:solidFill>
                  <a:srgbClr val="68758A"/>
                </a:solidFill>
                <a:latin typeface="Noto Sans CJK SC"/>
                <a:ea typeface="Noto Sans CJK SC"/>
                <a:cs typeface="Noto Sans CJK SC"/>
              </a:defRPr>
            </a:defPPr>
          </a:lstStyle>
          <a:p>
            <a:pPr>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20</a:t>
            </a:r>
          </a:p>
        </p:txBody>
      </p:sp>
      <p:sp>
        <p:nvSpPr>
          <p:cNvPr id="3" name="Abstract（1/2）：任务价值与失败模式">
            <a:extLst>
              <a:ext uri="{FF2B5EF4-FFF2-40B4-BE49-F238E27FC236}">
                <a16:creationId xmlns:a16="http://schemas.microsoft.com/office/drawing/2014/main" id="{2B5BB1DD-89A4-4E38-AC79-A10839F1BF16}"/>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dirty="0">
                <a:solidFill>
                  <a:srgbClr val="19263E"/>
                </a:solidFill>
                <a:latin typeface="Noto Sans CJK SC"/>
                <a:ea typeface="Noto Sans CJK SC"/>
                <a:cs typeface="Noto Sans CJK SC"/>
              </a:rPr>
              <a:t>Abstract（1/2）：</a:t>
            </a:r>
            <a:r>
              <a:rPr lang="zh-CN" altLang="en-US" sz="2925" b="1" dirty="0">
                <a:solidFill>
                  <a:srgbClr val="19263E"/>
                </a:solidFill>
                <a:latin typeface="Noto Sans CJK SC"/>
                <a:ea typeface="Noto Sans CJK SC"/>
                <a:cs typeface="Noto Sans CJK SC"/>
              </a:rPr>
              <a:t>背景和问题</a:t>
            </a:r>
            <a:endParaRPr sz="2925" b="1" dirty="0">
              <a:solidFill>
                <a:srgbClr val="19263E"/>
              </a:solidFill>
              <a:latin typeface="Noto Sans CJK SC"/>
              <a:ea typeface="Noto Sans CJK SC"/>
              <a:cs typeface="Noto Sans CJK SC"/>
            </a:endParaRPr>
          </a:p>
        </p:txBody>
      </p:sp>
      <p:sp>
        <p:nvSpPr>
          <p:cNvPr id="6" name="Forecasting the future anatomy of slow-e">
            <a:extLst>
              <a:ext uri="{FF2B5EF4-FFF2-40B4-BE49-F238E27FC236}">
                <a16:creationId xmlns:a16="http://schemas.microsoft.com/office/drawing/2014/main" id="{39A5CA69-A3F9-46F6-98D8-0DCAB7324E3C}"/>
              </a:ext>
            </a:extLst>
          </p:cNvPr>
          <p:cNvSpPr>
            <a:spLocks noGrp="1"/>
          </p:cNvSpPr>
          <p:nvPr/>
        </p:nvSpPr>
        <p:spPr>
          <a:xfrm>
            <a:off x="609600" y="2066925"/>
            <a:ext cx="7010400" cy="4133850"/>
          </a:xfrm>
          <a:prstGeom prst="rect">
            <a:avLst/>
          </a:prstGeom>
          <a:noFill/>
          <a:ln w="0">
            <a:noFill/>
          </a:ln>
        </p:spPr>
        <p:txBody>
          <a:bodyPr wrap="square" lIns="0" tIns="0" rIns="0" bIns="0" anchor="t">
            <a:noAutofit/>
          </a:bodyPr>
          <a:lstStyle>
            <a:defPPr>
              <a:defRPr sz="1800" b="0">
                <a:solidFill>
                  <a:srgbClr val="19263E"/>
                </a:solidFill>
                <a:latin typeface="Noto Sans CJK SC"/>
                <a:ea typeface="Noto Sans CJK SC"/>
                <a:cs typeface="Noto Sans CJK SC"/>
              </a:defRPr>
            </a:defPPr>
          </a:lstStyle>
          <a:p>
            <a:pPr>
              <a:buNone/>
              <a:defRPr sz="1800" b="0">
                <a:solidFill>
                  <a:srgbClr val="19263E"/>
                </a:solidFill>
                <a:latin typeface="Noto Sans CJK SC"/>
                <a:ea typeface="Noto Sans CJK SC"/>
                <a:cs typeface="Noto Sans CJK SC"/>
              </a:defRPr>
            </a:pPr>
            <a:r>
              <a:rPr sz="1800" b="0" dirty="0">
                <a:solidFill>
                  <a:srgbClr val="19263E"/>
                </a:solidFill>
                <a:latin typeface="Noto Sans CJK SC"/>
                <a:ea typeface="Noto Sans CJK SC"/>
                <a:cs typeface="Noto Sans CJK SC"/>
              </a:rPr>
              <a:t>Forecasting the future anatomy of slow-evolving neurodegenerative diseases could enable earlier, more targeted intervention and improve clinical trial design, but it remains challenging because </a:t>
            </a:r>
            <a:r>
              <a:rPr sz="1800" b="1" dirty="0">
                <a:solidFill>
                  <a:srgbClr val="356DA7"/>
                </a:solidFill>
                <a:latin typeface="Noto Sans CJK SC"/>
                <a:ea typeface="Noto Sans CJK SC"/>
                <a:cs typeface="Noto Sans CJK SC"/>
              </a:rPr>
              <a:t>true progression signals are subtle</a:t>
            </a:r>
            <a:r>
              <a:rPr sz="1800" b="0" dirty="0">
                <a:solidFill>
                  <a:srgbClr val="19263E"/>
                </a:solidFill>
                <a:latin typeface="Noto Sans CJK SC"/>
                <a:ea typeface="Noto Sans CJK SC"/>
                <a:cs typeface="Noto Sans CJK SC"/>
              </a:rPr>
              <a:t> in longitudinal MRI. In this low-signal regime, transferring modern generative sequence models directly is unreliable: training is dominated by </a:t>
            </a:r>
            <a:r>
              <a:rPr sz="1800" b="1" dirty="0">
                <a:solidFill>
                  <a:srgbClr val="168F85"/>
                </a:solidFill>
                <a:latin typeface="Noto Sans CJK SC"/>
                <a:ea typeface="Noto Sans CJK SC"/>
                <a:cs typeface="Noto Sans CJK SC"/>
              </a:rPr>
              <a:t>stable baseline anatomy</a:t>
            </a:r>
            <a:r>
              <a:rPr sz="1800" b="0" dirty="0">
                <a:solidFill>
                  <a:srgbClr val="19263E"/>
                </a:solidFill>
                <a:latin typeface="Noto Sans CJK SC"/>
                <a:ea typeface="Noto Sans CJK SC"/>
                <a:cs typeface="Noto Sans CJK SC"/>
              </a:rPr>
              <a:t> and confounded by dense, sample-specific nuisance variation. We first provide a theoretical analysis that explains these failures through two modes. </a:t>
            </a:r>
            <a:r>
              <a:rPr sz="1800" b="1" dirty="0">
                <a:solidFill>
                  <a:srgbClr val="B57815"/>
                </a:solidFill>
                <a:latin typeface="Noto Sans CJK SC"/>
                <a:ea typeface="Noto Sans CJK SC"/>
                <a:cs typeface="Noto Sans CJK SC"/>
              </a:rPr>
              <a:t>Identity collapse</a:t>
            </a:r>
            <a:r>
              <a:rPr sz="1800" b="0" dirty="0">
                <a:solidFill>
                  <a:srgbClr val="19263E"/>
                </a:solidFill>
                <a:latin typeface="Noto Sans CJK SC"/>
                <a:ea typeface="Noto Sans CJK SC"/>
                <a:cs typeface="Noto Sans CJK SC"/>
              </a:rPr>
              <a:t> occurs when optimization is driven toward reproducing the current anatomy, which prevents the model from learning faint temporal change. The </a:t>
            </a:r>
            <a:r>
              <a:rPr sz="1800" b="1" dirty="0">
                <a:solidFill>
                  <a:srgbClr val="AC473D"/>
                </a:solidFill>
                <a:latin typeface="Noto Sans CJK SC"/>
                <a:ea typeface="Noto Sans CJK SC"/>
                <a:cs typeface="Noto Sans CJK SC"/>
              </a:rPr>
              <a:t>continuous interpolation trap</a:t>
            </a:r>
            <a:r>
              <a:rPr sz="1800" b="0" dirty="0">
                <a:solidFill>
                  <a:srgbClr val="19263E"/>
                </a:solidFill>
                <a:latin typeface="Noto Sans CJK SC"/>
                <a:ea typeface="Noto Sans CJK SC"/>
                <a:cs typeface="Noto Sans CJK SC"/>
              </a:rPr>
              <a:t> arises when standard smooth networks cannot separate localized biological drift from pervasive noise, which leads to spurious changes that diffuse across the volume.</a:t>
            </a:r>
          </a:p>
        </p:txBody>
      </p:sp>
      <p:sp>
        <p:nvSpPr>
          <p:cNvPr id="8" name="背景与困难">
            <a:extLst>
              <a:ext uri="{FF2B5EF4-FFF2-40B4-BE49-F238E27FC236}">
                <a16:creationId xmlns:a16="http://schemas.microsoft.com/office/drawing/2014/main" id="{8864EBA3-620C-449E-878B-C2C84399E8AA}"/>
              </a:ext>
            </a:extLst>
          </p:cNvPr>
          <p:cNvSpPr>
            <a:spLocks noGrp="1"/>
          </p:cNvSpPr>
          <p:nvPr/>
        </p:nvSpPr>
        <p:spPr>
          <a:xfrm>
            <a:off x="7943850" y="2057400"/>
            <a:ext cx="3619500" cy="342900"/>
          </a:xfrm>
          <a:prstGeom prst="rect">
            <a:avLst/>
          </a:prstGeom>
          <a:noFill/>
          <a:ln w="0">
            <a:noFill/>
          </a:ln>
        </p:spPr>
        <p:txBody>
          <a:bodyPr wrap="none" lIns="0" tIns="0" rIns="0" bIns="0" anchor="t">
            <a:noAutofit/>
          </a:bodyPr>
          <a:lstStyle>
            <a:defPPr algn="l">
              <a:defRPr sz="1950" b="1">
                <a:solidFill>
                  <a:srgbClr val="356DA7"/>
                </a:solidFill>
                <a:latin typeface="Noto Sans CJK SC"/>
                <a:ea typeface="Noto Sans CJK SC"/>
                <a:cs typeface="Noto Sans CJK SC"/>
              </a:defRPr>
            </a:defPPr>
          </a:lstStyle>
          <a:p>
            <a:pPr algn="l">
              <a:buNone/>
              <a:defRPr sz="1950" b="1">
                <a:solidFill>
                  <a:srgbClr val="356DA7"/>
                </a:solidFill>
                <a:latin typeface="Noto Sans CJK SC"/>
                <a:ea typeface="Noto Sans CJK SC"/>
                <a:cs typeface="Noto Sans CJK SC"/>
              </a:defRPr>
            </a:pPr>
            <a:r>
              <a:rPr sz="1950" b="1">
                <a:solidFill>
                  <a:srgbClr val="356DA7"/>
                </a:solidFill>
                <a:latin typeface="Noto Sans CJK SC"/>
                <a:ea typeface="Noto Sans CJK SC"/>
                <a:cs typeface="Noto Sans CJK SC"/>
              </a:rPr>
              <a:t>背景与困难</a:t>
            </a:r>
          </a:p>
        </p:txBody>
      </p:sp>
      <p:sp>
        <p:nvSpPr>
          <p:cNvPr id="9" name="首句同时交代临床价值与技术困难，迅速限定为微弱进展的预测。">
            <a:extLst>
              <a:ext uri="{FF2B5EF4-FFF2-40B4-BE49-F238E27FC236}">
                <a16:creationId xmlns:a16="http://schemas.microsoft.com/office/drawing/2014/main" id="{E696A9E4-5C38-41A6-A9A7-191AF6FA0F02}"/>
              </a:ext>
            </a:extLst>
          </p:cNvPr>
          <p:cNvSpPr>
            <a:spLocks noGrp="1"/>
          </p:cNvSpPr>
          <p:nvPr/>
        </p:nvSpPr>
        <p:spPr>
          <a:xfrm>
            <a:off x="7943849" y="2466975"/>
            <a:ext cx="3753779"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预测未来脑</a:t>
            </a:r>
            <a:r>
              <a:rPr lang="en-US" altLang="zh-CN" sz="1650" b="0" dirty="0" err="1">
                <a:solidFill>
                  <a:srgbClr val="19263E"/>
                </a:solidFill>
                <a:latin typeface="Noto Sans CJK SC"/>
                <a:ea typeface="Noto Sans CJK SC"/>
                <a:cs typeface="Noto Sans CJK SC"/>
              </a:rPr>
              <a:t>MRI</a:t>
            </a:r>
            <a:r>
              <a:rPr lang="zh-CN" altLang="en-US" sz="1650" b="0" dirty="0">
                <a:solidFill>
                  <a:srgbClr val="19263E"/>
                </a:solidFill>
                <a:latin typeface="Noto Sans CJK SC"/>
                <a:ea typeface="Noto Sans CJK SC"/>
                <a:cs typeface="Noto Sans CJK SC"/>
              </a:rPr>
              <a:t>难点：疾病进展很慢，</a:t>
            </a:r>
          </a:p>
          <a:p>
            <a:pPr algn="l">
              <a:buNone/>
              <a:defRPr sz="1650" b="0">
                <a:solidFill>
                  <a:srgbClr val="19263E"/>
                </a:solidFill>
                <a:latin typeface="Noto Sans CJK SC"/>
                <a:ea typeface="Noto Sans CJK SC"/>
                <a:cs typeface="Noto Sans CJK SC"/>
              </a:defRPr>
            </a:pPr>
            <a:r>
              <a:rPr sz="1650" b="0" dirty="0">
                <a:solidFill>
                  <a:srgbClr val="19263E"/>
                </a:solidFill>
                <a:latin typeface="Noto Sans CJK SC"/>
                <a:ea typeface="Noto Sans CJK SC"/>
                <a:cs typeface="Noto Sans CJK SC"/>
              </a:rPr>
              <a:t>MRI </a:t>
            </a:r>
            <a:r>
              <a:rPr sz="1650" b="0" dirty="0" err="1">
                <a:solidFill>
                  <a:srgbClr val="19263E"/>
                </a:solidFill>
                <a:latin typeface="Noto Sans CJK SC"/>
                <a:ea typeface="Noto Sans CJK SC"/>
                <a:cs typeface="Noto Sans CJK SC"/>
              </a:rPr>
              <a:t>中的变化很细微</a:t>
            </a:r>
            <a:r>
              <a:rPr sz="1650" b="0" dirty="0">
                <a:solidFill>
                  <a:srgbClr val="19263E"/>
                </a:solidFill>
                <a:latin typeface="Noto Sans CJK SC"/>
                <a:ea typeface="Noto Sans CJK SC"/>
                <a:cs typeface="Noto Sans CJK SC"/>
              </a:rPr>
              <a:t>。</a:t>
            </a:r>
          </a:p>
        </p:txBody>
      </p:sp>
      <p:sp>
        <p:nvSpPr>
          <p:cNvPr id="10" name="解释困难">
            <a:extLst>
              <a:ext uri="{FF2B5EF4-FFF2-40B4-BE49-F238E27FC236}">
                <a16:creationId xmlns:a16="http://schemas.microsoft.com/office/drawing/2014/main" id="{FBF3122D-ADCA-40C8-A63C-2E3396276ECE}"/>
              </a:ext>
            </a:extLst>
          </p:cNvPr>
          <p:cNvSpPr>
            <a:spLocks noGrp="1"/>
          </p:cNvSpPr>
          <p:nvPr/>
        </p:nvSpPr>
        <p:spPr>
          <a:xfrm>
            <a:off x="7943849" y="3152775"/>
            <a:ext cx="3619500" cy="342900"/>
          </a:xfrm>
          <a:prstGeom prst="rect">
            <a:avLst/>
          </a:prstGeom>
          <a:noFill/>
          <a:ln w="0">
            <a:noFill/>
          </a:ln>
        </p:spPr>
        <p:txBody>
          <a:bodyPr wrap="none" lIns="0" tIns="0" rIns="0" bIns="0" anchor="t">
            <a:noAutofit/>
          </a:bodyPr>
          <a:lstStyle>
            <a:defPPr algn="l">
              <a:defRPr sz="1950" b="1">
                <a:solidFill>
                  <a:srgbClr val="168F85"/>
                </a:solidFill>
                <a:latin typeface="Noto Sans CJK SC"/>
                <a:ea typeface="Noto Sans CJK SC"/>
                <a:cs typeface="Noto Sans CJK SC"/>
              </a:defRPr>
            </a:defPPr>
          </a:lstStyle>
          <a:p>
            <a:pPr algn="l">
              <a:buNone/>
              <a:defRPr sz="1950" b="1">
                <a:solidFill>
                  <a:srgbClr val="168F85"/>
                </a:solidFill>
                <a:latin typeface="Noto Sans CJK SC"/>
                <a:ea typeface="Noto Sans CJK SC"/>
                <a:cs typeface="Noto Sans CJK SC"/>
              </a:defRPr>
            </a:pPr>
            <a:r>
              <a:rPr sz="1950" b="1" dirty="0" err="1">
                <a:solidFill>
                  <a:srgbClr val="168F85"/>
                </a:solidFill>
                <a:latin typeface="Noto Sans CJK SC"/>
                <a:ea typeface="Noto Sans CJK SC"/>
                <a:cs typeface="Noto Sans CJK SC"/>
              </a:rPr>
              <a:t>为什么困难</a:t>
            </a:r>
            <a:endParaRPr sz="1950" b="1" dirty="0">
              <a:solidFill>
                <a:srgbClr val="168F85"/>
              </a:solidFill>
              <a:latin typeface="Noto Sans CJK SC"/>
              <a:ea typeface="Noto Sans CJK SC"/>
              <a:cs typeface="Noto Sans CJK SC"/>
            </a:endParaRPr>
          </a:p>
        </p:txBody>
      </p:sp>
      <p:sp>
        <p:nvSpPr>
          <p:cNvPr id="11" name="第二句将问题落到静态解剖结构和样本特异扰动。">
            <a:extLst>
              <a:ext uri="{FF2B5EF4-FFF2-40B4-BE49-F238E27FC236}">
                <a16:creationId xmlns:a16="http://schemas.microsoft.com/office/drawing/2014/main" id="{85E0E068-571E-4D7E-A94A-F61E4E60AD29}"/>
              </a:ext>
            </a:extLst>
          </p:cNvPr>
          <p:cNvSpPr>
            <a:spLocks noGrp="1"/>
          </p:cNvSpPr>
          <p:nvPr/>
        </p:nvSpPr>
        <p:spPr>
          <a:xfrm>
            <a:off x="7943849" y="3509962"/>
            <a:ext cx="3463849"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原有解剖结构占了大部分信号</a:t>
            </a:r>
            <a:r>
              <a:rPr sz="1650" b="0" dirty="0">
                <a:solidFill>
                  <a:srgbClr val="19263E"/>
                </a:solidFill>
                <a:latin typeface="Noto Sans CJK SC"/>
                <a:ea typeface="Noto Sans CJK SC"/>
                <a:cs typeface="Noto Sans CJK SC"/>
              </a:rPr>
              <a:t>，</a:t>
            </a:r>
            <a:endParaRPr lang="en-US" sz="1650" b="0" dirty="0">
              <a:solidFill>
                <a:srgbClr val="19263E"/>
              </a:solidFill>
              <a:latin typeface="Noto Sans CJK SC"/>
              <a:ea typeface="Noto Sans CJK SC"/>
              <a:cs typeface="Noto Sans CJK SC"/>
            </a:endParaRPr>
          </a:p>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每次扫描又会引入不同的扰动</a:t>
            </a:r>
            <a:r>
              <a:rPr sz="1650" b="0" dirty="0">
                <a:solidFill>
                  <a:srgbClr val="19263E"/>
                </a:solidFill>
                <a:latin typeface="Noto Sans CJK SC"/>
                <a:ea typeface="Noto Sans CJK SC"/>
                <a:cs typeface="Noto Sans CJK SC"/>
              </a:rPr>
              <a:t>。</a:t>
            </a:r>
          </a:p>
        </p:txBody>
      </p:sp>
      <p:sp>
        <p:nvSpPr>
          <p:cNvPr id="12" name="命名问题">
            <a:extLst>
              <a:ext uri="{FF2B5EF4-FFF2-40B4-BE49-F238E27FC236}">
                <a16:creationId xmlns:a16="http://schemas.microsoft.com/office/drawing/2014/main" id="{8E952872-E192-4308-B514-D0EC173F48E3}"/>
              </a:ext>
            </a:extLst>
          </p:cNvPr>
          <p:cNvSpPr>
            <a:spLocks noGrp="1"/>
          </p:cNvSpPr>
          <p:nvPr/>
        </p:nvSpPr>
        <p:spPr>
          <a:xfrm>
            <a:off x="7899708" y="4246987"/>
            <a:ext cx="3619500" cy="342900"/>
          </a:xfrm>
          <a:prstGeom prst="rect">
            <a:avLst/>
          </a:prstGeom>
          <a:noFill/>
          <a:ln w="0">
            <a:noFill/>
          </a:ln>
        </p:spPr>
        <p:txBody>
          <a:bodyPr wrap="none" lIns="0" tIns="0" rIns="0" bIns="0" anchor="t">
            <a:noAutofit/>
          </a:bodyPr>
          <a:lstStyle>
            <a:defPPr algn="l">
              <a:defRPr sz="1950" b="1">
                <a:solidFill>
                  <a:srgbClr val="B57815"/>
                </a:solidFill>
                <a:latin typeface="Noto Sans CJK SC"/>
                <a:ea typeface="Noto Sans CJK SC"/>
                <a:cs typeface="Noto Sans CJK SC"/>
              </a:defRPr>
            </a:defPPr>
          </a:lstStyle>
          <a:p>
            <a:pPr algn="l">
              <a:buNone/>
              <a:defRPr sz="1950" b="1">
                <a:solidFill>
                  <a:srgbClr val="B57815"/>
                </a:solidFill>
                <a:latin typeface="Noto Sans CJK SC"/>
                <a:ea typeface="Noto Sans CJK SC"/>
                <a:cs typeface="Noto Sans CJK SC"/>
              </a:defRPr>
            </a:pPr>
            <a:r>
              <a:rPr sz="1950" b="1" dirty="0" err="1">
                <a:solidFill>
                  <a:srgbClr val="B57815"/>
                </a:solidFill>
                <a:latin typeface="Noto Sans CJK SC"/>
                <a:ea typeface="Noto Sans CJK SC"/>
                <a:cs typeface="Noto Sans CJK SC"/>
              </a:rPr>
              <a:t>两种失败模式</a:t>
            </a:r>
            <a:endParaRPr sz="1950" b="1" dirty="0">
              <a:solidFill>
                <a:srgbClr val="B57815"/>
              </a:solidFill>
              <a:latin typeface="Noto Sans CJK SC"/>
              <a:ea typeface="Noto Sans CJK SC"/>
              <a:cs typeface="Noto Sans CJK SC"/>
            </a:endParaRPr>
          </a:p>
        </p:txBody>
      </p:sp>
      <p:sp>
        <p:nvSpPr>
          <p:cNvPr id="13" name="随后分别定义两种失败模式，为方法部分建立对应关系。">
            <a:extLst>
              <a:ext uri="{FF2B5EF4-FFF2-40B4-BE49-F238E27FC236}">
                <a16:creationId xmlns:a16="http://schemas.microsoft.com/office/drawing/2014/main" id="{E73F9047-CB9B-4466-8FEA-3EBA965B5E00}"/>
              </a:ext>
            </a:extLst>
          </p:cNvPr>
          <p:cNvSpPr>
            <a:spLocks noGrp="1"/>
          </p:cNvSpPr>
          <p:nvPr/>
        </p:nvSpPr>
        <p:spPr>
          <a:xfrm>
            <a:off x="7899707" y="4667251"/>
            <a:ext cx="4377786" cy="1137074"/>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just">
              <a:defRPr sz="1650" b="0">
                <a:solidFill>
                  <a:srgbClr val="19263E"/>
                </a:solidFill>
                <a:latin typeface="Noto Sans CJK SC"/>
                <a:ea typeface="Noto Sans CJK SC"/>
                <a:cs typeface="Noto Sans CJK SC"/>
              </a:defRPr>
            </a:pPr>
            <a:r>
              <a:rPr lang="en" altLang="zh-CN" sz="1600" dirty="0">
                <a:latin typeface="Noto Sans CJK SC"/>
                <a:ea typeface="Noto Sans CJK SC"/>
                <a:cs typeface="Noto Sans CJK SC"/>
              </a:rPr>
              <a:t>Identity collapse</a:t>
            </a:r>
            <a:r>
              <a:rPr lang="zh-CN" altLang="en-US" sz="1600" dirty="0">
                <a:latin typeface="Noto Sans CJK SC"/>
                <a:ea typeface="Noto Sans CJK SC"/>
                <a:cs typeface="Noto Sans CJK SC"/>
              </a:rPr>
              <a:t>：</a:t>
            </a:r>
            <a:endParaRPr lang="en-US" altLang="zh-CN" sz="1600" dirty="0">
              <a:latin typeface="Noto Sans CJK SC"/>
              <a:ea typeface="Noto Sans CJK SC"/>
              <a:cs typeface="Noto Sans CJK SC"/>
            </a:endParaRPr>
          </a:p>
          <a:p>
            <a:pPr algn="just">
              <a:defRPr sz="1650" b="0">
                <a:solidFill>
                  <a:srgbClr val="19263E"/>
                </a:solidFill>
                <a:latin typeface="Noto Sans CJK SC"/>
                <a:ea typeface="Noto Sans CJK SC"/>
                <a:cs typeface="Noto Sans CJK SC"/>
              </a:defRPr>
            </a:pPr>
            <a:r>
              <a:rPr lang="zh-CN" altLang="en-US" sz="1600" dirty="0">
                <a:latin typeface="Noto Sans CJK SC"/>
                <a:ea typeface="Noto Sans CJK SC"/>
                <a:cs typeface="Noto Sans CJK SC"/>
              </a:rPr>
              <a:t>多数梯度用于学习解剖结构</a:t>
            </a:r>
            <a:endParaRPr lang="en-US" altLang="zh-CN" sz="1600" dirty="0">
              <a:latin typeface="Noto Sans CJK SC"/>
              <a:ea typeface="Noto Sans CJK SC"/>
              <a:cs typeface="Noto Sans CJK SC"/>
            </a:endParaRPr>
          </a:p>
          <a:p>
            <a:pPr algn="just">
              <a:defRPr sz="1650" b="0">
                <a:solidFill>
                  <a:srgbClr val="19263E"/>
                </a:solidFill>
                <a:latin typeface="Noto Sans CJK SC"/>
                <a:ea typeface="Noto Sans CJK SC"/>
                <a:cs typeface="Noto Sans CJK SC"/>
              </a:defRPr>
            </a:pPr>
            <a:r>
              <a:rPr lang="en" altLang="zh-CN" sz="1600" dirty="0">
                <a:latin typeface="Noto Sans CJK SC"/>
                <a:ea typeface="Noto Sans CJK SC"/>
                <a:cs typeface="Noto Sans CJK SC"/>
              </a:rPr>
              <a:t>continuous interpolation trap</a:t>
            </a:r>
            <a:r>
              <a:rPr lang="zh-CN" altLang="en-US" sz="1600" dirty="0">
                <a:latin typeface="Noto Sans CJK SC"/>
                <a:ea typeface="Noto Sans CJK SC"/>
                <a:cs typeface="Noto Sans CJK SC"/>
              </a:rPr>
              <a:t>：</a:t>
            </a:r>
            <a:endParaRPr lang="en-US" altLang="zh-CN" sz="1600" dirty="0">
              <a:latin typeface="Noto Sans CJK SC"/>
              <a:ea typeface="Noto Sans CJK SC"/>
              <a:cs typeface="Noto Sans CJK SC"/>
            </a:endParaRPr>
          </a:p>
          <a:p>
            <a:pPr algn="just">
              <a:defRPr sz="1650" b="0">
                <a:solidFill>
                  <a:srgbClr val="19263E"/>
                </a:solidFill>
                <a:latin typeface="Noto Sans CJK SC"/>
                <a:ea typeface="Noto Sans CJK SC"/>
                <a:cs typeface="Noto Sans CJK SC"/>
              </a:defRPr>
            </a:pPr>
            <a:r>
              <a:rPr lang="zh-CN" altLang="en-US" sz="1600" dirty="0">
                <a:latin typeface="Noto Sans CJK SC"/>
                <a:ea typeface="Noto Sans CJK SC"/>
                <a:cs typeface="Noto Sans CJK SC"/>
              </a:rPr>
              <a:t>无法分辨细微变化和噪声</a:t>
            </a:r>
            <a:endParaRPr lang="en-US" altLang="zh-CN" sz="1600" dirty="0">
              <a:latin typeface="Noto Sans CJK SC"/>
              <a:ea typeface="Noto Sans CJK SC"/>
              <a:cs typeface="Noto Sans CJK SC"/>
            </a:endParaRPr>
          </a:p>
          <a:p>
            <a:pPr algn="just">
              <a:defRPr sz="1650" b="0">
                <a:solidFill>
                  <a:srgbClr val="19263E"/>
                </a:solidFill>
                <a:latin typeface="Noto Sans CJK SC"/>
                <a:ea typeface="Noto Sans CJK SC"/>
                <a:cs typeface="Noto Sans CJK SC"/>
              </a:defRPr>
            </a:pPr>
            <a:endParaRPr sz="1600" b="0" dirty="0">
              <a:solidFill>
                <a:srgbClr val="19263E"/>
              </a:solidFill>
              <a:latin typeface="Noto Sans CJK SC"/>
              <a:ea typeface="Noto Sans CJK SC"/>
              <a:cs typeface="Noto Sans CJK SC"/>
            </a:endParaRPr>
          </a:p>
        </p:txBody>
      </p:sp>
    </p:spTree>
    <p:extLst>
      <p:ext uri="{BB962C8B-B14F-4D97-AF65-F5344CB8AC3E}">
        <p14:creationId xmlns:p14="http://schemas.microsoft.com/office/powerpoint/2010/main" val="1551941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写作分析">
            <a:extLst>
              <a:ext uri="{FF2B5EF4-FFF2-40B4-BE49-F238E27FC236}">
                <a16:creationId xmlns:a16="http://schemas.microsoft.com/office/drawing/2014/main" id="{4A5F2FE0-6E31-4F37-BD77-73FA6CB515D5}"/>
              </a:ext>
            </a:extLst>
          </p:cNvPr>
          <p:cNvSpPr>
            <a:spLocks noGrp="1"/>
          </p:cNvSpPr>
          <p:nvPr/>
        </p:nvSpPr>
        <p:spPr>
          <a:xfrm>
            <a:off x="609600" y="238125"/>
            <a:ext cx="9715500" cy="285750"/>
          </a:xfrm>
          <a:prstGeom prst="rect">
            <a:avLst/>
          </a:prstGeom>
          <a:noFill/>
          <a:ln w="0">
            <a:noFill/>
          </a:ln>
        </p:spPr>
        <p:txBody>
          <a:bodyPr wrap="square" lIns="0" tIns="0" rIns="0" bIns="0" anchor="t">
            <a:noAutofit/>
          </a:bodyPr>
          <a:lstStyle>
            <a:defPPr>
              <a:defRPr sz="1200" b="1">
                <a:solidFill>
                  <a:srgbClr val="356DA7"/>
                </a:solidFill>
                <a:latin typeface="Noto Sans CJK SC"/>
                <a:ea typeface="Noto Sans CJK SC"/>
                <a:cs typeface="Noto Sans CJK SC"/>
              </a:defRPr>
            </a:defPPr>
          </a:lstStyle>
          <a:p>
            <a:pPr>
              <a:buNone/>
              <a:defRPr sz="1200" b="1">
                <a:solidFill>
                  <a:srgbClr val="356DA7"/>
                </a:solidFill>
                <a:latin typeface="Noto Sans CJK SC"/>
                <a:ea typeface="Noto Sans CJK SC"/>
                <a:cs typeface="Noto Sans CJK SC"/>
              </a:defRPr>
            </a:pPr>
            <a:r>
              <a:rPr sz="1200" b="1" dirty="0" err="1">
                <a:solidFill>
                  <a:srgbClr val="356DA7"/>
                </a:solidFill>
                <a:latin typeface="Noto Sans CJK SC"/>
                <a:ea typeface="Noto Sans CJK SC"/>
                <a:cs typeface="Noto Sans CJK SC"/>
              </a:rPr>
              <a:t>写作</a:t>
            </a:r>
            <a:endParaRPr sz="1200" b="1" dirty="0">
              <a:solidFill>
                <a:srgbClr val="356DA7"/>
              </a:solidFill>
              <a:latin typeface="Noto Sans CJK SC"/>
              <a:ea typeface="Noto Sans CJK SC"/>
              <a:cs typeface="Noto Sans CJK SC"/>
            </a:endParaRPr>
          </a:p>
        </p:txBody>
      </p:sp>
      <p:sp>
        <p:nvSpPr>
          <p:cNvPr id="2" name="21">
            <a:extLst>
              <a:ext uri="{FF2B5EF4-FFF2-40B4-BE49-F238E27FC236}">
                <a16:creationId xmlns:a16="http://schemas.microsoft.com/office/drawing/2014/main" id="{DAC21E2A-F0C6-4776-B3DE-316189393750}"/>
              </a:ext>
            </a:extLst>
          </p:cNvPr>
          <p:cNvSpPr>
            <a:spLocks noGrp="1"/>
          </p:cNvSpPr>
          <p:nvPr/>
        </p:nvSpPr>
        <p:spPr>
          <a:xfrm>
            <a:off x="11077575" y="238125"/>
            <a:ext cx="514350" cy="285750"/>
          </a:xfrm>
          <a:prstGeom prst="rect">
            <a:avLst/>
          </a:prstGeom>
          <a:noFill/>
          <a:ln w="0">
            <a:noFill/>
          </a:ln>
        </p:spPr>
        <p:txBody>
          <a:bodyPr wrap="square" lIns="0" tIns="0" rIns="0" bIns="0" anchor="t">
            <a:noAutofit/>
          </a:bodyPr>
          <a:lstStyle>
            <a:defPPr>
              <a:defRPr sz="1200" b="0">
                <a:solidFill>
                  <a:srgbClr val="68758A"/>
                </a:solidFill>
                <a:latin typeface="Noto Sans CJK SC"/>
                <a:ea typeface="Noto Sans CJK SC"/>
                <a:cs typeface="Noto Sans CJK SC"/>
              </a:defRPr>
            </a:defPPr>
          </a:lstStyle>
          <a:p>
            <a:pPr>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21</a:t>
            </a:r>
          </a:p>
        </p:txBody>
      </p:sp>
      <p:sp>
        <p:nvSpPr>
          <p:cNvPr id="3" name="Abstract（2/2）：方法设计与实验结尾">
            <a:extLst>
              <a:ext uri="{FF2B5EF4-FFF2-40B4-BE49-F238E27FC236}">
                <a16:creationId xmlns:a16="http://schemas.microsoft.com/office/drawing/2014/main" id="{F36FB058-ED21-441A-B755-F57C15CC6386}"/>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a:solidFill>
                  <a:srgbClr val="19263E"/>
                </a:solidFill>
                <a:latin typeface="Noto Sans CJK SC"/>
                <a:ea typeface="Noto Sans CJK SC"/>
                <a:cs typeface="Noto Sans CJK SC"/>
              </a:rPr>
              <a:t>Abstract（2/2）：方法和实验结果</a:t>
            </a:r>
          </a:p>
        </p:txBody>
      </p:sp>
      <p:sp>
        <p:nvSpPr>
          <p:cNvPr id="6" name="To address both issues, we propose Laten">
            <a:extLst>
              <a:ext uri="{FF2B5EF4-FFF2-40B4-BE49-F238E27FC236}">
                <a16:creationId xmlns:a16="http://schemas.microsoft.com/office/drawing/2014/main" id="{4DD4B4B4-5248-4A24-8A72-EF2151E1A783}"/>
              </a:ext>
            </a:extLst>
          </p:cNvPr>
          <p:cNvSpPr>
            <a:spLocks noGrp="1"/>
          </p:cNvSpPr>
          <p:nvPr/>
        </p:nvSpPr>
        <p:spPr>
          <a:xfrm>
            <a:off x="609600" y="2066925"/>
            <a:ext cx="7010400" cy="4133850"/>
          </a:xfrm>
          <a:prstGeom prst="rect">
            <a:avLst/>
          </a:prstGeom>
          <a:noFill/>
          <a:ln w="0">
            <a:noFill/>
          </a:ln>
        </p:spPr>
        <p:txBody>
          <a:bodyPr wrap="square" lIns="0" tIns="0" rIns="0" bIns="0" anchor="t">
            <a:noAutofit/>
          </a:bodyPr>
          <a:lstStyle>
            <a:defPPr>
              <a:defRPr sz="1800" b="0">
                <a:solidFill>
                  <a:srgbClr val="19263E"/>
                </a:solidFill>
                <a:latin typeface="Noto Sans CJK SC"/>
                <a:ea typeface="Noto Sans CJK SC"/>
                <a:cs typeface="Noto Sans CJK SC"/>
              </a:defRPr>
            </a:defPPr>
          </a:lstStyle>
          <a:p>
            <a:pPr>
              <a:buNone/>
              <a:defRPr sz="1800" b="0">
                <a:solidFill>
                  <a:srgbClr val="19263E"/>
                </a:solidFill>
                <a:latin typeface="Noto Sans CJK SC"/>
                <a:ea typeface="Noto Sans CJK SC"/>
                <a:cs typeface="Noto Sans CJK SC"/>
              </a:defRPr>
            </a:pPr>
            <a:r>
              <a:rPr sz="1800" b="0" dirty="0">
                <a:solidFill>
                  <a:srgbClr val="19263E"/>
                </a:solidFill>
                <a:latin typeface="Noto Sans CJK SC"/>
                <a:ea typeface="Noto Sans CJK SC"/>
                <a:cs typeface="Noto Sans CJK SC"/>
              </a:rPr>
              <a:t>To address both issues, we propose Latent Drift, a progressive generative framework that </a:t>
            </a:r>
            <a:r>
              <a:rPr sz="1800" b="1" dirty="0">
                <a:solidFill>
                  <a:srgbClr val="356DA7"/>
                </a:solidFill>
                <a:latin typeface="Noto Sans CJK SC"/>
                <a:ea typeface="Noto Sans CJK SC"/>
                <a:cs typeface="Noto Sans CJK SC"/>
              </a:rPr>
              <a:t>learns change in a compressed semantic representation</a:t>
            </a:r>
            <a:r>
              <a:rPr sz="1800" b="0" dirty="0">
                <a:solidFill>
                  <a:srgbClr val="19263E"/>
                </a:solidFill>
                <a:latin typeface="Noto Sans CJK SC"/>
                <a:ea typeface="Noto Sans CJK SC"/>
                <a:cs typeface="Noto Sans CJK SC"/>
              </a:rPr>
              <a:t> rather than synthesizing full-resolution anatomy. This design removes pixel-level identity from the prediction target and concentrates model capacity on progression-relevant dynamics. We further apply </a:t>
            </a:r>
            <a:r>
              <a:rPr sz="1800" b="1" dirty="0">
                <a:solidFill>
                  <a:srgbClr val="168F85"/>
                </a:solidFill>
                <a:latin typeface="Noto Sans CJK SC"/>
                <a:ea typeface="Noto Sans CJK SC"/>
                <a:cs typeface="Noto Sans CJK SC"/>
              </a:rPr>
              <a:t>Finite Scalar Quantization</a:t>
            </a:r>
            <a:r>
              <a:rPr sz="1800" b="0" dirty="0">
                <a:solidFill>
                  <a:srgbClr val="19263E"/>
                </a:solidFill>
                <a:latin typeface="Noto Sans CJK SC"/>
                <a:ea typeface="Noto Sans CJK SC"/>
                <a:cs typeface="Noto Sans CJK SC"/>
              </a:rPr>
              <a:t> to the learned change representation, which suppresses small, high-frequency nuisance fluctuations while preserving consistent structural drift. </a:t>
            </a:r>
            <a:r>
              <a:rPr sz="1800" b="1" dirty="0">
                <a:solidFill>
                  <a:srgbClr val="B57815"/>
                </a:solidFill>
                <a:latin typeface="Noto Sans CJK SC"/>
                <a:ea typeface="Noto Sans CJK SC"/>
                <a:cs typeface="Noto Sans CJK SC"/>
              </a:rPr>
              <a:t>Experiments on longitudinal 3D brain MRI</a:t>
            </a:r>
            <a:r>
              <a:rPr sz="1800" b="0" dirty="0">
                <a:solidFill>
                  <a:srgbClr val="19263E"/>
                </a:solidFill>
                <a:latin typeface="Noto Sans CJK SC"/>
                <a:ea typeface="Noto Sans CJK SC"/>
                <a:cs typeface="Noto Sans CJK SC"/>
              </a:rPr>
              <a:t> show that Latent Drift improves patient-specific neuro-forecasting over diffusion and autoregressive transformer baselines across generative fidelity and clinically relevant evaluation metrics. Project page: https://</a:t>
            </a:r>
            <a:r>
              <a:rPr sz="1800" b="0" dirty="0" err="1">
                <a:solidFill>
                  <a:srgbClr val="19263E"/>
                </a:solidFill>
                <a:latin typeface="Noto Sans CJK SC"/>
                <a:ea typeface="Noto Sans CJK SC"/>
                <a:cs typeface="Noto Sans CJK SC"/>
              </a:rPr>
              <a:t>cutepkq.github.io</a:t>
            </a:r>
            <a:r>
              <a:rPr sz="1800" b="0" dirty="0">
                <a:solidFill>
                  <a:srgbClr val="19263E"/>
                </a:solidFill>
                <a:latin typeface="Noto Sans CJK SC"/>
                <a:ea typeface="Noto Sans CJK SC"/>
                <a:cs typeface="Noto Sans CJK SC"/>
              </a:rPr>
              <a:t>/latent-drift.</a:t>
            </a:r>
          </a:p>
        </p:txBody>
      </p:sp>
      <p:sp>
        <p:nvSpPr>
          <p:cNvPr id="8" name="回应第一个问题">
            <a:extLst>
              <a:ext uri="{FF2B5EF4-FFF2-40B4-BE49-F238E27FC236}">
                <a16:creationId xmlns:a16="http://schemas.microsoft.com/office/drawing/2014/main" id="{09D39B84-2077-4038-B28D-EFA1ADADDC4E}"/>
              </a:ext>
            </a:extLst>
          </p:cNvPr>
          <p:cNvSpPr>
            <a:spLocks noGrp="1"/>
          </p:cNvSpPr>
          <p:nvPr/>
        </p:nvSpPr>
        <p:spPr>
          <a:xfrm>
            <a:off x="7943850" y="2057400"/>
            <a:ext cx="3619500" cy="342900"/>
          </a:xfrm>
          <a:prstGeom prst="rect">
            <a:avLst/>
          </a:prstGeom>
          <a:noFill/>
          <a:ln w="0">
            <a:noFill/>
          </a:ln>
        </p:spPr>
        <p:txBody>
          <a:bodyPr wrap="none" lIns="0" tIns="0" rIns="0" bIns="0" anchor="t">
            <a:noAutofit/>
          </a:bodyPr>
          <a:lstStyle>
            <a:defPPr algn="l">
              <a:defRPr sz="1950" b="1">
                <a:solidFill>
                  <a:srgbClr val="356DA7"/>
                </a:solidFill>
                <a:latin typeface="Noto Sans CJK SC"/>
                <a:ea typeface="Noto Sans CJK SC"/>
                <a:cs typeface="Noto Sans CJK SC"/>
              </a:defRPr>
            </a:defPPr>
          </a:lstStyle>
          <a:p>
            <a:pPr algn="l">
              <a:buNone/>
              <a:defRPr sz="1950" b="1">
                <a:solidFill>
                  <a:srgbClr val="356DA7"/>
                </a:solidFill>
                <a:latin typeface="Noto Sans CJK SC"/>
                <a:ea typeface="Noto Sans CJK SC"/>
                <a:cs typeface="Noto Sans CJK SC"/>
              </a:defRPr>
            </a:pPr>
            <a:r>
              <a:rPr sz="1950" b="1">
                <a:solidFill>
                  <a:srgbClr val="356DA7"/>
                </a:solidFill>
                <a:latin typeface="Noto Sans CJK SC"/>
                <a:ea typeface="Noto Sans CJK SC"/>
                <a:cs typeface="Noto Sans CJK SC"/>
              </a:rPr>
              <a:t>针对第一个问题</a:t>
            </a:r>
          </a:p>
        </p:txBody>
      </p:sp>
      <p:sp>
        <p:nvSpPr>
          <p:cNvPr id="9" name="以变化表示替代完整未来状态，将模型容量聚焦于进展。">
            <a:extLst>
              <a:ext uri="{FF2B5EF4-FFF2-40B4-BE49-F238E27FC236}">
                <a16:creationId xmlns:a16="http://schemas.microsoft.com/office/drawing/2014/main" id="{EA261177-DEE6-489F-B1F3-6A1162282252}"/>
              </a:ext>
            </a:extLst>
          </p:cNvPr>
          <p:cNvSpPr>
            <a:spLocks noGrp="1"/>
          </p:cNvSpPr>
          <p:nvPr/>
        </p:nvSpPr>
        <p:spPr>
          <a:xfrm>
            <a:off x="7943850" y="2466975"/>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a:solidFill>
                  <a:srgbClr val="19263E"/>
                </a:solidFill>
                <a:latin typeface="Noto Sans CJK SC"/>
                <a:ea typeface="Noto Sans CJK SC"/>
                <a:cs typeface="Noto Sans CJK SC"/>
              </a:rPr>
              <a:t>模型改为预测前后变化，让学习重点放</a:t>
            </a:r>
          </a:p>
          <a:p>
            <a:pPr algn="l">
              <a:buNone/>
              <a:defRPr sz="1650" b="0">
                <a:solidFill>
                  <a:srgbClr val="19263E"/>
                </a:solidFill>
                <a:latin typeface="Noto Sans CJK SC"/>
                <a:ea typeface="Noto Sans CJK SC"/>
                <a:cs typeface="Noto Sans CJK SC"/>
              </a:defRPr>
            </a:pPr>
            <a:r>
              <a:rPr sz="1650" b="0">
                <a:solidFill>
                  <a:srgbClr val="19263E"/>
                </a:solidFill>
                <a:latin typeface="Noto Sans CJK SC"/>
                <a:ea typeface="Noto Sans CJK SC"/>
                <a:cs typeface="Noto Sans CJK SC"/>
              </a:rPr>
              <a:t>在疾病进展上，减少对原有结构的重复</a:t>
            </a:r>
          </a:p>
          <a:p>
            <a:pPr algn="l">
              <a:buNone/>
              <a:defRPr sz="1650" b="0">
                <a:solidFill>
                  <a:srgbClr val="19263E"/>
                </a:solidFill>
                <a:latin typeface="Noto Sans CJK SC"/>
                <a:ea typeface="Noto Sans CJK SC"/>
                <a:cs typeface="Noto Sans CJK SC"/>
              </a:defRPr>
            </a:pPr>
            <a:r>
              <a:rPr sz="1650" b="0">
                <a:solidFill>
                  <a:srgbClr val="19263E"/>
                </a:solidFill>
                <a:latin typeface="Noto Sans CJK SC"/>
                <a:ea typeface="Noto Sans CJK SC"/>
                <a:cs typeface="Noto Sans CJK SC"/>
              </a:rPr>
              <a:t>建模。</a:t>
            </a:r>
          </a:p>
        </p:txBody>
      </p:sp>
      <p:sp>
        <p:nvSpPr>
          <p:cNvPr id="10" name="回应第二个问题">
            <a:extLst>
              <a:ext uri="{FF2B5EF4-FFF2-40B4-BE49-F238E27FC236}">
                <a16:creationId xmlns:a16="http://schemas.microsoft.com/office/drawing/2014/main" id="{D06C20C4-1FA1-4787-B1FD-6BEFC9C34E04}"/>
              </a:ext>
            </a:extLst>
          </p:cNvPr>
          <p:cNvSpPr>
            <a:spLocks noGrp="1"/>
          </p:cNvSpPr>
          <p:nvPr/>
        </p:nvSpPr>
        <p:spPr>
          <a:xfrm>
            <a:off x="7943850" y="3495675"/>
            <a:ext cx="3619500" cy="342900"/>
          </a:xfrm>
          <a:prstGeom prst="rect">
            <a:avLst/>
          </a:prstGeom>
          <a:noFill/>
          <a:ln w="0">
            <a:noFill/>
          </a:ln>
        </p:spPr>
        <p:txBody>
          <a:bodyPr wrap="none" lIns="0" tIns="0" rIns="0" bIns="0" anchor="t">
            <a:noAutofit/>
          </a:bodyPr>
          <a:lstStyle>
            <a:defPPr algn="l">
              <a:defRPr sz="1950" b="1">
                <a:solidFill>
                  <a:srgbClr val="168F85"/>
                </a:solidFill>
                <a:latin typeface="Noto Sans CJK SC"/>
                <a:ea typeface="Noto Sans CJK SC"/>
                <a:cs typeface="Noto Sans CJK SC"/>
              </a:defRPr>
            </a:defPPr>
          </a:lstStyle>
          <a:p>
            <a:pPr algn="l">
              <a:buNone/>
              <a:defRPr sz="1950" b="1">
                <a:solidFill>
                  <a:srgbClr val="168F85"/>
                </a:solidFill>
                <a:latin typeface="Noto Sans CJK SC"/>
                <a:ea typeface="Noto Sans CJK SC"/>
                <a:cs typeface="Noto Sans CJK SC"/>
              </a:defRPr>
            </a:pPr>
            <a:r>
              <a:rPr sz="1950" b="1">
                <a:solidFill>
                  <a:srgbClr val="168F85"/>
                </a:solidFill>
                <a:latin typeface="Noto Sans CJK SC"/>
                <a:ea typeface="Noto Sans CJK SC"/>
                <a:cs typeface="Noto Sans CJK SC"/>
              </a:rPr>
              <a:t>针对第二个问题</a:t>
            </a:r>
          </a:p>
        </p:txBody>
      </p:sp>
      <p:sp>
        <p:nvSpPr>
          <p:cNvPr id="11" name="用 FSQ 解释扰动抑制，并给出保留结构变化的机制主张。">
            <a:extLst>
              <a:ext uri="{FF2B5EF4-FFF2-40B4-BE49-F238E27FC236}">
                <a16:creationId xmlns:a16="http://schemas.microsoft.com/office/drawing/2014/main" id="{45319956-A810-48B1-8304-392D7C672EB7}"/>
              </a:ext>
            </a:extLst>
          </p:cNvPr>
          <p:cNvSpPr>
            <a:spLocks noGrp="1"/>
          </p:cNvSpPr>
          <p:nvPr/>
        </p:nvSpPr>
        <p:spPr>
          <a:xfrm>
            <a:off x="7943850" y="3905250"/>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用</a:t>
            </a:r>
            <a:r>
              <a:rPr sz="1650" b="0" dirty="0">
                <a:solidFill>
                  <a:srgbClr val="19263E"/>
                </a:solidFill>
                <a:latin typeface="Noto Sans CJK SC"/>
                <a:ea typeface="Noto Sans CJK SC"/>
                <a:cs typeface="Noto Sans CJK SC"/>
              </a:rPr>
              <a:t> FSQ </a:t>
            </a:r>
            <a:r>
              <a:rPr sz="1650" b="0" dirty="0" err="1">
                <a:solidFill>
                  <a:srgbClr val="19263E"/>
                </a:solidFill>
                <a:latin typeface="Noto Sans CJK SC"/>
                <a:ea typeface="Noto Sans CJK SC"/>
                <a:cs typeface="Noto Sans CJK SC"/>
              </a:rPr>
              <a:t>抑制扰动，去掉噪声、保留结构变化</a:t>
            </a:r>
            <a:r>
              <a:rPr sz="1650" b="0" dirty="0">
                <a:solidFill>
                  <a:srgbClr val="19263E"/>
                </a:solidFill>
                <a:latin typeface="Noto Sans CJK SC"/>
                <a:ea typeface="Noto Sans CJK SC"/>
                <a:cs typeface="Noto Sans CJK SC"/>
              </a:rPr>
              <a:t>。</a:t>
            </a:r>
          </a:p>
        </p:txBody>
      </p:sp>
      <p:sp>
        <p:nvSpPr>
          <p:cNvPr id="12" name="结果收束">
            <a:extLst>
              <a:ext uri="{FF2B5EF4-FFF2-40B4-BE49-F238E27FC236}">
                <a16:creationId xmlns:a16="http://schemas.microsoft.com/office/drawing/2014/main" id="{81582FE1-979A-40F4-BE77-C2EC34D5852A}"/>
              </a:ext>
            </a:extLst>
          </p:cNvPr>
          <p:cNvSpPr>
            <a:spLocks noGrp="1"/>
          </p:cNvSpPr>
          <p:nvPr/>
        </p:nvSpPr>
        <p:spPr>
          <a:xfrm>
            <a:off x="7943850" y="4695825"/>
            <a:ext cx="3619500" cy="342900"/>
          </a:xfrm>
          <a:prstGeom prst="rect">
            <a:avLst/>
          </a:prstGeom>
          <a:noFill/>
          <a:ln w="0">
            <a:noFill/>
          </a:ln>
        </p:spPr>
        <p:txBody>
          <a:bodyPr wrap="none" lIns="0" tIns="0" rIns="0" bIns="0" anchor="t">
            <a:noAutofit/>
          </a:bodyPr>
          <a:lstStyle>
            <a:defPPr algn="l">
              <a:defRPr sz="1950" b="1">
                <a:solidFill>
                  <a:srgbClr val="B57815"/>
                </a:solidFill>
                <a:latin typeface="Noto Sans CJK SC"/>
                <a:ea typeface="Noto Sans CJK SC"/>
                <a:cs typeface="Noto Sans CJK SC"/>
              </a:defRPr>
            </a:defPPr>
          </a:lstStyle>
          <a:p>
            <a:pPr algn="l">
              <a:buNone/>
              <a:defRPr sz="1950" b="1">
                <a:solidFill>
                  <a:srgbClr val="B57815"/>
                </a:solidFill>
                <a:latin typeface="Noto Sans CJK SC"/>
                <a:ea typeface="Noto Sans CJK SC"/>
                <a:cs typeface="Noto Sans CJK SC"/>
              </a:defRPr>
            </a:pPr>
            <a:r>
              <a:rPr sz="1950" b="1" dirty="0" err="1">
                <a:solidFill>
                  <a:srgbClr val="B57815"/>
                </a:solidFill>
                <a:latin typeface="Noto Sans CJK SC"/>
                <a:ea typeface="Noto Sans CJK SC"/>
                <a:cs typeface="Noto Sans CJK SC"/>
              </a:rPr>
              <a:t>实验结果</a:t>
            </a:r>
            <a:endParaRPr sz="1950" b="1" dirty="0">
              <a:solidFill>
                <a:srgbClr val="B57815"/>
              </a:solidFill>
              <a:latin typeface="Noto Sans CJK SC"/>
              <a:ea typeface="Noto Sans CJK SC"/>
              <a:cs typeface="Noto Sans CJK SC"/>
            </a:endParaRPr>
          </a:p>
        </p:txBody>
      </p:sp>
      <p:sp>
        <p:nvSpPr>
          <p:cNvPr id="13" name="最后说明数据类型、对比方法和评价维度，没有在摘要中堆砌数值。">
            <a:extLst>
              <a:ext uri="{FF2B5EF4-FFF2-40B4-BE49-F238E27FC236}">
                <a16:creationId xmlns:a16="http://schemas.microsoft.com/office/drawing/2014/main" id="{588C1F61-6F9B-4704-962A-AF4858F94F85}"/>
              </a:ext>
            </a:extLst>
          </p:cNvPr>
          <p:cNvSpPr>
            <a:spLocks noGrp="1"/>
          </p:cNvSpPr>
          <p:nvPr/>
        </p:nvSpPr>
        <p:spPr>
          <a:xfrm>
            <a:off x="7943850" y="5105400"/>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buNone/>
              <a:defRPr sz="1650" b="0">
                <a:solidFill>
                  <a:srgbClr val="19263E"/>
                </a:solidFill>
                <a:latin typeface="Noto Sans CJK SC"/>
                <a:ea typeface="Noto Sans CJK SC"/>
                <a:cs typeface="Noto Sans CJK SC"/>
              </a:defRPr>
            </a:pPr>
            <a:endParaRPr sz="1650" b="0" dirty="0">
              <a:solidFill>
                <a:srgbClr val="19263E"/>
              </a:solidFill>
              <a:latin typeface="Noto Sans CJK SC"/>
              <a:ea typeface="Noto Sans CJK SC"/>
              <a:cs typeface="Noto Sans CJK SC"/>
            </a:endParaRPr>
          </a:p>
        </p:txBody>
      </p:sp>
      <p:sp>
        <p:nvSpPr>
          <p:cNvPr id="16" name="文本框 15">
            <a:extLst>
              <a:ext uri="{FF2B5EF4-FFF2-40B4-BE49-F238E27FC236}">
                <a16:creationId xmlns:a16="http://schemas.microsoft.com/office/drawing/2014/main" id="{55343DE5-8B20-A4C5-C218-ECAB96EF229D}"/>
              </a:ext>
            </a:extLst>
          </p:cNvPr>
          <p:cNvSpPr txBox="1"/>
          <p:nvPr/>
        </p:nvSpPr>
        <p:spPr>
          <a:xfrm>
            <a:off x="7827691" y="5105400"/>
            <a:ext cx="3417849" cy="584775"/>
          </a:xfrm>
          <a:prstGeom prst="rect">
            <a:avLst/>
          </a:prstGeom>
          <a:noFill/>
        </p:spPr>
        <p:txBody>
          <a:bodyPr wrap="square">
            <a:spAutoFit/>
          </a:bodyPr>
          <a:lstStyle/>
          <a:p>
            <a:pPr>
              <a:buNone/>
              <a:defRPr sz="1650" b="0">
                <a:solidFill>
                  <a:srgbClr val="19263E"/>
                </a:solidFill>
                <a:latin typeface="Noto Sans CJK SC"/>
                <a:ea typeface="Noto Sans CJK SC"/>
                <a:cs typeface="Noto Sans CJK SC"/>
              </a:defRPr>
            </a:pPr>
            <a:r>
              <a:rPr lang="zh-CN" altLang="en-US" sz="1600" b="0" dirty="0">
                <a:solidFill>
                  <a:srgbClr val="19263E"/>
                </a:solidFill>
                <a:latin typeface="Noto Sans CJK SC"/>
                <a:ea typeface="Noto Sans CJK SC"/>
                <a:cs typeface="Noto Sans CJK SC"/>
              </a:rPr>
              <a:t>图像生成质量和临床指标均超过</a:t>
            </a:r>
            <a:r>
              <a:rPr lang="en" altLang="zh-CN" sz="1600" b="0" dirty="0">
                <a:solidFill>
                  <a:srgbClr val="19263E"/>
                </a:solidFill>
                <a:latin typeface="Noto Sans CJK SC"/>
                <a:ea typeface="Noto Sans CJK SC"/>
                <a:cs typeface="Noto Sans CJK SC"/>
              </a:rPr>
              <a:t>diffusion</a:t>
            </a:r>
            <a:r>
              <a:rPr lang="zh-CN" altLang="en-US" sz="1600" b="0" dirty="0">
                <a:solidFill>
                  <a:srgbClr val="19263E"/>
                </a:solidFill>
                <a:latin typeface="Noto Sans CJK SC"/>
                <a:ea typeface="Noto Sans CJK SC"/>
                <a:cs typeface="Noto Sans CJK SC"/>
              </a:rPr>
              <a:t>和</a:t>
            </a:r>
            <a:r>
              <a:rPr lang="en" altLang="zh-CN" sz="1600" b="0" dirty="0">
                <a:solidFill>
                  <a:srgbClr val="19263E"/>
                </a:solidFill>
                <a:latin typeface="Noto Sans CJK SC"/>
                <a:ea typeface="Noto Sans CJK SC"/>
                <a:cs typeface="Noto Sans CJK SC"/>
              </a:rPr>
              <a:t>AR transformer</a:t>
            </a:r>
          </a:p>
        </p:txBody>
      </p:sp>
    </p:spTree>
    <p:extLst>
      <p:ext uri="{BB962C8B-B14F-4D97-AF65-F5344CB8AC3E}">
        <p14:creationId xmlns:p14="http://schemas.microsoft.com/office/powerpoint/2010/main" val="1740450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写作分析">
            <a:extLst>
              <a:ext uri="{FF2B5EF4-FFF2-40B4-BE49-F238E27FC236}">
                <a16:creationId xmlns:a16="http://schemas.microsoft.com/office/drawing/2014/main" id="{1FB9E95B-A608-482D-9A55-D1536539C5BC}"/>
              </a:ext>
            </a:extLst>
          </p:cNvPr>
          <p:cNvSpPr>
            <a:spLocks noGrp="1"/>
          </p:cNvSpPr>
          <p:nvPr/>
        </p:nvSpPr>
        <p:spPr>
          <a:xfrm>
            <a:off x="609600" y="238125"/>
            <a:ext cx="9715500" cy="285750"/>
          </a:xfrm>
          <a:prstGeom prst="rect">
            <a:avLst/>
          </a:prstGeom>
          <a:noFill/>
          <a:ln w="0">
            <a:noFill/>
          </a:ln>
        </p:spPr>
        <p:txBody>
          <a:bodyPr wrap="square" lIns="0" tIns="0" rIns="0" bIns="0" anchor="t">
            <a:noAutofit/>
          </a:bodyPr>
          <a:lstStyle>
            <a:defPPr>
              <a:defRPr sz="1200" b="1">
                <a:solidFill>
                  <a:srgbClr val="356DA7"/>
                </a:solidFill>
                <a:latin typeface="Noto Sans CJK SC"/>
                <a:ea typeface="Noto Sans CJK SC"/>
                <a:cs typeface="Noto Sans CJK SC"/>
              </a:defRPr>
            </a:defPPr>
          </a:lstStyle>
          <a:p>
            <a:pPr>
              <a:buNone/>
              <a:defRPr sz="1200" b="1">
                <a:solidFill>
                  <a:srgbClr val="356DA7"/>
                </a:solidFill>
                <a:latin typeface="Noto Sans CJK SC"/>
                <a:ea typeface="Noto Sans CJK SC"/>
                <a:cs typeface="Noto Sans CJK SC"/>
              </a:defRPr>
            </a:pPr>
            <a:r>
              <a:rPr sz="1200" b="1" dirty="0" err="1">
                <a:solidFill>
                  <a:srgbClr val="356DA7"/>
                </a:solidFill>
                <a:latin typeface="Noto Sans CJK SC"/>
                <a:ea typeface="Noto Sans CJK SC"/>
                <a:cs typeface="Noto Sans CJK SC"/>
              </a:rPr>
              <a:t>写作分析</a:t>
            </a:r>
            <a:endParaRPr sz="1200" b="1" dirty="0">
              <a:solidFill>
                <a:srgbClr val="356DA7"/>
              </a:solidFill>
              <a:latin typeface="Noto Sans CJK SC"/>
              <a:ea typeface="Noto Sans CJK SC"/>
              <a:cs typeface="Noto Sans CJK SC"/>
            </a:endParaRPr>
          </a:p>
        </p:txBody>
      </p:sp>
      <p:sp>
        <p:nvSpPr>
          <p:cNvPr id="2" name="22">
            <a:extLst>
              <a:ext uri="{FF2B5EF4-FFF2-40B4-BE49-F238E27FC236}">
                <a16:creationId xmlns:a16="http://schemas.microsoft.com/office/drawing/2014/main" id="{E8EA28F1-1204-493D-A6ED-912B1FA75434}"/>
              </a:ext>
            </a:extLst>
          </p:cNvPr>
          <p:cNvSpPr>
            <a:spLocks noGrp="1"/>
          </p:cNvSpPr>
          <p:nvPr/>
        </p:nvSpPr>
        <p:spPr>
          <a:xfrm>
            <a:off x="11077575" y="238125"/>
            <a:ext cx="514350" cy="285750"/>
          </a:xfrm>
          <a:prstGeom prst="rect">
            <a:avLst/>
          </a:prstGeom>
          <a:noFill/>
          <a:ln w="0">
            <a:noFill/>
          </a:ln>
        </p:spPr>
        <p:txBody>
          <a:bodyPr wrap="square" lIns="0" tIns="0" rIns="0" bIns="0" anchor="t">
            <a:noAutofit/>
          </a:bodyPr>
          <a:lstStyle>
            <a:defPPr>
              <a:defRPr sz="1200" b="0">
                <a:solidFill>
                  <a:srgbClr val="68758A"/>
                </a:solidFill>
                <a:latin typeface="Noto Sans CJK SC"/>
                <a:ea typeface="Noto Sans CJK SC"/>
                <a:cs typeface="Noto Sans CJK SC"/>
              </a:defRPr>
            </a:defPPr>
          </a:lstStyle>
          <a:p>
            <a:pPr>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22</a:t>
            </a:r>
          </a:p>
        </p:txBody>
      </p:sp>
      <p:sp>
        <p:nvSpPr>
          <p:cNvPr id="3" name="Introduction（1/9）：临床问题与研究价值">
            <a:extLst>
              <a:ext uri="{FF2B5EF4-FFF2-40B4-BE49-F238E27FC236}">
                <a16:creationId xmlns:a16="http://schemas.microsoft.com/office/drawing/2014/main" id="{8707354E-9661-4393-868F-D75FCA00EAA0}"/>
              </a:ext>
            </a:extLst>
          </p:cNvPr>
          <p:cNvSpPr>
            <a:spLocks noGrp="1"/>
          </p:cNvSpPr>
          <p:nvPr/>
        </p:nvSpPr>
        <p:spPr>
          <a:xfrm>
            <a:off x="609600" y="666750"/>
            <a:ext cx="10953750" cy="638175"/>
          </a:xfrm>
          <a:prstGeom prst="rect">
            <a:avLst/>
          </a:prstGeom>
          <a:noFill/>
          <a:ln w="0">
            <a:noFill/>
          </a:ln>
        </p:spPr>
        <p:txBody>
          <a:bodyPr wrap="square" lIns="0" tIns="0" rIns="0" bIns="0" anchor="t">
            <a:noAutofit/>
          </a:bodyPr>
          <a:lstStyle>
            <a:defPPr>
              <a:defRPr sz="2925" b="1">
                <a:solidFill>
                  <a:srgbClr val="19263E"/>
                </a:solidFill>
                <a:latin typeface="Noto Sans CJK SC"/>
                <a:ea typeface="Noto Sans CJK SC"/>
                <a:cs typeface="Noto Sans CJK SC"/>
              </a:defRPr>
            </a:defPPr>
          </a:lstStyle>
          <a:p>
            <a:pPr>
              <a:buNone/>
              <a:defRPr sz="2925" b="1">
                <a:solidFill>
                  <a:srgbClr val="19263E"/>
                </a:solidFill>
                <a:latin typeface="Noto Sans CJK SC"/>
                <a:ea typeface="Noto Sans CJK SC"/>
                <a:cs typeface="Noto Sans CJK SC"/>
              </a:defRPr>
            </a:pPr>
            <a:r>
              <a:rPr sz="2925" b="1" dirty="0">
                <a:solidFill>
                  <a:srgbClr val="19263E"/>
                </a:solidFill>
                <a:latin typeface="Noto Sans CJK SC"/>
                <a:ea typeface="Noto Sans CJK SC"/>
                <a:cs typeface="Noto Sans CJK SC"/>
              </a:rPr>
              <a:t>Introduction（1/</a:t>
            </a:r>
            <a:r>
              <a:rPr lang="en-US" altLang="zh-CN" sz="2925" b="1" dirty="0">
                <a:solidFill>
                  <a:srgbClr val="19263E"/>
                </a:solidFill>
                <a:latin typeface="Noto Sans CJK SC"/>
                <a:ea typeface="Noto Sans CJK SC"/>
                <a:cs typeface="Noto Sans CJK SC"/>
              </a:rPr>
              <a:t>8</a:t>
            </a:r>
            <a:r>
              <a:rPr sz="2925" b="1" dirty="0">
                <a:solidFill>
                  <a:srgbClr val="19263E"/>
                </a:solidFill>
                <a:latin typeface="Noto Sans CJK SC"/>
                <a:ea typeface="Noto Sans CJK SC"/>
                <a:cs typeface="Noto Sans CJK SC"/>
              </a:rPr>
              <a:t>）：</a:t>
            </a:r>
            <a:r>
              <a:rPr sz="2925" b="1" dirty="0" err="1">
                <a:solidFill>
                  <a:srgbClr val="19263E"/>
                </a:solidFill>
                <a:latin typeface="Noto Sans CJK SC"/>
                <a:ea typeface="Noto Sans CJK SC"/>
                <a:cs typeface="Noto Sans CJK SC"/>
              </a:rPr>
              <a:t>临床问题与研究价值</a:t>
            </a:r>
            <a:endParaRPr sz="2925" b="1" dirty="0">
              <a:solidFill>
                <a:srgbClr val="19263E"/>
              </a:solidFill>
              <a:latin typeface="Noto Sans CJK SC"/>
              <a:ea typeface="Noto Sans CJK SC"/>
              <a:cs typeface="Noto Sans CJK SC"/>
            </a:endParaRPr>
          </a:p>
        </p:txBody>
      </p:sp>
      <p:sp>
        <p:nvSpPr>
          <p:cNvPr id="6" name="Dynamic simulation of organ evolution [5">
            <a:extLst>
              <a:ext uri="{FF2B5EF4-FFF2-40B4-BE49-F238E27FC236}">
                <a16:creationId xmlns:a16="http://schemas.microsoft.com/office/drawing/2014/main" id="{2AE71979-9BBB-4905-A48D-118FBD98EF63}"/>
              </a:ext>
            </a:extLst>
          </p:cNvPr>
          <p:cNvSpPr>
            <a:spLocks noGrp="1"/>
          </p:cNvSpPr>
          <p:nvPr/>
        </p:nvSpPr>
        <p:spPr>
          <a:xfrm>
            <a:off x="609600" y="2066925"/>
            <a:ext cx="7010400" cy="4133850"/>
          </a:xfrm>
          <a:prstGeom prst="rect">
            <a:avLst/>
          </a:prstGeom>
          <a:noFill/>
          <a:ln w="0">
            <a:noFill/>
          </a:ln>
        </p:spPr>
        <p:txBody>
          <a:bodyPr wrap="square" lIns="0" tIns="0" rIns="0" bIns="0" anchor="t">
            <a:noAutofit/>
          </a:bodyPr>
          <a:lstStyle>
            <a:defPPr>
              <a:defRPr sz="1800" b="0">
                <a:solidFill>
                  <a:srgbClr val="19263E"/>
                </a:solidFill>
                <a:latin typeface="Noto Sans CJK SC"/>
                <a:ea typeface="Noto Sans CJK SC"/>
                <a:cs typeface="Noto Sans CJK SC"/>
              </a:defRPr>
            </a:defPPr>
          </a:lstStyle>
          <a:p>
            <a:pPr>
              <a:buNone/>
              <a:defRPr sz="1800" b="0">
                <a:solidFill>
                  <a:srgbClr val="19263E"/>
                </a:solidFill>
                <a:latin typeface="Noto Sans CJK SC"/>
                <a:ea typeface="Noto Sans CJK SC"/>
                <a:cs typeface="Noto Sans CJK SC"/>
              </a:defRPr>
            </a:pPr>
            <a:r>
              <a:rPr sz="1800" b="0">
                <a:solidFill>
                  <a:srgbClr val="19263E"/>
                </a:solidFill>
                <a:latin typeface="Noto Sans CJK SC"/>
                <a:ea typeface="Noto Sans CJK SC"/>
                <a:cs typeface="Noto Sans CJK SC"/>
              </a:rPr>
              <a:t>Dynamic simulation of organ evolution [51, 13, 7] is essential for forecasting disease trajectories, particularly for neurodegeneration and other slow-evolving brain pathologies that progress along </a:t>
            </a:r>
            <a:r>
              <a:rPr sz="1800" b="1">
                <a:solidFill>
                  <a:srgbClr val="356DA7"/>
                </a:solidFill>
                <a:latin typeface="Noto Sans CJK SC"/>
                <a:ea typeface="Noto Sans CJK SC"/>
                <a:cs typeface="Noto Sans CJK SC"/>
              </a:rPr>
              <a:t>largely irreversible courses</a:t>
            </a:r>
            <a:r>
              <a:rPr sz="1800" b="0">
                <a:solidFill>
                  <a:srgbClr val="19263E"/>
                </a:solidFill>
                <a:latin typeface="Noto Sans CJK SC"/>
                <a:ea typeface="Noto Sans CJK SC"/>
                <a:cs typeface="Noto Sans CJK SC"/>
              </a:rPr>
              <a:t>. Because neuronal loss and downstream structural changes (e.g., cortical thinning and ventricular enlargement) cannot be recovered [5, 1], substantial tissue damage may already be present by the time symptoms become clinically apparent [4, 14]. This delayed observability narrows the effective window for intervention and complicates the development and evaluation of disease-modifying therapies, which increasingly depend on identifying </a:t>
            </a:r>
            <a:r>
              <a:rPr sz="1800" b="1">
                <a:solidFill>
                  <a:srgbClr val="B57815"/>
                </a:solidFill>
                <a:latin typeface="Noto Sans CJK SC"/>
                <a:ea typeface="Noto Sans CJK SC"/>
                <a:cs typeface="Noto Sans CJK SC"/>
              </a:rPr>
              <a:t>who will deteriorate, where, and how fast</a:t>
            </a:r>
            <a:r>
              <a:rPr sz="1800" b="0">
                <a:solidFill>
                  <a:srgbClr val="19263E"/>
                </a:solidFill>
                <a:latin typeface="Noto Sans CJK SC"/>
                <a:ea typeface="Noto Sans CJK SC"/>
                <a:cs typeface="Noto Sans CJK SC"/>
              </a:rPr>
              <a:t> [37, 60, 3].</a:t>
            </a:r>
          </a:p>
        </p:txBody>
      </p:sp>
      <p:sp>
        <p:nvSpPr>
          <p:cNvPr id="8" name="确定应用范围">
            <a:extLst>
              <a:ext uri="{FF2B5EF4-FFF2-40B4-BE49-F238E27FC236}">
                <a16:creationId xmlns:a16="http://schemas.microsoft.com/office/drawing/2014/main" id="{B014984E-9055-464A-A51A-AC42F4283AED}"/>
              </a:ext>
            </a:extLst>
          </p:cNvPr>
          <p:cNvSpPr>
            <a:spLocks noGrp="1"/>
          </p:cNvSpPr>
          <p:nvPr/>
        </p:nvSpPr>
        <p:spPr>
          <a:xfrm>
            <a:off x="7943850" y="2057400"/>
            <a:ext cx="3619500" cy="342900"/>
          </a:xfrm>
          <a:prstGeom prst="rect">
            <a:avLst/>
          </a:prstGeom>
          <a:noFill/>
          <a:ln w="0">
            <a:noFill/>
          </a:ln>
        </p:spPr>
        <p:txBody>
          <a:bodyPr wrap="none" lIns="0" tIns="0" rIns="0" bIns="0" anchor="t">
            <a:noAutofit/>
          </a:bodyPr>
          <a:lstStyle>
            <a:defPPr algn="l">
              <a:defRPr sz="1950" b="1">
                <a:solidFill>
                  <a:srgbClr val="356DA7"/>
                </a:solidFill>
                <a:latin typeface="Noto Sans CJK SC"/>
                <a:ea typeface="Noto Sans CJK SC"/>
                <a:cs typeface="Noto Sans CJK SC"/>
              </a:defRPr>
            </a:defPPr>
          </a:lstStyle>
          <a:p>
            <a:pPr algn="l">
              <a:buNone/>
              <a:defRPr sz="1950" b="1">
                <a:solidFill>
                  <a:srgbClr val="356DA7"/>
                </a:solidFill>
                <a:latin typeface="Noto Sans CJK SC"/>
                <a:ea typeface="Noto Sans CJK SC"/>
                <a:cs typeface="Noto Sans CJK SC"/>
              </a:defRPr>
            </a:pPr>
            <a:r>
              <a:rPr lang="zh-CN" altLang="en-US" sz="1950" b="1" dirty="0">
                <a:solidFill>
                  <a:srgbClr val="356DA7"/>
                </a:solidFill>
                <a:latin typeface="Noto Sans CJK SC"/>
                <a:ea typeface="Noto Sans CJK SC"/>
                <a:cs typeface="Noto Sans CJK SC"/>
              </a:rPr>
              <a:t>研究背景</a:t>
            </a:r>
          </a:p>
        </p:txBody>
      </p:sp>
      <p:sp>
        <p:nvSpPr>
          <p:cNvPr id="9" name="从器官演化模拟切入，收窄到缓慢且难以逆转的神经退变。">
            <a:extLst>
              <a:ext uri="{FF2B5EF4-FFF2-40B4-BE49-F238E27FC236}">
                <a16:creationId xmlns:a16="http://schemas.microsoft.com/office/drawing/2014/main" id="{DAA980E8-1789-4730-BCD6-A2FAF8CAB0E4}"/>
              </a:ext>
            </a:extLst>
          </p:cNvPr>
          <p:cNvSpPr>
            <a:spLocks noGrp="1"/>
          </p:cNvSpPr>
          <p:nvPr/>
        </p:nvSpPr>
        <p:spPr>
          <a:xfrm>
            <a:off x="7943850" y="2466975"/>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神经退行性疾病</a:t>
            </a:r>
            <a:r>
              <a:rPr lang="zh-CN" altLang="en-US" sz="1650" b="0" dirty="0">
                <a:solidFill>
                  <a:srgbClr val="19263E"/>
                </a:solidFill>
                <a:latin typeface="Noto Sans CJK SC"/>
                <a:ea typeface="Noto Sans CJK SC"/>
                <a:cs typeface="Noto Sans CJK SC"/>
              </a:rPr>
              <a:t>进展缓慢且</a:t>
            </a:r>
            <a:endParaRPr sz="1650" b="0" dirty="0">
              <a:solidFill>
                <a:srgbClr val="19263E"/>
              </a:solidFill>
              <a:latin typeface="Noto Sans CJK SC"/>
              <a:ea typeface="Noto Sans CJK SC"/>
              <a:cs typeface="Noto Sans CJK SC"/>
            </a:endParaRPr>
          </a:p>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难以逆转</a:t>
            </a:r>
            <a:r>
              <a:rPr sz="1650" b="0" dirty="0">
                <a:solidFill>
                  <a:srgbClr val="19263E"/>
                </a:solidFill>
                <a:latin typeface="Noto Sans CJK SC"/>
                <a:ea typeface="Noto Sans CJK SC"/>
                <a:cs typeface="Noto Sans CJK SC"/>
              </a:rPr>
              <a:t>。</a:t>
            </a:r>
          </a:p>
        </p:txBody>
      </p:sp>
      <p:sp>
        <p:nvSpPr>
          <p:cNvPr id="10" name="建立因果关系">
            <a:extLst>
              <a:ext uri="{FF2B5EF4-FFF2-40B4-BE49-F238E27FC236}">
                <a16:creationId xmlns:a16="http://schemas.microsoft.com/office/drawing/2014/main" id="{57BA51E7-E74C-4B50-A6D5-C90BBA19DF3F}"/>
              </a:ext>
            </a:extLst>
          </p:cNvPr>
          <p:cNvSpPr>
            <a:spLocks noGrp="1"/>
          </p:cNvSpPr>
          <p:nvPr/>
        </p:nvSpPr>
        <p:spPr>
          <a:xfrm>
            <a:off x="7943850" y="3195638"/>
            <a:ext cx="3619500" cy="342900"/>
          </a:xfrm>
          <a:prstGeom prst="rect">
            <a:avLst/>
          </a:prstGeom>
          <a:noFill/>
          <a:ln w="0">
            <a:noFill/>
          </a:ln>
        </p:spPr>
        <p:txBody>
          <a:bodyPr wrap="none" lIns="0" tIns="0" rIns="0" bIns="0" anchor="t">
            <a:noAutofit/>
          </a:bodyPr>
          <a:lstStyle>
            <a:defPPr algn="l">
              <a:defRPr sz="1950" b="1">
                <a:solidFill>
                  <a:srgbClr val="168F85"/>
                </a:solidFill>
                <a:latin typeface="Noto Sans CJK SC"/>
                <a:ea typeface="Noto Sans CJK SC"/>
                <a:cs typeface="Noto Sans CJK SC"/>
              </a:defRPr>
            </a:defPPr>
          </a:lstStyle>
          <a:p>
            <a:pPr algn="l">
              <a:buNone/>
              <a:defRPr sz="1950" b="1">
                <a:solidFill>
                  <a:srgbClr val="168F85"/>
                </a:solidFill>
                <a:latin typeface="Noto Sans CJK SC"/>
                <a:ea typeface="Noto Sans CJK SC"/>
                <a:cs typeface="Noto Sans CJK SC"/>
              </a:defRPr>
            </a:pPr>
            <a:r>
              <a:rPr sz="1950" b="1" dirty="0" err="1">
                <a:solidFill>
                  <a:srgbClr val="168F85"/>
                </a:solidFill>
                <a:latin typeface="Noto Sans CJK SC"/>
                <a:ea typeface="Noto Sans CJK SC"/>
                <a:cs typeface="Noto Sans CJK SC"/>
              </a:rPr>
              <a:t>为什么需要预测</a:t>
            </a:r>
            <a:endParaRPr sz="1950" b="1" dirty="0">
              <a:solidFill>
                <a:srgbClr val="168F85"/>
              </a:solidFill>
              <a:latin typeface="Noto Sans CJK SC"/>
              <a:ea typeface="Noto Sans CJK SC"/>
              <a:cs typeface="Noto Sans CJK SC"/>
            </a:endParaRPr>
          </a:p>
        </p:txBody>
      </p:sp>
      <p:sp>
        <p:nvSpPr>
          <p:cNvPr id="11" name="结构损伤早于明显症状，因此临床发现时可能已积累较多损伤。">
            <a:extLst>
              <a:ext uri="{FF2B5EF4-FFF2-40B4-BE49-F238E27FC236}">
                <a16:creationId xmlns:a16="http://schemas.microsoft.com/office/drawing/2014/main" id="{B571EFC3-74D4-4C0F-8AD1-F7303C987C07}"/>
              </a:ext>
            </a:extLst>
          </p:cNvPr>
          <p:cNvSpPr>
            <a:spLocks noGrp="1"/>
          </p:cNvSpPr>
          <p:nvPr/>
        </p:nvSpPr>
        <p:spPr>
          <a:xfrm>
            <a:off x="7943850" y="3614737"/>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结构损伤可能早于明显症状。等到临床</a:t>
            </a:r>
            <a:endParaRPr sz="1650" b="0" dirty="0">
              <a:solidFill>
                <a:srgbClr val="19263E"/>
              </a:solidFill>
              <a:latin typeface="Noto Sans CJK SC"/>
              <a:ea typeface="Noto Sans CJK SC"/>
              <a:cs typeface="Noto Sans CJK SC"/>
            </a:endParaRPr>
          </a:p>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上发现疾病时，患者可能已经积累了较</a:t>
            </a:r>
            <a:endParaRPr sz="1650" b="0" dirty="0">
              <a:solidFill>
                <a:srgbClr val="19263E"/>
              </a:solidFill>
              <a:latin typeface="Noto Sans CJK SC"/>
              <a:ea typeface="Noto Sans CJK SC"/>
              <a:cs typeface="Noto Sans CJK SC"/>
            </a:endParaRPr>
          </a:p>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多损伤</a:t>
            </a:r>
            <a:r>
              <a:rPr sz="1650" b="0" dirty="0">
                <a:solidFill>
                  <a:srgbClr val="19263E"/>
                </a:solidFill>
                <a:latin typeface="Noto Sans CJK SC"/>
                <a:ea typeface="Noto Sans CJK SC"/>
                <a:cs typeface="Noto Sans CJK SC"/>
              </a:rPr>
              <a:t>。</a:t>
            </a:r>
          </a:p>
        </p:txBody>
      </p:sp>
      <p:sp>
        <p:nvSpPr>
          <p:cNvPr id="13" name="以“谁会恶化、哪里、速度多快”把临床需求转成可研究的问题。">
            <a:extLst>
              <a:ext uri="{FF2B5EF4-FFF2-40B4-BE49-F238E27FC236}">
                <a16:creationId xmlns:a16="http://schemas.microsoft.com/office/drawing/2014/main" id="{C6EF334C-3B92-415B-9A85-A61660A78154}"/>
              </a:ext>
            </a:extLst>
          </p:cNvPr>
          <p:cNvSpPr>
            <a:spLocks noGrp="1"/>
          </p:cNvSpPr>
          <p:nvPr/>
        </p:nvSpPr>
        <p:spPr>
          <a:xfrm>
            <a:off x="7943850" y="4652962"/>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lang="zh-CN" altLang="en-US" sz="1950" b="1" dirty="0">
                <a:solidFill>
                  <a:srgbClr val="B57815"/>
                </a:solidFill>
                <a:latin typeface="Noto Sans CJK SC"/>
              </a:rPr>
              <a:t>预测目标</a:t>
            </a:r>
            <a:endParaRPr sz="1950" b="1" dirty="0">
              <a:solidFill>
                <a:srgbClr val="B57815"/>
              </a:solidFill>
              <a:latin typeface="Noto Sans CJK SC"/>
            </a:endParaRPr>
          </a:p>
        </p:txBody>
      </p:sp>
    </p:spTree>
    <p:extLst>
      <p:ext uri="{BB962C8B-B14F-4D97-AF65-F5344CB8AC3E}">
        <p14:creationId xmlns:p14="http://schemas.microsoft.com/office/powerpoint/2010/main" val="8207895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写作分析">
            <a:extLst>
              <a:ext uri="{FF2B5EF4-FFF2-40B4-BE49-F238E27FC236}">
                <a16:creationId xmlns:a16="http://schemas.microsoft.com/office/drawing/2014/main" id="{FA6AC700-4FBC-452C-8E6C-0446D10A5D93}"/>
              </a:ext>
            </a:extLst>
          </p:cNvPr>
          <p:cNvSpPr>
            <a:spLocks noGrp="1"/>
          </p:cNvSpPr>
          <p:nvPr/>
        </p:nvSpPr>
        <p:spPr>
          <a:xfrm>
            <a:off x="609600" y="238125"/>
            <a:ext cx="9715500" cy="285750"/>
          </a:xfrm>
          <a:prstGeom prst="rect">
            <a:avLst/>
          </a:prstGeom>
          <a:noFill/>
          <a:ln w="0">
            <a:noFill/>
          </a:ln>
        </p:spPr>
        <p:txBody>
          <a:bodyPr wrap="square" lIns="0" tIns="0" rIns="0" bIns="0" anchor="t">
            <a:noAutofit/>
          </a:bodyPr>
          <a:lstStyle>
            <a:defPPr>
              <a:defRPr sz="1200" b="1">
                <a:solidFill>
                  <a:srgbClr val="356DA7"/>
                </a:solidFill>
                <a:latin typeface="Noto Sans CJK SC"/>
                <a:ea typeface="Noto Sans CJK SC"/>
                <a:cs typeface="Noto Sans CJK SC"/>
              </a:defRPr>
            </a:defPPr>
          </a:lstStyle>
          <a:p>
            <a:pPr>
              <a:buNone/>
              <a:defRPr sz="1200" b="1">
                <a:solidFill>
                  <a:srgbClr val="356DA7"/>
                </a:solidFill>
                <a:latin typeface="Noto Sans CJK SC"/>
                <a:ea typeface="Noto Sans CJK SC"/>
                <a:cs typeface="Noto Sans CJK SC"/>
              </a:defRPr>
            </a:pPr>
            <a:r>
              <a:rPr sz="1200" b="1">
                <a:solidFill>
                  <a:srgbClr val="356DA7"/>
                </a:solidFill>
                <a:latin typeface="Noto Sans CJK SC"/>
                <a:ea typeface="Noto Sans CJK SC"/>
                <a:cs typeface="Noto Sans CJK SC"/>
              </a:rPr>
              <a:t>写作分析</a:t>
            </a:r>
          </a:p>
        </p:txBody>
      </p:sp>
      <p:sp>
        <p:nvSpPr>
          <p:cNvPr id="2" name="23">
            <a:extLst>
              <a:ext uri="{FF2B5EF4-FFF2-40B4-BE49-F238E27FC236}">
                <a16:creationId xmlns:a16="http://schemas.microsoft.com/office/drawing/2014/main" id="{B5FBAC9E-EDDB-4870-ABA8-D74BEB212527}"/>
              </a:ext>
            </a:extLst>
          </p:cNvPr>
          <p:cNvSpPr>
            <a:spLocks noGrp="1"/>
          </p:cNvSpPr>
          <p:nvPr/>
        </p:nvSpPr>
        <p:spPr>
          <a:xfrm>
            <a:off x="11077575" y="238125"/>
            <a:ext cx="514350" cy="285750"/>
          </a:xfrm>
          <a:prstGeom prst="rect">
            <a:avLst/>
          </a:prstGeom>
          <a:noFill/>
          <a:ln w="0">
            <a:noFill/>
          </a:ln>
        </p:spPr>
        <p:txBody>
          <a:bodyPr wrap="square" lIns="0" tIns="0" rIns="0" bIns="0" anchor="t">
            <a:noAutofit/>
          </a:bodyPr>
          <a:lstStyle>
            <a:defPPr>
              <a:defRPr sz="1200" b="0">
                <a:solidFill>
                  <a:srgbClr val="68758A"/>
                </a:solidFill>
                <a:latin typeface="Noto Sans CJK SC"/>
                <a:ea typeface="Noto Sans CJK SC"/>
                <a:cs typeface="Noto Sans CJK SC"/>
              </a:defRPr>
            </a:defPPr>
          </a:lstStyle>
          <a:p>
            <a:pPr>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23</a:t>
            </a:r>
          </a:p>
        </p:txBody>
      </p:sp>
      <p:sp>
        <p:nvSpPr>
          <p:cNvPr id="3" name="Introduction（2/9）：任务定义与技术起点">
            <a:extLst>
              <a:ext uri="{FF2B5EF4-FFF2-40B4-BE49-F238E27FC236}">
                <a16:creationId xmlns:a16="http://schemas.microsoft.com/office/drawing/2014/main" id="{9F4B8AD6-5863-49FC-AFA1-2507F178048E}"/>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dirty="0">
                <a:solidFill>
                  <a:srgbClr val="19263E"/>
                </a:solidFill>
                <a:latin typeface="Noto Sans CJK SC"/>
                <a:ea typeface="Noto Sans CJK SC"/>
                <a:cs typeface="Noto Sans CJK SC"/>
              </a:rPr>
              <a:t>Introduction（2/</a:t>
            </a:r>
            <a:r>
              <a:rPr lang="en-US" altLang="zh-CN" sz="2925" b="1" dirty="0">
                <a:solidFill>
                  <a:srgbClr val="19263E"/>
                </a:solidFill>
                <a:latin typeface="Noto Sans CJK SC"/>
                <a:ea typeface="Noto Sans CJK SC"/>
                <a:cs typeface="Noto Sans CJK SC"/>
              </a:rPr>
              <a:t>8</a:t>
            </a:r>
            <a:r>
              <a:rPr sz="2925" b="1" dirty="0">
                <a:solidFill>
                  <a:srgbClr val="19263E"/>
                </a:solidFill>
                <a:latin typeface="Noto Sans CJK SC"/>
                <a:ea typeface="Noto Sans CJK SC"/>
                <a:cs typeface="Noto Sans CJK SC"/>
              </a:rPr>
              <a:t>）：</a:t>
            </a:r>
            <a:r>
              <a:rPr sz="2925" b="1" dirty="0" err="1">
                <a:solidFill>
                  <a:srgbClr val="19263E"/>
                </a:solidFill>
                <a:latin typeface="Noto Sans CJK SC"/>
                <a:ea typeface="Noto Sans CJK SC"/>
                <a:cs typeface="Noto Sans CJK SC"/>
              </a:rPr>
              <a:t>任务定义与已有方法</a:t>
            </a:r>
            <a:endParaRPr sz="2925" b="1" dirty="0">
              <a:solidFill>
                <a:srgbClr val="19263E"/>
              </a:solidFill>
              <a:latin typeface="Noto Sans CJK SC"/>
              <a:ea typeface="Noto Sans CJK SC"/>
              <a:cs typeface="Noto Sans CJK SC"/>
            </a:endParaRPr>
          </a:p>
        </p:txBody>
      </p:sp>
      <p:sp>
        <p:nvSpPr>
          <p:cNvPr id="6" name="Generative forecasting predicts a patien">
            <a:extLst>
              <a:ext uri="{FF2B5EF4-FFF2-40B4-BE49-F238E27FC236}">
                <a16:creationId xmlns:a16="http://schemas.microsoft.com/office/drawing/2014/main" id="{0866F6A0-A0CD-41A2-A653-6705C49898AC}"/>
              </a:ext>
            </a:extLst>
          </p:cNvPr>
          <p:cNvSpPr>
            <a:spLocks noGrp="1"/>
          </p:cNvSpPr>
          <p:nvPr/>
        </p:nvSpPr>
        <p:spPr>
          <a:xfrm>
            <a:off x="609600" y="2066925"/>
            <a:ext cx="7010400" cy="4133850"/>
          </a:xfrm>
          <a:prstGeom prst="rect">
            <a:avLst/>
          </a:prstGeom>
          <a:noFill/>
          <a:ln w="0">
            <a:noFill/>
          </a:ln>
        </p:spPr>
        <p:txBody>
          <a:bodyPr wrap="square" lIns="0" tIns="0" rIns="0" bIns="0" anchor="t">
            <a:noAutofit/>
          </a:bodyPr>
          <a:lstStyle>
            <a:defPPr>
              <a:defRPr sz="1800" b="0">
                <a:solidFill>
                  <a:srgbClr val="19263E"/>
                </a:solidFill>
                <a:latin typeface="Noto Sans CJK SC"/>
                <a:ea typeface="Noto Sans CJK SC"/>
                <a:cs typeface="Noto Sans CJK SC"/>
              </a:defRPr>
            </a:defPPr>
          </a:lstStyle>
          <a:p>
            <a:pPr>
              <a:buNone/>
              <a:defRPr sz="1800" b="0">
                <a:solidFill>
                  <a:srgbClr val="19263E"/>
                </a:solidFill>
                <a:latin typeface="Noto Sans CJK SC"/>
                <a:ea typeface="Noto Sans CJK SC"/>
                <a:cs typeface="Noto Sans CJK SC"/>
              </a:defRPr>
            </a:pPr>
            <a:r>
              <a:rPr sz="1800" b="1">
                <a:solidFill>
                  <a:srgbClr val="356DA7"/>
                </a:solidFill>
                <a:latin typeface="Noto Sans CJK SC"/>
                <a:ea typeface="Noto Sans CJK SC"/>
                <a:cs typeface="Noto Sans CJK SC"/>
              </a:rPr>
              <a:t>Generative forecasting predicts</a:t>
            </a:r>
            <a:r>
              <a:rPr sz="1800" b="0">
                <a:solidFill>
                  <a:srgbClr val="19263E"/>
                </a:solidFill>
                <a:latin typeface="Noto Sans CJK SC"/>
                <a:ea typeface="Noto Sans CJK SC"/>
                <a:cs typeface="Noto Sans CJK SC"/>
              </a:rPr>
              <a:t> a patient’s future anatomical state and simulates the personalized morphological trajectory of disease. Localized anticipation of progression can support earlier, more targeted care for conditions such as Alzheimer’s and Parkinson’s disease, where structural decline unfolds over years [47, 41]. It can also </a:t>
            </a:r>
            <a:r>
              <a:rPr sz="1800" b="1">
                <a:solidFill>
                  <a:srgbClr val="168F85"/>
                </a:solidFill>
                <a:latin typeface="Noto Sans CJK SC"/>
                <a:ea typeface="Noto Sans CJK SC"/>
                <a:cs typeface="Noto Sans CJK SC"/>
              </a:rPr>
              <a:t>enrich clinical trials</a:t>
            </a:r>
            <a:r>
              <a:rPr sz="1800" b="0">
                <a:solidFill>
                  <a:srgbClr val="19263E"/>
                </a:solidFill>
                <a:latin typeface="Noto Sans CJK SC"/>
                <a:ea typeface="Noto Sans CJK SC"/>
                <a:cs typeface="Noto Sans CJK SC"/>
              </a:rPr>
              <a:t> by prioritizing participants likely to show measurable progression, and reduce caregiving burden through more proactive management before irreversible damage accumulates [10].</a:t>
            </a:r>
          </a:p>
          <a:p>
            <a:endParaRPr sz="1800" b="0">
              <a:solidFill>
                <a:srgbClr val="19263E"/>
              </a:solidFill>
              <a:latin typeface="Noto Sans CJK SC"/>
              <a:ea typeface="Noto Sans CJK SC"/>
              <a:cs typeface="Noto Sans CJK SC"/>
            </a:endParaRPr>
          </a:p>
          <a:p>
            <a:pPr>
              <a:buNone/>
              <a:defRPr sz="1800" b="0">
                <a:solidFill>
                  <a:srgbClr val="19263E"/>
                </a:solidFill>
                <a:latin typeface="Noto Sans CJK SC"/>
                <a:ea typeface="Noto Sans CJK SC"/>
                <a:cs typeface="Noto Sans CJK SC"/>
              </a:defRPr>
            </a:pPr>
            <a:r>
              <a:rPr sz="1800" b="0">
                <a:solidFill>
                  <a:srgbClr val="19263E"/>
                </a:solidFill>
                <a:latin typeface="Noto Sans CJK SC"/>
                <a:ea typeface="Noto Sans CJK SC"/>
                <a:cs typeface="Noto Sans CJK SC"/>
              </a:rPr>
              <a:t>Recent generative sequence models synthesize audio [56, 22, 55, 54] and visual [9, 29, 6, 53, 35, 34] content well, which makes them a </a:t>
            </a:r>
            <a:r>
              <a:rPr sz="1800" b="1">
                <a:solidFill>
                  <a:srgbClr val="B57815"/>
                </a:solidFill>
                <a:latin typeface="Noto Sans CJK SC"/>
                <a:ea typeface="Noto Sans CJK SC"/>
                <a:cs typeface="Noto Sans CJK SC"/>
              </a:rPr>
              <a:t>natural starting point</a:t>
            </a:r>
            <a:r>
              <a:rPr sz="1800" b="0">
                <a:solidFill>
                  <a:srgbClr val="19263E"/>
                </a:solidFill>
                <a:latin typeface="Noto Sans CJK SC"/>
                <a:ea typeface="Noto Sans CJK SC"/>
                <a:cs typeface="Noto Sans CJK SC"/>
              </a:rPr>
              <a:t> for forecasting future brain anatomy [48, 8, 28, 40], as shown by Fig. 1-(a).</a:t>
            </a:r>
          </a:p>
        </p:txBody>
      </p:sp>
      <p:sp>
        <p:nvSpPr>
          <p:cNvPr id="8" name="定义任务">
            <a:extLst>
              <a:ext uri="{FF2B5EF4-FFF2-40B4-BE49-F238E27FC236}">
                <a16:creationId xmlns:a16="http://schemas.microsoft.com/office/drawing/2014/main" id="{5D4CE261-D4FB-453D-AAF4-86BA0589CE7F}"/>
              </a:ext>
            </a:extLst>
          </p:cNvPr>
          <p:cNvSpPr>
            <a:spLocks noGrp="1"/>
          </p:cNvSpPr>
          <p:nvPr/>
        </p:nvSpPr>
        <p:spPr>
          <a:xfrm>
            <a:off x="7943850" y="2057400"/>
            <a:ext cx="3619500" cy="342900"/>
          </a:xfrm>
          <a:prstGeom prst="rect">
            <a:avLst/>
          </a:prstGeom>
          <a:noFill/>
          <a:ln w="0">
            <a:noFill/>
          </a:ln>
        </p:spPr>
        <p:txBody>
          <a:bodyPr wrap="none" lIns="0" tIns="0" rIns="0" bIns="0" anchor="t">
            <a:noAutofit/>
          </a:bodyPr>
          <a:lstStyle>
            <a:defPPr algn="l">
              <a:defRPr sz="1950" b="1">
                <a:solidFill>
                  <a:srgbClr val="356DA7"/>
                </a:solidFill>
                <a:latin typeface="Noto Sans CJK SC"/>
                <a:ea typeface="Noto Sans CJK SC"/>
                <a:cs typeface="Noto Sans CJK SC"/>
              </a:defRPr>
            </a:defPPr>
          </a:lstStyle>
          <a:p>
            <a:pPr algn="l">
              <a:buNone/>
              <a:defRPr sz="1950" b="1">
                <a:solidFill>
                  <a:srgbClr val="356DA7"/>
                </a:solidFill>
                <a:latin typeface="Noto Sans CJK SC"/>
                <a:ea typeface="Noto Sans CJK SC"/>
                <a:cs typeface="Noto Sans CJK SC"/>
              </a:defRPr>
            </a:pPr>
            <a:r>
              <a:rPr sz="1950" b="1">
                <a:solidFill>
                  <a:srgbClr val="356DA7"/>
                </a:solidFill>
                <a:latin typeface="Noto Sans CJK SC"/>
                <a:ea typeface="Noto Sans CJK SC"/>
                <a:cs typeface="Noto Sans CJK SC"/>
              </a:rPr>
              <a:t>定义任务</a:t>
            </a:r>
          </a:p>
        </p:txBody>
      </p:sp>
      <p:sp>
        <p:nvSpPr>
          <p:cNvPr id="9" name="说明 generative forecasting 预测患者未来形态及个体化轨迹">
            <a:extLst>
              <a:ext uri="{FF2B5EF4-FFF2-40B4-BE49-F238E27FC236}">
                <a16:creationId xmlns:a16="http://schemas.microsoft.com/office/drawing/2014/main" id="{FB5B7A7C-6E3A-4CB5-97D4-B2544188DA0B}"/>
              </a:ext>
            </a:extLst>
          </p:cNvPr>
          <p:cNvSpPr>
            <a:spLocks noGrp="1"/>
          </p:cNvSpPr>
          <p:nvPr/>
        </p:nvSpPr>
        <p:spPr>
          <a:xfrm>
            <a:off x="7943850" y="2466975"/>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endParaRPr sz="1650" b="0" dirty="0">
              <a:solidFill>
                <a:srgbClr val="19263E"/>
              </a:solidFill>
              <a:latin typeface="Noto Sans CJK SC"/>
              <a:ea typeface="Noto Sans CJK SC"/>
              <a:cs typeface="Noto Sans CJK SC"/>
            </a:endParaRPr>
          </a:p>
        </p:txBody>
      </p:sp>
      <p:sp>
        <p:nvSpPr>
          <p:cNvPr id="10" name="补充应用">
            <a:extLst>
              <a:ext uri="{FF2B5EF4-FFF2-40B4-BE49-F238E27FC236}">
                <a16:creationId xmlns:a16="http://schemas.microsoft.com/office/drawing/2014/main" id="{58C6C23E-96DE-43C4-80E9-FEE4C6A303F5}"/>
              </a:ext>
            </a:extLst>
          </p:cNvPr>
          <p:cNvSpPr>
            <a:spLocks noGrp="1"/>
          </p:cNvSpPr>
          <p:nvPr/>
        </p:nvSpPr>
        <p:spPr>
          <a:xfrm>
            <a:off x="7943850" y="3157538"/>
            <a:ext cx="3619500" cy="342900"/>
          </a:xfrm>
          <a:prstGeom prst="rect">
            <a:avLst/>
          </a:prstGeom>
          <a:noFill/>
          <a:ln w="0">
            <a:noFill/>
          </a:ln>
        </p:spPr>
        <p:txBody>
          <a:bodyPr wrap="none" lIns="0" tIns="0" rIns="0" bIns="0" anchor="t">
            <a:noAutofit/>
          </a:bodyPr>
          <a:lstStyle>
            <a:defPPr algn="l">
              <a:defRPr sz="1950" b="1">
                <a:solidFill>
                  <a:srgbClr val="168F85"/>
                </a:solidFill>
                <a:latin typeface="Noto Sans CJK SC"/>
                <a:ea typeface="Noto Sans CJK SC"/>
                <a:cs typeface="Noto Sans CJK SC"/>
              </a:defRPr>
            </a:defPPr>
          </a:lstStyle>
          <a:p>
            <a:pPr algn="l">
              <a:buNone/>
              <a:defRPr sz="1950" b="1">
                <a:solidFill>
                  <a:srgbClr val="168F85"/>
                </a:solidFill>
                <a:latin typeface="Noto Sans CJK SC"/>
                <a:ea typeface="Noto Sans CJK SC"/>
                <a:cs typeface="Noto Sans CJK SC"/>
              </a:defRPr>
            </a:pPr>
            <a:r>
              <a:rPr sz="1950" b="1" dirty="0" err="1">
                <a:solidFill>
                  <a:srgbClr val="168F85"/>
                </a:solidFill>
                <a:latin typeface="Noto Sans CJK SC"/>
                <a:ea typeface="Noto Sans CJK SC"/>
                <a:cs typeface="Noto Sans CJK SC"/>
              </a:rPr>
              <a:t>临床用途</a:t>
            </a:r>
            <a:endParaRPr sz="1950" b="1" dirty="0">
              <a:solidFill>
                <a:srgbClr val="168F85"/>
              </a:solidFill>
              <a:latin typeface="Noto Sans CJK SC"/>
              <a:ea typeface="Noto Sans CJK SC"/>
              <a:cs typeface="Noto Sans CJK SC"/>
            </a:endParaRPr>
          </a:p>
        </p:txBody>
      </p:sp>
      <p:sp>
        <p:nvSpPr>
          <p:cNvPr id="12" name="引出已有技术">
            <a:extLst>
              <a:ext uri="{FF2B5EF4-FFF2-40B4-BE49-F238E27FC236}">
                <a16:creationId xmlns:a16="http://schemas.microsoft.com/office/drawing/2014/main" id="{B1CCF45D-A1CE-4BA2-9CDB-4EE90858EE7C}"/>
              </a:ext>
            </a:extLst>
          </p:cNvPr>
          <p:cNvSpPr>
            <a:spLocks noGrp="1"/>
          </p:cNvSpPr>
          <p:nvPr/>
        </p:nvSpPr>
        <p:spPr>
          <a:xfrm>
            <a:off x="7943850" y="4420994"/>
            <a:ext cx="3619500" cy="342900"/>
          </a:xfrm>
          <a:prstGeom prst="rect">
            <a:avLst/>
          </a:prstGeom>
          <a:noFill/>
          <a:ln w="0">
            <a:noFill/>
          </a:ln>
        </p:spPr>
        <p:txBody>
          <a:bodyPr wrap="none" lIns="0" tIns="0" rIns="0" bIns="0" anchor="t">
            <a:noAutofit/>
          </a:bodyPr>
          <a:lstStyle>
            <a:defPPr algn="l">
              <a:defRPr sz="1950" b="1">
                <a:solidFill>
                  <a:srgbClr val="B57815"/>
                </a:solidFill>
                <a:latin typeface="Noto Sans CJK SC"/>
                <a:ea typeface="Noto Sans CJK SC"/>
                <a:cs typeface="Noto Sans CJK SC"/>
              </a:defRPr>
            </a:defPPr>
          </a:lstStyle>
          <a:p>
            <a:pPr algn="l">
              <a:buNone/>
              <a:defRPr sz="1950" b="1">
                <a:solidFill>
                  <a:srgbClr val="B57815"/>
                </a:solidFill>
                <a:latin typeface="Noto Sans CJK SC"/>
                <a:ea typeface="Noto Sans CJK SC"/>
                <a:cs typeface="Noto Sans CJK SC"/>
              </a:defRPr>
            </a:pPr>
            <a:r>
              <a:rPr sz="1950" b="1" dirty="0" err="1">
                <a:solidFill>
                  <a:srgbClr val="B57815"/>
                </a:solidFill>
                <a:latin typeface="Noto Sans CJK SC"/>
                <a:ea typeface="Noto Sans CJK SC"/>
                <a:cs typeface="Noto Sans CJK SC"/>
              </a:rPr>
              <a:t>已有方法</a:t>
            </a:r>
            <a:endParaRPr sz="1950" b="1" dirty="0">
              <a:solidFill>
                <a:srgbClr val="B57815"/>
              </a:solidFill>
              <a:latin typeface="Noto Sans CJK SC"/>
              <a:ea typeface="Noto Sans CJK SC"/>
              <a:cs typeface="Noto Sans CJK SC"/>
            </a:endParaRPr>
          </a:p>
        </p:txBody>
      </p:sp>
      <p:sp>
        <p:nvSpPr>
          <p:cNvPr id="13" name="以音频与视觉生成模型的进展，建立迁移到未来脑影像预测的自然起点。">
            <a:extLst>
              <a:ext uri="{FF2B5EF4-FFF2-40B4-BE49-F238E27FC236}">
                <a16:creationId xmlns:a16="http://schemas.microsoft.com/office/drawing/2014/main" id="{C117B7EA-6586-4B08-A283-159E92563FFF}"/>
              </a:ext>
            </a:extLst>
          </p:cNvPr>
          <p:cNvSpPr>
            <a:spLocks noGrp="1"/>
          </p:cNvSpPr>
          <p:nvPr/>
        </p:nvSpPr>
        <p:spPr>
          <a:xfrm>
            <a:off x="7962900" y="4875173"/>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endParaRPr sz="1650" b="0" dirty="0">
              <a:solidFill>
                <a:srgbClr val="19263E"/>
              </a:solidFill>
              <a:latin typeface="Noto Sans CJK SC"/>
              <a:ea typeface="Noto Sans CJK SC"/>
              <a:cs typeface="Noto Sans CJK SC"/>
            </a:endParaRPr>
          </a:p>
        </p:txBody>
      </p:sp>
      <p:sp>
        <p:nvSpPr>
          <p:cNvPr id="16" name="文本框 15">
            <a:extLst>
              <a:ext uri="{FF2B5EF4-FFF2-40B4-BE49-F238E27FC236}">
                <a16:creationId xmlns:a16="http://schemas.microsoft.com/office/drawing/2014/main" id="{D15782E6-7D0A-D144-E95C-D2639E8BEABF}"/>
              </a:ext>
            </a:extLst>
          </p:cNvPr>
          <p:cNvSpPr txBox="1"/>
          <p:nvPr/>
        </p:nvSpPr>
        <p:spPr>
          <a:xfrm>
            <a:off x="7848600" y="4888414"/>
            <a:ext cx="4198434" cy="584775"/>
          </a:xfrm>
          <a:prstGeom prst="rect">
            <a:avLst/>
          </a:prstGeom>
          <a:noFill/>
        </p:spPr>
        <p:txBody>
          <a:bodyPr wrap="square">
            <a:spAutoFit/>
          </a:bodyPr>
          <a:lstStyle/>
          <a:p>
            <a:pPr algn="l">
              <a:buNone/>
              <a:defRPr sz="1650" b="0">
                <a:solidFill>
                  <a:srgbClr val="19263E"/>
                </a:solidFill>
                <a:latin typeface="Noto Sans CJK SC"/>
                <a:ea typeface="Noto Sans CJK SC"/>
                <a:cs typeface="Noto Sans CJK SC"/>
              </a:defRPr>
            </a:pPr>
            <a:r>
              <a:rPr lang="zh-CN" altLang="en-US" sz="1600" b="0" dirty="0">
                <a:solidFill>
                  <a:srgbClr val="19263E"/>
                </a:solidFill>
                <a:latin typeface="Noto Sans CJK SC"/>
                <a:ea typeface="Noto Sans CJK SC"/>
                <a:cs typeface="Noto Sans CJK SC"/>
              </a:rPr>
              <a:t>音频和视觉生成模型的进展用于未来脑</a:t>
            </a:r>
            <a:r>
              <a:rPr lang="en" altLang="zh-CN" sz="1600" b="0" dirty="0">
                <a:solidFill>
                  <a:srgbClr val="19263E"/>
                </a:solidFill>
                <a:latin typeface="Noto Sans CJK SC"/>
                <a:ea typeface="Noto Sans CJK SC"/>
                <a:cs typeface="Noto Sans CJK SC"/>
              </a:rPr>
              <a:t>MRI</a:t>
            </a:r>
            <a:r>
              <a:rPr lang="zh-CN" altLang="en-US" sz="1600" b="0" dirty="0">
                <a:solidFill>
                  <a:srgbClr val="19263E"/>
                </a:solidFill>
                <a:latin typeface="Noto Sans CJK SC"/>
                <a:ea typeface="Noto Sans CJK SC"/>
                <a:cs typeface="Noto Sans CJK SC"/>
              </a:rPr>
              <a:t>的预测。</a:t>
            </a:r>
          </a:p>
        </p:txBody>
      </p:sp>
    </p:spTree>
    <p:extLst>
      <p:ext uri="{BB962C8B-B14F-4D97-AF65-F5344CB8AC3E}">
        <p14:creationId xmlns:p14="http://schemas.microsoft.com/office/powerpoint/2010/main" val="1510463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写作分析">
            <a:extLst>
              <a:ext uri="{FF2B5EF4-FFF2-40B4-BE49-F238E27FC236}">
                <a16:creationId xmlns:a16="http://schemas.microsoft.com/office/drawing/2014/main" id="{9FD14C19-1457-4624-8F66-661E61BB926A}"/>
              </a:ext>
            </a:extLst>
          </p:cNvPr>
          <p:cNvSpPr>
            <a:spLocks noGrp="1"/>
          </p:cNvSpPr>
          <p:nvPr/>
        </p:nvSpPr>
        <p:spPr>
          <a:xfrm>
            <a:off x="609600" y="238125"/>
            <a:ext cx="9715500" cy="285750"/>
          </a:xfrm>
          <a:prstGeom prst="rect">
            <a:avLst/>
          </a:prstGeom>
          <a:noFill/>
          <a:ln w="0">
            <a:noFill/>
          </a:ln>
        </p:spPr>
        <p:txBody>
          <a:bodyPr wrap="square" lIns="0" tIns="0" rIns="0" bIns="0" anchor="t">
            <a:noAutofit/>
          </a:bodyPr>
          <a:lstStyle>
            <a:defPPr>
              <a:defRPr sz="1200" b="1">
                <a:solidFill>
                  <a:srgbClr val="356DA7"/>
                </a:solidFill>
                <a:latin typeface="Noto Sans CJK SC"/>
                <a:ea typeface="Noto Sans CJK SC"/>
                <a:cs typeface="Noto Sans CJK SC"/>
              </a:defRPr>
            </a:defPPr>
          </a:lstStyle>
          <a:p>
            <a:pPr>
              <a:buNone/>
              <a:defRPr sz="1200" b="1">
                <a:solidFill>
                  <a:srgbClr val="356DA7"/>
                </a:solidFill>
                <a:latin typeface="Noto Sans CJK SC"/>
                <a:ea typeface="Noto Sans CJK SC"/>
                <a:cs typeface="Noto Sans CJK SC"/>
              </a:defRPr>
            </a:pPr>
            <a:r>
              <a:rPr sz="1200" b="1">
                <a:solidFill>
                  <a:srgbClr val="356DA7"/>
                </a:solidFill>
                <a:latin typeface="Noto Sans CJK SC"/>
                <a:ea typeface="Noto Sans CJK SC"/>
                <a:cs typeface="Noto Sans CJK SC"/>
              </a:rPr>
              <a:t>写作分析</a:t>
            </a:r>
          </a:p>
        </p:txBody>
      </p:sp>
      <p:sp>
        <p:nvSpPr>
          <p:cNvPr id="2" name="24">
            <a:extLst>
              <a:ext uri="{FF2B5EF4-FFF2-40B4-BE49-F238E27FC236}">
                <a16:creationId xmlns:a16="http://schemas.microsoft.com/office/drawing/2014/main" id="{1BC251AE-1EE6-476D-B6B2-FE16D049E048}"/>
              </a:ext>
            </a:extLst>
          </p:cNvPr>
          <p:cNvSpPr>
            <a:spLocks noGrp="1"/>
          </p:cNvSpPr>
          <p:nvPr/>
        </p:nvSpPr>
        <p:spPr>
          <a:xfrm>
            <a:off x="11077575" y="238125"/>
            <a:ext cx="514350" cy="285750"/>
          </a:xfrm>
          <a:prstGeom prst="rect">
            <a:avLst/>
          </a:prstGeom>
          <a:noFill/>
          <a:ln w="0">
            <a:noFill/>
          </a:ln>
        </p:spPr>
        <p:txBody>
          <a:bodyPr wrap="square" lIns="0" tIns="0" rIns="0" bIns="0" anchor="t">
            <a:noAutofit/>
          </a:bodyPr>
          <a:lstStyle>
            <a:defPPr>
              <a:defRPr sz="1200" b="0">
                <a:solidFill>
                  <a:srgbClr val="68758A"/>
                </a:solidFill>
                <a:latin typeface="Noto Sans CJK SC"/>
                <a:ea typeface="Noto Sans CJK SC"/>
                <a:cs typeface="Noto Sans CJK SC"/>
              </a:defRPr>
            </a:defPPr>
          </a:lstStyle>
          <a:p>
            <a:pPr>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24</a:t>
            </a:r>
          </a:p>
        </p:txBody>
      </p:sp>
      <p:sp>
        <p:nvSpPr>
          <p:cNvPr id="3" name="Introduction（3/9）：领域差异与研究缺口">
            <a:extLst>
              <a:ext uri="{FF2B5EF4-FFF2-40B4-BE49-F238E27FC236}">
                <a16:creationId xmlns:a16="http://schemas.microsoft.com/office/drawing/2014/main" id="{70ADCEBA-D2AD-483C-A100-96BACEE32D6D}"/>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dirty="0">
                <a:solidFill>
                  <a:srgbClr val="19263E"/>
                </a:solidFill>
                <a:latin typeface="Noto Sans CJK SC"/>
                <a:ea typeface="Noto Sans CJK SC"/>
                <a:cs typeface="Noto Sans CJK SC"/>
              </a:rPr>
              <a:t>Introduction（3/</a:t>
            </a:r>
            <a:r>
              <a:rPr lang="en-US" altLang="zh-CN" sz="2925" b="1" dirty="0">
                <a:solidFill>
                  <a:srgbClr val="19263E"/>
                </a:solidFill>
                <a:latin typeface="Noto Sans CJK SC"/>
                <a:ea typeface="Noto Sans CJK SC"/>
                <a:cs typeface="Noto Sans CJK SC"/>
              </a:rPr>
              <a:t>8</a:t>
            </a:r>
            <a:r>
              <a:rPr sz="2925" b="1" dirty="0">
                <a:solidFill>
                  <a:srgbClr val="19263E"/>
                </a:solidFill>
                <a:latin typeface="Noto Sans CJK SC"/>
                <a:ea typeface="Noto Sans CJK SC"/>
                <a:cs typeface="Noto Sans CJK SC"/>
              </a:rPr>
              <a:t>）：</a:t>
            </a:r>
            <a:r>
              <a:rPr sz="2925" b="1" dirty="0" err="1">
                <a:solidFill>
                  <a:srgbClr val="19263E"/>
                </a:solidFill>
                <a:latin typeface="Noto Sans CJK SC"/>
                <a:ea typeface="Noto Sans CJK SC"/>
                <a:cs typeface="Noto Sans CJK SC"/>
              </a:rPr>
              <a:t>医学影像预测有什么不同</a:t>
            </a:r>
            <a:endParaRPr sz="2925" b="1" dirty="0">
              <a:solidFill>
                <a:srgbClr val="19263E"/>
              </a:solidFill>
              <a:latin typeface="Noto Sans CJK SC"/>
              <a:ea typeface="Noto Sans CJK SC"/>
              <a:cs typeface="Noto Sans CJK SC"/>
            </a:endParaRPr>
          </a:p>
        </p:txBody>
      </p:sp>
      <p:sp>
        <p:nvSpPr>
          <p:cNvPr id="6" name="However, as shown in Fig. 2, forecasting">
            <a:extLst>
              <a:ext uri="{FF2B5EF4-FFF2-40B4-BE49-F238E27FC236}">
                <a16:creationId xmlns:a16="http://schemas.microsoft.com/office/drawing/2014/main" id="{68A9F412-1A7A-425C-9AC0-2E58350C4A60}"/>
              </a:ext>
            </a:extLst>
          </p:cNvPr>
          <p:cNvSpPr>
            <a:spLocks noGrp="1"/>
          </p:cNvSpPr>
          <p:nvPr/>
        </p:nvSpPr>
        <p:spPr>
          <a:xfrm>
            <a:off x="609600" y="2066925"/>
            <a:ext cx="7010400" cy="4133850"/>
          </a:xfrm>
          <a:prstGeom prst="rect">
            <a:avLst/>
          </a:prstGeom>
          <a:noFill/>
          <a:ln w="0">
            <a:noFill/>
          </a:ln>
        </p:spPr>
        <p:txBody>
          <a:bodyPr wrap="square" lIns="0" tIns="0" rIns="0" bIns="0" anchor="t">
            <a:noAutofit/>
          </a:bodyPr>
          <a:lstStyle>
            <a:defPPr>
              <a:defRPr sz="1800" b="0">
                <a:solidFill>
                  <a:srgbClr val="19263E"/>
                </a:solidFill>
                <a:latin typeface="Noto Sans CJK SC"/>
                <a:ea typeface="Noto Sans CJK SC"/>
                <a:cs typeface="Noto Sans CJK SC"/>
              </a:defRPr>
            </a:defPPr>
          </a:lstStyle>
          <a:p>
            <a:pPr>
              <a:buNone/>
              <a:defRPr sz="1800" b="0">
                <a:solidFill>
                  <a:srgbClr val="19263E"/>
                </a:solidFill>
                <a:latin typeface="Noto Sans CJK SC"/>
                <a:ea typeface="Noto Sans CJK SC"/>
                <a:cs typeface="Noto Sans CJK SC"/>
              </a:defRPr>
            </a:pPr>
            <a:r>
              <a:rPr sz="1800" b="1">
                <a:solidFill>
                  <a:srgbClr val="356DA7"/>
                </a:solidFill>
                <a:latin typeface="Noto Sans CJK SC"/>
                <a:ea typeface="Noto Sans CJK SC"/>
                <a:cs typeface="Noto Sans CJK SC"/>
              </a:rPr>
              <a:t>However</a:t>
            </a:r>
            <a:r>
              <a:rPr sz="1800" b="0">
                <a:solidFill>
                  <a:srgbClr val="19263E"/>
                </a:solidFill>
                <a:latin typeface="Noto Sans CJK SC"/>
                <a:ea typeface="Noto Sans CJK SC"/>
                <a:cs typeface="Noto Sans CJK SC"/>
              </a:rPr>
              <a:t>, as shown in Fig. 2, forecasting neurodegeneration is different because current and future MRI states are </a:t>
            </a:r>
            <a:r>
              <a:rPr sz="1800" b="1">
                <a:solidFill>
                  <a:srgbClr val="168F85"/>
                </a:solidFill>
                <a:latin typeface="Noto Sans CJK SC"/>
                <a:ea typeface="Noto Sans CJK SC"/>
                <a:cs typeface="Noto Sans CJK SC"/>
              </a:rPr>
              <a:t>statistically highly similar</a:t>
            </a:r>
            <a:r>
              <a:rPr sz="1800" b="0">
                <a:solidFill>
                  <a:srgbClr val="19263E"/>
                </a:solidFill>
                <a:latin typeface="Noto Sans CJK SC"/>
                <a:ea typeface="Noto Sans CJK SC"/>
                <a:cs typeface="Noto Sans CJK SC"/>
              </a:rPr>
              <a:t>, making the temporal progression signal far weaker. Unlike natural videos with salient motion, neurodegeneration unfolds over long time scales [23, 33]: across a typical one-year interval, disease-related morphological change may be </a:t>
            </a:r>
            <a:r>
              <a:rPr sz="1800" b="1">
                <a:solidFill>
                  <a:srgbClr val="B57815"/>
                </a:solidFill>
                <a:latin typeface="Noto Sans CJK SC"/>
                <a:ea typeface="Noto Sans CJK SC"/>
                <a:cs typeface="Noto Sans CJK SC"/>
              </a:rPr>
              <a:t>under 1%</a:t>
            </a:r>
            <a:r>
              <a:rPr sz="1800" b="0">
                <a:solidFill>
                  <a:srgbClr val="19263E"/>
                </a:solidFill>
                <a:latin typeface="Noto Sans CJK SC"/>
                <a:ea typeface="Noto Sans CJK SC"/>
                <a:cs typeface="Noto Sans CJK SC"/>
              </a:rPr>
              <a:t> of the total volumetric variance in a 3D MRI scan [38]. In this low-signal regime, </a:t>
            </a:r>
            <a:r>
              <a:rPr sz="1800" b="1">
                <a:solidFill>
                  <a:srgbClr val="AC473D"/>
                </a:solidFill>
                <a:latin typeface="Noto Sans CJK SC"/>
                <a:ea typeface="Noto Sans CJK SC"/>
                <a:cs typeface="Noto Sans CJK SC"/>
              </a:rPr>
              <a:t>naive transfer is unreliable</a:t>
            </a:r>
            <a:r>
              <a:rPr sz="1800" b="0">
                <a:solidFill>
                  <a:srgbClr val="19263E"/>
                </a:solidFill>
                <a:latin typeface="Noto Sans CJK SC"/>
                <a:ea typeface="Noto Sans CJK SC"/>
                <a:cs typeface="Noto Sans CJK SC"/>
              </a:rPr>
              <a:t>, as training is dominated by static anatomy or by nuisance variation resembling scanner noise rather than the subtle biological progression of interest [17, 57].</a:t>
            </a:r>
          </a:p>
        </p:txBody>
      </p:sp>
      <p:sp>
        <p:nvSpPr>
          <p:cNvPr id="9" name="However 将自然内容生成的成功与医学预测的困难连接起来。">
            <a:extLst>
              <a:ext uri="{FF2B5EF4-FFF2-40B4-BE49-F238E27FC236}">
                <a16:creationId xmlns:a16="http://schemas.microsoft.com/office/drawing/2014/main" id="{F70ABF4B-6718-4EE2-85B7-491D95B18C0B}"/>
              </a:ext>
            </a:extLst>
          </p:cNvPr>
          <p:cNvSpPr>
            <a:spLocks noGrp="1"/>
          </p:cNvSpPr>
          <p:nvPr/>
        </p:nvSpPr>
        <p:spPr>
          <a:xfrm>
            <a:off x="7943850" y="2024062"/>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生成模型很有潜力直接用到医学影</a:t>
            </a:r>
            <a:endParaRPr sz="1650" b="0" dirty="0">
              <a:solidFill>
                <a:srgbClr val="19263E"/>
              </a:solidFill>
              <a:latin typeface="Noto Sans CJK SC"/>
              <a:ea typeface="Noto Sans CJK SC"/>
              <a:cs typeface="Noto Sans CJK SC"/>
            </a:endParaRPr>
          </a:p>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像上仍有困难</a:t>
            </a:r>
            <a:r>
              <a:rPr sz="1650" b="0" dirty="0">
                <a:solidFill>
                  <a:srgbClr val="19263E"/>
                </a:solidFill>
                <a:latin typeface="Noto Sans CJK SC"/>
                <a:ea typeface="Noto Sans CJK SC"/>
                <a:cs typeface="Noto Sans CJK SC"/>
              </a:rPr>
              <a:t>。</a:t>
            </a:r>
          </a:p>
        </p:txBody>
      </p:sp>
      <p:sp>
        <p:nvSpPr>
          <p:cNvPr id="11" name="用前后 MRI 高相似、自然视频运动显著的对比解释低信号问题。">
            <a:extLst>
              <a:ext uri="{FF2B5EF4-FFF2-40B4-BE49-F238E27FC236}">
                <a16:creationId xmlns:a16="http://schemas.microsoft.com/office/drawing/2014/main" id="{19C0B314-A82F-4EDB-A0B7-3EE70D589E22}"/>
              </a:ext>
            </a:extLst>
          </p:cNvPr>
          <p:cNvSpPr>
            <a:spLocks noGrp="1"/>
          </p:cNvSpPr>
          <p:nvPr/>
        </p:nvSpPr>
        <p:spPr>
          <a:xfrm>
            <a:off x="7943850" y="2757489"/>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自然视频中常有明显运动，但随访</a:t>
            </a:r>
            <a:r>
              <a:rPr sz="1650" b="0" dirty="0">
                <a:solidFill>
                  <a:srgbClr val="19263E"/>
                </a:solidFill>
                <a:latin typeface="Noto Sans CJK SC"/>
                <a:ea typeface="Noto Sans CJK SC"/>
                <a:cs typeface="Noto Sans CJK SC"/>
              </a:rPr>
              <a:t> MRI</a:t>
            </a:r>
          </a:p>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前后很相似，需要预测的变化信号</a:t>
            </a:r>
            <a:endParaRPr sz="1650" b="0" dirty="0">
              <a:solidFill>
                <a:srgbClr val="19263E"/>
              </a:solidFill>
              <a:latin typeface="Noto Sans CJK SC"/>
              <a:ea typeface="Noto Sans CJK SC"/>
              <a:cs typeface="Noto Sans CJK SC"/>
            </a:endParaRPr>
          </a:p>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弱得多</a:t>
            </a:r>
            <a:r>
              <a:rPr sz="1650" b="0" dirty="0">
                <a:solidFill>
                  <a:srgbClr val="19263E"/>
                </a:solidFill>
                <a:latin typeface="Noto Sans CJK SC"/>
                <a:ea typeface="Noto Sans CJK SC"/>
                <a:cs typeface="Noto Sans CJK SC"/>
              </a:rPr>
              <a:t>。</a:t>
            </a:r>
          </a:p>
        </p:txBody>
      </p:sp>
      <p:sp>
        <p:nvSpPr>
          <p:cNvPr id="13" name="将迁移困难归因于静态结构与无关扰动，为后文两个问题做铺垫。">
            <a:extLst>
              <a:ext uri="{FF2B5EF4-FFF2-40B4-BE49-F238E27FC236}">
                <a16:creationId xmlns:a16="http://schemas.microsoft.com/office/drawing/2014/main" id="{6D647289-45F8-4F20-A7A2-2BB1D2D23FE6}"/>
              </a:ext>
            </a:extLst>
          </p:cNvPr>
          <p:cNvSpPr>
            <a:spLocks noGrp="1"/>
          </p:cNvSpPr>
          <p:nvPr/>
        </p:nvSpPr>
        <p:spPr>
          <a:xfrm>
            <a:off x="7943850" y="3795714"/>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指出静态结构和无关扰动会干扰训</a:t>
            </a:r>
            <a:endParaRPr sz="1650" b="0" dirty="0">
              <a:solidFill>
                <a:srgbClr val="19263E"/>
              </a:solidFill>
              <a:latin typeface="Noto Sans CJK SC"/>
              <a:ea typeface="Noto Sans CJK SC"/>
              <a:cs typeface="Noto Sans CJK SC"/>
            </a:endParaRPr>
          </a:p>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练</a:t>
            </a:r>
            <a:endParaRPr sz="1650" b="0" dirty="0">
              <a:solidFill>
                <a:srgbClr val="19263E"/>
              </a:solidFill>
              <a:latin typeface="Noto Sans CJK SC"/>
              <a:ea typeface="Noto Sans CJK SC"/>
              <a:cs typeface="Noto Sans CJK SC"/>
            </a:endParaRPr>
          </a:p>
        </p:txBody>
      </p:sp>
    </p:spTree>
    <p:extLst>
      <p:ext uri="{BB962C8B-B14F-4D97-AF65-F5344CB8AC3E}">
        <p14:creationId xmlns:p14="http://schemas.microsoft.com/office/powerpoint/2010/main" val="605979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写作分析">
            <a:extLst>
              <a:ext uri="{FF2B5EF4-FFF2-40B4-BE49-F238E27FC236}">
                <a16:creationId xmlns:a16="http://schemas.microsoft.com/office/drawing/2014/main" id="{657362AA-5362-4F7C-A960-32AEA7227FB7}"/>
              </a:ext>
            </a:extLst>
          </p:cNvPr>
          <p:cNvSpPr>
            <a:spLocks noGrp="1"/>
          </p:cNvSpPr>
          <p:nvPr/>
        </p:nvSpPr>
        <p:spPr>
          <a:xfrm>
            <a:off x="609600" y="238125"/>
            <a:ext cx="9715500" cy="285750"/>
          </a:xfrm>
          <a:prstGeom prst="rect">
            <a:avLst/>
          </a:prstGeom>
          <a:noFill/>
          <a:ln w="0">
            <a:noFill/>
          </a:ln>
        </p:spPr>
        <p:txBody>
          <a:bodyPr wrap="square" lIns="0" tIns="0" rIns="0" bIns="0" anchor="t">
            <a:noAutofit/>
          </a:bodyPr>
          <a:lstStyle>
            <a:defPPr>
              <a:defRPr sz="1200" b="1">
                <a:solidFill>
                  <a:srgbClr val="356DA7"/>
                </a:solidFill>
                <a:latin typeface="Noto Sans CJK SC"/>
                <a:ea typeface="Noto Sans CJK SC"/>
                <a:cs typeface="Noto Sans CJK SC"/>
              </a:defRPr>
            </a:defPPr>
          </a:lstStyle>
          <a:p>
            <a:pPr>
              <a:buNone/>
              <a:defRPr sz="1200" b="1">
                <a:solidFill>
                  <a:srgbClr val="356DA7"/>
                </a:solidFill>
                <a:latin typeface="Noto Sans CJK SC"/>
                <a:ea typeface="Noto Sans CJK SC"/>
                <a:cs typeface="Noto Sans CJK SC"/>
              </a:defRPr>
            </a:pPr>
            <a:r>
              <a:rPr sz="1200" b="1">
                <a:solidFill>
                  <a:srgbClr val="356DA7"/>
                </a:solidFill>
                <a:latin typeface="Noto Sans CJK SC"/>
                <a:ea typeface="Noto Sans CJK SC"/>
                <a:cs typeface="Noto Sans CJK SC"/>
              </a:rPr>
              <a:t>写作分析</a:t>
            </a:r>
          </a:p>
        </p:txBody>
      </p:sp>
      <p:sp>
        <p:nvSpPr>
          <p:cNvPr id="2" name="25">
            <a:extLst>
              <a:ext uri="{FF2B5EF4-FFF2-40B4-BE49-F238E27FC236}">
                <a16:creationId xmlns:a16="http://schemas.microsoft.com/office/drawing/2014/main" id="{F946B0CB-C0A3-43CF-87AE-2059FE6D67D5}"/>
              </a:ext>
            </a:extLst>
          </p:cNvPr>
          <p:cNvSpPr>
            <a:spLocks noGrp="1"/>
          </p:cNvSpPr>
          <p:nvPr/>
        </p:nvSpPr>
        <p:spPr>
          <a:xfrm>
            <a:off x="11077575" y="238125"/>
            <a:ext cx="514350" cy="285750"/>
          </a:xfrm>
          <a:prstGeom prst="rect">
            <a:avLst/>
          </a:prstGeom>
          <a:noFill/>
          <a:ln w="0">
            <a:noFill/>
          </a:ln>
        </p:spPr>
        <p:txBody>
          <a:bodyPr wrap="square" lIns="0" tIns="0" rIns="0" bIns="0" anchor="t">
            <a:noAutofit/>
          </a:bodyPr>
          <a:lstStyle>
            <a:defPPr>
              <a:defRPr sz="1200" b="0">
                <a:solidFill>
                  <a:srgbClr val="68758A"/>
                </a:solidFill>
                <a:latin typeface="Noto Sans CJK SC"/>
                <a:ea typeface="Noto Sans CJK SC"/>
                <a:cs typeface="Noto Sans CJK SC"/>
              </a:defRPr>
            </a:defPPr>
          </a:lstStyle>
          <a:p>
            <a:pPr>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25</a:t>
            </a:r>
          </a:p>
        </p:txBody>
      </p:sp>
      <p:sp>
        <p:nvSpPr>
          <p:cNvPr id="3" name="Introduction（4/9）：提出分析贡献">
            <a:extLst>
              <a:ext uri="{FF2B5EF4-FFF2-40B4-BE49-F238E27FC236}">
                <a16:creationId xmlns:a16="http://schemas.microsoft.com/office/drawing/2014/main" id="{283F636C-CD04-4F9E-91AA-0D8D57DB96B2}"/>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dirty="0">
                <a:solidFill>
                  <a:srgbClr val="19263E"/>
                </a:solidFill>
                <a:latin typeface="Noto Sans CJK SC"/>
                <a:ea typeface="Noto Sans CJK SC"/>
                <a:cs typeface="Noto Sans CJK SC"/>
              </a:rPr>
              <a:t>Introduction（4/</a:t>
            </a:r>
            <a:r>
              <a:rPr lang="en-US" altLang="zh-CN" sz="2925" b="1" dirty="0">
                <a:solidFill>
                  <a:srgbClr val="19263E"/>
                </a:solidFill>
                <a:latin typeface="Noto Sans CJK SC"/>
                <a:ea typeface="Noto Sans CJK SC"/>
                <a:cs typeface="Noto Sans CJK SC"/>
              </a:rPr>
              <a:t>8</a:t>
            </a:r>
            <a:r>
              <a:rPr sz="2925" b="1" dirty="0">
                <a:solidFill>
                  <a:srgbClr val="19263E"/>
                </a:solidFill>
                <a:latin typeface="Noto Sans CJK SC"/>
                <a:ea typeface="Noto Sans CJK SC"/>
                <a:cs typeface="Noto Sans CJK SC"/>
              </a:rPr>
              <a:t>）：</a:t>
            </a:r>
            <a:r>
              <a:rPr lang="zh-CN" altLang="en-US" sz="2925" b="1" dirty="0">
                <a:solidFill>
                  <a:srgbClr val="19263E"/>
                </a:solidFill>
                <a:latin typeface="Noto Sans CJK SC"/>
                <a:ea typeface="Noto Sans CJK SC"/>
                <a:cs typeface="Noto Sans CJK SC"/>
              </a:rPr>
              <a:t>分析</a:t>
            </a:r>
            <a:r>
              <a:rPr sz="2925" b="1" dirty="0" err="1">
                <a:solidFill>
                  <a:srgbClr val="19263E"/>
                </a:solidFill>
                <a:latin typeface="Noto Sans CJK SC"/>
                <a:ea typeface="Noto Sans CJK SC"/>
                <a:cs typeface="Noto Sans CJK SC"/>
              </a:rPr>
              <a:t>模型失败</a:t>
            </a:r>
            <a:r>
              <a:rPr lang="zh-CN" altLang="en-US" sz="2925" b="1" dirty="0">
                <a:solidFill>
                  <a:srgbClr val="19263E"/>
                </a:solidFill>
                <a:latin typeface="Noto Sans CJK SC"/>
                <a:ea typeface="Noto Sans CJK SC"/>
                <a:cs typeface="Noto Sans CJK SC"/>
              </a:rPr>
              <a:t>的原因</a:t>
            </a:r>
            <a:endParaRPr sz="2925" b="1" dirty="0">
              <a:solidFill>
                <a:srgbClr val="19263E"/>
              </a:solidFill>
              <a:latin typeface="Noto Sans CJK SC"/>
              <a:ea typeface="Noto Sans CJK SC"/>
              <a:cs typeface="Noto Sans CJK SC"/>
            </a:endParaRPr>
          </a:p>
        </p:txBody>
      </p:sp>
      <p:sp>
        <p:nvSpPr>
          <p:cNvPr id="6" name="To clarify this mismatch, our first cont">
            <a:extLst>
              <a:ext uri="{FF2B5EF4-FFF2-40B4-BE49-F238E27FC236}">
                <a16:creationId xmlns:a16="http://schemas.microsoft.com/office/drawing/2014/main" id="{64586491-9289-4BBA-9329-38C66AB7BD7C}"/>
              </a:ext>
            </a:extLst>
          </p:cNvPr>
          <p:cNvSpPr>
            <a:spLocks noGrp="1"/>
          </p:cNvSpPr>
          <p:nvPr/>
        </p:nvSpPr>
        <p:spPr>
          <a:xfrm>
            <a:off x="609600" y="2066925"/>
            <a:ext cx="7010400" cy="4133850"/>
          </a:xfrm>
          <a:prstGeom prst="rect">
            <a:avLst/>
          </a:prstGeom>
          <a:noFill/>
          <a:ln w="0">
            <a:noFill/>
          </a:ln>
        </p:spPr>
        <p:txBody>
          <a:bodyPr wrap="square" lIns="0" tIns="0" rIns="0" bIns="0" anchor="t">
            <a:noAutofit/>
          </a:bodyPr>
          <a:lstStyle>
            <a:defPPr>
              <a:defRPr sz="1800" b="0">
                <a:solidFill>
                  <a:srgbClr val="19263E"/>
                </a:solidFill>
                <a:latin typeface="Noto Sans CJK SC"/>
                <a:ea typeface="Noto Sans CJK SC"/>
                <a:cs typeface="Noto Sans CJK SC"/>
              </a:defRPr>
            </a:defPPr>
          </a:lstStyle>
          <a:p>
            <a:pPr>
              <a:buNone/>
              <a:defRPr sz="1800" b="0">
                <a:solidFill>
                  <a:srgbClr val="19263E"/>
                </a:solidFill>
                <a:latin typeface="Noto Sans CJK SC"/>
                <a:ea typeface="Noto Sans CJK SC"/>
                <a:cs typeface="Noto Sans CJK SC"/>
              </a:defRPr>
            </a:pPr>
            <a:r>
              <a:rPr sz="1800" b="0">
                <a:solidFill>
                  <a:srgbClr val="19263E"/>
                </a:solidFill>
                <a:latin typeface="Noto Sans CJK SC"/>
                <a:ea typeface="Noto Sans CJK SC"/>
                <a:cs typeface="Noto Sans CJK SC"/>
              </a:rPr>
              <a:t>To clarify this mismatch, </a:t>
            </a:r>
            <a:r>
              <a:rPr sz="1800" b="1">
                <a:solidFill>
                  <a:srgbClr val="356DA7"/>
                </a:solidFill>
                <a:latin typeface="Noto Sans CJK SC"/>
                <a:ea typeface="Noto Sans CJK SC"/>
                <a:cs typeface="Noto Sans CJK SC"/>
              </a:rPr>
              <a:t>our first contribution</a:t>
            </a:r>
            <a:r>
              <a:rPr sz="1800" b="0">
                <a:solidFill>
                  <a:srgbClr val="19263E"/>
                </a:solidFill>
                <a:latin typeface="Noto Sans CJK SC"/>
                <a:ea typeface="Noto Sans CJK SC"/>
                <a:cs typeface="Noto Sans CJK SC"/>
              </a:rPr>
              <a:t> is a mathematical analysis showing that directly applying state-of-the-art generative sequence models to neurodegenerative forecasting is structurally prone to failure. The analysis yields two characteristic failure modes that expose </a:t>
            </a:r>
            <a:r>
              <a:rPr sz="1800" b="1">
                <a:solidFill>
                  <a:srgbClr val="B57815"/>
                </a:solidFill>
                <a:latin typeface="Noto Sans CJK SC"/>
                <a:ea typeface="Noto Sans CJK SC"/>
                <a:cs typeface="Noto Sans CJK SC"/>
              </a:rPr>
              <a:t>intrinsic limitations</a:t>
            </a:r>
            <a:r>
              <a:rPr sz="1800" b="0">
                <a:solidFill>
                  <a:srgbClr val="19263E"/>
                </a:solidFill>
                <a:latin typeface="Noto Sans CJK SC"/>
                <a:ea typeface="Noto Sans CJK SC"/>
                <a:cs typeface="Noto Sans CJK SC"/>
              </a:rPr>
              <a:t> of existing approaches. </a:t>
            </a:r>
            <a:r>
              <a:rPr sz="1800" b="1">
                <a:solidFill>
                  <a:srgbClr val="168F85"/>
                </a:solidFill>
                <a:latin typeface="Noto Sans CJK SC"/>
                <a:ea typeface="Noto Sans CJK SC"/>
                <a:cs typeface="Noto Sans CJK SC"/>
              </a:rPr>
              <a:t>First, identity collapse</a:t>
            </a:r>
            <a:r>
              <a:rPr sz="1800" b="0">
                <a:solidFill>
                  <a:srgbClr val="19263E"/>
                </a:solidFill>
                <a:latin typeface="Noto Sans CJK SC"/>
                <a:ea typeface="Noto Sans CJK SC"/>
                <a:cs typeface="Noto Sans CJK SC"/>
              </a:rPr>
              <a:t> occurs when optimization is dominated by the much larger baseline anatomy, pushing the model toward an approximate identity mapping that reproduces static neuroanatomy instead of learning faint temporal drift, as shown by Fig. 1-(b).</a:t>
            </a:r>
          </a:p>
        </p:txBody>
      </p:sp>
      <p:sp>
        <p:nvSpPr>
          <p:cNvPr id="10" name="解释第一种失败">
            <a:extLst>
              <a:ext uri="{FF2B5EF4-FFF2-40B4-BE49-F238E27FC236}">
                <a16:creationId xmlns:a16="http://schemas.microsoft.com/office/drawing/2014/main" id="{2BAC6166-5B79-49CB-BD71-47DFFCE68AC8}"/>
              </a:ext>
            </a:extLst>
          </p:cNvPr>
          <p:cNvSpPr>
            <a:spLocks noGrp="1"/>
          </p:cNvSpPr>
          <p:nvPr/>
        </p:nvSpPr>
        <p:spPr>
          <a:xfrm>
            <a:off x="7943850" y="2786876"/>
            <a:ext cx="3619500" cy="342900"/>
          </a:xfrm>
          <a:prstGeom prst="rect">
            <a:avLst/>
          </a:prstGeom>
          <a:noFill/>
          <a:ln w="0">
            <a:noFill/>
          </a:ln>
        </p:spPr>
        <p:txBody>
          <a:bodyPr wrap="none" lIns="0" tIns="0" rIns="0" bIns="0" anchor="t">
            <a:noAutofit/>
          </a:bodyPr>
          <a:lstStyle>
            <a:defPPr algn="l">
              <a:defRPr sz="1950" b="1">
                <a:solidFill>
                  <a:srgbClr val="168F85"/>
                </a:solidFill>
                <a:latin typeface="Noto Sans CJK SC"/>
                <a:ea typeface="Noto Sans CJK SC"/>
                <a:cs typeface="Noto Sans CJK SC"/>
              </a:defRPr>
            </a:defPPr>
          </a:lstStyle>
          <a:p>
            <a:pPr algn="l">
              <a:buNone/>
              <a:defRPr sz="1950" b="1">
                <a:solidFill>
                  <a:srgbClr val="168F85"/>
                </a:solidFill>
                <a:latin typeface="Noto Sans CJK SC"/>
                <a:ea typeface="Noto Sans CJK SC"/>
                <a:cs typeface="Noto Sans CJK SC"/>
              </a:defRPr>
            </a:pPr>
            <a:r>
              <a:rPr sz="1950" b="1" dirty="0" err="1">
                <a:solidFill>
                  <a:srgbClr val="168F85"/>
                </a:solidFill>
                <a:latin typeface="Noto Sans CJK SC"/>
                <a:ea typeface="Noto Sans CJK SC"/>
                <a:cs typeface="Noto Sans CJK SC"/>
              </a:rPr>
              <a:t>第一种失败</a:t>
            </a:r>
            <a:endParaRPr sz="1950" b="1" dirty="0">
              <a:solidFill>
                <a:srgbClr val="168F85"/>
              </a:solidFill>
              <a:latin typeface="Noto Sans CJK SC"/>
              <a:ea typeface="Noto Sans CJK SC"/>
              <a:cs typeface="Noto Sans CJK SC"/>
            </a:endParaRPr>
          </a:p>
        </p:txBody>
      </p:sp>
      <p:sp>
        <p:nvSpPr>
          <p:cNvPr id="11" name="从 baseline anatomy 占主导，连接到近似恒等映射及进展学习不足。">
            <a:extLst>
              <a:ext uri="{FF2B5EF4-FFF2-40B4-BE49-F238E27FC236}">
                <a16:creationId xmlns:a16="http://schemas.microsoft.com/office/drawing/2014/main" id="{2601516B-6FA9-47B9-AB6E-7CED1353FD87}"/>
              </a:ext>
            </a:extLst>
          </p:cNvPr>
          <p:cNvSpPr>
            <a:spLocks noGrp="1"/>
          </p:cNvSpPr>
          <p:nvPr/>
        </p:nvSpPr>
        <p:spPr>
          <a:xfrm>
            <a:off x="7943850" y="3196451"/>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a:solidFill>
                  <a:srgbClr val="19263E"/>
                </a:solidFill>
                <a:latin typeface="Noto Sans CJK SC"/>
                <a:ea typeface="Noto Sans CJK SC"/>
                <a:cs typeface="Noto Sans CJK SC"/>
              </a:rPr>
              <a:t>原有解剖结构占主导，模型就容易学成</a:t>
            </a:r>
          </a:p>
          <a:p>
            <a:pPr algn="l">
              <a:buNone/>
              <a:defRPr sz="1650" b="0">
                <a:solidFill>
                  <a:srgbClr val="19263E"/>
                </a:solidFill>
                <a:latin typeface="Noto Sans CJK SC"/>
                <a:ea typeface="Noto Sans CJK SC"/>
                <a:cs typeface="Noto Sans CJK SC"/>
              </a:defRPr>
            </a:pPr>
            <a:r>
              <a:rPr sz="1650" b="0">
                <a:solidFill>
                  <a:srgbClr val="19263E"/>
                </a:solidFill>
                <a:latin typeface="Noto Sans CJK SC"/>
                <a:ea typeface="Noto Sans CJK SC"/>
                <a:cs typeface="Noto Sans CJK SC"/>
              </a:rPr>
              <a:t>近似恒等映射，忽略真正需要预测的微</a:t>
            </a:r>
          </a:p>
          <a:p>
            <a:pPr algn="l">
              <a:buNone/>
              <a:defRPr sz="1650" b="0">
                <a:solidFill>
                  <a:srgbClr val="19263E"/>
                </a:solidFill>
                <a:latin typeface="Noto Sans CJK SC"/>
                <a:ea typeface="Noto Sans CJK SC"/>
                <a:cs typeface="Noto Sans CJK SC"/>
              </a:defRPr>
            </a:pPr>
            <a:r>
              <a:rPr sz="1650" b="0">
                <a:solidFill>
                  <a:srgbClr val="19263E"/>
                </a:solidFill>
                <a:latin typeface="Noto Sans CJK SC"/>
                <a:ea typeface="Noto Sans CJK SC"/>
                <a:cs typeface="Noto Sans CJK SC"/>
              </a:rPr>
              <a:t>小变化。</a:t>
            </a:r>
          </a:p>
        </p:txBody>
      </p:sp>
    </p:spTree>
    <p:extLst>
      <p:ext uri="{BB962C8B-B14F-4D97-AF65-F5344CB8AC3E}">
        <p14:creationId xmlns:p14="http://schemas.microsoft.com/office/powerpoint/2010/main" val="890635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写作分析">
            <a:extLst>
              <a:ext uri="{FF2B5EF4-FFF2-40B4-BE49-F238E27FC236}">
                <a16:creationId xmlns:a16="http://schemas.microsoft.com/office/drawing/2014/main" id="{DEFB80B5-55DC-4BFD-B53F-B3C754DC5DBD}"/>
              </a:ext>
            </a:extLst>
          </p:cNvPr>
          <p:cNvSpPr>
            <a:spLocks noGrp="1"/>
          </p:cNvSpPr>
          <p:nvPr/>
        </p:nvSpPr>
        <p:spPr>
          <a:xfrm>
            <a:off x="609600" y="238125"/>
            <a:ext cx="9715500" cy="285750"/>
          </a:xfrm>
          <a:prstGeom prst="rect">
            <a:avLst/>
          </a:prstGeom>
          <a:noFill/>
          <a:ln w="0">
            <a:noFill/>
          </a:ln>
        </p:spPr>
        <p:txBody>
          <a:bodyPr wrap="square" lIns="0" tIns="0" rIns="0" bIns="0" anchor="t">
            <a:noAutofit/>
          </a:bodyPr>
          <a:lstStyle>
            <a:defPPr>
              <a:defRPr sz="1200" b="1">
                <a:solidFill>
                  <a:srgbClr val="356DA7"/>
                </a:solidFill>
                <a:latin typeface="Noto Sans CJK SC"/>
                <a:ea typeface="Noto Sans CJK SC"/>
                <a:cs typeface="Noto Sans CJK SC"/>
              </a:defRPr>
            </a:defPPr>
          </a:lstStyle>
          <a:p>
            <a:pPr>
              <a:buNone/>
              <a:defRPr sz="1200" b="1">
                <a:solidFill>
                  <a:srgbClr val="356DA7"/>
                </a:solidFill>
                <a:latin typeface="Noto Sans CJK SC"/>
                <a:ea typeface="Noto Sans CJK SC"/>
                <a:cs typeface="Noto Sans CJK SC"/>
              </a:defRPr>
            </a:pPr>
            <a:r>
              <a:rPr sz="1200" b="1">
                <a:solidFill>
                  <a:srgbClr val="356DA7"/>
                </a:solidFill>
                <a:latin typeface="Noto Sans CJK SC"/>
                <a:ea typeface="Noto Sans CJK SC"/>
                <a:cs typeface="Noto Sans CJK SC"/>
              </a:rPr>
              <a:t>写作分析</a:t>
            </a:r>
          </a:p>
        </p:txBody>
      </p:sp>
      <p:sp>
        <p:nvSpPr>
          <p:cNvPr id="2" name="26">
            <a:extLst>
              <a:ext uri="{FF2B5EF4-FFF2-40B4-BE49-F238E27FC236}">
                <a16:creationId xmlns:a16="http://schemas.microsoft.com/office/drawing/2014/main" id="{CA3CCCA3-606F-435A-AEC3-94E9FDD4BACB}"/>
              </a:ext>
            </a:extLst>
          </p:cNvPr>
          <p:cNvSpPr>
            <a:spLocks noGrp="1"/>
          </p:cNvSpPr>
          <p:nvPr/>
        </p:nvSpPr>
        <p:spPr>
          <a:xfrm>
            <a:off x="11077575" y="238125"/>
            <a:ext cx="514350" cy="285750"/>
          </a:xfrm>
          <a:prstGeom prst="rect">
            <a:avLst/>
          </a:prstGeom>
          <a:noFill/>
          <a:ln w="0">
            <a:noFill/>
          </a:ln>
        </p:spPr>
        <p:txBody>
          <a:bodyPr wrap="square" lIns="0" tIns="0" rIns="0" bIns="0" anchor="t">
            <a:noAutofit/>
          </a:bodyPr>
          <a:lstStyle>
            <a:defPPr>
              <a:defRPr sz="1200" b="0">
                <a:solidFill>
                  <a:srgbClr val="68758A"/>
                </a:solidFill>
                <a:latin typeface="Noto Sans CJK SC"/>
                <a:ea typeface="Noto Sans CJK SC"/>
                <a:cs typeface="Noto Sans CJK SC"/>
              </a:defRPr>
            </a:defPPr>
          </a:lstStyle>
          <a:p>
            <a:pPr>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26</a:t>
            </a:r>
          </a:p>
        </p:txBody>
      </p:sp>
      <p:sp>
        <p:nvSpPr>
          <p:cNvPr id="3" name="Introduction（5/9）：第二种失败与研究问题">
            <a:extLst>
              <a:ext uri="{FF2B5EF4-FFF2-40B4-BE49-F238E27FC236}">
                <a16:creationId xmlns:a16="http://schemas.microsoft.com/office/drawing/2014/main" id="{D6C98014-4039-4649-951F-1DE66E4BADC3}"/>
              </a:ext>
            </a:extLst>
          </p:cNvPr>
          <p:cNvSpPr>
            <a:spLocks noGrp="1"/>
          </p:cNvSpPr>
          <p:nvPr/>
        </p:nvSpPr>
        <p:spPr>
          <a:xfrm>
            <a:off x="609600" y="666750"/>
            <a:ext cx="10953750" cy="638175"/>
          </a:xfrm>
          <a:prstGeom prst="rect">
            <a:avLst/>
          </a:prstGeom>
          <a:noFill/>
          <a:ln w="0">
            <a:noFill/>
          </a:ln>
        </p:spPr>
        <p:txBody>
          <a:bodyPr wrap="square" lIns="0" tIns="0" rIns="0" bIns="0" anchor="t">
            <a:noAutofit/>
          </a:bodyPr>
          <a:lstStyle>
            <a:defPPr>
              <a:defRPr sz="2925" b="1">
                <a:solidFill>
                  <a:srgbClr val="19263E"/>
                </a:solidFill>
                <a:latin typeface="Noto Sans CJK SC"/>
                <a:ea typeface="Noto Sans CJK SC"/>
                <a:cs typeface="Noto Sans CJK SC"/>
              </a:defRPr>
            </a:defPPr>
          </a:lstStyle>
          <a:p>
            <a:pPr>
              <a:buNone/>
              <a:defRPr sz="2925" b="1">
                <a:solidFill>
                  <a:srgbClr val="19263E"/>
                </a:solidFill>
                <a:latin typeface="Noto Sans CJK SC"/>
                <a:ea typeface="Noto Sans CJK SC"/>
                <a:cs typeface="Noto Sans CJK SC"/>
              </a:defRPr>
            </a:pPr>
            <a:r>
              <a:rPr sz="2925" b="1" dirty="0">
                <a:solidFill>
                  <a:srgbClr val="19263E"/>
                </a:solidFill>
                <a:latin typeface="Noto Sans CJK SC"/>
                <a:ea typeface="Noto Sans CJK SC"/>
                <a:cs typeface="Noto Sans CJK SC"/>
              </a:rPr>
              <a:t>Introduction（5/</a:t>
            </a:r>
            <a:r>
              <a:rPr lang="en-US" altLang="zh-CN" sz="2925" b="1" dirty="0">
                <a:solidFill>
                  <a:srgbClr val="19263E"/>
                </a:solidFill>
                <a:latin typeface="Noto Sans CJK SC"/>
                <a:ea typeface="Noto Sans CJK SC"/>
                <a:cs typeface="Noto Sans CJK SC"/>
              </a:rPr>
              <a:t>8</a:t>
            </a:r>
            <a:r>
              <a:rPr sz="2925" b="1" dirty="0">
                <a:solidFill>
                  <a:srgbClr val="19263E"/>
                </a:solidFill>
                <a:latin typeface="Noto Sans CJK SC"/>
                <a:ea typeface="Noto Sans CJK SC"/>
                <a:cs typeface="Noto Sans CJK SC"/>
              </a:rPr>
              <a:t>）：</a:t>
            </a:r>
            <a:r>
              <a:rPr lang="zh-CN" altLang="en-US" sz="2925" b="1" dirty="0">
                <a:solidFill>
                  <a:srgbClr val="19263E"/>
                </a:solidFill>
                <a:latin typeface="Noto Sans CJK SC"/>
                <a:ea typeface="Noto Sans CJK SC"/>
                <a:cs typeface="Noto Sans CJK SC"/>
              </a:rPr>
              <a:t>分析模型失败的原因</a:t>
            </a:r>
            <a:endParaRPr sz="2925" b="1" dirty="0">
              <a:solidFill>
                <a:srgbClr val="19263E"/>
              </a:solidFill>
              <a:latin typeface="Noto Sans CJK SC"/>
              <a:ea typeface="Noto Sans CJK SC"/>
              <a:cs typeface="Noto Sans CJK SC"/>
            </a:endParaRPr>
          </a:p>
        </p:txBody>
      </p:sp>
      <p:sp>
        <p:nvSpPr>
          <p:cNvPr id="6" name="Second, the continuous interpolation tra">
            <a:extLst>
              <a:ext uri="{FF2B5EF4-FFF2-40B4-BE49-F238E27FC236}">
                <a16:creationId xmlns:a16="http://schemas.microsoft.com/office/drawing/2014/main" id="{8769FBDE-34D2-4C68-AFF5-4B69B0BD4B84}"/>
              </a:ext>
            </a:extLst>
          </p:cNvPr>
          <p:cNvSpPr>
            <a:spLocks noGrp="1"/>
          </p:cNvSpPr>
          <p:nvPr/>
        </p:nvSpPr>
        <p:spPr>
          <a:xfrm>
            <a:off x="609600" y="2066925"/>
            <a:ext cx="7010400" cy="4133850"/>
          </a:xfrm>
          <a:prstGeom prst="rect">
            <a:avLst/>
          </a:prstGeom>
          <a:noFill/>
          <a:ln w="0">
            <a:noFill/>
          </a:ln>
        </p:spPr>
        <p:txBody>
          <a:bodyPr wrap="square" lIns="0" tIns="0" rIns="0" bIns="0" anchor="t">
            <a:noAutofit/>
          </a:bodyPr>
          <a:lstStyle>
            <a:defPPr>
              <a:defRPr sz="1800" b="0">
                <a:solidFill>
                  <a:srgbClr val="19263E"/>
                </a:solidFill>
                <a:latin typeface="Noto Sans CJK SC"/>
                <a:ea typeface="Noto Sans CJK SC"/>
                <a:cs typeface="Noto Sans CJK SC"/>
              </a:defRPr>
            </a:defPPr>
          </a:lstStyle>
          <a:p>
            <a:pPr>
              <a:buNone/>
              <a:defRPr sz="1800" b="0">
                <a:solidFill>
                  <a:srgbClr val="19263E"/>
                </a:solidFill>
                <a:latin typeface="Noto Sans CJK SC"/>
                <a:ea typeface="Noto Sans CJK SC"/>
                <a:cs typeface="Noto Sans CJK SC"/>
              </a:defRPr>
            </a:pPr>
            <a:r>
              <a:rPr sz="1800" b="1">
                <a:solidFill>
                  <a:srgbClr val="356DA7"/>
                </a:solidFill>
                <a:latin typeface="Noto Sans CJK SC"/>
                <a:ea typeface="Noto Sans CJK SC"/>
                <a:cs typeface="Noto Sans CJK SC"/>
              </a:rPr>
              <a:t>Second, the continuous interpolation trap</a:t>
            </a:r>
            <a:r>
              <a:rPr sz="1800" b="0">
                <a:solidFill>
                  <a:srgbClr val="19263E"/>
                </a:solidFill>
                <a:latin typeface="Noto Sans CJK SC"/>
                <a:ea typeface="Noto Sans CJK SC"/>
                <a:cs typeface="Noto Sans CJK SC"/>
              </a:rPr>
              <a:t> arises under dense, sample-specific nuisance variation. For Lipschitz-continuous networks, </a:t>
            </a:r>
            <a:r>
              <a:rPr sz="1800" b="1">
                <a:solidFill>
                  <a:srgbClr val="168F85"/>
                </a:solidFill>
                <a:latin typeface="Noto Sans CJK SC"/>
                <a:ea typeface="Noto Sans CJK SC"/>
                <a:cs typeface="Noto Sans CJK SC"/>
              </a:rPr>
              <a:t>sparse semantic progression</a:t>
            </a:r>
            <a:r>
              <a:rPr sz="1800" b="0">
                <a:solidFill>
                  <a:srgbClr val="19263E"/>
                </a:solidFill>
                <a:latin typeface="Noto Sans CJK SC"/>
                <a:ea typeface="Noto Sans CJK SC"/>
                <a:cs typeface="Noto Sans CJK SC"/>
              </a:rPr>
              <a:t> cannot be separated cleanly from pervasive noise. The learned predictor then behaves as a spurious interpolator that diffuses variance across the full volume instead of recovering localized neurodegenerative change [50, 18]. </a:t>
            </a:r>
            <a:r>
              <a:rPr sz="1800" b="1">
                <a:solidFill>
                  <a:srgbClr val="B57815"/>
                </a:solidFill>
                <a:latin typeface="Noto Sans CJK SC"/>
                <a:ea typeface="Noto Sans CJK SC"/>
                <a:cs typeface="Noto Sans CJK SC"/>
              </a:rPr>
              <a:t>Therefore, How can we constrain</a:t>
            </a:r>
            <a:r>
              <a:rPr sz="1800" b="0">
                <a:solidFill>
                  <a:srgbClr val="19263E"/>
                </a:solidFill>
                <a:latin typeface="Noto Sans CJK SC"/>
                <a:ea typeface="Noto Sans CJK SC"/>
                <a:cs typeface="Noto Sans CJK SC"/>
              </a:rPr>
              <a:t> a generative model to reliably predict subtle, localized atrophy trajectories, instead of memorizing baseline anatomy or amplifying scanner-dependent noise?</a:t>
            </a:r>
          </a:p>
        </p:txBody>
      </p:sp>
      <p:sp>
        <p:nvSpPr>
          <p:cNvPr id="8" name="并列解释失败">
            <a:extLst>
              <a:ext uri="{FF2B5EF4-FFF2-40B4-BE49-F238E27FC236}">
                <a16:creationId xmlns:a16="http://schemas.microsoft.com/office/drawing/2014/main" id="{FE36BF48-721B-475B-BDA9-5628BAF6495F}"/>
              </a:ext>
            </a:extLst>
          </p:cNvPr>
          <p:cNvSpPr>
            <a:spLocks noGrp="1"/>
          </p:cNvSpPr>
          <p:nvPr/>
        </p:nvSpPr>
        <p:spPr>
          <a:xfrm>
            <a:off x="7943850" y="2057400"/>
            <a:ext cx="3619500" cy="342900"/>
          </a:xfrm>
          <a:prstGeom prst="rect">
            <a:avLst/>
          </a:prstGeom>
          <a:noFill/>
          <a:ln w="0">
            <a:noFill/>
          </a:ln>
        </p:spPr>
        <p:txBody>
          <a:bodyPr wrap="none" lIns="0" tIns="0" rIns="0" bIns="0" anchor="t">
            <a:noAutofit/>
          </a:bodyPr>
          <a:lstStyle>
            <a:defPPr algn="l">
              <a:defRPr sz="1950" b="1">
                <a:solidFill>
                  <a:srgbClr val="356DA7"/>
                </a:solidFill>
                <a:latin typeface="Noto Sans CJK SC"/>
                <a:ea typeface="Noto Sans CJK SC"/>
                <a:cs typeface="Noto Sans CJK SC"/>
              </a:defRPr>
            </a:defPPr>
          </a:lstStyle>
          <a:p>
            <a:pPr algn="l">
              <a:buNone/>
              <a:defRPr sz="1950" b="1">
                <a:solidFill>
                  <a:srgbClr val="356DA7"/>
                </a:solidFill>
                <a:latin typeface="Noto Sans CJK SC"/>
                <a:ea typeface="Noto Sans CJK SC"/>
                <a:cs typeface="Noto Sans CJK SC"/>
              </a:defRPr>
            </a:pPr>
            <a:r>
              <a:rPr sz="1950" b="1" dirty="0" err="1">
                <a:solidFill>
                  <a:srgbClr val="356DA7"/>
                </a:solidFill>
                <a:latin typeface="Noto Sans CJK SC"/>
                <a:ea typeface="Noto Sans CJK SC"/>
                <a:cs typeface="Noto Sans CJK SC"/>
              </a:rPr>
              <a:t>第二种失败</a:t>
            </a:r>
            <a:endParaRPr sz="1950" b="1" dirty="0">
              <a:solidFill>
                <a:srgbClr val="356DA7"/>
              </a:solidFill>
              <a:latin typeface="Noto Sans CJK SC"/>
              <a:ea typeface="Noto Sans CJK SC"/>
              <a:cs typeface="Noto Sans CJK SC"/>
            </a:endParaRPr>
          </a:p>
        </p:txBody>
      </p:sp>
      <p:sp>
        <p:nvSpPr>
          <p:cNvPr id="11" name="从稠密扰动解释伪插值，再落到无法恢复局部退变这一后果。">
            <a:extLst>
              <a:ext uri="{FF2B5EF4-FFF2-40B4-BE49-F238E27FC236}">
                <a16:creationId xmlns:a16="http://schemas.microsoft.com/office/drawing/2014/main" id="{082EFCC0-FC3F-4E9F-8887-C022CCF846C1}"/>
              </a:ext>
            </a:extLst>
          </p:cNvPr>
          <p:cNvSpPr>
            <a:spLocks noGrp="1"/>
          </p:cNvSpPr>
          <p:nvPr/>
        </p:nvSpPr>
        <p:spPr>
          <a:xfrm>
            <a:off x="7943850" y="2600325"/>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稠密扰动会让</a:t>
            </a:r>
            <a:r>
              <a:rPr lang="zh-CN" altLang="en-US" sz="1650" b="0" dirty="0">
                <a:solidFill>
                  <a:srgbClr val="19263E"/>
                </a:solidFill>
                <a:latin typeface="Noto Sans CJK SC"/>
                <a:ea typeface="Noto Sans CJK SC"/>
                <a:cs typeface="Noto Sans CJK SC"/>
              </a:rPr>
              <a:t>模型</a:t>
            </a:r>
            <a:r>
              <a:rPr lang="zh-CN" altLang="en-US" sz="1650" dirty="0">
                <a:solidFill>
                  <a:srgbClr val="19263E"/>
                </a:solidFill>
                <a:latin typeface="Noto Sans CJK SC"/>
                <a:ea typeface="Noto Sans CJK SC"/>
                <a:cs typeface="Noto Sans CJK SC"/>
              </a:rPr>
              <a:t>把噪声当成</a:t>
            </a:r>
            <a:endParaRPr sz="1650" b="0" dirty="0">
              <a:solidFill>
                <a:srgbClr val="19263E"/>
              </a:solidFill>
              <a:latin typeface="Noto Sans CJK SC"/>
              <a:ea typeface="Noto Sans CJK SC"/>
              <a:cs typeface="Noto Sans CJK SC"/>
            </a:endParaRPr>
          </a:p>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伪变化，因此难以恢复真实的局部退变</a:t>
            </a:r>
            <a:r>
              <a:rPr sz="1650" b="0" dirty="0">
                <a:solidFill>
                  <a:srgbClr val="19263E"/>
                </a:solidFill>
                <a:latin typeface="Noto Sans CJK SC"/>
                <a:ea typeface="Noto Sans CJK SC"/>
                <a:cs typeface="Noto Sans CJK SC"/>
              </a:rPr>
              <a:t>。</a:t>
            </a:r>
          </a:p>
        </p:txBody>
      </p:sp>
      <p:sp>
        <p:nvSpPr>
          <p:cNvPr id="12" name="收束研究问题">
            <a:extLst>
              <a:ext uri="{FF2B5EF4-FFF2-40B4-BE49-F238E27FC236}">
                <a16:creationId xmlns:a16="http://schemas.microsoft.com/office/drawing/2014/main" id="{C4521C5E-D416-4461-B7D8-834FA772E63C}"/>
              </a:ext>
            </a:extLst>
          </p:cNvPr>
          <p:cNvSpPr>
            <a:spLocks noGrp="1"/>
          </p:cNvSpPr>
          <p:nvPr/>
        </p:nvSpPr>
        <p:spPr>
          <a:xfrm>
            <a:off x="8015403" y="3638550"/>
            <a:ext cx="3619500" cy="342900"/>
          </a:xfrm>
          <a:prstGeom prst="rect">
            <a:avLst/>
          </a:prstGeom>
          <a:noFill/>
          <a:ln w="0">
            <a:noFill/>
          </a:ln>
        </p:spPr>
        <p:txBody>
          <a:bodyPr wrap="none" lIns="0" tIns="0" rIns="0" bIns="0" anchor="t">
            <a:noAutofit/>
          </a:bodyPr>
          <a:lstStyle>
            <a:defPPr algn="l">
              <a:defRPr sz="1950" b="1">
                <a:solidFill>
                  <a:srgbClr val="B57815"/>
                </a:solidFill>
                <a:latin typeface="Noto Sans CJK SC"/>
                <a:ea typeface="Noto Sans CJK SC"/>
                <a:cs typeface="Noto Sans CJK SC"/>
              </a:defRPr>
            </a:defPPr>
          </a:lstStyle>
          <a:p>
            <a:pPr algn="l">
              <a:buNone/>
              <a:defRPr sz="1950" b="1">
                <a:solidFill>
                  <a:srgbClr val="B57815"/>
                </a:solidFill>
                <a:latin typeface="Noto Sans CJK SC"/>
                <a:ea typeface="Noto Sans CJK SC"/>
                <a:cs typeface="Noto Sans CJK SC"/>
              </a:defRPr>
            </a:pPr>
            <a:r>
              <a:rPr sz="1950" b="1" dirty="0" err="1">
                <a:solidFill>
                  <a:srgbClr val="B57815"/>
                </a:solidFill>
                <a:latin typeface="Noto Sans CJK SC"/>
                <a:ea typeface="Noto Sans CJK SC"/>
                <a:cs typeface="Noto Sans CJK SC"/>
              </a:rPr>
              <a:t>提出研究问题</a:t>
            </a:r>
            <a:endParaRPr sz="1950" b="1" dirty="0">
              <a:solidFill>
                <a:srgbClr val="B57815"/>
              </a:solidFill>
              <a:latin typeface="Noto Sans CJK SC"/>
              <a:ea typeface="Noto Sans CJK SC"/>
              <a:cs typeface="Noto Sans CJK SC"/>
            </a:endParaRPr>
          </a:p>
        </p:txBody>
      </p:sp>
      <p:sp>
        <p:nvSpPr>
          <p:cNvPr id="13" name="末尾问句将两类失败合并为“如何可靠预测局部微小变化”。">
            <a:extLst>
              <a:ext uri="{FF2B5EF4-FFF2-40B4-BE49-F238E27FC236}">
                <a16:creationId xmlns:a16="http://schemas.microsoft.com/office/drawing/2014/main" id="{A3FF76B5-668A-4345-BF29-7386E4655188}"/>
              </a:ext>
            </a:extLst>
          </p:cNvPr>
          <p:cNvSpPr>
            <a:spLocks noGrp="1"/>
          </p:cNvSpPr>
          <p:nvPr/>
        </p:nvSpPr>
        <p:spPr>
          <a:xfrm>
            <a:off x="8015403" y="4048125"/>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endParaRPr sz="1650" b="0" dirty="0">
              <a:solidFill>
                <a:srgbClr val="19263E"/>
              </a:solidFill>
              <a:latin typeface="Noto Sans CJK SC"/>
              <a:ea typeface="Noto Sans CJK SC"/>
              <a:cs typeface="Noto Sans CJK SC"/>
            </a:endParaRPr>
          </a:p>
        </p:txBody>
      </p:sp>
      <p:sp>
        <p:nvSpPr>
          <p:cNvPr id="16" name="文本框 15">
            <a:extLst>
              <a:ext uri="{FF2B5EF4-FFF2-40B4-BE49-F238E27FC236}">
                <a16:creationId xmlns:a16="http://schemas.microsoft.com/office/drawing/2014/main" id="{24B0935A-E7DA-3E45-CD6E-B0A59DA3D230}"/>
              </a:ext>
            </a:extLst>
          </p:cNvPr>
          <p:cNvSpPr txBox="1"/>
          <p:nvPr/>
        </p:nvSpPr>
        <p:spPr>
          <a:xfrm>
            <a:off x="7943850" y="4050448"/>
            <a:ext cx="3462453" cy="584775"/>
          </a:xfrm>
          <a:prstGeom prst="rect">
            <a:avLst/>
          </a:prstGeom>
          <a:noFill/>
        </p:spPr>
        <p:txBody>
          <a:bodyPr wrap="square">
            <a:spAutoFit/>
          </a:bodyPr>
          <a:lstStyle/>
          <a:p>
            <a:pPr algn="l">
              <a:buNone/>
              <a:defRPr sz="1650" b="0">
                <a:solidFill>
                  <a:srgbClr val="19263E"/>
                </a:solidFill>
                <a:latin typeface="Noto Sans CJK SC"/>
                <a:ea typeface="Noto Sans CJK SC"/>
                <a:cs typeface="Noto Sans CJK SC"/>
              </a:defRPr>
            </a:pPr>
            <a:r>
              <a:rPr lang="zh-CN" altLang="en-US" sz="1600" b="0" dirty="0">
                <a:solidFill>
                  <a:srgbClr val="19263E"/>
                </a:solidFill>
                <a:latin typeface="Noto Sans CJK SC"/>
                <a:ea typeface="Noto Sans CJK SC"/>
                <a:cs typeface="Noto Sans CJK SC"/>
              </a:rPr>
              <a:t>怎样才能可靠地预测局部微小变化，而不只是复制原结构或放大噪声</a:t>
            </a:r>
          </a:p>
        </p:txBody>
      </p:sp>
    </p:spTree>
    <p:extLst>
      <p:ext uri="{BB962C8B-B14F-4D97-AF65-F5344CB8AC3E}">
        <p14:creationId xmlns:p14="http://schemas.microsoft.com/office/powerpoint/2010/main" val="880157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写作分析">
            <a:extLst>
              <a:ext uri="{FF2B5EF4-FFF2-40B4-BE49-F238E27FC236}">
                <a16:creationId xmlns:a16="http://schemas.microsoft.com/office/drawing/2014/main" id="{4010761E-2BDE-4196-AC70-7C7ED13C88A6}"/>
              </a:ext>
            </a:extLst>
          </p:cNvPr>
          <p:cNvSpPr>
            <a:spLocks noGrp="1"/>
          </p:cNvSpPr>
          <p:nvPr/>
        </p:nvSpPr>
        <p:spPr>
          <a:xfrm>
            <a:off x="609600" y="238125"/>
            <a:ext cx="9715500" cy="285750"/>
          </a:xfrm>
          <a:prstGeom prst="rect">
            <a:avLst/>
          </a:prstGeom>
          <a:noFill/>
          <a:ln w="0">
            <a:noFill/>
          </a:ln>
        </p:spPr>
        <p:txBody>
          <a:bodyPr wrap="square" lIns="0" tIns="0" rIns="0" bIns="0" anchor="t">
            <a:noAutofit/>
          </a:bodyPr>
          <a:lstStyle>
            <a:defPPr>
              <a:defRPr sz="1200" b="1">
                <a:solidFill>
                  <a:srgbClr val="356DA7"/>
                </a:solidFill>
                <a:latin typeface="Noto Sans CJK SC"/>
                <a:ea typeface="Noto Sans CJK SC"/>
                <a:cs typeface="Noto Sans CJK SC"/>
              </a:defRPr>
            </a:defPPr>
          </a:lstStyle>
          <a:p>
            <a:pPr>
              <a:buNone/>
              <a:defRPr sz="1200" b="1">
                <a:solidFill>
                  <a:srgbClr val="356DA7"/>
                </a:solidFill>
                <a:latin typeface="Noto Sans CJK SC"/>
                <a:ea typeface="Noto Sans CJK SC"/>
                <a:cs typeface="Noto Sans CJK SC"/>
              </a:defRPr>
            </a:pPr>
            <a:r>
              <a:rPr sz="1200" b="1">
                <a:solidFill>
                  <a:srgbClr val="356DA7"/>
                </a:solidFill>
                <a:latin typeface="Noto Sans CJK SC"/>
                <a:ea typeface="Noto Sans CJK SC"/>
                <a:cs typeface="Noto Sans CJK SC"/>
              </a:rPr>
              <a:t>写作分析</a:t>
            </a:r>
          </a:p>
        </p:txBody>
      </p:sp>
      <p:sp>
        <p:nvSpPr>
          <p:cNvPr id="2" name="27">
            <a:extLst>
              <a:ext uri="{FF2B5EF4-FFF2-40B4-BE49-F238E27FC236}">
                <a16:creationId xmlns:a16="http://schemas.microsoft.com/office/drawing/2014/main" id="{D266B9EF-CA7D-4C01-ADB1-CBA1BA61E32D}"/>
              </a:ext>
            </a:extLst>
          </p:cNvPr>
          <p:cNvSpPr>
            <a:spLocks noGrp="1"/>
          </p:cNvSpPr>
          <p:nvPr/>
        </p:nvSpPr>
        <p:spPr>
          <a:xfrm>
            <a:off x="11077575" y="238125"/>
            <a:ext cx="514350" cy="285750"/>
          </a:xfrm>
          <a:prstGeom prst="rect">
            <a:avLst/>
          </a:prstGeom>
          <a:noFill/>
          <a:ln w="0">
            <a:noFill/>
          </a:ln>
        </p:spPr>
        <p:txBody>
          <a:bodyPr wrap="square" lIns="0" tIns="0" rIns="0" bIns="0" anchor="t">
            <a:noAutofit/>
          </a:bodyPr>
          <a:lstStyle>
            <a:defPPr>
              <a:defRPr sz="1200" b="0">
                <a:solidFill>
                  <a:srgbClr val="68758A"/>
                </a:solidFill>
                <a:latin typeface="Noto Sans CJK SC"/>
                <a:ea typeface="Noto Sans CJK SC"/>
                <a:cs typeface="Noto Sans CJK SC"/>
              </a:defRPr>
            </a:defPPr>
          </a:lstStyle>
          <a:p>
            <a:pPr>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27</a:t>
            </a:r>
          </a:p>
        </p:txBody>
      </p:sp>
      <p:sp>
        <p:nvSpPr>
          <p:cNvPr id="3" name="Introduction（6/9）：方法回应静态结构主导">
            <a:extLst>
              <a:ext uri="{FF2B5EF4-FFF2-40B4-BE49-F238E27FC236}">
                <a16:creationId xmlns:a16="http://schemas.microsoft.com/office/drawing/2014/main" id="{EBA5A82E-F98D-4CB6-B12C-E9A2BE9CC48C}"/>
              </a:ext>
            </a:extLst>
          </p:cNvPr>
          <p:cNvSpPr>
            <a:spLocks noGrp="1"/>
          </p:cNvSpPr>
          <p:nvPr/>
        </p:nvSpPr>
        <p:spPr>
          <a:xfrm>
            <a:off x="609600" y="666750"/>
            <a:ext cx="10953750" cy="638175"/>
          </a:xfrm>
          <a:prstGeom prst="rect">
            <a:avLst/>
          </a:prstGeom>
          <a:noFill/>
          <a:ln w="0">
            <a:noFill/>
          </a:ln>
        </p:spPr>
        <p:txBody>
          <a:bodyPr wrap="none" lIns="0" tIns="0" rIns="0" bIns="0" anchor="t">
            <a:noAutofit/>
          </a:bodyPr>
          <a:lstStyle>
            <a:defPPr algn="l">
              <a:defRPr sz="2925" b="1">
                <a:solidFill>
                  <a:srgbClr val="19263E"/>
                </a:solidFill>
                <a:latin typeface="Noto Sans CJK SC"/>
                <a:ea typeface="Noto Sans CJK SC"/>
                <a:cs typeface="Noto Sans CJK SC"/>
              </a:defRPr>
            </a:defPPr>
          </a:lstStyle>
          <a:p>
            <a:pPr algn="l">
              <a:buNone/>
              <a:defRPr sz="2925" b="1">
                <a:solidFill>
                  <a:srgbClr val="19263E"/>
                </a:solidFill>
                <a:latin typeface="Noto Sans CJK SC"/>
                <a:ea typeface="Noto Sans CJK SC"/>
                <a:cs typeface="Noto Sans CJK SC"/>
              </a:defRPr>
            </a:pPr>
            <a:r>
              <a:rPr sz="2925" b="1" dirty="0">
                <a:solidFill>
                  <a:srgbClr val="19263E"/>
                </a:solidFill>
                <a:latin typeface="Noto Sans CJK SC"/>
                <a:ea typeface="Noto Sans CJK SC"/>
                <a:cs typeface="Noto Sans CJK SC"/>
              </a:rPr>
              <a:t>Introduction（6/</a:t>
            </a:r>
            <a:r>
              <a:rPr lang="en-US" altLang="zh-CN" sz="2925" b="1" dirty="0">
                <a:solidFill>
                  <a:srgbClr val="19263E"/>
                </a:solidFill>
                <a:latin typeface="Noto Sans CJK SC"/>
                <a:ea typeface="Noto Sans CJK SC"/>
                <a:cs typeface="Noto Sans CJK SC"/>
              </a:rPr>
              <a:t>8</a:t>
            </a:r>
            <a:r>
              <a:rPr sz="2925" b="1" dirty="0">
                <a:solidFill>
                  <a:srgbClr val="19263E"/>
                </a:solidFill>
                <a:latin typeface="Noto Sans CJK SC"/>
                <a:ea typeface="Noto Sans CJK SC"/>
                <a:cs typeface="Noto Sans CJK SC"/>
              </a:rPr>
              <a:t>）：</a:t>
            </a:r>
            <a:r>
              <a:rPr lang="zh-CN" altLang="en-US" sz="2925" b="1" dirty="0">
                <a:solidFill>
                  <a:srgbClr val="19263E"/>
                </a:solidFill>
                <a:latin typeface="Noto Sans CJK SC"/>
                <a:ea typeface="Noto Sans CJK SC"/>
                <a:cs typeface="Noto Sans CJK SC"/>
              </a:rPr>
              <a:t>本文方法</a:t>
            </a:r>
            <a:endParaRPr sz="2925" b="1" dirty="0">
              <a:solidFill>
                <a:srgbClr val="19263E"/>
              </a:solidFill>
              <a:latin typeface="Noto Sans CJK SC"/>
              <a:ea typeface="Noto Sans CJK SC"/>
              <a:cs typeface="Noto Sans CJK SC"/>
            </a:endParaRPr>
          </a:p>
        </p:txBody>
      </p:sp>
      <p:sp>
        <p:nvSpPr>
          <p:cNvPr id="6" name="In this paper, we address these two fail">
            <a:extLst>
              <a:ext uri="{FF2B5EF4-FFF2-40B4-BE49-F238E27FC236}">
                <a16:creationId xmlns:a16="http://schemas.microsoft.com/office/drawing/2014/main" id="{0E61CB7C-F001-4EA2-856F-52EDF217C654}"/>
              </a:ext>
            </a:extLst>
          </p:cNvPr>
          <p:cNvSpPr>
            <a:spLocks noGrp="1"/>
          </p:cNvSpPr>
          <p:nvPr/>
        </p:nvSpPr>
        <p:spPr>
          <a:xfrm>
            <a:off x="609600" y="1619250"/>
            <a:ext cx="7010400" cy="3140695"/>
          </a:xfrm>
          <a:prstGeom prst="rect">
            <a:avLst/>
          </a:prstGeom>
          <a:noFill/>
          <a:ln w="0">
            <a:noFill/>
          </a:ln>
        </p:spPr>
        <p:txBody>
          <a:bodyPr wrap="square" lIns="0" tIns="0" rIns="0" bIns="0" anchor="t">
            <a:noAutofit/>
          </a:bodyPr>
          <a:lstStyle>
            <a:defPPr>
              <a:defRPr sz="1800" b="0">
                <a:solidFill>
                  <a:srgbClr val="19263E"/>
                </a:solidFill>
                <a:latin typeface="Noto Sans CJK SC"/>
                <a:ea typeface="Noto Sans CJK SC"/>
                <a:cs typeface="Noto Sans CJK SC"/>
              </a:defRPr>
            </a:defPPr>
          </a:lstStyle>
          <a:p>
            <a:pPr>
              <a:buNone/>
              <a:defRPr sz="1800" b="0">
                <a:solidFill>
                  <a:srgbClr val="19263E"/>
                </a:solidFill>
                <a:latin typeface="Noto Sans CJK SC"/>
                <a:ea typeface="Noto Sans CJK SC"/>
                <a:cs typeface="Noto Sans CJK SC"/>
              </a:defRPr>
            </a:pPr>
            <a:r>
              <a:rPr sz="1800" b="0" dirty="0">
                <a:solidFill>
                  <a:srgbClr val="19263E"/>
                </a:solidFill>
                <a:latin typeface="Noto Sans CJK SC"/>
                <a:ea typeface="Noto Sans CJK SC"/>
                <a:cs typeface="Noto Sans CJK SC"/>
              </a:rPr>
              <a:t>In this paper, we address these two failure modes with a progressive generative framework designed to separate the disease-relevant progression signal from both dominant background anatomy and nuisance variability. </a:t>
            </a:r>
            <a:endParaRPr lang="en-US" sz="1800" b="0" dirty="0">
              <a:solidFill>
                <a:srgbClr val="19263E"/>
              </a:solidFill>
              <a:latin typeface="Noto Sans CJK SC"/>
              <a:ea typeface="Noto Sans CJK SC"/>
              <a:cs typeface="Noto Sans CJK SC"/>
            </a:endParaRPr>
          </a:p>
          <a:p>
            <a:pPr>
              <a:buNone/>
              <a:defRPr sz="1800" b="0">
                <a:solidFill>
                  <a:srgbClr val="19263E"/>
                </a:solidFill>
                <a:latin typeface="Noto Sans CJK SC"/>
                <a:ea typeface="Noto Sans CJK SC"/>
                <a:cs typeface="Noto Sans CJK SC"/>
              </a:defRPr>
            </a:pPr>
            <a:r>
              <a:rPr sz="1800" b="1" dirty="0">
                <a:solidFill>
                  <a:srgbClr val="356DA7"/>
                </a:solidFill>
                <a:latin typeface="Noto Sans CJK SC"/>
                <a:ea typeface="Noto Sans CJK SC"/>
                <a:cs typeface="Noto Sans CJK SC"/>
              </a:rPr>
              <a:t>First, to mitigate</a:t>
            </a:r>
            <a:r>
              <a:rPr sz="1800" b="0" dirty="0">
                <a:solidFill>
                  <a:srgbClr val="19263E"/>
                </a:solidFill>
                <a:latin typeface="Noto Sans CJK SC"/>
                <a:ea typeface="Noto Sans CJK SC"/>
                <a:cs typeface="Noto Sans CJK SC"/>
              </a:rPr>
              <a:t> the dominance of baseline anatomy and prevent identity collapse, we project each MRI scan into a </a:t>
            </a:r>
            <a:r>
              <a:rPr b="1" dirty="0">
                <a:solidFill>
                  <a:srgbClr val="168F85"/>
                </a:solidFill>
                <a:latin typeface="Noto Sans CJK SC"/>
              </a:rPr>
              <a:t>compressed semantic latent space </a:t>
            </a:r>
            <a:r>
              <a:rPr b="0" dirty="0">
                <a:solidFill>
                  <a:srgbClr val="19263E"/>
                </a:solidFill>
                <a:latin typeface="Noto Sans CJK SC"/>
                <a:ea typeface="Noto Sans CJK SC"/>
                <a:cs typeface="Noto Sans CJK SC"/>
              </a:rPr>
              <a:t>and train an autoregressive model to predict the latent drift between the c</a:t>
            </a:r>
            <a:r>
              <a:rPr sz="1800" b="0" dirty="0">
                <a:solidFill>
                  <a:srgbClr val="19263E"/>
                </a:solidFill>
                <a:latin typeface="Noto Sans CJK SC"/>
                <a:ea typeface="Noto Sans CJK SC"/>
                <a:cs typeface="Noto Sans CJK SC"/>
              </a:rPr>
              <a:t>urrent and future representations, rather than reconstructing the entire future image. </a:t>
            </a:r>
            <a:r>
              <a:rPr sz="1800" b="1" dirty="0">
                <a:solidFill>
                  <a:srgbClr val="168F85"/>
                </a:solidFill>
                <a:latin typeface="Noto Sans CJK SC"/>
                <a:ea typeface="Noto Sans CJK SC"/>
                <a:cs typeface="Noto Sans CJK SC"/>
              </a:rPr>
              <a:t>By removing pixel-level identity</a:t>
            </a:r>
            <a:r>
              <a:rPr sz="1800" b="0" dirty="0">
                <a:solidFill>
                  <a:srgbClr val="19263E"/>
                </a:solidFill>
                <a:latin typeface="Noto Sans CJK SC"/>
                <a:ea typeface="Noto Sans CJK SC"/>
                <a:cs typeface="Noto Sans CJK SC"/>
              </a:rPr>
              <a:t> as the modeling target, the model is encouraged to allocate its capacity to learning the temporal change that reflects disease progression, illustrated by Fig. 1-(c).</a:t>
            </a:r>
          </a:p>
        </p:txBody>
      </p:sp>
      <p:sp>
        <p:nvSpPr>
          <p:cNvPr id="9" name="首句说明框架希望分离进展、背景解剖和无关扰动。">
            <a:extLst>
              <a:ext uri="{FF2B5EF4-FFF2-40B4-BE49-F238E27FC236}">
                <a16:creationId xmlns:a16="http://schemas.microsoft.com/office/drawing/2014/main" id="{B1867954-7CD0-4F8F-8640-437D3B521F8B}"/>
              </a:ext>
            </a:extLst>
          </p:cNvPr>
          <p:cNvSpPr>
            <a:spLocks noGrp="1"/>
          </p:cNvSpPr>
          <p:nvPr/>
        </p:nvSpPr>
        <p:spPr>
          <a:xfrm>
            <a:off x="7910397" y="2903613"/>
            <a:ext cx="3619500" cy="788792"/>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endParaRPr sz="1650" b="0" dirty="0">
              <a:solidFill>
                <a:srgbClr val="19263E"/>
              </a:solidFill>
              <a:latin typeface="Noto Sans CJK SC"/>
              <a:ea typeface="Noto Sans CJK SC"/>
              <a:cs typeface="Noto Sans CJK SC"/>
            </a:endParaRPr>
          </a:p>
        </p:txBody>
      </p:sp>
      <p:sp>
        <p:nvSpPr>
          <p:cNvPr id="10" name="介绍第一个设计">
            <a:extLst>
              <a:ext uri="{FF2B5EF4-FFF2-40B4-BE49-F238E27FC236}">
                <a16:creationId xmlns:a16="http://schemas.microsoft.com/office/drawing/2014/main" id="{57396E60-480E-4EBC-BD35-AE3316322F99}"/>
              </a:ext>
            </a:extLst>
          </p:cNvPr>
          <p:cNvSpPr>
            <a:spLocks noGrp="1"/>
          </p:cNvSpPr>
          <p:nvPr/>
        </p:nvSpPr>
        <p:spPr>
          <a:xfrm>
            <a:off x="7910397" y="2640945"/>
            <a:ext cx="3619500" cy="260518"/>
          </a:xfrm>
          <a:prstGeom prst="rect">
            <a:avLst/>
          </a:prstGeom>
          <a:noFill/>
          <a:ln w="0">
            <a:noFill/>
          </a:ln>
        </p:spPr>
        <p:txBody>
          <a:bodyPr wrap="none" lIns="0" tIns="0" rIns="0" bIns="0" anchor="t">
            <a:noAutofit/>
          </a:bodyPr>
          <a:lstStyle>
            <a:defPPr algn="l">
              <a:defRPr sz="1950" b="1">
                <a:solidFill>
                  <a:srgbClr val="168F85"/>
                </a:solidFill>
                <a:latin typeface="Noto Sans CJK SC"/>
                <a:ea typeface="Noto Sans CJK SC"/>
                <a:cs typeface="Noto Sans CJK SC"/>
              </a:defRPr>
            </a:defPPr>
          </a:lstStyle>
          <a:p>
            <a:pPr algn="l">
              <a:buNone/>
              <a:defRPr sz="1950" b="1">
                <a:solidFill>
                  <a:srgbClr val="168F85"/>
                </a:solidFill>
                <a:latin typeface="Noto Sans CJK SC"/>
                <a:ea typeface="Noto Sans CJK SC"/>
                <a:cs typeface="Noto Sans CJK SC"/>
              </a:defRPr>
            </a:pPr>
            <a:r>
              <a:rPr lang="zh-CN" altLang="en-US" sz="1950" b="1" dirty="0">
                <a:solidFill>
                  <a:srgbClr val="168F85"/>
                </a:solidFill>
                <a:latin typeface="Noto Sans CJK SC"/>
                <a:ea typeface="Noto Sans CJK SC"/>
                <a:cs typeface="Noto Sans CJK SC"/>
              </a:rPr>
              <a:t>方法</a:t>
            </a:r>
            <a:r>
              <a:rPr lang="en-US" altLang="zh-CN" sz="1950" b="1" dirty="0">
                <a:solidFill>
                  <a:srgbClr val="168F85"/>
                </a:solidFill>
                <a:latin typeface="Noto Sans CJK SC"/>
                <a:ea typeface="Noto Sans CJK SC"/>
                <a:cs typeface="Noto Sans CJK SC"/>
              </a:rPr>
              <a:t>1</a:t>
            </a:r>
            <a:endParaRPr lang="zh-CN" altLang="en-US" sz="1950" b="1" dirty="0">
              <a:solidFill>
                <a:srgbClr val="168F85"/>
              </a:solidFill>
              <a:latin typeface="Noto Sans CJK SC"/>
              <a:ea typeface="Noto Sans CJK SC"/>
              <a:cs typeface="Noto Sans CJK SC"/>
            </a:endParaRPr>
          </a:p>
        </p:txBody>
      </p:sp>
      <p:sp>
        <p:nvSpPr>
          <p:cNvPr id="11" name="First 介绍压缩 latent 空间中的 drift 预测，回应 ident">
            <a:extLst>
              <a:ext uri="{FF2B5EF4-FFF2-40B4-BE49-F238E27FC236}">
                <a16:creationId xmlns:a16="http://schemas.microsoft.com/office/drawing/2014/main" id="{E2CF0FCD-05A1-4437-B877-0DE2F91688CB}"/>
              </a:ext>
            </a:extLst>
          </p:cNvPr>
          <p:cNvSpPr>
            <a:spLocks noGrp="1"/>
          </p:cNvSpPr>
          <p:nvPr/>
        </p:nvSpPr>
        <p:spPr>
          <a:xfrm>
            <a:off x="7910397" y="3086298"/>
            <a:ext cx="3619500" cy="788792"/>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lang="zh-CN" altLang="en-US" sz="1650" b="0" dirty="0">
                <a:solidFill>
                  <a:srgbClr val="19263E"/>
                </a:solidFill>
                <a:latin typeface="Noto Sans CJK SC"/>
                <a:ea typeface="Noto Sans CJK SC"/>
                <a:cs typeface="Noto Sans CJK SC"/>
              </a:rPr>
              <a:t>压缩到</a:t>
            </a:r>
            <a:r>
              <a:rPr lang="en-US" altLang="zh-CN" sz="1650" b="0" dirty="0">
                <a:solidFill>
                  <a:srgbClr val="19263E"/>
                </a:solidFill>
                <a:latin typeface="Noto Sans CJK SC"/>
                <a:ea typeface="Noto Sans CJK SC"/>
                <a:cs typeface="Noto Sans CJK SC"/>
              </a:rPr>
              <a:t>latent </a:t>
            </a:r>
            <a:r>
              <a:rPr lang="zh-CN" altLang="en-US" sz="1650" b="0" dirty="0">
                <a:solidFill>
                  <a:srgbClr val="19263E"/>
                </a:solidFill>
                <a:latin typeface="Noto Sans CJK SC"/>
                <a:ea typeface="Noto Sans CJK SC"/>
                <a:cs typeface="Noto Sans CJK SC"/>
              </a:rPr>
              <a:t>空间预测</a:t>
            </a:r>
            <a:endParaRPr sz="1650" b="0" dirty="0">
              <a:solidFill>
                <a:srgbClr val="19263E"/>
              </a:solidFill>
              <a:latin typeface="Noto Sans CJK SC"/>
              <a:ea typeface="Noto Sans CJK SC"/>
              <a:cs typeface="Noto Sans CJK SC"/>
            </a:endParaRPr>
          </a:p>
        </p:txBody>
      </p:sp>
      <p:sp>
        <p:nvSpPr>
          <p:cNvPr id="16" name="文本框 15">
            <a:extLst>
              <a:ext uri="{FF2B5EF4-FFF2-40B4-BE49-F238E27FC236}">
                <a16:creationId xmlns:a16="http://schemas.microsoft.com/office/drawing/2014/main" id="{80AB96FC-5FBD-890B-29CA-6260A2B9B6E7}"/>
              </a:ext>
            </a:extLst>
          </p:cNvPr>
          <p:cNvSpPr txBox="1"/>
          <p:nvPr/>
        </p:nvSpPr>
        <p:spPr>
          <a:xfrm>
            <a:off x="7810037" y="3605409"/>
            <a:ext cx="3619500" cy="584775"/>
          </a:xfrm>
          <a:prstGeom prst="rect">
            <a:avLst/>
          </a:prstGeom>
          <a:noFill/>
        </p:spPr>
        <p:txBody>
          <a:bodyPr wrap="square">
            <a:spAutoFit/>
          </a:bodyPr>
          <a:lstStyle/>
          <a:p>
            <a:pPr algn="l">
              <a:buNone/>
              <a:defRPr sz="1650" b="0">
                <a:solidFill>
                  <a:srgbClr val="19263E"/>
                </a:solidFill>
                <a:latin typeface="Noto Sans CJK SC"/>
                <a:ea typeface="Noto Sans CJK SC"/>
                <a:cs typeface="Noto Sans CJK SC"/>
              </a:defRPr>
            </a:pPr>
            <a:r>
              <a:rPr lang="zh-CN" altLang="en-US" sz="1600" b="0" dirty="0">
                <a:solidFill>
                  <a:srgbClr val="19263E"/>
                </a:solidFill>
                <a:latin typeface="Noto Sans CJK SC"/>
                <a:ea typeface="Noto Sans CJK SC"/>
                <a:cs typeface="Noto Sans CJK SC"/>
              </a:rPr>
              <a:t>把与疾病有关的进展，从背景解剖结构中分离出来。</a:t>
            </a:r>
          </a:p>
        </p:txBody>
      </p:sp>
      <p:sp>
        <p:nvSpPr>
          <p:cNvPr id="17" name="Second, to reduce the influence of nuisa">
            <a:extLst>
              <a:ext uri="{FF2B5EF4-FFF2-40B4-BE49-F238E27FC236}">
                <a16:creationId xmlns:a16="http://schemas.microsoft.com/office/drawing/2014/main" id="{3E92D64F-A84B-4DBC-909A-3235AFCBA2D2}"/>
              </a:ext>
            </a:extLst>
          </p:cNvPr>
          <p:cNvSpPr>
            <a:spLocks noGrp="1"/>
          </p:cNvSpPr>
          <p:nvPr/>
        </p:nvSpPr>
        <p:spPr>
          <a:xfrm>
            <a:off x="509240" y="4722044"/>
            <a:ext cx="7010400" cy="1897831"/>
          </a:xfrm>
          <a:prstGeom prst="rect">
            <a:avLst/>
          </a:prstGeom>
          <a:noFill/>
          <a:ln w="0">
            <a:noFill/>
          </a:ln>
        </p:spPr>
        <p:txBody>
          <a:bodyPr wrap="square" lIns="0" tIns="0" rIns="0" bIns="0" anchor="t">
            <a:noAutofit/>
          </a:bodyPr>
          <a:lstStyle>
            <a:defPPr>
              <a:defRPr lang="zh-CN" sz="1800" b="0">
                <a:solidFill>
                  <a:srgbClr val="19263E"/>
                </a:solidFill>
                <a:latin typeface="Noto Sans CJK SC"/>
                <a:ea typeface="Noto Sans CJK SC"/>
                <a:cs typeface="Noto Sans CJK SC"/>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None/>
              <a:defRPr sz="1800" b="0">
                <a:solidFill>
                  <a:srgbClr val="19263E"/>
                </a:solidFill>
                <a:latin typeface="Noto Sans CJK SC"/>
                <a:ea typeface="Noto Sans CJK SC"/>
                <a:cs typeface="Noto Sans CJK SC"/>
              </a:defRPr>
            </a:pPr>
            <a:r>
              <a:rPr sz="1800" b="1" dirty="0">
                <a:solidFill>
                  <a:srgbClr val="356DA7"/>
                </a:solidFill>
                <a:latin typeface="Noto Sans CJK SC"/>
                <a:ea typeface="Noto Sans CJK SC"/>
                <a:cs typeface="Noto Sans CJK SC"/>
              </a:rPr>
              <a:t>Second, to reduce</a:t>
            </a:r>
            <a:r>
              <a:rPr sz="1800" b="0" dirty="0">
                <a:solidFill>
                  <a:srgbClr val="19263E"/>
                </a:solidFill>
                <a:latin typeface="Noto Sans CJK SC"/>
                <a:ea typeface="Noto Sans CJK SC"/>
                <a:cs typeface="Noto Sans CJK SC"/>
              </a:rPr>
              <a:t> the influence of nuisance variation and avoid spurious interpolation, we apply </a:t>
            </a:r>
            <a:r>
              <a:rPr sz="1800" b="1" dirty="0">
                <a:solidFill>
                  <a:srgbClr val="168F85"/>
                </a:solidFill>
                <a:latin typeface="Noto Sans CJK SC"/>
                <a:ea typeface="Noto Sans CJK SC"/>
                <a:cs typeface="Noto Sans CJK SC"/>
              </a:rPr>
              <a:t>Finite Scalar Quantization</a:t>
            </a:r>
            <a:r>
              <a:rPr sz="1800" b="0" dirty="0">
                <a:solidFill>
                  <a:srgbClr val="19263E"/>
                </a:solidFill>
                <a:latin typeface="Noto Sans CJK SC"/>
                <a:ea typeface="Noto Sans CJK SC"/>
                <a:cs typeface="Noto Sans CJK SC"/>
              </a:rPr>
              <a:t> (Fig. 1-(d)) to the latent change representation. This step acts as a </a:t>
            </a:r>
            <a:r>
              <a:rPr sz="1800" b="1" dirty="0">
                <a:solidFill>
                  <a:srgbClr val="B57815"/>
                </a:solidFill>
                <a:latin typeface="Noto Sans CJK SC"/>
                <a:ea typeface="Noto Sans CJK SC"/>
                <a:cs typeface="Noto Sans CJK SC"/>
              </a:rPr>
              <a:t>topological dead-zone filter</a:t>
            </a:r>
            <a:r>
              <a:rPr sz="1800" b="0" dirty="0">
                <a:solidFill>
                  <a:srgbClr val="19263E"/>
                </a:solidFill>
                <a:latin typeface="Noto Sans CJK SC"/>
                <a:ea typeface="Noto Sans CJK SC"/>
                <a:cs typeface="Noto Sans CJK SC"/>
              </a:rPr>
              <a:t>: small, high-frequency variations are mapped to zero, while consistent structural changes associated with disease progression stay above the quantization threshold and are preserved for forecasting.</a:t>
            </a:r>
          </a:p>
        </p:txBody>
      </p:sp>
      <p:sp>
        <p:nvSpPr>
          <p:cNvPr id="18" name="介绍第二个设计">
            <a:extLst>
              <a:ext uri="{FF2B5EF4-FFF2-40B4-BE49-F238E27FC236}">
                <a16:creationId xmlns:a16="http://schemas.microsoft.com/office/drawing/2014/main" id="{9E67C0AD-9AE5-4E2F-A5AA-457DDC299EF7}"/>
              </a:ext>
            </a:extLst>
          </p:cNvPr>
          <p:cNvSpPr>
            <a:spLocks noGrp="1"/>
          </p:cNvSpPr>
          <p:nvPr/>
        </p:nvSpPr>
        <p:spPr>
          <a:xfrm>
            <a:off x="7910397" y="4738273"/>
            <a:ext cx="3619500" cy="157424"/>
          </a:xfrm>
          <a:prstGeom prst="rect">
            <a:avLst/>
          </a:prstGeom>
          <a:noFill/>
          <a:ln w="0">
            <a:noFill/>
          </a:ln>
        </p:spPr>
        <p:txBody>
          <a:bodyPr wrap="none" lIns="0" tIns="0" rIns="0" bIns="0" anchor="t">
            <a:noAutofit/>
          </a:bodyPr>
          <a:lstStyle>
            <a:defPPr algn="l">
              <a:defRPr lang="zh-CN" sz="1950" b="1">
                <a:solidFill>
                  <a:srgbClr val="356DA7"/>
                </a:solidFill>
                <a:latin typeface="Noto Sans CJK SC"/>
                <a:ea typeface="Noto Sans CJK SC"/>
                <a:cs typeface="Noto Sans CJK SC"/>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None/>
              <a:defRPr sz="1950" b="1">
                <a:solidFill>
                  <a:srgbClr val="356DA7"/>
                </a:solidFill>
                <a:latin typeface="Noto Sans CJK SC"/>
                <a:ea typeface="Noto Sans CJK SC"/>
                <a:cs typeface="Noto Sans CJK SC"/>
              </a:defRPr>
            </a:pPr>
            <a:r>
              <a:rPr lang="zh-CN" altLang="en-US" sz="1950" b="1" dirty="0">
                <a:solidFill>
                  <a:srgbClr val="356DA7"/>
                </a:solidFill>
                <a:latin typeface="Noto Sans CJK SC"/>
                <a:ea typeface="Noto Sans CJK SC"/>
                <a:cs typeface="Noto Sans CJK SC"/>
              </a:rPr>
              <a:t>方法</a:t>
            </a:r>
            <a:r>
              <a:rPr lang="en-US" altLang="zh-CN" sz="1950" b="1" dirty="0">
                <a:solidFill>
                  <a:srgbClr val="356DA7"/>
                </a:solidFill>
                <a:latin typeface="Noto Sans CJK SC"/>
                <a:ea typeface="Noto Sans CJK SC"/>
                <a:cs typeface="Noto Sans CJK SC"/>
              </a:rPr>
              <a:t>2</a:t>
            </a:r>
            <a:endParaRPr sz="1950" b="1" dirty="0">
              <a:solidFill>
                <a:srgbClr val="356DA7"/>
              </a:solidFill>
              <a:latin typeface="Noto Sans CJK SC"/>
              <a:ea typeface="Noto Sans CJK SC"/>
              <a:cs typeface="Noto Sans CJK SC"/>
            </a:endParaRPr>
          </a:p>
        </p:txBody>
      </p:sp>
      <p:sp>
        <p:nvSpPr>
          <p:cNvPr id="19" name="Second 引入 FSQ，与前一段的第二种失败模式对应。">
            <a:extLst>
              <a:ext uri="{FF2B5EF4-FFF2-40B4-BE49-F238E27FC236}">
                <a16:creationId xmlns:a16="http://schemas.microsoft.com/office/drawing/2014/main" id="{0106221A-8E65-4053-ADF2-5202D262657D}"/>
              </a:ext>
            </a:extLst>
          </p:cNvPr>
          <p:cNvSpPr>
            <a:spLocks noGrp="1"/>
          </p:cNvSpPr>
          <p:nvPr/>
        </p:nvSpPr>
        <p:spPr>
          <a:xfrm>
            <a:off x="7910397" y="5147849"/>
            <a:ext cx="3619500" cy="476644"/>
          </a:xfrm>
          <a:prstGeom prst="rect">
            <a:avLst/>
          </a:prstGeom>
          <a:noFill/>
          <a:ln w="0">
            <a:noFill/>
          </a:ln>
        </p:spPr>
        <p:txBody>
          <a:bodyPr wrap="none" lIns="0" tIns="0" rIns="0" bIns="0" anchor="t">
            <a:noAutofit/>
          </a:bodyPr>
          <a:lstStyle>
            <a:defPPr algn="l">
              <a:defRPr lang="zh-CN" sz="1650" b="0">
                <a:solidFill>
                  <a:srgbClr val="19263E"/>
                </a:solidFill>
                <a:latin typeface="Noto Sans CJK SC"/>
                <a:ea typeface="Noto Sans CJK SC"/>
                <a:cs typeface="Noto Sans CJK SC"/>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None/>
              <a:defRPr sz="1650" b="0">
                <a:solidFill>
                  <a:srgbClr val="19263E"/>
                </a:solidFill>
                <a:latin typeface="Noto Sans CJK SC"/>
                <a:ea typeface="Noto Sans CJK SC"/>
                <a:cs typeface="Noto Sans CJK SC"/>
              </a:defRPr>
            </a:pPr>
            <a:endParaRPr sz="1650" b="0" dirty="0">
              <a:solidFill>
                <a:srgbClr val="19263E"/>
              </a:solidFill>
              <a:latin typeface="Noto Sans CJK SC"/>
              <a:ea typeface="Noto Sans CJK SC"/>
              <a:cs typeface="Noto Sans CJK SC"/>
            </a:endParaRPr>
          </a:p>
        </p:txBody>
      </p:sp>
      <p:sp>
        <p:nvSpPr>
          <p:cNvPr id="20" name="文本框 15">
            <a:extLst>
              <a:ext uri="{FF2B5EF4-FFF2-40B4-BE49-F238E27FC236}">
                <a16:creationId xmlns:a16="http://schemas.microsoft.com/office/drawing/2014/main" id="{AB2687EE-260A-7226-D1F3-92AC6A90974B}"/>
              </a:ext>
            </a:extLst>
          </p:cNvPr>
          <p:cNvSpPr txBox="1"/>
          <p:nvPr/>
        </p:nvSpPr>
        <p:spPr>
          <a:xfrm>
            <a:off x="7843490" y="5081173"/>
            <a:ext cx="3508452" cy="58477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None/>
              <a:defRPr sz="1650" b="0">
                <a:solidFill>
                  <a:srgbClr val="19263E"/>
                </a:solidFill>
                <a:latin typeface="Noto Sans CJK SC"/>
                <a:ea typeface="Noto Sans CJK SC"/>
                <a:cs typeface="Noto Sans CJK SC"/>
              </a:defRPr>
            </a:pPr>
            <a:r>
              <a:rPr lang="zh-CN" altLang="en-US" sz="1600" b="0" dirty="0">
                <a:solidFill>
                  <a:srgbClr val="19263E"/>
                </a:solidFill>
                <a:latin typeface="Noto Sans CJK SC"/>
                <a:ea typeface="Noto Sans CJK SC"/>
                <a:cs typeface="Noto Sans CJK SC"/>
              </a:rPr>
              <a:t>采用</a:t>
            </a:r>
            <a:r>
              <a:rPr lang="en" altLang="zh-CN" sz="1600" b="0" dirty="0">
                <a:solidFill>
                  <a:srgbClr val="19263E"/>
                </a:solidFill>
                <a:latin typeface="Noto Sans CJK SC"/>
                <a:ea typeface="Noto Sans CJK SC"/>
                <a:cs typeface="Noto Sans CJK SC"/>
              </a:rPr>
              <a:t>FSQ</a:t>
            </a:r>
            <a:r>
              <a:rPr lang="zh-CN" altLang="en-US" sz="1600" b="0" dirty="0">
                <a:solidFill>
                  <a:srgbClr val="19263E"/>
                </a:solidFill>
                <a:latin typeface="Noto Sans CJK SC"/>
                <a:ea typeface="Noto Sans CJK SC"/>
                <a:cs typeface="Noto Sans CJK SC"/>
              </a:rPr>
              <a:t>量化，微小噪声会落入零量化区间，从而被过滤掉。</a:t>
            </a:r>
          </a:p>
        </p:txBody>
      </p:sp>
    </p:spTree>
    <p:extLst>
      <p:ext uri="{BB962C8B-B14F-4D97-AF65-F5344CB8AC3E}">
        <p14:creationId xmlns:p14="http://schemas.microsoft.com/office/powerpoint/2010/main" val="1994323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写作分析">
            <a:extLst>
              <a:ext uri="{FF2B5EF4-FFF2-40B4-BE49-F238E27FC236}">
                <a16:creationId xmlns:a16="http://schemas.microsoft.com/office/drawing/2014/main" id="{AF8F7A27-C5DB-4D46-8E21-79861EDE6909}"/>
              </a:ext>
            </a:extLst>
          </p:cNvPr>
          <p:cNvSpPr>
            <a:spLocks noGrp="1"/>
          </p:cNvSpPr>
          <p:nvPr/>
        </p:nvSpPr>
        <p:spPr>
          <a:xfrm>
            <a:off x="609600" y="238125"/>
            <a:ext cx="9715500" cy="285750"/>
          </a:xfrm>
          <a:prstGeom prst="rect">
            <a:avLst/>
          </a:prstGeom>
          <a:noFill/>
          <a:ln w="0">
            <a:noFill/>
          </a:ln>
        </p:spPr>
        <p:txBody>
          <a:bodyPr wrap="square" lIns="0" tIns="0" rIns="0" bIns="0" anchor="t">
            <a:noAutofit/>
          </a:bodyPr>
          <a:lstStyle>
            <a:defPPr>
              <a:defRPr sz="1200" b="1">
                <a:solidFill>
                  <a:srgbClr val="356DA7"/>
                </a:solidFill>
                <a:latin typeface="Noto Sans CJK SC"/>
                <a:ea typeface="Noto Sans CJK SC"/>
                <a:cs typeface="Noto Sans CJK SC"/>
              </a:defRPr>
            </a:defPPr>
          </a:lstStyle>
          <a:p>
            <a:pPr>
              <a:buNone/>
              <a:defRPr sz="1200" b="1">
                <a:solidFill>
                  <a:srgbClr val="356DA7"/>
                </a:solidFill>
                <a:latin typeface="Noto Sans CJK SC"/>
                <a:ea typeface="Noto Sans CJK SC"/>
                <a:cs typeface="Noto Sans CJK SC"/>
              </a:defRPr>
            </a:pPr>
            <a:r>
              <a:rPr sz="1200" b="1">
                <a:solidFill>
                  <a:srgbClr val="356DA7"/>
                </a:solidFill>
                <a:latin typeface="Noto Sans CJK SC"/>
                <a:ea typeface="Noto Sans CJK SC"/>
                <a:cs typeface="Noto Sans CJK SC"/>
              </a:rPr>
              <a:t>写作分析</a:t>
            </a:r>
          </a:p>
        </p:txBody>
      </p:sp>
      <p:sp>
        <p:nvSpPr>
          <p:cNvPr id="2" name="29">
            <a:extLst>
              <a:ext uri="{FF2B5EF4-FFF2-40B4-BE49-F238E27FC236}">
                <a16:creationId xmlns:a16="http://schemas.microsoft.com/office/drawing/2014/main" id="{F5115714-D367-43CC-B6A2-FAE78110D09F}"/>
              </a:ext>
            </a:extLst>
          </p:cNvPr>
          <p:cNvSpPr>
            <a:spLocks noGrp="1"/>
          </p:cNvSpPr>
          <p:nvPr/>
        </p:nvSpPr>
        <p:spPr>
          <a:xfrm>
            <a:off x="11077575" y="238125"/>
            <a:ext cx="514350" cy="285750"/>
          </a:xfrm>
          <a:prstGeom prst="rect">
            <a:avLst/>
          </a:prstGeom>
          <a:noFill/>
          <a:ln w="0">
            <a:noFill/>
          </a:ln>
        </p:spPr>
        <p:txBody>
          <a:bodyPr wrap="square" lIns="0" tIns="0" rIns="0" bIns="0" anchor="t">
            <a:noAutofit/>
          </a:bodyPr>
          <a:lstStyle>
            <a:defPPr>
              <a:defRPr sz="1200" b="0">
                <a:solidFill>
                  <a:srgbClr val="68758A"/>
                </a:solidFill>
                <a:latin typeface="Noto Sans CJK SC"/>
                <a:ea typeface="Noto Sans CJK SC"/>
                <a:cs typeface="Noto Sans CJK SC"/>
              </a:defRPr>
            </a:defPPr>
          </a:lstStyle>
          <a:p>
            <a:pPr>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29</a:t>
            </a:r>
          </a:p>
        </p:txBody>
      </p:sp>
      <p:sp>
        <p:nvSpPr>
          <p:cNvPr id="3" name="Introduction（8/9）：实验概述与前两项贡献">
            <a:extLst>
              <a:ext uri="{FF2B5EF4-FFF2-40B4-BE49-F238E27FC236}">
                <a16:creationId xmlns:a16="http://schemas.microsoft.com/office/drawing/2014/main" id="{264D7828-5C03-4A33-8431-DA093B84D89C}"/>
              </a:ext>
            </a:extLst>
          </p:cNvPr>
          <p:cNvSpPr>
            <a:spLocks noGrp="1"/>
          </p:cNvSpPr>
          <p:nvPr/>
        </p:nvSpPr>
        <p:spPr>
          <a:xfrm>
            <a:off x="609600" y="666750"/>
            <a:ext cx="10953750" cy="638175"/>
          </a:xfrm>
          <a:prstGeom prst="rect">
            <a:avLst/>
          </a:prstGeom>
          <a:noFill/>
          <a:ln w="0">
            <a:noFill/>
          </a:ln>
        </p:spPr>
        <p:txBody>
          <a:bodyPr wrap="square" lIns="0" tIns="0" rIns="0" bIns="0" anchor="t">
            <a:noAutofit/>
          </a:bodyPr>
          <a:lstStyle>
            <a:defPPr>
              <a:defRPr sz="2925" b="1">
                <a:solidFill>
                  <a:srgbClr val="19263E"/>
                </a:solidFill>
                <a:latin typeface="Noto Sans CJK SC"/>
                <a:ea typeface="Noto Sans CJK SC"/>
                <a:cs typeface="Noto Sans CJK SC"/>
              </a:defRPr>
            </a:defPPr>
          </a:lstStyle>
          <a:p>
            <a:pPr>
              <a:buNone/>
              <a:defRPr sz="2925" b="1">
                <a:solidFill>
                  <a:srgbClr val="19263E"/>
                </a:solidFill>
                <a:latin typeface="Noto Sans CJK SC"/>
                <a:ea typeface="Noto Sans CJK SC"/>
                <a:cs typeface="Noto Sans CJK SC"/>
              </a:defRPr>
            </a:pPr>
            <a:r>
              <a:rPr sz="2925" b="1" dirty="0">
                <a:solidFill>
                  <a:srgbClr val="19263E"/>
                </a:solidFill>
                <a:latin typeface="Noto Sans CJK SC"/>
                <a:ea typeface="Noto Sans CJK SC"/>
                <a:cs typeface="Noto Sans CJK SC"/>
              </a:rPr>
              <a:t>Introduction（</a:t>
            </a:r>
            <a:r>
              <a:rPr lang="en-US" altLang="zh-CN" sz="2925" b="1" dirty="0">
                <a:solidFill>
                  <a:srgbClr val="19263E"/>
                </a:solidFill>
                <a:latin typeface="Noto Sans CJK SC"/>
                <a:ea typeface="Noto Sans CJK SC"/>
                <a:cs typeface="Noto Sans CJK SC"/>
              </a:rPr>
              <a:t>7</a:t>
            </a:r>
            <a:r>
              <a:rPr sz="2925" b="1" dirty="0">
                <a:solidFill>
                  <a:srgbClr val="19263E"/>
                </a:solidFill>
                <a:latin typeface="Noto Sans CJK SC"/>
                <a:ea typeface="Noto Sans CJK SC"/>
                <a:cs typeface="Noto Sans CJK SC"/>
              </a:rPr>
              <a:t>/</a:t>
            </a:r>
            <a:r>
              <a:rPr lang="en-US" altLang="zh-CN" sz="2925" b="1" dirty="0">
                <a:solidFill>
                  <a:srgbClr val="19263E"/>
                </a:solidFill>
                <a:latin typeface="Noto Sans CJK SC"/>
                <a:ea typeface="Noto Sans CJK SC"/>
                <a:cs typeface="Noto Sans CJK SC"/>
              </a:rPr>
              <a:t>8</a:t>
            </a:r>
            <a:r>
              <a:rPr sz="2925" b="1" dirty="0">
                <a:solidFill>
                  <a:srgbClr val="19263E"/>
                </a:solidFill>
                <a:latin typeface="Noto Sans CJK SC"/>
                <a:ea typeface="Noto Sans CJK SC"/>
                <a:cs typeface="Noto Sans CJK SC"/>
              </a:rPr>
              <a:t>）：</a:t>
            </a:r>
            <a:r>
              <a:rPr sz="2925" b="1" dirty="0" err="1">
                <a:solidFill>
                  <a:srgbClr val="19263E"/>
                </a:solidFill>
                <a:latin typeface="Noto Sans CJK SC"/>
                <a:ea typeface="Noto Sans CJK SC"/>
                <a:cs typeface="Noto Sans CJK SC"/>
              </a:rPr>
              <a:t>实验</a:t>
            </a:r>
            <a:r>
              <a:rPr lang="zh-CN" altLang="en-US" sz="2925" b="1" dirty="0">
                <a:solidFill>
                  <a:srgbClr val="19263E"/>
                </a:solidFill>
                <a:latin typeface="Noto Sans CJK SC"/>
                <a:ea typeface="Noto Sans CJK SC"/>
                <a:cs typeface="Noto Sans CJK SC"/>
              </a:rPr>
              <a:t>与贡献</a:t>
            </a:r>
            <a:endParaRPr sz="2925" b="1" dirty="0">
              <a:solidFill>
                <a:srgbClr val="19263E"/>
              </a:solidFill>
              <a:latin typeface="Noto Sans CJK SC"/>
              <a:ea typeface="Noto Sans CJK SC"/>
              <a:cs typeface="Noto Sans CJK SC"/>
            </a:endParaRPr>
          </a:p>
        </p:txBody>
      </p:sp>
      <p:sp>
        <p:nvSpPr>
          <p:cNvPr id="6" name="We evaluate our Latent Drift framework o">
            <a:extLst>
              <a:ext uri="{FF2B5EF4-FFF2-40B4-BE49-F238E27FC236}">
                <a16:creationId xmlns:a16="http://schemas.microsoft.com/office/drawing/2014/main" id="{6B065A68-BCF1-437E-B5BB-3C3D6B9D4C7D}"/>
              </a:ext>
            </a:extLst>
          </p:cNvPr>
          <p:cNvSpPr>
            <a:spLocks noGrp="1"/>
          </p:cNvSpPr>
          <p:nvPr/>
        </p:nvSpPr>
        <p:spPr>
          <a:xfrm>
            <a:off x="609600" y="2066925"/>
            <a:ext cx="7010400" cy="4133850"/>
          </a:xfrm>
          <a:prstGeom prst="rect">
            <a:avLst/>
          </a:prstGeom>
          <a:noFill/>
          <a:ln w="0">
            <a:noFill/>
          </a:ln>
        </p:spPr>
        <p:txBody>
          <a:bodyPr wrap="square" lIns="0" tIns="0" rIns="0" bIns="0" anchor="t">
            <a:noAutofit/>
          </a:bodyPr>
          <a:lstStyle>
            <a:defPPr>
              <a:defRPr sz="1800" b="0">
                <a:solidFill>
                  <a:srgbClr val="19263E"/>
                </a:solidFill>
                <a:latin typeface="Noto Sans CJK SC"/>
                <a:ea typeface="Noto Sans CJK SC"/>
                <a:cs typeface="Noto Sans CJK SC"/>
              </a:defRPr>
            </a:defPPr>
          </a:lstStyle>
          <a:p>
            <a:pPr>
              <a:buNone/>
              <a:defRPr sz="1800" b="0">
                <a:solidFill>
                  <a:srgbClr val="19263E"/>
                </a:solidFill>
                <a:latin typeface="Noto Sans CJK SC"/>
                <a:ea typeface="Noto Sans CJK SC"/>
                <a:cs typeface="Noto Sans CJK SC"/>
              </a:defRPr>
            </a:pPr>
            <a:r>
              <a:rPr sz="1800" b="0">
                <a:solidFill>
                  <a:srgbClr val="19263E"/>
                </a:solidFill>
                <a:latin typeface="Noto Sans CJK SC"/>
                <a:ea typeface="Noto Sans CJK SC"/>
                <a:cs typeface="Noto Sans CJK SC"/>
              </a:rPr>
              <a:t>We evaluate our Latent Drift framework on longitudinal 3D brain MRIs. By bypassing Identity Collapse and filtering nuisance noise, our approach improves neuro-forecasting over prior diffusion and autoregressive baselines. Our main contributions are as follows.</a:t>
            </a:r>
          </a:p>
          <a:p>
            <a:endParaRPr sz="1800" b="0">
              <a:solidFill>
                <a:srgbClr val="19263E"/>
              </a:solidFill>
              <a:latin typeface="Noto Sans CJK SC"/>
              <a:ea typeface="Noto Sans CJK SC"/>
              <a:cs typeface="Noto Sans CJK SC"/>
            </a:endParaRPr>
          </a:p>
          <a:p>
            <a:pPr>
              <a:buNone/>
              <a:defRPr sz="1800" b="0">
                <a:solidFill>
                  <a:srgbClr val="19263E"/>
                </a:solidFill>
                <a:latin typeface="Noto Sans CJK SC"/>
                <a:ea typeface="Noto Sans CJK SC"/>
                <a:cs typeface="Noto Sans CJK SC"/>
              </a:defRPr>
            </a:pPr>
            <a:r>
              <a:rPr sz="1800" b="1">
                <a:solidFill>
                  <a:srgbClr val="356DA7"/>
                </a:solidFill>
                <a:latin typeface="Noto Sans CJK SC"/>
                <a:ea typeface="Noto Sans CJK SC"/>
                <a:cs typeface="Noto Sans CJK SC"/>
              </a:rPr>
              <a:t>Task formalization and failure analysis:</a:t>
            </a:r>
            <a:r>
              <a:rPr sz="1800" b="0">
                <a:solidFill>
                  <a:srgbClr val="19263E"/>
                </a:solidFill>
                <a:latin typeface="Noto Sans CJK SC"/>
                <a:ea typeface="Noto Sans CJK SC"/>
                <a:cs typeface="Noto Sans CJK SC"/>
              </a:rPr>
              <a:t> We cast forecasting of slow-evolving pathologies as conditional generative synthesis and identify two fundamental optimization failures: identity collapse from dominant stationary anatomy and the continuous interpolation trap from dense nuisance variability.</a:t>
            </a:r>
          </a:p>
          <a:p>
            <a:endParaRPr sz="1800" b="0">
              <a:solidFill>
                <a:srgbClr val="19263E"/>
              </a:solidFill>
              <a:latin typeface="Noto Sans CJK SC"/>
              <a:ea typeface="Noto Sans CJK SC"/>
              <a:cs typeface="Noto Sans CJK SC"/>
            </a:endParaRPr>
          </a:p>
          <a:p>
            <a:pPr>
              <a:buNone/>
              <a:defRPr sz="1800" b="0">
                <a:solidFill>
                  <a:srgbClr val="19263E"/>
                </a:solidFill>
                <a:latin typeface="Noto Sans CJK SC"/>
                <a:ea typeface="Noto Sans CJK SC"/>
                <a:cs typeface="Noto Sans CJK SC"/>
              </a:defRPr>
            </a:pPr>
            <a:r>
              <a:rPr sz="1800" b="1">
                <a:solidFill>
                  <a:srgbClr val="168F85"/>
                </a:solidFill>
                <a:latin typeface="Noto Sans CJK SC"/>
                <a:ea typeface="Noto Sans CJK SC"/>
                <a:cs typeface="Noto Sans CJK SC"/>
              </a:rPr>
              <a:t>Latent Drift framework:</a:t>
            </a:r>
            <a:r>
              <a:rPr sz="1800" b="0">
                <a:solidFill>
                  <a:srgbClr val="19263E"/>
                </a:solidFill>
                <a:latin typeface="Noto Sans CJK SC"/>
                <a:ea typeface="Noto Sans CJK SC"/>
                <a:cs typeface="Noto Sans CJK SC"/>
              </a:rPr>
              <a:t> We introduce a progressive generative architecture that predicts progression in a compressed semantic space, disentangling biological change from baseline anatomy and amplifying the sparse pathological signal.</a:t>
            </a:r>
          </a:p>
        </p:txBody>
      </p:sp>
      <p:sp>
        <p:nvSpPr>
          <p:cNvPr id="8" name="实验作为过渡">
            <a:extLst>
              <a:ext uri="{FF2B5EF4-FFF2-40B4-BE49-F238E27FC236}">
                <a16:creationId xmlns:a16="http://schemas.microsoft.com/office/drawing/2014/main" id="{8216CD29-ABE8-4FC7-AC6F-8D94B7AC8200}"/>
              </a:ext>
            </a:extLst>
          </p:cNvPr>
          <p:cNvSpPr>
            <a:spLocks noGrp="1"/>
          </p:cNvSpPr>
          <p:nvPr/>
        </p:nvSpPr>
        <p:spPr>
          <a:xfrm>
            <a:off x="7943850" y="2057400"/>
            <a:ext cx="3619500" cy="342900"/>
          </a:xfrm>
          <a:prstGeom prst="rect">
            <a:avLst/>
          </a:prstGeom>
          <a:noFill/>
          <a:ln w="0">
            <a:noFill/>
          </a:ln>
        </p:spPr>
        <p:txBody>
          <a:bodyPr wrap="none" lIns="0" tIns="0" rIns="0" bIns="0" anchor="t">
            <a:noAutofit/>
          </a:bodyPr>
          <a:lstStyle>
            <a:defPPr algn="l">
              <a:defRPr sz="1950" b="1">
                <a:solidFill>
                  <a:srgbClr val="356DA7"/>
                </a:solidFill>
                <a:latin typeface="Noto Sans CJK SC"/>
                <a:ea typeface="Noto Sans CJK SC"/>
                <a:cs typeface="Noto Sans CJK SC"/>
              </a:defRPr>
            </a:defPPr>
          </a:lstStyle>
          <a:p>
            <a:pPr algn="l">
              <a:buNone/>
              <a:defRPr sz="1950" b="1">
                <a:solidFill>
                  <a:srgbClr val="356DA7"/>
                </a:solidFill>
                <a:latin typeface="Noto Sans CJK SC"/>
                <a:ea typeface="Noto Sans CJK SC"/>
                <a:cs typeface="Noto Sans CJK SC"/>
              </a:defRPr>
            </a:pPr>
            <a:r>
              <a:rPr sz="1950" b="1" dirty="0" err="1">
                <a:solidFill>
                  <a:srgbClr val="356DA7"/>
                </a:solidFill>
                <a:latin typeface="Noto Sans CJK SC"/>
                <a:ea typeface="Noto Sans CJK SC"/>
                <a:cs typeface="Noto Sans CJK SC"/>
              </a:rPr>
              <a:t>实验</a:t>
            </a:r>
            <a:endParaRPr sz="1950" b="1" dirty="0">
              <a:solidFill>
                <a:srgbClr val="356DA7"/>
              </a:solidFill>
              <a:latin typeface="Noto Sans CJK SC"/>
              <a:ea typeface="Noto Sans CJK SC"/>
              <a:cs typeface="Noto Sans CJK SC"/>
            </a:endParaRPr>
          </a:p>
        </p:txBody>
      </p:sp>
      <p:sp>
        <p:nvSpPr>
          <p:cNvPr id="9" name="先概述纵向 3D MRI 验证，再引出贡献列表。">
            <a:extLst>
              <a:ext uri="{FF2B5EF4-FFF2-40B4-BE49-F238E27FC236}">
                <a16:creationId xmlns:a16="http://schemas.microsoft.com/office/drawing/2014/main" id="{D7BD0B3A-1881-4F6F-8345-91478EA743EC}"/>
              </a:ext>
            </a:extLst>
          </p:cNvPr>
          <p:cNvSpPr>
            <a:spLocks noGrp="1"/>
          </p:cNvSpPr>
          <p:nvPr/>
        </p:nvSpPr>
        <p:spPr>
          <a:xfrm>
            <a:off x="7943850" y="2466975"/>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在纵向</a:t>
            </a:r>
            <a:r>
              <a:rPr sz="1650" b="0" dirty="0">
                <a:solidFill>
                  <a:srgbClr val="19263E"/>
                </a:solidFill>
                <a:latin typeface="Noto Sans CJK SC"/>
                <a:ea typeface="Noto Sans CJK SC"/>
                <a:cs typeface="Noto Sans CJK SC"/>
              </a:rPr>
              <a:t> 3D MRI </a:t>
            </a:r>
            <a:r>
              <a:rPr sz="1650" b="0" dirty="0" err="1">
                <a:solidFill>
                  <a:srgbClr val="19263E"/>
                </a:solidFill>
                <a:latin typeface="Noto Sans CJK SC"/>
                <a:ea typeface="Noto Sans CJK SC"/>
                <a:cs typeface="Noto Sans CJK SC"/>
              </a:rPr>
              <a:t>上</a:t>
            </a:r>
            <a:r>
              <a:rPr lang="zh-CN" altLang="en-US" sz="1650" b="0" dirty="0">
                <a:solidFill>
                  <a:srgbClr val="19263E"/>
                </a:solidFill>
                <a:latin typeface="Noto Sans CJK SC"/>
                <a:ea typeface="Noto Sans CJK SC"/>
                <a:cs typeface="Noto Sans CJK SC"/>
              </a:rPr>
              <a:t>进行</a:t>
            </a:r>
            <a:r>
              <a:rPr sz="1650" b="0" dirty="0" err="1">
                <a:solidFill>
                  <a:srgbClr val="19263E"/>
                </a:solidFill>
                <a:latin typeface="Noto Sans CJK SC"/>
                <a:ea typeface="Noto Sans CJK SC"/>
                <a:cs typeface="Noto Sans CJK SC"/>
              </a:rPr>
              <a:t>验证</a:t>
            </a:r>
            <a:r>
              <a:rPr sz="1650" b="0" dirty="0">
                <a:solidFill>
                  <a:srgbClr val="19263E"/>
                </a:solidFill>
                <a:latin typeface="Noto Sans CJK SC"/>
                <a:ea typeface="Noto Sans CJK SC"/>
                <a:cs typeface="Noto Sans CJK SC"/>
              </a:rPr>
              <a:t>，</a:t>
            </a:r>
          </a:p>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列出本文的主要贡献</a:t>
            </a:r>
            <a:r>
              <a:rPr sz="1650" b="0" dirty="0">
                <a:solidFill>
                  <a:srgbClr val="19263E"/>
                </a:solidFill>
                <a:latin typeface="Noto Sans CJK SC"/>
                <a:ea typeface="Noto Sans CJK SC"/>
                <a:cs typeface="Noto Sans CJK SC"/>
              </a:rPr>
              <a:t>。</a:t>
            </a:r>
          </a:p>
        </p:txBody>
      </p:sp>
      <p:sp>
        <p:nvSpPr>
          <p:cNvPr id="10" name="贡献一：任务与分析">
            <a:extLst>
              <a:ext uri="{FF2B5EF4-FFF2-40B4-BE49-F238E27FC236}">
                <a16:creationId xmlns:a16="http://schemas.microsoft.com/office/drawing/2014/main" id="{A34C80B5-EBCD-4746-92B8-AE642C918932}"/>
              </a:ext>
            </a:extLst>
          </p:cNvPr>
          <p:cNvSpPr>
            <a:spLocks noGrp="1"/>
          </p:cNvSpPr>
          <p:nvPr/>
        </p:nvSpPr>
        <p:spPr>
          <a:xfrm>
            <a:off x="7943850" y="3495675"/>
            <a:ext cx="3619500" cy="342900"/>
          </a:xfrm>
          <a:prstGeom prst="rect">
            <a:avLst/>
          </a:prstGeom>
          <a:noFill/>
          <a:ln w="0">
            <a:noFill/>
          </a:ln>
        </p:spPr>
        <p:txBody>
          <a:bodyPr wrap="none" lIns="0" tIns="0" rIns="0" bIns="0" anchor="t">
            <a:noAutofit/>
          </a:bodyPr>
          <a:lstStyle>
            <a:defPPr algn="l">
              <a:defRPr sz="1950" b="1">
                <a:solidFill>
                  <a:srgbClr val="168F85"/>
                </a:solidFill>
                <a:latin typeface="Noto Sans CJK SC"/>
                <a:ea typeface="Noto Sans CJK SC"/>
                <a:cs typeface="Noto Sans CJK SC"/>
              </a:defRPr>
            </a:defPPr>
          </a:lstStyle>
          <a:p>
            <a:pPr algn="l">
              <a:buNone/>
              <a:defRPr sz="1950" b="1">
                <a:solidFill>
                  <a:srgbClr val="168F85"/>
                </a:solidFill>
                <a:latin typeface="Noto Sans CJK SC"/>
                <a:ea typeface="Noto Sans CJK SC"/>
                <a:cs typeface="Noto Sans CJK SC"/>
              </a:defRPr>
            </a:pPr>
            <a:r>
              <a:rPr sz="1950" b="1">
                <a:solidFill>
                  <a:srgbClr val="168F85"/>
                </a:solidFill>
                <a:latin typeface="Noto Sans CJK SC"/>
                <a:ea typeface="Noto Sans CJK SC"/>
                <a:cs typeface="Noto Sans CJK SC"/>
              </a:rPr>
              <a:t>贡献一：任务与分析</a:t>
            </a:r>
          </a:p>
        </p:txBody>
      </p:sp>
      <p:sp>
        <p:nvSpPr>
          <p:cNvPr id="11" name="将任务形式化和失败分析合并，对应正文的问题分析部分。">
            <a:extLst>
              <a:ext uri="{FF2B5EF4-FFF2-40B4-BE49-F238E27FC236}">
                <a16:creationId xmlns:a16="http://schemas.microsoft.com/office/drawing/2014/main" id="{801E49FA-2232-49A3-B53D-A762DEA54C8B}"/>
              </a:ext>
            </a:extLst>
          </p:cNvPr>
          <p:cNvSpPr>
            <a:spLocks noGrp="1"/>
          </p:cNvSpPr>
          <p:nvPr/>
        </p:nvSpPr>
        <p:spPr>
          <a:xfrm>
            <a:off x="7943850" y="3905250"/>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任务定义和两种失败模式的</a:t>
            </a:r>
            <a:endParaRPr sz="1650" b="0" dirty="0">
              <a:solidFill>
                <a:srgbClr val="19263E"/>
              </a:solidFill>
              <a:latin typeface="Noto Sans CJK SC"/>
              <a:ea typeface="Noto Sans CJK SC"/>
              <a:cs typeface="Noto Sans CJK SC"/>
            </a:endParaRPr>
          </a:p>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分析</a:t>
            </a:r>
            <a:endParaRPr sz="1650" b="0" dirty="0">
              <a:solidFill>
                <a:srgbClr val="19263E"/>
              </a:solidFill>
              <a:latin typeface="Noto Sans CJK SC"/>
              <a:ea typeface="Noto Sans CJK SC"/>
              <a:cs typeface="Noto Sans CJK SC"/>
            </a:endParaRPr>
          </a:p>
        </p:txBody>
      </p:sp>
      <p:sp>
        <p:nvSpPr>
          <p:cNvPr id="12" name="贡献二：方法框架">
            <a:extLst>
              <a:ext uri="{FF2B5EF4-FFF2-40B4-BE49-F238E27FC236}">
                <a16:creationId xmlns:a16="http://schemas.microsoft.com/office/drawing/2014/main" id="{F41FD39C-3268-444D-997C-609978837510}"/>
              </a:ext>
            </a:extLst>
          </p:cNvPr>
          <p:cNvSpPr>
            <a:spLocks noGrp="1"/>
          </p:cNvSpPr>
          <p:nvPr/>
        </p:nvSpPr>
        <p:spPr>
          <a:xfrm>
            <a:off x="7943850" y="4933950"/>
            <a:ext cx="3619500" cy="342900"/>
          </a:xfrm>
          <a:prstGeom prst="rect">
            <a:avLst/>
          </a:prstGeom>
          <a:noFill/>
          <a:ln w="0">
            <a:noFill/>
          </a:ln>
        </p:spPr>
        <p:txBody>
          <a:bodyPr wrap="none" lIns="0" tIns="0" rIns="0" bIns="0" anchor="t">
            <a:noAutofit/>
          </a:bodyPr>
          <a:lstStyle>
            <a:defPPr algn="l">
              <a:defRPr sz="1950" b="1">
                <a:solidFill>
                  <a:srgbClr val="B57815"/>
                </a:solidFill>
                <a:latin typeface="Noto Sans CJK SC"/>
                <a:ea typeface="Noto Sans CJK SC"/>
                <a:cs typeface="Noto Sans CJK SC"/>
              </a:defRPr>
            </a:defPPr>
          </a:lstStyle>
          <a:p>
            <a:pPr algn="l">
              <a:buNone/>
              <a:defRPr sz="1950" b="1">
                <a:solidFill>
                  <a:srgbClr val="B57815"/>
                </a:solidFill>
                <a:latin typeface="Noto Sans CJK SC"/>
                <a:ea typeface="Noto Sans CJK SC"/>
                <a:cs typeface="Noto Sans CJK SC"/>
              </a:defRPr>
            </a:pPr>
            <a:r>
              <a:rPr lang="zh-CN" altLang="en-US" sz="1950" b="1" dirty="0">
                <a:solidFill>
                  <a:srgbClr val="B57815"/>
                </a:solidFill>
                <a:latin typeface="Noto Sans CJK SC"/>
                <a:ea typeface="Noto Sans CJK SC"/>
                <a:cs typeface="Noto Sans CJK SC"/>
              </a:rPr>
              <a:t>贡献二：</a:t>
            </a:r>
            <a:r>
              <a:rPr sz="1950" b="1" dirty="0" err="1">
                <a:solidFill>
                  <a:srgbClr val="B57815"/>
                </a:solidFill>
                <a:latin typeface="Noto Sans CJK SC"/>
                <a:ea typeface="Noto Sans CJK SC"/>
                <a:cs typeface="Noto Sans CJK SC"/>
              </a:rPr>
              <a:t>方法框架</a:t>
            </a:r>
            <a:endParaRPr sz="1950" b="1" dirty="0">
              <a:solidFill>
                <a:srgbClr val="B57815"/>
              </a:solidFill>
              <a:latin typeface="Noto Sans CJK SC"/>
              <a:ea typeface="Noto Sans CJK SC"/>
              <a:cs typeface="Noto Sans CJK SC"/>
            </a:endParaRPr>
          </a:p>
        </p:txBody>
      </p:sp>
      <p:sp>
        <p:nvSpPr>
          <p:cNvPr id="13" name="说明变化预测的表示空间与目的，对应两阶段框架。">
            <a:extLst>
              <a:ext uri="{FF2B5EF4-FFF2-40B4-BE49-F238E27FC236}">
                <a16:creationId xmlns:a16="http://schemas.microsoft.com/office/drawing/2014/main" id="{9008B2CF-3261-4A1E-802C-B70FBDB276BD}"/>
              </a:ext>
            </a:extLst>
          </p:cNvPr>
          <p:cNvSpPr>
            <a:spLocks noGrp="1"/>
          </p:cNvSpPr>
          <p:nvPr/>
        </p:nvSpPr>
        <p:spPr>
          <a:xfrm>
            <a:off x="7943850" y="5343525"/>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在</a:t>
            </a:r>
            <a:r>
              <a:rPr lang="en-US" sz="1650" b="0" dirty="0" err="1">
                <a:solidFill>
                  <a:srgbClr val="19263E"/>
                </a:solidFill>
                <a:latin typeface="Noto Sans CJK SC"/>
                <a:ea typeface="Noto Sans CJK SC"/>
                <a:cs typeface="Noto Sans CJK SC"/>
              </a:rPr>
              <a:t>latent</a:t>
            </a:r>
            <a:r>
              <a:rPr sz="1650" b="0" dirty="0" err="1">
                <a:solidFill>
                  <a:srgbClr val="19263E"/>
                </a:solidFill>
                <a:latin typeface="Noto Sans CJK SC"/>
                <a:ea typeface="Noto Sans CJK SC"/>
                <a:cs typeface="Noto Sans CJK SC"/>
              </a:rPr>
              <a:t>空间中预测变化的框</a:t>
            </a:r>
            <a:endParaRPr sz="1650" b="0" dirty="0">
              <a:solidFill>
                <a:srgbClr val="19263E"/>
              </a:solidFill>
              <a:latin typeface="Noto Sans CJK SC"/>
              <a:ea typeface="Noto Sans CJK SC"/>
              <a:cs typeface="Noto Sans CJK SC"/>
            </a:endParaRPr>
          </a:p>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架</a:t>
            </a:r>
            <a:endParaRPr sz="1650" b="0" dirty="0">
              <a:solidFill>
                <a:srgbClr val="19263E"/>
              </a:solidFill>
              <a:latin typeface="Noto Sans CJK SC"/>
              <a:ea typeface="Noto Sans CJK SC"/>
              <a:cs typeface="Noto Sans CJK SC"/>
            </a:endParaRPr>
          </a:p>
        </p:txBody>
      </p:sp>
    </p:spTree>
    <p:extLst>
      <p:ext uri="{BB962C8B-B14F-4D97-AF65-F5344CB8AC3E}">
        <p14:creationId xmlns:p14="http://schemas.microsoft.com/office/powerpoint/2010/main" val="821619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写作分析">
            <a:extLst>
              <a:ext uri="{FF2B5EF4-FFF2-40B4-BE49-F238E27FC236}">
                <a16:creationId xmlns:a16="http://schemas.microsoft.com/office/drawing/2014/main" id="{EFD9DDF5-AD8B-4DFF-88BE-597F0142434B}"/>
              </a:ext>
            </a:extLst>
          </p:cNvPr>
          <p:cNvSpPr>
            <a:spLocks noGrp="1"/>
          </p:cNvSpPr>
          <p:nvPr/>
        </p:nvSpPr>
        <p:spPr>
          <a:xfrm>
            <a:off x="609600" y="238125"/>
            <a:ext cx="9715500" cy="285750"/>
          </a:xfrm>
          <a:prstGeom prst="rect">
            <a:avLst/>
          </a:prstGeom>
          <a:noFill/>
          <a:ln w="0">
            <a:noFill/>
          </a:ln>
        </p:spPr>
        <p:txBody>
          <a:bodyPr wrap="square" lIns="0" tIns="0" rIns="0" bIns="0" anchor="t">
            <a:noAutofit/>
          </a:bodyPr>
          <a:lstStyle>
            <a:defPPr>
              <a:defRPr sz="1200" b="1">
                <a:solidFill>
                  <a:srgbClr val="356DA7"/>
                </a:solidFill>
                <a:latin typeface="Noto Sans CJK SC"/>
                <a:ea typeface="Noto Sans CJK SC"/>
                <a:cs typeface="Noto Sans CJK SC"/>
              </a:defRPr>
            </a:defPPr>
          </a:lstStyle>
          <a:p>
            <a:pPr>
              <a:buNone/>
              <a:defRPr sz="1200" b="1">
                <a:solidFill>
                  <a:srgbClr val="356DA7"/>
                </a:solidFill>
                <a:latin typeface="Noto Sans CJK SC"/>
                <a:ea typeface="Noto Sans CJK SC"/>
                <a:cs typeface="Noto Sans CJK SC"/>
              </a:defRPr>
            </a:pPr>
            <a:r>
              <a:rPr sz="1200" b="1">
                <a:solidFill>
                  <a:srgbClr val="356DA7"/>
                </a:solidFill>
                <a:latin typeface="Noto Sans CJK SC"/>
                <a:ea typeface="Noto Sans CJK SC"/>
                <a:cs typeface="Noto Sans CJK SC"/>
              </a:rPr>
              <a:t>写作分析</a:t>
            </a:r>
          </a:p>
        </p:txBody>
      </p:sp>
      <p:sp>
        <p:nvSpPr>
          <p:cNvPr id="2" name="30">
            <a:extLst>
              <a:ext uri="{FF2B5EF4-FFF2-40B4-BE49-F238E27FC236}">
                <a16:creationId xmlns:a16="http://schemas.microsoft.com/office/drawing/2014/main" id="{23F2C3E7-48A4-4743-A535-6227B040963F}"/>
              </a:ext>
            </a:extLst>
          </p:cNvPr>
          <p:cNvSpPr>
            <a:spLocks noGrp="1"/>
          </p:cNvSpPr>
          <p:nvPr/>
        </p:nvSpPr>
        <p:spPr>
          <a:xfrm>
            <a:off x="11077575" y="238125"/>
            <a:ext cx="514350" cy="285750"/>
          </a:xfrm>
          <a:prstGeom prst="rect">
            <a:avLst/>
          </a:prstGeom>
          <a:noFill/>
          <a:ln w="0">
            <a:noFill/>
          </a:ln>
        </p:spPr>
        <p:txBody>
          <a:bodyPr wrap="square" lIns="0" tIns="0" rIns="0" bIns="0" anchor="t">
            <a:noAutofit/>
          </a:bodyPr>
          <a:lstStyle>
            <a:defPPr>
              <a:defRPr sz="1200" b="0">
                <a:solidFill>
                  <a:srgbClr val="68758A"/>
                </a:solidFill>
                <a:latin typeface="Noto Sans CJK SC"/>
                <a:ea typeface="Noto Sans CJK SC"/>
                <a:cs typeface="Noto Sans CJK SC"/>
              </a:defRPr>
            </a:defPPr>
          </a:lstStyle>
          <a:p>
            <a:pPr>
              <a:buNone/>
              <a:defRPr sz="1200" b="0">
                <a:solidFill>
                  <a:srgbClr val="68758A"/>
                </a:solidFill>
                <a:latin typeface="Noto Sans CJK SC"/>
                <a:ea typeface="Noto Sans CJK SC"/>
                <a:cs typeface="Noto Sans CJK SC"/>
              </a:defRPr>
            </a:pPr>
            <a:r>
              <a:rPr sz="1200" b="0">
                <a:solidFill>
                  <a:srgbClr val="68758A"/>
                </a:solidFill>
                <a:latin typeface="Noto Sans CJK SC"/>
                <a:ea typeface="Noto Sans CJK SC"/>
                <a:cs typeface="Noto Sans CJK SC"/>
              </a:rPr>
              <a:t>30</a:t>
            </a:r>
          </a:p>
        </p:txBody>
      </p:sp>
      <p:sp>
        <p:nvSpPr>
          <p:cNvPr id="3" name="Introduction（9/9）：机制与实验贡献">
            <a:extLst>
              <a:ext uri="{FF2B5EF4-FFF2-40B4-BE49-F238E27FC236}">
                <a16:creationId xmlns:a16="http://schemas.microsoft.com/office/drawing/2014/main" id="{B28D3DA3-51B9-40C0-8BDE-1368CF262532}"/>
              </a:ext>
            </a:extLst>
          </p:cNvPr>
          <p:cNvSpPr>
            <a:spLocks noGrp="1"/>
          </p:cNvSpPr>
          <p:nvPr/>
        </p:nvSpPr>
        <p:spPr>
          <a:xfrm>
            <a:off x="609600" y="666750"/>
            <a:ext cx="10953750" cy="638175"/>
          </a:xfrm>
          <a:prstGeom prst="rect">
            <a:avLst/>
          </a:prstGeom>
          <a:noFill/>
          <a:ln w="0">
            <a:noFill/>
          </a:ln>
        </p:spPr>
        <p:txBody>
          <a:bodyPr wrap="square" lIns="0" tIns="0" rIns="0" bIns="0" anchor="t">
            <a:noAutofit/>
          </a:bodyPr>
          <a:lstStyle>
            <a:defPPr>
              <a:defRPr sz="2925" b="1">
                <a:solidFill>
                  <a:srgbClr val="19263E"/>
                </a:solidFill>
                <a:latin typeface="Noto Sans CJK SC"/>
                <a:ea typeface="Noto Sans CJK SC"/>
                <a:cs typeface="Noto Sans CJK SC"/>
              </a:defRPr>
            </a:defPPr>
          </a:lstStyle>
          <a:p>
            <a:pPr>
              <a:buNone/>
              <a:defRPr sz="2925" b="1">
                <a:solidFill>
                  <a:srgbClr val="19263E"/>
                </a:solidFill>
                <a:latin typeface="Noto Sans CJK SC"/>
                <a:ea typeface="Noto Sans CJK SC"/>
                <a:cs typeface="Noto Sans CJK SC"/>
              </a:defRPr>
            </a:pPr>
            <a:r>
              <a:rPr sz="2925" b="1" dirty="0">
                <a:solidFill>
                  <a:srgbClr val="19263E"/>
                </a:solidFill>
                <a:latin typeface="Noto Sans CJK SC"/>
                <a:ea typeface="Noto Sans CJK SC"/>
                <a:cs typeface="Noto Sans CJK SC"/>
              </a:rPr>
              <a:t>Introduction（</a:t>
            </a:r>
            <a:r>
              <a:rPr lang="en-US" altLang="zh-CN" sz="2925" b="1" dirty="0">
                <a:solidFill>
                  <a:srgbClr val="19263E"/>
                </a:solidFill>
                <a:latin typeface="Noto Sans CJK SC"/>
                <a:ea typeface="Noto Sans CJK SC"/>
                <a:cs typeface="Noto Sans CJK SC"/>
              </a:rPr>
              <a:t>8</a:t>
            </a:r>
            <a:r>
              <a:rPr sz="2925" b="1" dirty="0">
                <a:solidFill>
                  <a:srgbClr val="19263E"/>
                </a:solidFill>
                <a:latin typeface="Noto Sans CJK SC"/>
                <a:ea typeface="Noto Sans CJK SC"/>
                <a:cs typeface="Noto Sans CJK SC"/>
              </a:rPr>
              <a:t>/</a:t>
            </a:r>
            <a:r>
              <a:rPr lang="en-US" altLang="zh-CN" sz="2925" b="1" dirty="0">
                <a:solidFill>
                  <a:srgbClr val="19263E"/>
                </a:solidFill>
                <a:latin typeface="Noto Sans CJK SC"/>
                <a:ea typeface="Noto Sans CJK SC"/>
                <a:cs typeface="Noto Sans CJK SC"/>
              </a:rPr>
              <a:t>8</a:t>
            </a:r>
            <a:r>
              <a:rPr sz="2925" b="1" dirty="0">
                <a:solidFill>
                  <a:srgbClr val="19263E"/>
                </a:solidFill>
                <a:latin typeface="Noto Sans CJK SC"/>
                <a:ea typeface="Noto Sans CJK SC"/>
                <a:cs typeface="Noto Sans CJK SC"/>
              </a:rPr>
              <a:t>）：</a:t>
            </a:r>
            <a:r>
              <a:rPr lang="zh-CN" altLang="en-US" sz="2925" b="1" dirty="0">
                <a:solidFill>
                  <a:srgbClr val="19263E"/>
                </a:solidFill>
                <a:latin typeface="Noto Sans CJK SC"/>
                <a:ea typeface="Noto Sans CJK SC"/>
                <a:cs typeface="Noto Sans CJK SC"/>
              </a:rPr>
              <a:t>实验与贡献</a:t>
            </a:r>
            <a:endParaRPr sz="2925" b="1" dirty="0">
              <a:solidFill>
                <a:srgbClr val="19263E"/>
              </a:solidFill>
              <a:latin typeface="Noto Sans CJK SC"/>
              <a:ea typeface="Noto Sans CJK SC"/>
              <a:cs typeface="Noto Sans CJK SC"/>
            </a:endParaRPr>
          </a:p>
        </p:txBody>
      </p:sp>
      <p:sp>
        <p:nvSpPr>
          <p:cNvPr id="4" name="Latent Drift · §1 · 贡献3–4">
            <a:extLst>
              <a:ext uri="{FF2B5EF4-FFF2-40B4-BE49-F238E27FC236}">
                <a16:creationId xmlns:a16="http://schemas.microsoft.com/office/drawing/2014/main" id="{0F4821F1-AB03-47AE-9B64-7AB76225814C}"/>
              </a:ext>
            </a:extLst>
          </p:cNvPr>
          <p:cNvSpPr>
            <a:spLocks noGrp="1"/>
          </p:cNvSpPr>
          <p:nvPr/>
        </p:nvSpPr>
        <p:spPr>
          <a:xfrm>
            <a:off x="609600" y="6496050"/>
            <a:ext cx="10477500" cy="209550"/>
          </a:xfrm>
          <a:prstGeom prst="rect">
            <a:avLst/>
          </a:prstGeom>
          <a:noFill/>
          <a:ln w="0">
            <a:noFill/>
          </a:ln>
        </p:spPr>
        <p:txBody>
          <a:bodyPr wrap="square" lIns="0" tIns="0" rIns="0" bIns="0" anchor="t">
            <a:noAutofit/>
          </a:bodyPr>
          <a:lstStyle>
            <a:defPPr>
              <a:defRPr sz="975" b="0">
                <a:solidFill>
                  <a:srgbClr val="68758A"/>
                </a:solidFill>
                <a:latin typeface="Noto Sans CJK SC"/>
                <a:ea typeface="Noto Sans CJK SC"/>
                <a:cs typeface="Noto Sans CJK SC"/>
              </a:defRPr>
            </a:defPPr>
          </a:lstStyle>
          <a:p>
            <a:pPr>
              <a:buNone/>
              <a:defRPr sz="975" b="0">
                <a:solidFill>
                  <a:srgbClr val="68758A"/>
                </a:solidFill>
                <a:latin typeface="Noto Sans CJK SC"/>
                <a:ea typeface="Noto Sans CJK SC"/>
                <a:cs typeface="Noto Sans CJK SC"/>
              </a:defRPr>
            </a:pPr>
            <a:r>
              <a:rPr sz="975" b="0">
                <a:solidFill>
                  <a:srgbClr val="68758A"/>
                </a:solidFill>
                <a:latin typeface="Noto Sans CJK SC"/>
                <a:ea typeface="Noto Sans CJK SC"/>
                <a:cs typeface="Noto Sans CJK SC"/>
              </a:rPr>
              <a:t>Latent Drift · §1 · 贡献3–4</a:t>
            </a:r>
          </a:p>
        </p:txBody>
      </p:sp>
      <p:sp>
        <p:nvSpPr>
          <p:cNvPr id="6" name="FSQ mechanism: We analyze Finite Scalar ">
            <a:extLst>
              <a:ext uri="{FF2B5EF4-FFF2-40B4-BE49-F238E27FC236}">
                <a16:creationId xmlns:a16="http://schemas.microsoft.com/office/drawing/2014/main" id="{30A06A24-FFB2-4D74-A154-1EA474D1BF6E}"/>
              </a:ext>
            </a:extLst>
          </p:cNvPr>
          <p:cNvSpPr>
            <a:spLocks noGrp="1"/>
          </p:cNvSpPr>
          <p:nvPr/>
        </p:nvSpPr>
        <p:spPr>
          <a:xfrm>
            <a:off x="609600" y="2066925"/>
            <a:ext cx="7010400" cy="4133850"/>
          </a:xfrm>
          <a:prstGeom prst="rect">
            <a:avLst/>
          </a:prstGeom>
          <a:noFill/>
          <a:ln w="0">
            <a:noFill/>
          </a:ln>
        </p:spPr>
        <p:txBody>
          <a:bodyPr wrap="square" lIns="0" tIns="0" rIns="0" bIns="0" anchor="t">
            <a:noAutofit/>
          </a:bodyPr>
          <a:lstStyle>
            <a:defPPr>
              <a:defRPr sz="1800" b="0">
                <a:solidFill>
                  <a:srgbClr val="19263E"/>
                </a:solidFill>
                <a:latin typeface="Noto Sans CJK SC"/>
                <a:ea typeface="Noto Sans CJK SC"/>
                <a:cs typeface="Noto Sans CJK SC"/>
              </a:defRPr>
            </a:defPPr>
          </a:lstStyle>
          <a:p>
            <a:pPr>
              <a:buNone/>
              <a:defRPr sz="1800" b="0">
                <a:solidFill>
                  <a:srgbClr val="19263E"/>
                </a:solidFill>
                <a:latin typeface="Noto Sans CJK SC"/>
                <a:ea typeface="Noto Sans CJK SC"/>
                <a:cs typeface="Noto Sans CJK SC"/>
              </a:defRPr>
            </a:pPr>
            <a:r>
              <a:rPr sz="1800" b="1">
                <a:solidFill>
                  <a:srgbClr val="356DA7"/>
                </a:solidFill>
                <a:latin typeface="Noto Sans CJK SC"/>
                <a:ea typeface="Noto Sans CJK SC"/>
                <a:cs typeface="Noto Sans CJK SC"/>
              </a:rPr>
              <a:t>FSQ mechanism:</a:t>
            </a:r>
            <a:r>
              <a:rPr sz="1800" b="0">
                <a:solidFill>
                  <a:srgbClr val="19263E"/>
                </a:solidFill>
                <a:latin typeface="Noto Sans CJK SC"/>
                <a:ea typeface="Noto Sans CJK SC"/>
                <a:cs typeface="Noto Sans CJK SC"/>
              </a:rPr>
              <a:t> We analyze Finite Scalar Quantization as a topological dead-zone filter that suppresses high-frequency nuisance noise while preserving structurally consistent drift, mitigating the limitations of smooth predictors.</a:t>
            </a:r>
          </a:p>
          <a:p>
            <a:endParaRPr sz="1800" b="0">
              <a:solidFill>
                <a:srgbClr val="19263E"/>
              </a:solidFill>
              <a:latin typeface="Noto Sans CJK SC"/>
              <a:ea typeface="Noto Sans CJK SC"/>
              <a:cs typeface="Noto Sans CJK SC"/>
            </a:endParaRPr>
          </a:p>
          <a:p>
            <a:pPr>
              <a:buNone/>
              <a:defRPr sz="1800" b="0">
                <a:solidFill>
                  <a:srgbClr val="19263E"/>
                </a:solidFill>
                <a:latin typeface="Noto Sans CJK SC"/>
                <a:ea typeface="Noto Sans CJK SC"/>
                <a:cs typeface="Noto Sans CJK SC"/>
              </a:defRPr>
            </a:pPr>
            <a:r>
              <a:rPr sz="1800" b="1">
                <a:solidFill>
                  <a:srgbClr val="168F85"/>
                </a:solidFill>
                <a:latin typeface="Noto Sans CJK SC"/>
                <a:ea typeface="Noto Sans CJK SC"/>
                <a:cs typeface="Noto Sans CJK SC"/>
              </a:rPr>
              <a:t>Empirical performance:</a:t>
            </a:r>
            <a:r>
              <a:rPr sz="1800" b="0">
                <a:solidFill>
                  <a:srgbClr val="19263E"/>
                </a:solidFill>
                <a:latin typeface="Noto Sans CJK SC"/>
                <a:ea typeface="Noto Sans CJK SC"/>
                <a:cs typeface="Noto Sans CJK SC"/>
              </a:rPr>
              <a:t> We achieve state-of-the-art patient-specific 3D MRI forecasting, outperforming diffusion and autoregressive transformer baselines on both generative fidelity and clinically relevant metrics.</a:t>
            </a:r>
          </a:p>
        </p:txBody>
      </p:sp>
      <p:sp>
        <p:nvSpPr>
          <p:cNvPr id="8" name="贡献三：量化机制">
            <a:extLst>
              <a:ext uri="{FF2B5EF4-FFF2-40B4-BE49-F238E27FC236}">
                <a16:creationId xmlns:a16="http://schemas.microsoft.com/office/drawing/2014/main" id="{8FFB2F99-8FD9-49C4-B08C-E8FB2AA1ADF0}"/>
              </a:ext>
            </a:extLst>
          </p:cNvPr>
          <p:cNvSpPr>
            <a:spLocks noGrp="1"/>
          </p:cNvSpPr>
          <p:nvPr/>
        </p:nvSpPr>
        <p:spPr>
          <a:xfrm>
            <a:off x="7943850" y="2057400"/>
            <a:ext cx="3619500" cy="342900"/>
          </a:xfrm>
          <a:prstGeom prst="rect">
            <a:avLst/>
          </a:prstGeom>
          <a:noFill/>
          <a:ln w="0">
            <a:noFill/>
          </a:ln>
        </p:spPr>
        <p:txBody>
          <a:bodyPr wrap="none" lIns="0" tIns="0" rIns="0" bIns="0" anchor="t">
            <a:noAutofit/>
          </a:bodyPr>
          <a:lstStyle>
            <a:defPPr algn="l">
              <a:defRPr sz="1950" b="1">
                <a:solidFill>
                  <a:srgbClr val="356DA7"/>
                </a:solidFill>
                <a:latin typeface="Noto Sans CJK SC"/>
                <a:ea typeface="Noto Sans CJK SC"/>
                <a:cs typeface="Noto Sans CJK SC"/>
              </a:defRPr>
            </a:defPPr>
          </a:lstStyle>
          <a:p>
            <a:pPr algn="l">
              <a:buNone/>
              <a:defRPr sz="1950" b="1">
                <a:solidFill>
                  <a:srgbClr val="356DA7"/>
                </a:solidFill>
                <a:latin typeface="Noto Sans CJK SC"/>
                <a:ea typeface="Noto Sans CJK SC"/>
                <a:cs typeface="Noto Sans CJK SC"/>
              </a:defRPr>
            </a:pPr>
            <a:r>
              <a:rPr sz="1950" b="1">
                <a:solidFill>
                  <a:srgbClr val="356DA7"/>
                </a:solidFill>
                <a:latin typeface="Noto Sans CJK SC"/>
                <a:ea typeface="Noto Sans CJK SC"/>
                <a:cs typeface="Noto Sans CJK SC"/>
              </a:rPr>
              <a:t>贡献三：量化机制</a:t>
            </a:r>
          </a:p>
        </p:txBody>
      </p:sp>
      <p:sp>
        <p:nvSpPr>
          <p:cNvPr id="10" name="贡献四：实验证据">
            <a:extLst>
              <a:ext uri="{FF2B5EF4-FFF2-40B4-BE49-F238E27FC236}">
                <a16:creationId xmlns:a16="http://schemas.microsoft.com/office/drawing/2014/main" id="{8A4CEBFB-1361-4952-B106-3ACB9D398CB1}"/>
              </a:ext>
            </a:extLst>
          </p:cNvPr>
          <p:cNvSpPr>
            <a:spLocks noGrp="1"/>
          </p:cNvSpPr>
          <p:nvPr/>
        </p:nvSpPr>
        <p:spPr>
          <a:xfrm>
            <a:off x="7943850" y="3257550"/>
            <a:ext cx="3619500" cy="342900"/>
          </a:xfrm>
          <a:prstGeom prst="rect">
            <a:avLst/>
          </a:prstGeom>
          <a:noFill/>
          <a:ln w="0">
            <a:noFill/>
          </a:ln>
        </p:spPr>
        <p:txBody>
          <a:bodyPr wrap="none" lIns="0" tIns="0" rIns="0" bIns="0" anchor="t">
            <a:noAutofit/>
          </a:bodyPr>
          <a:lstStyle>
            <a:defPPr algn="l">
              <a:defRPr sz="1950" b="1">
                <a:solidFill>
                  <a:srgbClr val="168F85"/>
                </a:solidFill>
                <a:latin typeface="Noto Sans CJK SC"/>
                <a:ea typeface="Noto Sans CJK SC"/>
                <a:cs typeface="Noto Sans CJK SC"/>
              </a:defRPr>
            </a:defPPr>
          </a:lstStyle>
          <a:p>
            <a:pPr algn="l">
              <a:buNone/>
              <a:defRPr sz="1950" b="1">
                <a:solidFill>
                  <a:srgbClr val="168F85"/>
                </a:solidFill>
                <a:latin typeface="Noto Sans CJK SC"/>
                <a:ea typeface="Noto Sans CJK SC"/>
                <a:cs typeface="Noto Sans CJK SC"/>
              </a:defRPr>
            </a:pPr>
            <a:r>
              <a:rPr sz="1950" b="1" dirty="0" err="1">
                <a:solidFill>
                  <a:srgbClr val="168F85"/>
                </a:solidFill>
                <a:latin typeface="Noto Sans CJK SC"/>
                <a:ea typeface="Noto Sans CJK SC"/>
                <a:cs typeface="Noto Sans CJK SC"/>
              </a:rPr>
              <a:t>贡献四：实验</a:t>
            </a:r>
            <a:endParaRPr sz="1950" b="1" dirty="0">
              <a:solidFill>
                <a:srgbClr val="168F85"/>
              </a:solidFill>
              <a:latin typeface="Noto Sans CJK SC"/>
              <a:ea typeface="Noto Sans CJK SC"/>
              <a:cs typeface="Noto Sans CJK SC"/>
            </a:endParaRPr>
          </a:p>
        </p:txBody>
      </p:sp>
      <p:sp>
        <p:nvSpPr>
          <p:cNvPr id="11" name="以数据类型、比较对象及评价维度总结性能贡献。">
            <a:extLst>
              <a:ext uri="{FF2B5EF4-FFF2-40B4-BE49-F238E27FC236}">
                <a16:creationId xmlns:a16="http://schemas.microsoft.com/office/drawing/2014/main" id="{7BCE7837-5CBF-4863-9677-4F63520DFBFE}"/>
              </a:ext>
            </a:extLst>
          </p:cNvPr>
          <p:cNvSpPr>
            <a:spLocks noGrp="1"/>
          </p:cNvSpPr>
          <p:nvPr/>
        </p:nvSpPr>
        <p:spPr>
          <a:xfrm>
            <a:off x="7943850" y="3667125"/>
            <a:ext cx="3619500" cy="1038225"/>
          </a:xfrm>
          <a:prstGeom prst="rect">
            <a:avLst/>
          </a:prstGeom>
          <a:noFill/>
          <a:ln w="0">
            <a:noFill/>
          </a:ln>
        </p:spPr>
        <p:txBody>
          <a:bodyPr wrap="none" lIns="0" tIns="0" rIns="0" bIns="0" anchor="t">
            <a:noAutofit/>
          </a:bodyPr>
          <a:lstStyle>
            <a:defPPr algn="l">
              <a:defRPr sz="1650" b="0">
                <a:solidFill>
                  <a:srgbClr val="19263E"/>
                </a:solidFill>
                <a:latin typeface="Noto Sans CJK SC"/>
                <a:ea typeface="Noto Sans CJK SC"/>
                <a:cs typeface="Noto Sans CJK SC"/>
              </a:defRPr>
            </a:defPPr>
          </a:lstStyle>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总结性能，说明实验任务、比较</a:t>
            </a:r>
            <a:endParaRPr sz="1650" b="0" dirty="0">
              <a:solidFill>
                <a:srgbClr val="19263E"/>
              </a:solidFill>
              <a:latin typeface="Noto Sans CJK SC"/>
              <a:ea typeface="Noto Sans CJK SC"/>
              <a:cs typeface="Noto Sans CJK SC"/>
            </a:endParaRPr>
          </a:p>
          <a:p>
            <a:pPr algn="l">
              <a:buNone/>
              <a:defRPr sz="1650" b="0">
                <a:solidFill>
                  <a:srgbClr val="19263E"/>
                </a:solidFill>
                <a:latin typeface="Noto Sans CJK SC"/>
                <a:ea typeface="Noto Sans CJK SC"/>
                <a:cs typeface="Noto Sans CJK SC"/>
              </a:defRPr>
            </a:pPr>
            <a:r>
              <a:rPr sz="1650" b="0" dirty="0" err="1">
                <a:solidFill>
                  <a:srgbClr val="19263E"/>
                </a:solidFill>
                <a:latin typeface="Noto Sans CJK SC"/>
                <a:ea typeface="Noto Sans CJK SC"/>
                <a:cs typeface="Noto Sans CJK SC"/>
              </a:rPr>
              <a:t>对象，以及作者认为有所提升的指标</a:t>
            </a:r>
            <a:r>
              <a:rPr sz="1650" b="0" dirty="0">
                <a:solidFill>
                  <a:srgbClr val="19263E"/>
                </a:solidFill>
                <a:latin typeface="Noto Sans CJK SC"/>
                <a:ea typeface="Noto Sans CJK SC"/>
                <a:cs typeface="Noto Sans CJK SC"/>
              </a:rPr>
              <a:t>。</a:t>
            </a:r>
          </a:p>
        </p:txBody>
      </p:sp>
    </p:spTree>
    <p:extLst>
      <p:ext uri="{BB962C8B-B14F-4D97-AF65-F5344CB8AC3E}">
        <p14:creationId xmlns:p14="http://schemas.microsoft.com/office/powerpoint/2010/main" val="676623031"/>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主题​​">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2605</TotalTime>
  <Words>2342</Words>
  <Application>Microsoft Macintosh PowerPoint</Application>
  <DocSecurity>0</DocSecurity>
  <PresentationFormat>宽屏</PresentationFormat>
  <Paragraphs>264</Paragraphs>
  <Slides>26</Slides>
  <Notes>26</Notes>
  <HiddenSlides>1</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26</vt:i4>
      </vt:variant>
    </vt:vector>
  </HeadingPairs>
  <TitlesOfParts>
    <vt:vector size="33" baseType="lpstr">
      <vt:lpstr>Noto Sans CJK SC</vt:lpstr>
      <vt:lpstr>Aptos</vt:lpstr>
      <vt:lpstr>Aptos Display</vt:lpstr>
      <vt:lpstr>Arial</vt:lpstr>
      <vt:lpstr>Calibri</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Xueqing Yu</cp:lastModifiedBy>
  <cp:revision>92</cp:revision>
  <dcterms:created xsi:type="dcterms:W3CDTF">2026-10-14T09:01:08Z</dcterms:created>
  <dcterms:modified xsi:type="dcterms:W3CDTF">2026-10-16T04:49:46Z</dcterms:modified>
</cp:coreProperties>
</file>