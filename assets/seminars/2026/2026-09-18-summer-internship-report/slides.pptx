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5" r:id="rId7"/>
    <p:sldId id="266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6" r:id="rId16"/>
    <p:sldId id="275" r:id="rId17"/>
    <p:sldId id="277" r:id="rId18"/>
    <p:sldId id="278" r:id="rId19"/>
    <p:sldId id="28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422" autoAdjust="0"/>
    <p:restoredTop sz="94660"/>
  </p:normalViewPr>
  <p:slideViewPr>
    <p:cSldViewPr snapToGrid="0">
      <p:cViewPr varScale="1">
        <p:scale>
          <a:sx n="54" d="100"/>
          <a:sy n="54" d="100"/>
        </p:scale>
        <p:origin x="57" y="3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C566E-7CA0-98B8-3C43-2AB7219CA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E76D7A-6A34-F7CB-BA12-8A54F3955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555AE9-085A-1F08-51F5-E5B51D6D2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CB1D9D-F7CD-A598-96DB-0615BAB4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A8D99-EC58-80A3-D0BB-D7CED241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2311A-7524-374B-968F-19BAC56E2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1D2FED-2B9F-162A-01E6-710548229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40477-4985-DA04-F62E-2C63E430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67661A-0368-3B0F-78C6-DD68C1BA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88F817-5565-8301-EE2A-DC59C09D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17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F5702-4C79-5FD7-D74A-2DB98758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E44881-CFE8-6DB4-3D41-5D3B3C2E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939F58-7BAC-262D-A6B0-C2B9BDEE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D91DB0-3AD7-C725-363D-4DE3B98C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F00188-4C3A-A53C-3D0B-EF74FA63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18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7B3F1-C751-46EE-3F0D-2AF835683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9D6FF3-2FC7-B96A-64F6-EE67FDDDD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E40FB2-E3F7-C767-D5D9-7B7FAB356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6A5574-6FC8-6761-450E-6786A0BAE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AF5E3D-1161-9149-7D53-062DED41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634AE5-AC2D-BFFD-6CE8-9B3BC28F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61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87ABB-7DD6-0974-1731-79C0090C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826DD0-7175-FFFF-42AC-17110F79E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E0763D-A930-40BF-5CCA-7B19044FB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C3FF47-8A4D-9EA2-EE56-EFDC63786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81F085-BDD7-10D5-5017-E9C50E2E5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6637EE-D6B2-6A09-DFAF-14FA46DC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AD20BA-48F3-3553-368D-759C92F3C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35570C-9351-10D8-7D5E-0D38F50F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91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14731-C0D9-5620-7AF4-1FD7DA4B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619566-56FC-6F97-3653-1A7F3B19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3081A4-5A18-6898-6205-9C609A75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0723C9-C1C1-6EF9-5538-EED943E9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82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F96939-5FBC-CC6A-163A-7AAE940C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BB5032-DB5C-E484-A1A1-D6408CAB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1FEBA9-A1B9-41E9-2281-68499373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57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10C7-C6A6-64C4-2088-8E4FB49D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0E5270-693C-0438-EF67-C68931FCE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EF4F64-5752-511A-8EE5-577C1682F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E5C1EC-194D-D1FC-5E97-EF6D28D93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9D868F-59B6-1355-482C-172D8171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03FDD3-3C14-37B0-FD0B-2C5DB419F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14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1E6F96-9D03-39AE-61AE-7FC703D71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516D40-397C-FB82-BBBE-1BB85FC1E6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270FD3-C3CC-CFC0-0D14-F4F62B9FB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CC89DE-F5A7-98E1-F300-896701755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AD7F61-DBB7-3C9A-4B91-25281342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8A4C09-C671-7092-79F2-900F07C6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96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FD407-DA72-A770-2081-C99310D2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A2FB92-3102-86C6-5A19-E0F7A3884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7CE588-A6FB-0C84-2B6A-B68EC5E8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DFBDE3-F553-07C3-764A-5ED84E71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61C181-05D7-7633-0A9F-42484A04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24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DAC5B2-8F6D-A96C-BAB3-CF8E8E4DB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6213A1-20C1-2322-C6D0-E6791AFBF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9EE5E-FD30-F6B8-A55C-98D8A3E8D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6A7E04-CD06-BBC5-059F-F0424DBE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CDE7A-3D7B-74A5-5786-3D6DB9C4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68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367481-B7BE-E88D-3F14-91DF6BBA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90F50D-1133-D7DE-C5C8-D41F35748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4E2E28-5A4E-A23A-5C13-9F2495E42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7126F-2018-49B6-9C0C-58E4DD0FDA5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D92278-B023-CEAB-947C-6C420E574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A399CF-3FAC-6423-0C23-A77C34E96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BE146-F41B-40C9-9A92-3EFA19ACB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50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arxiv.org/abs/2602.1140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ilyssa-syx.github.io/exps-site/?sequence=20200918-subject-06_20200918_113621_932122060861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4C475-1029-1B0D-2B63-8126B0D0B1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暑研工作汇报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D647D5-B8D3-E6F1-4F3A-5DFFE4F43B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孙亦轩</a:t>
            </a:r>
            <a:endParaRPr lang="en-US" altLang="zh-CN" dirty="0"/>
          </a:p>
          <a:p>
            <a:r>
              <a:rPr lang="en-US" altLang="zh-CN" dirty="0"/>
              <a:t>2026.9.16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032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7DA88-2E04-3DC7-6C40-E13846D2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研究领域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14F8F-AF80-91B9-D770-6D4E59A7F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空间和物理结构感知，以及这些表示在视觉和机器人操作中的应用</a:t>
            </a:r>
            <a:endParaRPr lang="en-US" altLang="zh-CN" dirty="0"/>
          </a:p>
          <a:p>
            <a:r>
              <a:rPr lang="en-US" altLang="zh-CN" dirty="0"/>
              <a:t>3D/4D </a:t>
            </a:r>
            <a:r>
              <a:rPr lang="zh-CN" altLang="en-US" dirty="0"/>
              <a:t>视觉</a:t>
            </a:r>
            <a:endParaRPr lang="en-US" altLang="zh-CN" dirty="0"/>
          </a:p>
          <a:p>
            <a:pPr lvl="1"/>
            <a:r>
              <a:rPr lang="zh-CN" altLang="zh-CN" dirty="0"/>
              <a:t>物体级 3D </a:t>
            </a:r>
            <a:r>
              <a:rPr lang="zh-CN" altLang="en-US" dirty="0"/>
              <a:t>重建，场景级</a:t>
            </a:r>
            <a:r>
              <a:rPr lang="en-US" altLang="zh-CN" dirty="0"/>
              <a:t>3D</a:t>
            </a:r>
            <a:r>
              <a:rPr lang="zh-CN" altLang="en-US" dirty="0"/>
              <a:t>重建，动态</a:t>
            </a:r>
            <a:r>
              <a:rPr lang="en-US" altLang="zh-CN" dirty="0"/>
              <a:t>4D</a:t>
            </a:r>
            <a:r>
              <a:rPr lang="zh-CN" altLang="en-US" dirty="0"/>
              <a:t>重建等</a:t>
            </a:r>
            <a:endParaRPr lang="en-US" altLang="zh-CN" dirty="0"/>
          </a:p>
          <a:p>
            <a:r>
              <a:rPr lang="zh-CN" altLang="en-US" dirty="0"/>
              <a:t>物理与</a:t>
            </a:r>
            <a:r>
              <a:rPr lang="en-US" altLang="zh-CN"/>
              <a:t>HOI</a:t>
            </a:r>
          </a:p>
          <a:p>
            <a:r>
              <a:rPr lang="en-US" altLang="zh-CN" dirty="0"/>
              <a:t>Robotics</a:t>
            </a:r>
          </a:p>
          <a:p>
            <a:pPr lvl="1"/>
            <a:r>
              <a:rPr lang="zh-CN" altLang="zh-CN" dirty="0"/>
              <a:t>从人类视频学习操作</a:t>
            </a:r>
            <a:endParaRPr lang="en-US" altLang="zh-CN" dirty="0"/>
          </a:p>
          <a:p>
            <a:pPr lvl="1"/>
            <a:r>
              <a:rPr lang="zh-CN" altLang="zh-CN" dirty="0"/>
              <a:t>数据效率与闭环策略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0440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92A78-CE8C-9270-955B-E37CB301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我的暑研工作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0D0E2A-0B4F-ECD8-B7D0-8F4792B85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707" y="169068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zh-CN" dirty="0"/>
              <a:t>Feed-Forward 4D Hand-Object Motion Modeling</a:t>
            </a:r>
            <a:endParaRPr lang="zh-CN" altLang="zh-CN" b="0" dirty="0">
              <a:effectLst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39C58D-99EF-7068-8848-011FD5DD43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28" r="3363"/>
          <a:stretch>
            <a:fillRect/>
          </a:stretch>
        </p:blipFill>
        <p:spPr>
          <a:xfrm>
            <a:off x="1241371" y="2545307"/>
            <a:ext cx="1827865" cy="16582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5062D2-E6AE-87FE-160A-4F2DAADED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70" y="4687601"/>
            <a:ext cx="3289686" cy="7303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4080871-122A-84F9-D690-A36C9854E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553" y="5696387"/>
            <a:ext cx="628738" cy="8668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55F9CB5-E15C-ACB5-D1A3-292E2362B8DD}"/>
              </a:ext>
            </a:extLst>
          </p:cNvPr>
          <p:cNvSpPr txBox="1"/>
          <p:nvPr/>
        </p:nvSpPr>
        <p:spPr>
          <a:xfrm>
            <a:off x="3568890" y="2906973"/>
            <a:ext cx="1603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单目</a:t>
            </a:r>
            <a:r>
              <a:rPr lang="en-US" altLang="zh-CN" dirty="0"/>
              <a:t>RGB</a:t>
            </a:r>
            <a:r>
              <a:rPr lang="zh-CN" altLang="en-US" dirty="0"/>
              <a:t>视频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FD19D0-2173-C919-A406-25074D0129CF}"/>
              </a:ext>
            </a:extLst>
          </p:cNvPr>
          <p:cNvSpPr txBox="1"/>
          <p:nvPr/>
        </p:nvSpPr>
        <p:spPr>
          <a:xfrm>
            <a:off x="3568890" y="4296025"/>
            <a:ext cx="1603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（可选）有缺陷的手物交互轨迹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B7E34A-5B92-6A40-857B-7360381BBE79}"/>
              </a:ext>
            </a:extLst>
          </p:cNvPr>
          <p:cNvSpPr txBox="1"/>
          <p:nvPr/>
        </p:nvSpPr>
        <p:spPr>
          <a:xfrm>
            <a:off x="3568890" y="5723792"/>
            <a:ext cx="1603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物体</a:t>
            </a:r>
            <a:r>
              <a:rPr lang="en-US" altLang="zh-CN" dirty="0"/>
              <a:t>mesh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C19B5A-7707-36A6-1F15-E54200A8C5BB}"/>
              </a:ext>
            </a:extLst>
          </p:cNvPr>
          <p:cNvSpPr/>
          <p:nvPr/>
        </p:nvSpPr>
        <p:spPr>
          <a:xfrm>
            <a:off x="6048513" y="4004694"/>
            <a:ext cx="1827866" cy="15005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Feed-Forward</a:t>
            </a:r>
          </a:p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Network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C7678B5-E67B-EE70-34C5-C46341DA7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359" y="4593194"/>
            <a:ext cx="3071603" cy="738527"/>
          </a:xfrm>
          <a:prstGeom prst="rect">
            <a:avLst/>
          </a:prstGeom>
        </p:spPr>
      </p:pic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DFD77236-6308-E6B4-4ACA-996CCB1DA4AB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>
            <a:off x="5172502" y="3091639"/>
            <a:ext cx="876011" cy="166334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0DCCC7FD-C714-B407-1E91-C2B1B7890882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 flipV="1">
            <a:off x="5172502" y="4754984"/>
            <a:ext cx="876011" cy="115347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C5D7941-3DC2-294A-C10D-0D8D7AF3DEC8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5172502" y="4754984"/>
            <a:ext cx="876011" cy="2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69608DED-3CC7-1882-AF1A-EB5780D003FB}"/>
              </a:ext>
            </a:extLst>
          </p:cNvPr>
          <p:cNvSpPr txBox="1"/>
          <p:nvPr/>
        </p:nvSpPr>
        <p:spPr>
          <a:xfrm>
            <a:off x="9050740" y="3707626"/>
            <a:ext cx="2474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经过修复的手物交互轨迹，与</a:t>
            </a:r>
            <a:r>
              <a:rPr lang="en-US" altLang="zh-CN" dirty="0"/>
              <a:t>RGB</a:t>
            </a:r>
            <a:r>
              <a:rPr lang="zh-CN" altLang="en-US" dirty="0"/>
              <a:t>信息符合。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E309171-7035-6424-7513-FA10BF190641}"/>
              </a:ext>
            </a:extLst>
          </p:cNvPr>
          <p:cNvCxnSpPr>
            <a:stCxn id="16" idx="3"/>
          </p:cNvCxnSpPr>
          <p:nvPr/>
        </p:nvCxnSpPr>
        <p:spPr>
          <a:xfrm flipV="1">
            <a:off x="7876379" y="4754983"/>
            <a:ext cx="9264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06DB8F3C-544F-20BE-5EC8-7F211B5AC589}"/>
              </a:ext>
            </a:extLst>
          </p:cNvPr>
          <p:cNvSpPr txBox="1"/>
          <p:nvPr/>
        </p:nvSpPr>
        <p:spPr>
          <a:xfrm>
            <a:off x="8454788" y="893928"/>
            <a:ext cx="33021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应用：</a:t>
            </a:r>
            <a:endParaRPr lang="en-US" altLang="zh-CN" dirty="0"/>
          </a:p>
          <a:p>
            <a:pPr lvl="0"/>
            <a:r>
              <a:rPr lang="zh-CN" altLang="zh-CN" b="1" dirty="0"/>
              <a:t>机器人模仿学习</a:t>
            </a:r>
            <a:r>
              <a:rPr lang="zh-CN" altLang="zh-CN" dirty="0"/>
              <a:t>：从人类操作视频中提取手部动作与物体运动轨迹，为机器人操作学习提供示范。 </a:t>
            </a:r>
          </a:p>
          <a:p>
            <a:pPr lvl="0"/>
            <a:r>
              <a:rPr lang="zh-CN" altLang="zh-CN" b="1" dirty="0"/>
              <a:t>交互数据构建</a:t>
            </a:r>
            <a:r>
              <a:rPr lang="zh-CN" altLang="zh-CN" dirty="0"/>
              <a:t>：将普通 RGB 视频转化为三维手物交互数据，用于训练动作理解与生成模型。 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858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5B3E4-45B0-9E0D-5371-2DB97F0F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模块化方法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80F0BE-D966-1C31-7A5A-91726F711A1F}"/>
              </a:ext>
            </a:extLst>
          </p:cNvPr>
          <p:cNvSpPr txBox="1"/>
          <p:nvPr/>
        </p:nvSpPr>
        <p:spPr>
          <a:xfrm>
            <a:off x="5250975" y="1086772"/>
            <a:ext cx="183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dirty="0"/>
              <a:t>单目 </a:t>
            </a:r>
            <a:r>
              <a:rPr lang="en-US" altLang="zh-CN" dirty="0"/>
              <a:t>RGB </a:t>
            </a:r>
            <a:r>
              <a:rPr lang="zh-CN" altLang="en-US" dirty="0"/>
              <a:t>视频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E182C2-7162-7D2B-F605-D6720F1B0891}"/>
              </a:ext>
            </a:extLst>
          </p:cNvPr>
          <p:cNvSpPr txBox="1"/>
          <p:nvPr/>
        </p:nvSpPr>
        <p:spPr>
          <a:xfrm>
            <a:off x="7765859" y="1086772"/>
            <a:ext cx="183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dirty="0"/>
              <a:t>米制深度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BD0173-83E5-0F25-CB87-C40562092D08}"/>
              </a:ext>
            </a:extLst>
          </p:cNvPr>
          <p:cNvSpPr txBox="1"/>
          <p:nvPr/>
        </p:nvSpPr>
        <p:spPr>
          <a:xfrm>
            <a:off x="1524284" y="3992609"/>
            <a:ext cx="1764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dirty="0"/>
              <a:t>手部重建模块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0CCCDD-6BFA-3899-9120-F60693CF9852}"/>
              </a:ext>
            </a:extLst>
          </p:cNvPr>
          <p:cNvSpPr txBox="1"/>
          <p:nvPr/>
        </p:nvSpPr>
        <p:spPr>
          <a:xfrm>
            <a:off x="5078673" y="3992609"/>
            <a:ext cx="2181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dirty="0"/>
              <a:t>物体</a:t>
            </a:r>
            <a:r>
              <a:rPr lang="en-US" altLang="zh-CN" dirty="0"/>
              <a:t>mesh</a:t>
            </a:r>
            <a:r>
              <a:rPr lang="zh-CN" altLang="en-US" dirty="0"/>
              <a:t>重建模块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537DEA-548E-784B-9910-8AD64AC1EB32}"/>
              </a:ext>
            </a:extLst>
          </p:cNvPr>
          <p:cNvSpPr txBox="1"/>
          <p:nvPr/>
        </p:nvSpPr>
        <p:spPr>
          <a:xfrm>
            <a:off x="8840906" y="3992609"/>
            <a:ext cx="2181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dirty="0"/>
              <a:t>物体位姿重建模块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98B0933-C947-0B23-8D39-3B5D5CCD925E}"/>
              </a:ext>
            </a:extLst>
          </p:cNvPr>
          <p:cNvSpPr txBox="1"/>
          <p:nvPr/>
        </p:nvSpPr>
        <p:spPr>
          <a:xfrm>
            <a:off x="5067869" y="4759398"/>
            <a:ext cx="2181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zh-CN" altLang="en-US" dirty="0"/>
              <a:t>对齐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07C335C-3735-AE28-B43B-251F7CBC0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814" y="877286"/>
            <a:ext cx="1137129" cy="8230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A022676-BF56-49A6-C150-EA0D6BE25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793" y="2700409"/>
            <a:ext cx="1457325" cy="10477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5618791-7003-6B39-06BE-013EFAE50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623" y="2681359"/>
            <a:ext cx="1876425" cy="10668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907C516-F42D-A2E6-9573-633040DAD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300" y="2705467"/>
            <a:ext cx="1876425" cy="1066800"/>
          </a:xfrm>
          <a:prstGeom prst="rect">
            <a:avLst/>
          </a:prstGeom>
        </p:spPr>
      </p:pic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07D5AC9B-5F73-055A-8807-486A1BB5AF3A}"/>
              </a:ext>
            </a:extLst>
          </p:cNvPr>
          <p:cNvCxnSpPr>
            <a:stCxn id="7" idx="2"/>
            <a:endCxn id="19" idx="0"/>
          </p:cNvCxnSpPr>
          <p:nvPr/>
        </p:nvCxnSpPr>
        <p:spPr>
          <a:xfrm rot="5400000">
            <a:off x="3646896" y="177664"/>
            <a:ext cx="1244305" cy="38011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E41A9FB-4C03-6873-5DF1-3C8FF4E12C73}"/>
              </a:ext>
            </a:extLst>
          </p:cNvPr>
          <p:cNvCxnSpPr>
            <a:stCxn id="7" idx="2"/>
            <a:endCxn id="20" idx="0"/>
          </p:cNvCxnSpPr>
          <p:nvPr/>
        </p:nvCxnSpPr>
        <p:spPr>
          <a:xfrm>
            <a:off x="6169640" y="1456104"/>
            <a:ext cx="4196" cy="1225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BEA43064-891E-8A8D-ECEC-D16BA2418736}"/>
              </a:ext>
            </a:extLst>
          </p:cNvPr>
          <p:cNvCxnSpPr>
            <a:stCxn id="7" idx="2"/>
            <a:endCxn id="21" idx="0"/>
          </p:cNvCxnSpPr>
          <p:nvPr/>
        </p:nvCxnSpPr>
        <p:spPr>
          <a:xfrm rot="16200000" flipH="1">
            <a:off x="7367895" y="257848"/>
            <a:ext cx="1249363" cy="36458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DC530DA-6E6E-02C8-96D5-13EBC7BEE31A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7088304" y="1271438"/>
            <a:ext cx="6775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833760FD-1860-B4C2-D492-98F3F198D1C2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6978264" y="647484"/>
            <a:ext cx="897640" cy="2514881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D10EDD24-C06B-A61E-9F44-38F1AACA0936}"/>
              </a:ext>
            </a:extLst>
          </p:cNvPr>
          <p:cNvCxnSpPr>
            <a:stCxn id="9" idx="2"/>
          </p:cNvCxnSpPr>
          <p:nvPr/>
        </p:nvCxnSpPr>
        <p:spPr>
          <a:xfrm rot="16200000" flipH="1">
            <a:off x="8801198" y="1339429"/>
            <a:ext cx="897641" cy="1130989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左大括号 47">
            <a:extLst>
              <a:ext uri="{FF2B5EF4-FFF2-40B4-BE49-F238E27FC236}">
                <a16:creationId xmlns:a16="http://schemas.microsoft.com/office/drawing/2014/main" id="{055B19A5-BC9C-FB21-12EB-C42ACE1DB1E8}"/>
              </a:ext>
            </a:extLst>
          </p:cNvPr>
          <p:cNvSpPr/>
          <p:nvPr/>
        </p:nvSpPr>
        <p:spPr>
          <a:xfrm rot="16200000">
            <a:off x="5980677" y="770288"/>
            <a:ext cx="356320" cy="758076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CE54453-39F0-E87C-4E9D-1CD4EB8C8558}"/>
              </a:ext>
            </a:extLst>
          </p:cNvPr>
          <p:cNvSpPr txBox="1"/>
          <p:nvPr/>
        </p:nvSpPr>
        <p:spPr>
          <a:xfrm>
            <a:off x="1003110" y="5279752"/>
            <a:ext cx="101198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zh-CN" altLang="en-US" b="1" dirty="0"/>
              <a:t>思路</a:t>
            </a:r>
            <a:r>
              <a:rPr lang="zh-CN" altLang="en-US" dirty="0"/>
              <a:t>：已有工作可以单独重建手部动作、物体</a:t>
            </a:r>
            <a:r>
              <a:rPr lang="en-US" altLang="zh-CN" dirty="0"/>
              <a:t>mesh</a:t>
            </a:r>
            <a:r>
              <a:rPr lang="zh-CN" altLang="en-US" dirty="0"/>
              <a:t>、物体动作，可以直接把它们拼起来。</a:t>
            </a:r>
            <a:endParaRPr lang="en-US" altLang="zh-CN" dirty="0"/>
          </a:p>
          <a:p>
            <a:pPr algn="ctr" rtl="0">
              <a:buNone/>
            </a:pPr>
            <a:r>
              <a:rPr lang="zh-CN" altLang="en-US" b="1" dirty="0"/>
              <a:t>问题</a:t>
            </a:r>
            <a:r>
              <a:rPr lang="en-US" altLang="zh-CN" b="1" dirty="0"/>
              <a:t>1</a:t>
            </a:r>
            <a:r>
              <a:rPr lang="zh-CN" altLang="en-US" dirty="0"/>
              <a:t>：需要后处理进行手物对齐。</a:t>
            </a:r>
            <a:endParaRPr lang="en-US" altLang="zh-CN" dirty="0"/>
          </a:p>
          <a:p>
            <a:pPr algn="ctr" rtl="0">
              <a:buNone/>
            </a:pPr>
            <a:r>
              <a:rPr lang="zh-CN" altLang="en-US" b="1" dirty="0"/>
              <a:t>问题</a:t>
            </a:r>
            <a:r>
              <a:rPr lang="en-US" altLang="zh-CN" b="1" dirty="0"/>
              <a:t>2</a:t>
            </a:r>
            <a:r>
              <a:rPr lang="zh-CN" altLang="en-US" dirty="0"/>
              <a:t>：模块化重建过程中，手和物体没有办法从对方的动作中获得信息，从而改善自己的重建</a:t>
            </a:r>
          </a:p>
        </p:txBody>
      </p:sp>
    </p:spTree>
    <p:extLst>
      <p:ext uri="{BB962C8B-B14F-4D97-AF65-F5344CB8AC3E}">
        <p14:creationId xmlns:p14="http://schemas.microsoft.com/office/powerpoint/2010/main" val="3419536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E56F2-A351-10AC-86F0-495AF0E0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</a:t>
            </a:r>
            <a:r>
              <a:rPr lang="en-US" altLang="zh-CN" dirty="0"/>
              <a:t>-</a:t>
            </a:r>
            <a:r>
              <a:rPr lang="zh-CN" altLang="en-US" dirty="0"/>
              <a:t>物联合建模方法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AE0146-A491-F985-04AE-B0C2A7CCF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现有方法</a:t>
            </a:r>
            <a:r>
              <a:rPr lang="zh-CN" altLang="en-US" dirty="0"/>
              <a:t>路线多样，但均</a:t>
            </a:r>
            <a:r>
              <a:rPr lang="zh-CN" altLang="zh-CN" dirty="0"/>
              <a:t>难以同时兼顾</a:t>
            </a:r>
            <a:r>
              <a:rPr lang="zh-CN" altLang="zh-CN" b="1" dirty="0"/>
              <a:t>任务完整性、推理效率和观测信息利用</a:t>
            </a:r>
            <a:r>
              <a:rPr lang="zh-CN" altLang="zh-CN" dirty="0"/>
              <a:t>，限制了其实际应用：</a:t>
            </a:r>
          </a:p>
          <a:p>
            <a:pPr lvl="0"/>
            <a:r>
              <a:rPr lang="zh-CN" altLang="zh-CN" dirty="0"/>
              <a:t>任务完整性：部分方法假设物体位姿正确，仅对手部进行去噪。（TOCH、GeneOH） </a:t>
            </a:r>
          </a:p>
          <a:p>
            <a:pPr lvl="0"/>
            <a:r>
              <a:rPr lang="zh-CN" altLang="zh-CN" dirty="0"/>
              <a:t>推理效率：部分方法需要计算开销高昂的测试时优化</a:t>
            </a:r>
            <a:r>
              <a:rPr lang="zh-CN" altLang="en-US" dirty="0"/>
              <a:t>。</a:t>
            </a:r>
            <a:r>
              <a:rPr lang="zh-CN" altLang="zh-CN" dirty="0"/>
              <a:t> </a:t>
            </a:r>
          </a:p>
          <a:p>
            <a:pPr lvl="0"/>
            <a:r>
              <a:rPr lang="zh-CN" altLang="zh-CN" dirty="0"/>
              <a:t>观测信息利用：部分方法未充分利用 RGB 信息或物体几何信息。（WHOLE、HOPformer、EgoGrasp）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76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4A6E8-8786-CCF0-9DB9-013677ED1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模型架构（原创）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6874D8-A2C7-17FF-BDE4-5E62FEDB9399}"/>
              </a:ext>
            </a:extLst>
          </p:cNvPr>
          <p:cNvSpPr txBox="1"/>
          <p:nvPr/>
        </p:nvSpPr>
        <p:spPr>
          <a:xfrm>
            <a:off x="893924" y="4844955"/>
            <a:ext cx="2367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Noise (Initialized) </a:t>
            </a:r>
            <a:r>
              <a:rPr lang="zh-CN" altLang="en-US" dirty="0"/>
              <a:t>手部</a:t>
            </a:r>
            <a:r>
              <a:rPr lang="en-US" altLang="zh-CN" dirty="0"/>
              <a:t> MANO </a:t>
            </a:r>
            <a:r>
              <a:rPr lang="zh-CN" altLang="en-US" dirty="0"/>
              <a:t>参数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C39C2E-EC6C-335A-B765-45C744F3C1BA}"/>
              </a:ext>
            </a:extLst>
          </p:cNvPr>
          <p:cNvSpPr txBox="1"/>
          <p:nvPr/>
        </p:nvSpPr>
        <p:spPr>
          <a:xfrm>
            <a:off x="10201701" y="4113326"/>
            <a:ext cx="1699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物体</a:t>
            </a:r>
            <a:r>
              <a:rPr lang="en-US" altLang="zh-CN" dirty="0"/>
              <a:t>mesh</a:t>
            </a:r>
          </a:p>
          <a:p>
            <a:r>
              <a:rPr lang="en-US" altLang="zh-CN" dirty="0"/>
              <a:t>RGB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F6B372-E2F4-FBB6-F7F0-98E89C9172AD}"/>
              </a:ext>
            </a:extLst>
          </p:cNvPr>
          <p:cNvSpPr txBox="1"/>
          <p:nvPr/>
        </p:nvSpPr>
        <p:spPr>
          <a:xfrm>
            <a:off x="3416486" y="4844954"/>
            <a:ext cx="2367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Noise (Initialized)</a:t>
            </a:r>
            <a:r>
              <a:rPr lang="zh-CN" altLang="en-US" dirty="0"/>
              <a:t>手腕</a:t>
            </a:r>
            <a:r>
              <a:rPr lang="en-US" altLang="zh-CN" dirty="0"/>
              <a:t>6D</a:t>
            </a:r>
            <a:r>
              <a:rPr lang="zh-CN" altLang="en-US" dirty="0"/>
              <a:t>位置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A4181B-C0EE-3380-D93B-9C4C0534CDB6}"/>
              </a:ext>
            </a:extLst>
          </p:cNvPr>
          <p:cNvSpPr/>
          <p:nvPr/>
        </p:nvSpPr>
        <p:spPr>
          <a:xfrm>
            <a:off x="838200" y="4230807"/>
            <a:ext cx="7637060" cy="4113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DIT Block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A82FDE-C73B-BFE9-4C85-1DA20DA624E4}"/>
              </a:ext>
            </a:extLst>
          </p:cNvPr>
          <p:cNvSpPr/>
          <p:nvPr/>
        </p:nvSpPr>
        <p:spPr>
          <a:xfrm>
            <a:off x="838200" y="3059542"/>
            <a:ext cx="7637060" cy="4113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DIT Block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5D58DE-F4AB-9801-881A-FFD211CD692E}"/>
              </a:ext>
            </a:extLst>
          </p:cNvPr>
          <p:cNvSpPr txBox="1"/>
          <p:nvPr/>
        </p:nvSpPr>
        <p:spPr>
          <a:xfrm>
            <a:off x="838200" y="2232529"/>
            <a:ext cx="2367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Clean </a:t>
            </a:r>
            <a:r>
              <a:rPr lang="zh-CN" altLang="en-US" dirty="0"/>
              <a:t>手部</a:t>
            </a:r>
            <a:r>
              <a:rPr lang="en-US" altLang="zh-CN" dirty="0"/>
              <a:t> MANO </a:t>
            </a:r>
            <a:r>
              <a:rPr lang="zh-CN" altLang="en-US" dirty="0"/>
              <a:t>参数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8A53A2A-9B31-4502-3E7D-AC9F6C7F7728}"/>
              </a:ext>
            </a:extLst>
          </p:cNvPr>
          <p:cNvSpPr txBox="1"/>
          <p:nvPr/>
        </p:nvSpPr>
        <p:spPr>
          <a:xfrm>
            <a:off x="6010705" y="2232527"/>
            <a:ext cx="2367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Clean (Initialized)</a:t>
            </a:r>
            <a:r>
              <a:rPr lang="zh-CN" altLang="en-US" dirty="0"/>
              <a:t>物体</a:t>
            </a:r>
            <a:r>
              <a:rPr lang="en-US" altLang="zh-CN" dirty="0"/>
              <a:t>6D</a:t>
            </a:r>
            <a:r>
              <a:rPr lang="zh-CN" altLang="en-US" dirty="0"/>
              <a:t>位置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3BD86B-46FF-C296-A947-420AF8A6A6BE}"/>
              </a:ext>
            </a:extLst>
          </p:cNvPr>
          <p:cNvSpPr txBox="1"/>
          <p:nvPr/>
        </p:nvSpPr>
        <p:spPr>
          <a:xfrm>
            <a:off x="3360762" y="2232528"/>
            <a:ext cx="2367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Clean (Initialized)</a:t>
            </a:r>
            <a:r>
              <a:rPr lang="zh-CN" altLang="en-US" dirty="0"/>
              <a:t>手腕</a:t>
            </a:r>
            <a:r>
              <a:rPr lang="en-US" altLang="zh-CN" dirty="0"/>
              <a:t>6D</a:t>
            </a:r>
            <a:r>
              <a:rPr lang="zh-CN" altLang="en-US" dirty="0"/>
              <a:t>位置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0F6711-D646-F9C4-DD09-6DEA87B40D2C}"/>
              </a:ext>
            </a:extLst>
          </p:cNvPr>
          <p:cNvSpPr/>
          <p:nvPr/>
        </p:nvSpPr>
        <p:spPr>
          <a:xfrm>
            <a:off x="838200" y="3638752"/>
            <a:ext cx="7637060" cy="411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……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07781A-E34F-D25A-5B9B-26880A17B347}"/>
              </a:ext>
            </a:extLst>
          </p:cNvPr>
          <p:cNvSpPr txBox="1"/>
          <p:nvPr/>
        </p:nvSpPr>
        <p:spPr>
          <a:xfrm>
            <a:off x="8662924" y="549989"/>
            <a:ext cx="29729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我们的方法解决了上述问题：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无需手物对齐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速度快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手物有办法相互借鉴信息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任务定义完整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所有信息得到利用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961D135-EA44-D8BE-2B73-DF96CC14E44C}"/>
              </a:ext>
            </a:extLst>
          </p:cNvPr>
          <p:cNvSpPr txBox="1"/>
          <p:nvPr/>
        </p:nvSpPr>
        <p:spPr>
          <a:xfrm>
            <a:off x="6157414" y="4844954"/>
            <a:ext cx="2367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Noise (Initialized)</a:t>
            </a:r>
            <a:r>
              <a:rPr lang="zh-CN" altLang="en-US" dirty="0"/>
              <a:t>物体</a:t>
            </a:r>
            <a:r>
              <a:rPr lang="en-US" altLang="zh-CN" dirty="0"/>
              <a:t>6D</a:t>
            </a:r>
            <a:r>
              <a:rPr lang="zh-CN" altLang="en-US" dirty="0"/>
              <a:t>位置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F30775D-5A3A-67F7-6F56-257BC9AAF1A7}"/>
              </a:ext>
            </a:extLst>
          </p:cNvPr>
          <p:cNvCxnSpPr>
            <a:stCxn id="7" idx="1"/>
            <a:endCxn id="10" idx="3"/>
          </p:cNvCxnSpPr>
          <p:nvPr/>
        </p:nvCxnSpPr>
        <p:spPr>
          <a:xfrm flipH="1">
            <a:off x="8475260" y="4436492"/>
            <a:ext cx="17264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E101CC3F-3A14-C05C-3456-6F1192DD8B5F}"/>
              </a:ext>
            </a:extLst>
          </p:cNvPr>
          <p:cNvSpPr txBox="1"/>
          <p:nvPr/>
        </p:nvSpPr>
        <p:spPr>
          <a:xfrm>
            <a:off x="8475260" y="4050123"/>
            <a:ext cx="169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Cross Attention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8A62F0D-3C96-2E92-5CC4-E70D0F18354B}"/>
              </a:ext>
            </a:extLst>
          </p:cNvPr>
          <p:cNvSpPr txBox="1"/>
          <p:nvPr/>
        </p:nvSpPr>
        <p:spPr>
          <a:xfrm>
            <a:off x="8687940" y="5212803"/>
            <a:ext cx="2972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我们统一了手物动作的修正与重建：因为输入既可以是纯高斯噪声，也可以是来自其它模块的重建结果。</a:t>
            </a:r>
          </a:p>
        </p:txBody>
      </p:sp>
    </p:spTree>
    <p:extLst>
      <p:ext uri="{BB962C8B-B14F-4D97-AF65-F5344CB8AC3E}">
        <p14:creationId xmlns:p14="http://schemas.microsoft.com/office/powerpoint/2010/main" val="138584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88D13-4495-97F2-989B-16AFEE61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DDD251-D2FD-2153-ECF0-60B04842F77D}"/>
              </a:ext>
            </a:extLst>
          </p:cNvPr>
          <p:cNvSpPr/>
          <p:nvPr/>
        </p:nvSpPr>
        <p:spPr>
          <a:xfrm>
            <a:off x="838200" y="4425753"/>
            <a:ext cx="7637060" cy="4113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Self Attention (with </a:t>
            </a:r>
            <a:r>
              <a:rPr lang="en-US" altLang="zh-CN" sz="2000" dirty="0" err="1">
                <a:solidFill>
                  <a:schemeClr val="tx1"/>
                </a:solidFill>
              </a:rPr>
              <a:t>RoPE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2CA342-C571-08E9-856B-BF712C37CF35}"/>
              </a:ext>
            </a:extLst>
          </p:cNvPr>
          <p:cNvSpPr/>
          <p:nvPr/>
        </p:nvSpPr>
        <p:spPr>
          <a:xfrm>
            <a:off x="838200" y="5504137"/>
            <a:ext cx="7637060" cy="5929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输入</a:t>
            </a:r>
            <a:r>
              <a:rPr lang="en-US" altLang="zh-CN" sz="2000" dirty="0">
                <a:solidFill>
                  <a:schemeClr val="tx1"/>
                </a:solidFill>
              </a:rPr>
              <a:t>tokens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9D639D-0CED-3062-CED6-3DF4A7AFBFE1}"/>
              </a:ext>
            </a:extLst>
          </p:cNvPr>
          <p:cNvSpPr txBox="1"/>
          <p:nvPr/>
        </p:nvSpPr>
        <p:spPr>
          <a:xfrm>
            <a:off x="1016757" y="5625447"/>
            <a:ext cx="201986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Frame 0 (5 tokens)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55138E-935F-1BE1-8A0A-5DEAD228FD17}"/>
              </a:ext>
            </a:extLst>
          </p:cNvPr>
          <p:cNvSpPr txBox="1"/>
          <p:nvPr/>
        </p:nvSpPr>
        <p:spPr>
          <a:xfrm>
            <a:off x="6293891" y="5615948"/>
            <a:ext cx="201986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Frame N (5 tokens)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B9509CA-669F-DB54-6E2A-118D43C038AE}"/>
              </a:ext>
            </a:extLst>
          </p:cNvPr>
          <p:cNvSpPr/>
          <p:nvPr/>
        </p:nvSpPr>
        <p:spPr>
          <a:xfrm>
            <a:off x="838200" y="3777778"/>
            <a:ext cx="7637060" cy="4113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Cross Attention to RGB frames (with </a:t>
            </a:r>
            <a:r>
              <a:rPr lang="en-US" altLang="zh-CN" sz="2000" dirty="0" err="1">
                <a:solidFill>
                  <a:schemeClr val="tx1"/>
                </a:solidFill>
              </a:rPr>
              <a:t>RoPE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A06545-92F8-B13E-0545-9525E521C9DA}"/>
              </a:ext>
            </a:extLst>
          </p:cNvPr>
          <p:cNvSpPr/>
          <p:nvPr/>
        </p:nvSpPr>
        <p:spPr>
          <a:xfrm>
            <a:off x="838200" y="3099576"/>
            <a:ext cx="7637060" cy="4113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Cross Attention to mesh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0FE32F-F249-C659-CE05-565ABE84418B}"/>
              </a:ext>
            </a:extLst>
          </p:cNvPr>
          <p:cNvSpPr/>
          <p:nvPr/>
        </p:nvSpPr>
        <p:spPr>
          <a:xfrm>
            <a:off x="838200" y="2421374"/>
            <a:ext cx="7637060" cy="4113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Cross Attention to Reference frame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8641F9-14E9-B9E5-272E-E73151349E02}"/>
              </a:ext>
            </a:extLst>
          </p:cNvPr>
          <p:cNvSpPr/>
          <p:nvPr/>
        </p:nvSpPr>
        <p:spPr>
          <a:xfrm>
            <a:off x="838200" y="5022994"/>
            <a:ext cx="7637060" cy="36933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(Flow Time fused with </a:t>
            </a:r>
            <a:r>
              <a:rPr lang="en-US" altLang="zh-CN" sz="2000" dirty="0" err="1">
                <a:solidFill>
                  <a:schemeClr val="tx1"/>
                </a:solidFill>
              </a:rPr>
              <a:t>AdaLN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F30246A-FB8A-ED60-F2EA-3B9D4F8E03B7}"/>
              </a:ext>
            </a:extLst>
          </p:cNvPr>
          <p:cNvSpPr/>
          <p:nvPr/>
        </p:nvSpPr>
        <p:spPr>
          <a:xfrm>
            <a:off x="634621" y="2169994"/>
            <a:ext cx="8052179" cy="408750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DA1DEB0-A661-F302-1FA1-2E92438EC6FC}"/>
              </a:ext>
            </a:extLst>
          </p:cNvPr>
          <p:cNvSpPr txBox="1"/>
          <p:nvPr/>
        </p:nvSpPr>
        <p:spPr>
          <a:xfrm>
            <a:off x="566382" y="1736374"/>
            <a:ext cx="2354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个</a:t>
            </a:r>
            <a:r>
              <a:rPr lang="en-US" altLang="zh-CN" sz="2000" dirty="0" err="1"/>
              <a:t>DiT</a:t>
            </a:r>
            <a:r>
              <a:rPr lang="en-US" altLang="zh-CN" sz="2000" dirty="0"/>
              <a:t> Block</a:t>
            </a:r>
            <a:endParaRPr lang="zh-CN" altLang="en-US" sz="2000" dirty="0"/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8A569C26-F20A-3DE5-179B-6E0D8ABD3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10410"/>
              </p:ext>
            </p:extLst>
          </p:nvPr>
        </p:nvGraphicFramePr>
        <p:xfrm>
          <a:off x="10851487" y="4474354"/>
          <a:ext cx="100462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75">
                  <a:extLst>
                    <a:ext uri="{9D8B030D-6E8A-4147-A177-3AD203B41FA5}">
                      <a16:colId xmlns:a16="http://schemas.microsoft.com/office/drawing/2014/main" val="218107743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52652690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677317945"/>
                    </a:ext>
                  </a:extLst>
                </a:gridCol>
              </a:tblGrid>
              <a:tr h="23541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836721"/>
                  </a:ext>
                </a:extLst>
              </a:tr>
              <a:tr h="23541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552335"/>
                  </a:ext>
                </a:extLst>
              </a:tr>
              <a:tr h="26614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644833"/>
                  </a:ext>
                </a:extLst>
              </a:tr>
            </a:tbl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276CF51A-6664-3982-3AA9-6E56A906B27A}"/>
              </a:ext>
            </a:extLst>
          </p:cNvPr>
          <p:cNvSpPr/>
          <p:nvPr/>
        </p:nvSpPr>
        <p:spPr>
          <a:xfrm>
            <a:off x="9123525" y="5344144"/>
            <a:ext cx="1214651" cy="9129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Learnable Query Per (Frame)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3E1CC425-5DD1-5AF9-1340-46EBD9568D80}"/>
              </a:ext>
            </a:extLst>
          </p:cNvPr>
          <p:cNvCxnSpPr>
            <a:stCxn id="29" idx="0"/>
            <a:endCxn id="5" idx="3"/>
          </p:cNvCxnSpPr>
          <p:nvPr/>
        </p:nvCxnSpPr>
        <p:spPr>
          <a:xfrm rot="16200000" flipV="1">
            <a:off x="8746704" y="4359996"/>
            <a:ext cx="712705" cy="12555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A6E31F0-44F4-4D6E-D90D-F36E3F25C3F3}"/>
              </a:ext>
            </a:extLst>
          </p:cNvPr>
          <p:cNvCxnSpPr>
            <a:endCxn id="28" idx="1"/>
          </p:cNvCxnSpPr>
          <p:nvPr/>
        </p:nvCxnSpPr>
        <p:spPr>
          <a:xfrm>
            <a:off x="9730852" y="5022994"/>
            <a:ext cx="11206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3F0944B-E061-894A-DBC1-E8557740E19C}"/>
              </a:ext>
            </a:extLst>
          </p:cNvPr>
          <p:cNvSpPr txBox="1"/>
          <p:nvPr/>
        </p:nvSpPr>
        <p:spPr>
          <a:xfrm>
            <a:off x="10031106" y="4653662"/>
            <a:ext cx="81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C1AC751-7C9F-9A1E-3FA2-A38A7712A2C2}"/>
              </a:ext>
            </a:extLst>
          </p:cNvPr>
          <p:cNvSpPr txBox="1"/>
          <p:nvPr/>
        </p:nvSpPr>
        <p:spPr>
          <a:xfrm>
            <a:off x="9055290" y="1028741"/>
            <a:ext cx="27500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机制</a:t>
            </a:r>
            <a:r>
              <a:rPr lang="en-US" altLang="zh-CN" dirty="0"/>
              <a:t>1</a:t>
            </a:r>
            <a:r>
              <a:rPr lang="zh-CN" altLang="en-US" dirty="0"/>
              <a:t>（非原创</a:t>
            </a:r>
            <a:r>
              <a:rPr lang="en-US" altLang="zh-CN" dirty="0">
                <a:sym typeface="Wingdings" panose="05000000000000000000" pitchFamily="2" charset="2"/>
              </a:rPr>
              <a:t></a:t>
            </a:r>
            <a:r>
              <a:rPr lang="zh-CN" altLang="en-US" dirty="0"/>
              <a:t>）：基于</a:t>
            </a:r>
            <a:r>
              <a:rPr lang="en-US" altLang="zh-CN" dirty="0"/>
              <a:t>attention</a:t>
            </a:r>
            <a:r>
              <a:rPr lang="zh-CN" altLang="en-US" dirty="0"/>
              <a:t>的</a:t>
            </a:r>
            <a:r>
              <a:rPr lang="en-US" altLang="zh-CN" dirty="0"/>
              <a:t>RGB condensation</a:t>
            </a:r>
          </a:p>
          <a:p>
            <a:r>
              <a:rPr lang="zh-CN" altLang="en-US" dirty="0"/>
              <a:t>优点：显然由于网络大小限制，每帧只能使用一个</a:t>
            </a:r>
            <a:r>
              <a:rPr lang="en-US" altLang="zh-CN" dirty="0"/>
              <a:t>RGB token</a:t>
            </a:r>
            <a:r>
              <a:rPr lang="zh-CN" altLang="en-US" dirty="0"/>
              <a:t>；这一机制使这一个</a:t>
            </a:r>
            <a:r>
              <a:rPr lang="en-US" altLang="zh-CN" dirty="0"/>
              <a:t>RGB token</a:t>
            </a:r>
            <a:r>
              <a:rPr lang="zh-CN" altLang="en-US" dirty="0"/>
              <a:t>能够融入手物位置信息和手物细节信息，比单纯</a:t>
            </a:r>
            <a:r>
              <a:rPr lang="en-US" altLang="zh-CN" dirty="0"/>
              <a:t>pooling DINO feature</a:t>
            </a:r>
            <a:r>
              <a:rPr lang="zh-CN" altLang="en-US" dirty="0"/>
              <a:t>更有效。</a:t>
            </a:r>
          </a:p>
        </p:txBody>
      </p:sp>
    </p:spTree>
    <p:extLst>
      <p:ext uri="{BB962C8B-B14F-4D97-AF65-F5344CB8AC3E}">
        <p14:creationId xmlns:p14="http://schemas.microsoft.com/office/powerpoint/2010/main" val="429767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104FC-85BD-9647-B944-315AFD17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基于模态的扩散噪声调度策略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9CF7AB-314D-F84D-A9BC-75F07581D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机制</a:t>
            </a:r>
            <a:r>
              <a:rPr lang="en-US" altLang="zh-CN" dirty="0"/>
              <a:t>2</a:t>
            </a:r>
            <a:r>
              <a:rPr lang="zh-CN" altLang="en-US" dirty="0"/>
              <a:t>：基于模态的扩散噪声调度策略</a:t>
            </a:r>
            <a:endParaRPr lang="en-US" altLang="zh-CN" dirty="0"/>
          </a:p>
          <a:p>
            <a:r>
              <a:rPr lang="en-US" altLang="zh-CN" dirty="0"/>
              <a:t>Motivation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最原始的</a:t>
            </a:r>
            <a:r>
              <a:rPr lang="en-US" altLang="zh-CN" dirty="0"/>
              <a:t>motivation</a:t>
            </a:r>
            <a:r>
              <a:rPr lang="zh-CN" altLang="en-US" dirty="0"/>
              <a:t>：不同模态的重建难易程度可能不同（手姿态可能显著比物体姿态更容易），就修正而言，普遍我们拿到的也是更好的手和更差的物体；应当训练模型适应更好的手和更差的物体同时出现。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8448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20103-F67C-0657-0027-AD001CED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基于模态的扩散噪声调度策略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3A108D-E35C-77B0-60F1-356103412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（在</a:t>
            </a:r>
            <a:r>
              <a:rPr lang="en-US" altLang="zh-CN" dirty="0"/>
              <a:t>mentor</a:t>
            </a:r>
            <a:r>
              <a:rPr lang="zh-CN" altLang="en-US" dirty="0"/>
              <a:t>们的引导下）形成了一个数学上更优雅的版本</a:t>
            </a:r>
            <a:r>
              <a:rPr lang="en-US" altLang="zh-CN" dirty="0">
                <a:sym typeface="Wingdings" panose="05000000000000000000" pitchFamily="2" charset="2"/>
              </a:rPr>
              <a:t>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905AE67-B8C7-A65E-81BC-36FCBD576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895" y="2552203"/>
            <a:ext cx="4894483" cy="387243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5F4D36C-8503-62AB-A3FA-EA39D102C00F}"/>
              </a:ext>
            </a:extLst>
          </p:cNvPr>
          <p:cNvSpPr txBox="1"/>
          <p:nvPr/>
        </p:nvSpPr>
        <p:spPr>
          <a:xfrm>
            <a:off x="1235123" y="5247565"/>
            <a:ext cx="1426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Most Noisy point (0,0,0)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2648A3-1959-3DEA-45FA-A9D6620B93C8}"/>
              </a:ext>
            </a:extLst>
          </p:cNvPr>
          <p:cNvSpPr txBox="1"/>
          <p:nvPr/>
        </p:nvSpPr>
        <p:spPr>
          <a:xfrm>
            <a:off x="8238699" y="3072404"/>
            <a:ext cx="27181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基于模态的扩散噪声调度，本质上是从左下角点走到右上角点的不同路径。</a:t>
            </a:r>
            <a:endParaRPr lang="en-US" altLang="zh-CN" dirty="0"/>
          </a:p>
          <a:p>
            <a:r>
              <a:rPr lang="zh-CN" altLang="en-US" dirty="0"/>
              <a:t>我们可以训练和推理都沿着一个固定路径，最大程度保证训推一致，减轻模型学习难度。</a:t>
            </a:r>
            <a:endParaRPr lang="en-US" altLang="zh-CN" dirty="0"/>
          </a:p>
          <a:p>
            <a:r>
              <a:rPr lang="zh-CN" altLang="en-US" b="1" dirty="0"/>
              <a:t>重建</a:t>
            </a:r>
            <a:r>
              <a:rPr lang="zh-CN" altLang="en-US" dirty="0"/>
              <a:t>：从</a:t>
            </a:r>
            <a:r>
              <a:rPr lang="en-US" altLang="zh-CN" dirty="0"/>
              <a:t>(0,0,0)</a:t>
            </a:r>
            <a:r>
              <a:rPr lang="zh-CN" altLang="en-US" dirty="0"/>
              <a:t>开始走</a:t>
            </a:r>
            <a:endParaRPr lang="en-US" altLang="zh-CN" dirty="0"/>
          </a:p>
          <a:p>
            <a:r>
              <a:rPr lang="zh-CN" altLang="en-US" b="1" dirty="0"/>
              <a:t>修正</a:t>
            </a:r>
            <a:r>
              <a:rPr lang="zh-CN" altLang="en-US" dirty="0"/>
              <a:t>：从曲线的中间一点开始走。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5B0A8A-C1C4-1CA2-25D2-5476DFB68E7D}"/>
              </a:ext>
            </a:extLst>
          </p:cNvPr>
          <p:cNvSpPr txBox="1"/>
          <p:nvPr/>
        </p:nvSpPr>
        <p:spPr>
          <a:xfrm>
            <a:off x="6548652" y="3629167"/>
            <a:ext cx="1426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Most Clean point (1,1,1)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244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E4F88-1BDC-A147-AE81-12D1B151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9532"/>
            <a:ext cx="10515600" cy="1325563"/>
          </a:xfrm>
        </p:spPr>
        <p:txBody>
          <a:bodyPr/>
          <a:lstStyle/>
          <a:p>
            <a:r>
              <a:rPr lang="zh-CN" altLang="en-US" dirty="0"/>
              <a:t>基于模态的扩散噪声调度策略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12FD-2550-684D-36E8-2DAF2BA45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搜索思路：</a:t>
            </a:r>
            <a:endParaRPr lang="en-US" altLang="zh-CN" dirty="0"/>
          </a:p>
          <a:p>
            <a:r>
              <a:rPr lang="zh-CN" altLang="en-US" dirty="0"/>
              <a:t>在整个三维空间上搜索显然是不可行的，我们需要一定程度的近似。</a:t>
            </a:r>
            <a:endParaRPr lang="en-US" altLang="zh-CN" dirty="0"/>
          </a:p>
          <a:p>
            <a:r>
              <a:rPr lang="en-US" altLang="zh-CN" dirty="0"/>
              <a:t>Step 1</a:t>
            </a:r>
            <a:r>
              <a:rPr lang="zh-CN" altLang="en-US" dirty="0"/>
              <a:t>：确定偏序关系</a:t>
            </a:r>
            <a:endParaRPr lang="en-US" altLang="zh-CN" dirty="0"/>
          </a:p>
          <a:p>
            <a:r>
              <a:rPr lang="en-US" altLang="zh-CN" dirty="0"/>
              <a:t>Step 2</a:t>
            </a:r>
            <a:r>
              <a:rPr lang="zh-CN" altLang="en-US" dirty="0"/>
              <a:t>：确定具体的曲线形状（其实也探索不了多少形状，就是探索一下不同的弯曲程度罢了</a:t>
            </a:r>
            <a:r>
              <a:rPr lang="en-US" altLang="zh-CN" dirty="0">
                <a:sym typeface="Wingdings" panose="05000000000000000000" pitchFamily="2" charset="2"/>
              </a:rPr>
              <a:t>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（思路来源于</a:t>
            </a:r>
            <a:r>
              <a:rPr lang="en-US" altLang="zh-CN" dirty="0">
                <a:hlinkClick r:id="rId2"/>
              </a:rPr>
              <a:t>latent forcing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F2CCC5-FA6F-41D4-1A69-38279921A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590" y="4277484"/>
            <a:ext cx="2393121" cy="244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9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3B081-E9B5-1DDB-E4CD-D0ACC944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基于模态的扩散噪声调度策略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C2AA3B-14E3-2D49-1FAA-35F74BD7F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20685"/>
          </a:xfrm>
        </p:spPr>
        <p:txBody>
          <a:bodyPr>
            <a:normAutofit/>
          </a:bodyPr>
          <a:lstStyle/>
          <a:p>
            <a:r>
              <a:rPr lang="zh-CN" altLang="en-US" dirty="0"/>
              <a:t>最终效果的影响因素过多（使用哪条路径，输入用哪些</a:t>
            </a:r>
            <a:r>
              <a:rPr lang="en-US" altLang="zh-CN" dirty="0"/>
              <a:t>off-the-shelf module</a:t>
            </a:r>
            <a:r>
              <a:rPr lang="zh-CN" altLang="en-US" dirty="0"/>
              <a:t>，输入究竟应该是路径上面的哪个点），如何进行分析？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7861A0-1127-E721-FC5A-ADB1BC526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946" y="2848972"/>
            <a:ext cx="5942199" cy="36439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66D9CF7-8E80-A872-5723-01F43785C299}"/>
              </a:ext>
            </a:extLst>
          </p:cNvPr>
          <p:cNvSpPr txBox="1"/>
          <p:nvPr/>
        </p:nvSpPr>
        <p:spPr>
          <a:xfrm>
            <a:off x="1112292" y="3521122"/>
            <a:ext cx="40943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应当在分析中保留“数学抽象”</a:t>
            </a:r>
            <a:endParaRPr lang="en-US" altLang="zh-CN" dirty="0"/>
          </a:p>
          <a:p>
            <a:r>
              <a:rPr lang="zh-CN" altLang="en-US" dirty="0"/>
              <a:t>右图说明：我们逐个指标进行考虑，对于每一种指标，我们比较</a:t>
            </a:r>
            <a:r>
              <a:rPr lang="en-US" altLang="zh-CN" dirty="0"/>
              <a:t>6</a:t>
            </a:r>
            <a:r>
              <a:rPr lang="zh-CN" altLang="en-US" dirty="0"/>
              <a:t>种不同的输入组合有没有对重建效果产生影响。</a:t>
            </a:r>
            <a:endParaRPr lang="en-US" altLang="zh-CN" dirty="0"/>
          </a:p>
          <a:p>
            <a:r>
              <a:rPr lang="zh-CN" altLang="en-US" dirty="0"/>
              <a:t>对于每一种输入，我们“保留数学抽象方式”，在不同的路径上面采样不同的点，来刻画这个三维空间。</a:t>
            </a:r>
          </a:p>
        </p:txBody>
      </p:sp>
    </p:spTree>
    <p:extLst>
      <p:ext uri="{BB962C8B-B14F-4D97-AF65-F5344CB8AC3E}">
        <p14:creationId xmlns:p14="http://schemas.microsoft.com/office/powerpoint/2010/main" val="4738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212B7-5B60-CC01-5BAE-27BA3D05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基于模态的扩散噪声调度策略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5ACDD6-E9E2-38B0-1005-15A99CF99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52164" cy="4351338"/>
          </a:xfrm>
        </p:spPr>
        <p:txBody>
          <a:bodyPr/>
          <a:lstStyle/>
          <a:p>
            <a:r>
              <a:rPr lang="zh-CN" altLang="en-US" dirty="0"/>
              <a:t>经历了复杂的分析，得出结论：下图中的这条蓝线最好</a:t>
            </a:r>
            <a:r>
              <a:rPr lang="en-US" altLang="zh-CN" dirty="0">
                <a:sym typeface="Wingdings" panose="05000000000000000000" pitchFamily="2" charset="2"/>
              </a:rPr>
              <a:t>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ADC34D-59DB-6B32-9934-EF8A31449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058" y="1718734"/>
            <a:ext cx="1947077" cy="11786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77E7BBB-564A-D376-2AE3-D63124F7A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738" y="1678636"/>
            <a:ext cx="1947076" cy="12023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6890AA-226F-E625-8061-6D18C371F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416" y="1678636"/>
            <a:ext cx="1694180" cy="11350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3F5D445-4218-02BE-34F7-173779AC4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059" y="2925457"/>
            <a:ext cx="1947076" cy="11951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A32D400-3ECA-0BA1-D23B-47608179A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9135" y="2897411"/>
            <a:ext cx="1910281" cy="120672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54D6CB0-4F0F-DDAA-6A17-10ED3E47A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1451" y="4104138"/>
            <a:ext cx="1947076" cy="124787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56D6093-8077-403F-C9B7-72D9B87DEE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8527" y="4138737"/>
            <a:ext cx="1945061" cy="117867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8029F29-BC35-9584-8B77-EDC35B580F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3588" y="4120594"/>
            <a:ext cx="1910281" cy="113057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3861580-7E8A-21E6-63BC-91E52E17B3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0233" y="5350778"/>
            <a:ext cx="2090725" cy="132556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6273B91-0D08-D76F-A766-EA14755B7D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3043" y="5354243"/>
            <a:ext cx="1935684" cy="124787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7424F9C-DB64-65CD-9294-8E407BD718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1226" y="3649687"/>
            <a:ext cx="2393121" cy="244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60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4EC75-F0CE-E052-8724-AAC4AEE5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动作预测的序列建模方式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31A1D-D526-C5FE-5FCC-2EFBF876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机制</a:t>
            </a:r>
            <a:r>
              <a:rPr lang="en-US" altLang="zh-CN" dirty="0"/>
              <a:t>3</a:t>
            </a:r>
            <a:r>
              <a:rPr lang="zh-CN" altLang="en-US" dirty="0"/>
              <a:t>：动作预测的序列建模方式</a:t>
            </a:r>
            <a:endParaRPr lang="en-US" altLang="zh-CN" dirty="0"/>
          </a:p>
          <a:p>
            <a:r>
              <a:rPr lang="zh-CN" altLang="en-US" dirty="0"/>
              <a:t>以物体旋转为例，</a:t>
            </a:r>
            <a:r>
              <a:rPr lang="zh-CN" altLang="en-US" b="1" dirty="0"/>
              <a:t>两种建模方式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每一帧都建模</a:t>
            </a:r>
            <a:r>
              <a:rPr lang="en-US" altLang="zh-CN" dirty="0"/>
              <a:t>camera</a:t>
            </a:r>
            <a:r>
              <a:rPr lang="zh-CN" altLang="en-US" dirty="0"/>
              <a:t> </a:t>
            </a:r>
            <a:r>
              <a:rPr lang="en-US" altLang="zh-CN" dirty="0"/>
              <a:t>frame</a:t>
            </a:r>
            <a:r>
              <a:rPr lang="zh-CN" altLang="en-US" dirty="0"/>
              <a:t>下的绝对旋转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每一帧都建模相对于第一帧的旋转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每一帧都建模相对于前一帧的旋转</a:t>
            </a:r>
            <a:endParaRPr lang="en-US" altLang="zh-CN" dirty="0"/>
          </a:p>
          <a:p>
            <a:r>
              <a:rPr lang="en-US" altLang="zh-CN" b="1" dirty="0"/>
              <a:t>Motivation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处理物体位姿的歧义性有难度；对于对称物体，多个位姿都是合法的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不仅要求视觉上合法，还要求在手物交互运动学上合法：比如说用手转一个完全对称的杯子，可能杯子的外观没有变化，但是杯子实际上是在转动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8134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45B4-F32A-BB90-3E4E-4367AC19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7F2EE-07FF-7FBB-89EA-7F0BA369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动作预测的序列建模方式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0F601-760F-F34A-C9D1-16CC7F505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实验之前：第二种有更大的优势，因为</a:t>
            </a:r>
            <a:endParaRPr lang="en-US" altLang="zh-CN" dirty="0"/>
          </a:p>
          <a:p>
            <a:pPr lvl="1"/>
            <a:r>
              <a:rPr lang="zh-CN" altLang="en-US" dirty="0"/>
              <a:t>第一种：既无法优雅处理旋转歧义，也无法建模动力学。</a:t>
            </a:r>
            <a:endParaRPr lang="en-US" altLang="zh-CN" dirty="0"/>
          </a:p>
          <a:p>
            <a:pPr lvl="1"/>
            <a:r>
              <a:rPr lang="zh-CN" altLang="en-US" dirty="0"/>
              <a:t>第三种：容易造成误差累积，很难准确建模小角度偏离（就没有专门再做实验）</a:t>
            </a:r>
            <a:endParaRPr lang="en-US" altLang="zh-CN" dirty="0"/>
          </a:p>
          <a:p>
            <a:r>
              <a:rPr lang="zh-CN" altLang="en-US" dirty="0"/>
              <a:t>（在</a:t>
            </a:r>
            <a:r>
              <a:rPr lang="en-US" altLang="zh-CN" dirty="0"/>
              <a:t>mentor</a:t>
            </a:r>
            <a:r>
              <a:rPr lang="zh-CN" altLang="en-US" dirty="0"/>
              <a:t>们的引导下）在</a:t>
            </a:r>
            <a:r>
              <a:rPr lang="en-US" altLang="zh-CN" dirty="0"/>
              <a:t>prediction space</a:t>
            </a:r>
            <a:r>
              <a:rPr lang="zh-CN" altLang="en-US" dirty="0"/>
              <a:t>和</a:t>
            </a:r>
            <a:r>
              <a:rPr lang="en-US" altLang="zh-CN" dirty="0"/>
              <a:t>loss space</a:t>
            </a:r>
            <a:r>
              <a:rPr lang="zh-CN" altLang="en-US" dirty="0"/>
              <a:t>做第一种和第二种</a:t>
            </a:r>
            <a:r>
              <a:rPr lang="en-US" altLang="zh-CN" dirty="0"/>
              <a:t>2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r>
              <a:rPr lang="zh-CN" altLang="en-US" dirty="0"/>
              <a:t>交叉实验。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6617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6EDB2-8184-FB3A-91E9-BA49A945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动作预测的序列建模方式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94EFE-5CE1-D392-F5C5-54626A1AA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经过</a:t>
            </a:r>
            <a:r>
              <a:rPr lang="en-US" altLang="zh-CN" dirty="0"/>
              <a:t>2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r>
              <a:rPr lang="zh-CN" altLang="en-US" dirty="0"/>
              <a:t>交叉实验，发现</a:t>
            </a:r>
            <a:r>
              <a:rPr lang="en-US" altLang="zh-CN" dirty="0"/>
              <a:t>prediction</a:t>
            </a:r>
            <a:r>
              <a:rPr lang="zh-CN" altLang="en-US" dirty="0"/>
              <a:t>和</a:t>
            </a:r>
            <a:r>
              <a:rPr lang="en-US" altLang="zh-CN" dirty="0"/>
              <a:t>loss</a:t>
            </a:r>
            <a:r>
              <a:rPr lang="zh-CN" altLang="en-US" dirty="0"/>
              <a:t>都使用第三种比较好。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D673EB-8825-9F1D-5ACC-FA4E988DE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06" y="3160105"/>
            <a:ext cx="11849187" cy="211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08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BAB48-EFE7-F635-4EA9-C648FB08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物体外观的编码方式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38746D-7681-CEEE-6F82-775A0BF26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机制</a:t>
            </a:r>
            <a:r>
              <a:rPr lang="en-US" altLang="zh-CN" dirty="0"/>
              <a:t>4</a:t>
            </a:r>
            <a:r>
              <a:rPr lang="zh-CN" altLang="en-US" dirty="0"/>
              <a:t>（尚未实现）：物体外观的编码方式</a:t>
            </a:r>
            <a:endParaRPr lang="en-US" altLang="zh-CN" dirty="0"/>
          </a:p>
          <a:p>
            <a:r>
              <a:rPr lang="en-US" altLang="zh-CN" dirty="0"/>
              <a:t>Motivation</a:t>
            </a:r>
            <a:r>
              <a:rPr lang="zh-CN" altLang="en-US" dirty="0"/>
              <a:t>：基于物体几何的编码方式很难与</a:t>
            </a:r>
            <a:r>
              <a:rPr lang="en-US" altLang="zh-CN" dirty="0"/>
              <a:t>RGB</a:t>
            </a:r>
            <a:r>
              <a:rPr lang="zh-CN" altLang="en-US" dirty="0"/>
              <a:t>视频中物体的</a:t>
            </a:r>
            <a:r>
              <a:rPr lang="en-US" altLang="zh-CN" dirty="0"/>
              <a:t>2D</a:t>
            </a:r>
            <a:r>
              <a:rPr lang="zh-CN" altLang="en-US" dirty="0"/>
              <a:t>外观相联系；需要让网络看到物体“长成什么样子”，并建立</a:t>
            </a:r>
            <a:r>
              <a:rPr lang="en-US" altLang="zh-CN" dirty="0"/>
              <a:t>RGB</a:t>
            </a:r>
            <a:r>
              <a:rPr lang="zh-CN" altLang="en-US" dirty="0"/>
              <a:t>视频（</a:t>
            </a:r>
            <a:r>
              <a:rPr lang="en-US" altLang="zh-CN" dirty="0"/>
              <a:t>2D</a:t>
            </a:r>
            <a:r>
              <a:rPr lang="zh-CN" altLang="en-US" dirty="0"/>
              <a:t>）与物体</a:t>
            </a:r>
            <a:r>
              <a:rPr lang="en-US" altLang="zh-CN" dirty="0"/>
              <a:t>geometry</a:t>
            </a:r>
            <a:r>
              <a:rPr lang="zh-CN" altLang="en-US" dirty="0"/>
              <a:t>（</a:t>
            </a:r>
            <a:r>
              <a:rPr lang="en-US" altLang="zh-CN" dirty="0"/>
              <a:t>3D</a:t>
            </a:r>
            <a:r>
              <a:rPr lang="zh-CN" altLang="en-US" dirty="0"/>
              <a:t>）的</a:t>
            </a:r>
            <a:r>
              <a:rPr lang="en-US" altLang="zh-CN" dirty="0"/>
              <a:t>correspondence</a:t>
            </a:r>
          </a:p>
          <a:p>
            <a:r>
              <a:rPr lang="zh-CN" altLang="en-US" dirty="0"/>
              <a:t>基本做法：从几个视角渲染物体，建立</a:t>
            </a:r>
            <a:r>
              <a:rPr lang="en-US" altLang="zh-CN" dirty="0"/>
              <a:t>RGB</a:t>
            </a:r>
            <a:r>
              <a:rPr lang="zh-CN" altLang="en-US" dirty="0"/>
              <a:t>视频（</a:t>
            </a:r>
            <a:r>
              <a:rPr lang="en-US" altLang="zh-CN" dirty="0"/>
              <a:t>2D</a:t>
            </a:r>
            <a:r>
              <a:rPr lang="zh-CN" altLang="en-US" dirty="0"/>
              <a:t>）与渲染视角（</a:t>
            </a:r>
            <a:r>
              <a:rPr lang="en-US" altLang="zh-CN" dirty="0"/>
              <a:t>2D</a:t>
            </a:r>
            <a:r>
              <a:rPr lang="zh-CN" altLang="en-US" dirty="0"/>
              <a:t>）的</a:t>
            </a:r>
            <a:r>
              <a:rPr lang="en-US" altLang="zh-CN" dirty="0"/>
              <a:t>correspondence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1291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66371-0D95-86E2-D2A7-FA1550049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物体外观的编码方式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1C3F51-5F61-ECDA-5199-9B68CCCAC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69557"/>
          </a:xfrm>
        </p:spPr>
        <p:txBody>
          <a:bodyPr/>
          <a:lstStyle/>
          <a:p>
            <a:r>
              <a:rPr lang="zh-CN" altLang="en-US" dirty="0"/>
              <a:t>（来自</a:t>
            </a:r>
            <a:r>
              <a:rPr lang="en-US" altLang="zh-CN" dirty="0"/>
              <a:t>mentor</a:t>
            </a:r>
            <a:r>
              <a:rPr lang="zh-CN" altLang="en-US" dirty="0"/>
              <a:t>们的）网络架构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BB3BD7-A9FC-7F14-63F0-0E330B831515}"/>
              </a:ext>
            </a:extLst>
          </p:cNvPr>
          <p:cNvSpPr txBox="1"/>
          <p:nvPr/>
        </p:nvSpPr>
        <p:spPr>
          <a:xfrm>
            <a:off x="9073485" y="5124732"/>
            <a:ext cx="241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物体位姿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9AFBF5-4B75-E64D-FDA4-B1F02C02BA05}"/>
              </a:ext>
            </a:extLst>
          </p:cNvPr>
          <p:cNvSpPr txBox="1"/>
          <p:nvPr/>
        </p:nvSpPr>
        <p:spPr>
          <a:xfrm>
            <a:off x="9073485" y="3298292"/>
            <a:ext cx="2417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想要一种含有</a:t>
            </a:r>
            <a:r>
              <a:rPr lang="en-US" altLang="zh-CN" dirty="0"/>
              <a:t>2D-3D correspondence</a:t>
            </a:r>
            <a:r>
              <a:rPr lang="zh-CN" altLang="en-US" dirty="0"/>
              <a:t>信息的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516655D-11CF-0EA4-E2B9-98F847297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442933"/>
              </p:ext>
            </p:extLst>
          </p:nvPr>
        </p:nvGraphicFramePr>
        <p:xfrm>
          <a:off x="1158541" y="3211317"/>
          <a:ext cx="100462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75">
                  <a:extLst>
                    <a:ext uri="{9D8B030D-6E8A-4147-A177-3AD203B41FA5}">
                      <a16:colId xmlns:a16="http://schemas.microsoft.com/office/drawing/2014/main" val="218107743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52652690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677317945"/>
                    </a:ext>
                  </a:extLst>
                </a:gridCol>
              </a:tblGrid>
              <a:tr h="2354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836721"/>
                  </a:ext>
                </a:extLst>
              </a:tr>
              <a:tr h="23541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552335"/>
                  </a:ext>
                </a:extLst>
              </a:tr>
              <a:tr h="26614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64483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E3B70FD-1DF1-D813-A4F7-B595AF9B3778}"/>
              </a:ext>
            </a:extLst>
          </p:cNvPr>
          <p:cNvSpPr txBox="1"/>
          <p:nvPr/>
        </p:nvSpPr>
        <p:spPr>
          <a:xfrm>
            <a:off x="3604519" y="2509507"/>
            <a:ext cx="2803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含有</a:t>
            </a:r>
            <a:r>
              <a:rPr lang="en-US" altLang="zh-CN" dirty="0"/>
              <a:t>correspondence</a:t>
            </a:r>
            <a:r>
              <a:rPr lang="zh-CN" altLang="en-US" dirty="0"/>
              <a:t>信息的</a:t>
            </a:r>
            <a:r>
              <a:rPr lang="en-US" altLang="zh-CN" dirty="0"/>
              <a:t>RGB feature</a:t>
            </a:r>
            <a:endParaRPr lang="zh-CN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340C48F-4BF3-2552-87E5-26E52D624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64306"/>
              </p:ext>
            </p:extLst>
          </p:nvPr>
        </p:nvGraphicFramePr>
        <p:xfrm>
          <a:off x="2736372" y="4760759"/>
          <a:ext cx="100462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75">
                  <a:extLst>
                    <a:ext uri="{9D8B030D-6E8A-4147-A177-3AD203B41FA5}">
                      <a16:colId xmlns:a16="http://schemas.microsoft.com/office/drawing/2014/main" val="218107743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52652690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677317945"/>
                    </a:ext>
                  </a:extLst>
                </a:gridCol>
              </a:tblGrid>
              <a:tr h="23541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836721"/>
                  </a:ext>
                </a:extLst>
              </a:tr>
              <a:tr h="23541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552335"/>
                  </a:ext>
                </a:extLst>
              </a:tr>
              <a:tr h="26614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644833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6AA5D03-FE4C-1054-ADF2-E7833C2B7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395645"/>
              </p:ext>
            </p:extLst>
          </p:nvPr>
        </p:nvGraphicFramePr>
        <p:xfrm>
          <a:off x="4299039" y="3211317"/>
          <a:ext cx="100462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75">
                  <a:extLst>
                    <a:ext uri="{9D8B030D-6E8A-4147-A177-3AD203B41FA5}">
                      <a16:colId xmlns:a16="http://schemas.microsoft.com/office/drawing/2014/main" val="218107743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52652690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677317945"/>
                    </a:ext>
                  </a:extLst>
                </a:gridCol>
              </a:tblGrid>
              <a:tr h="2354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836721"/>
                  </a:ext>
                </a:extLst>
              </a:tr>
              <a:tr h="23541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552335"/>
                  </a:ext>
                </a:extLst>
              </a:tr>
              <a:tr h="26614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644833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F02AA771-80AD-1E13-DC03-09D7C7439E49}"/>
              </a:ext>
            </a:extLst>
          </p:cNvPr>
          <p:cNvSpPr txBox="1"/>
          <p:nvPr/>
        </p:nvSpPr>
        <p:spPr>
          <a:xfrm>
            <a:off x="2252063" y="5947602"/>
            <a:ext cx="2278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渲染视角</a:t>
            </a:r>
            <a:r>
              <a:rPr lang="en-US" altLang="zh-CN" dirty="0"/>
              <a:t>RGB DINO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B976A79-79A7-624E-91DC-500EF6846F93}"/>
              </a:ext>
            </a:extLst>
          </p:cNvPr>
          <p:cNvCxnSpPr>
            <a:endCxn id="14" idx="1"/>
          </p:cNvCxnSpPr>
          <p:nvPr/>
        </p:nvCxnSpPr>
        <p:spPr>
          <a:xfrm flipV="1">
            <a:off x="2163166" y="3759957"/>
            <a:ext cx="21358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3C538EE-C577-6C08-A0A8-E26DD7FFA477}"/>
              </a:ext>
            </a:extLst>
          </p:cNvPr>
          <p:cNvCxnSpPr/>
          <p:nvPr/>
        </p:nvCxnSpPr>
        <p:spPr>
          <a:xfrm flipV="1">
            <a:off x="2906971" y="3759957"/>
            <a:ext cx="0" cy="1000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4AC0941-3200-7440-B59A-BDCB268BE76D}"/>
              </a:ext>
            </a:extLst>
          </p:cNvPr>
          <p:cNvSpPr txBox="1"/>
          <p:nvPr/>
        </p:nvSpPr>
        <p:spPr>
          <a:xfrm>
            <a:off x="3077571" y="4003470"/>
            <a:ext cx="122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Cross Attention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7BE598C-A735-39B3-55CF-34529910C10C}"/>
              </a:ext>
            </a:extLst>
          </p:cNvPr>
          <p:cNvSpPr txBox="1"/>
          <p:nvPr/>
        </p:nvSpPr>
        <p:spPr>
          <a:xfrm>
            <a:off x="763132" y="2759156"/>
            <a:ext cx="197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当前帧</a:t>
            </a:r>
            <a:r>
              <a:rPr lang="en-US" altLang="zh-CN" dirty="0"/>
              <a:t>RGB DINO</a:t>
            </a:r>
            <a:endParaRPr lang="zh-CN" altLang="en-US" dirty="0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AFDB8115-14B7-452B-C0E1-A551F7622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919823"/>
              </p:ext>
            </p:extLst>
          </p:nvPr>
        </p:nvGraphicFramePr>
        <p:xfrm>
          <a:off x="6239296" y="4760759"/>
          <a:ext cx="100462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75">
                  <a:extLst>
                    <a:ext uri="{9D8B030D-6E8A-4147-A177-3AD203B41FA5}">
                      <a16:colId xmlns:a16="http://schemas.microsoft.com/office/drawing/2014/main" val="218107743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526526905"/>
                    </a:ext>
                  </a:extLst>
                </a:gridCol>
                <a:gridCol w="334875">
                  <a:extLst>
                    <a:ext uri="{9D8B030D-6E8A-4147-A177-3AD203B41FA5}">
                      <a16:colId xmlns:a16="http://schemas.microsoft.com/office/drawing/2014/main" val="677317945"/>
                    </a:ext>
                  </a:extLst>
                </a:gridCol>
              </a:tblGrid>
              <a:tr h="2354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836721"/>
                  </a:ext>
                </a:extLst>
              </a:tr>
              <a:tr h="23541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552335"/>
                  </a:ext>
                </a:extLst>
              </a:tr>
              <a:tr h="26614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644833"/>
                  </a:ext>
                </a:extLst>
              </a:tr>
            </a:tbl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D9BB7292-1686-E464-442E-9601F2A91EDA}"/>
              </a:ext>
            </a:extLst>
          </p:cNvPr>
          <p:cNvSpPr txBox="1"/>
          <p:nvPr/>
        </p:nvSpPr>
        <p:spPr>
          <a:xfrm>
            <a:off x="5490185" y="5993768"/>
            <a:ext cx="3142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辅助预测输出：</a:t>
            </a:r>
            <a:r>
              <a:rPr lang="en-US" altLang="zh-CN" dirty="0"/>
              <a:t>patch center</a:t>
            </a:r>
            <a:r>
              <a:rPr lang="zh-CN" altLang="en-US" dirty="0"/>
              <a:t>的</a:t>
            </a:r>
            <a:r>
              <a:rPr lang="en-US" altLang="zh-CN" dirty="0"/>
              <a:t>camera frame</a:t>
            </a:r>
            <a:r>
              <a:rPr lang="zh-CN" altLang="en-US" dirty="0"/>
              <a:t>位置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38D8CE9-9057-E4E4-2BD4-F2EF985396E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303664" y="3759957"/>
            <a:ext cx="37698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90B0221B-F130-E1D3-B3C9-E7E2A446E794}"/>
              </a:ext>
            </a:extLst>
          </p:cNvPr>
          <p:cNvCxnSpPr>
            <a:endCxn id="25" idx="0"/>
          </p:cNvCxnSpPr>
          <p:nvPr/>
        </p:nvCxnSpPr>
        <p:spPr>
          <a:xfrm>
            <a:off x="5303664" y="3759957"/>
            <a:ext cx="1437944" cy="10008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7E50866-08C8-409E-E7EB-2ACC1A32B38D}"/>
              </a:ext>
            </a:extLst>
          </p:cNvPr>
          <p:cNvCxnSpPr/>
          <p:nvPr/>
        </p:nvCxnSpPr>
        <p:spPr>
          <a:xfrm flipV="1">
            <a:off x="9642143" y="4221622"/>
            <a:ext cx="0" cy="875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1F014CC-7B1E-3394-322E-4FC7E0F1A1E8}"/>
              </a:ext>
            </a:extLst>
          </p:cNvPr>
          <p:cNvSpPr txBox="1"/>
          <p:nvPr/>
        </p:nvSpPr>
        <p:spPr>
          <a:xfrm>
            <a:off x="9842312" y="4350011"/>
            <a:ext cx="122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Cross Attention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3745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E6862-240F-C3A8-B311-7AAB3588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57D10F-BA1B-97F4-063A-089E565AB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目前结果示例：</a:t>
            </a:r>
            <a:r>
              <a:rPr lang="zh-CN" altLang="zh-CN" dirty="0">
                <a:hlinkClick r:id="rId2"/>
              </a:rPr>
              <a:t>20200918-subject-06_20200918_113621_932122060861 · LIGHT Experiments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36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939FA-5C23-4145-095B-7E35A3A2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2AC73B-AA3B-9A4B-35B4-7F439D37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应用</a:t>
            </a:r>
            <a:r>
              <a:rPr lang="en-US" altLang="zh-CN" dirty="0"/>
              <a:t>Feed-Forward Model</a:t>
            </a:r>
            <a:r>
              <a:rPr lang="zh-CN" altLang="en-US" dirty="0"/>
              <a:t>建模</a:t>
            </a:r>
            <a:r>
              <a:rPr lang="en-US" altLang="zh-CN" dirty="0"/>
              <a:t>hand object interaction</a:t>
            </a:r>
            <a:r>
              <a:rPr lang="zh-CN" altLang="en-US" dirty="0"/>
              <a:t>的意义：</a:t>
            </a:r>
            <a:endParaRPr lang="en-US" altLang="zh-CN" dirty="0"/>
          </a:p>
          <a:p>
            <a:pPr lvl="1"/>
            <a:r>
              <a:rPr lang="zh-CN" altLang="en-US" dirty="0"/>
              <a:t>速度快，无需复杂后处理，鼓励互相利用信息。</a:t>
            </a:r>
            <a:endParaRPr lang="en-US" altLang="zh-CN" dirty="0"/>
          </a:p>
          <a:p>
            <a:r>
              <a:rPr lang="zh-CN" altLang="en-US" dirty="0"/>
              <a:t>如何做好</a:t>
            </a:r>
            <a:r>
              <a:rPr lang="en-US" altLang="zh-CN" dirty="0"/>
              <a:t>Feed-forward model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基于模态的扩散噪声调度策略</a:t>
            </a:r>
            <a:endParaRPr lang="en-US" altLang="zh-CN" dirty="0"/>
          </a:p>
          <a:p>
            <a:pPr lvl="1"/>
            <a:r>
              <a:rPr lang="zh-CN" altLang="en-US" dirty="0"/>
              <a:t>动作预测的序列建模方式</a:t>
            </a:r>
            <a:endParaRPr lang="en-US" altLang="zh-CN" dirty="0"/>
          </a:p>
          <a:p>
            <a:pPr lvl="1"/>
            <a:r>
              <a:rPr lang="zh-CN" altLang="en-US" dirty="0"/>
              <a:t>物体外观的编码方式</a:t>
            </a:r>
            <a:endParaRPr lang="en-US" altLang="zh-CN" dirty="0"/>
          </a:p>
          <a:p>
            <a:r>
              <a:rPr lang="en-US" altLang="zh-CN" dirty="0"/>
              <a:t>GPT 6 Astra</a:t>
            </a:r>
            <a:r>
              <a:rPr lang="zh-CN" altLang="en-US" dirty="0"/>
              <a:t>在</a:t>
            </a:r>
            <a:r>
              <a:rPr lang="en-US" altLang="zh-CN" dirty="0"/>
              <a:t>real2sim</a:t>
            </a:r>
            <a:r>
              <a:rPr lang="zh-CN" altLang="en-US" dirty="0"/>
              <a:t>上面有着非常高超的建模能力，对</a:t>
            </a:r>
            <a:r>
              <a:rPr lang="en-US" altLang="zh-CN" dirty="0"/>
              <a:t>3d vision</a:t>
            </a:r>
            <a:r>
              <a:rPr lang="zh-CN" altLang="en-US" dirty="0"/>
              <a:t>研究者提出了挑战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8333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2187</Words>
  <Application>Microsoft Office PowerPoint</Application>
  <PresentationFormat>宽屏</PresentationFormat>
  <Paragraphs>137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Arial</vt:lpstr>
      <vt:lpstr>Wingdings</vt:lpstr>
      <vt:lpstr>Office 主题​​</vt:lpstr>
      <vt:lpstr>暑研工作汇报</vt:lpstr>
      <vt:lpstr>研究领域</vt:lpstr>
      <vt:lpstr>我的暑研工作</vt:lpstr>
      <vt:lpstr>模块化方法</vt:lpstr>
      <vt:lpstr>手-物联合建模方法</vt:lpstr>
      <vt:lpstr>模型架构（原创）</vt:lpstr>
      <vt:lpstr>模型架构</vt:lpstr>
      <vt:lpstr>基于模态的扩散噪声调度策略</vt:lpstr>
      <vt:lpstr>基于模态的扩散噪声调度策略</vt:lpstr>
      <vt:lpstr>基于模态的扩散噪声调度策略</vt:lpstr>
      <vt:lpstr>基于模态的扩散噪声调度策略</vt:lpstr>
      <vt:lpstr>基于模态的扩散噪声调度策略</vt:lpstr>
      <vt:lpstr>动作预测的序列建模方式</vt:lpstr>
      <vt:lpstr>动作预测的序列建模方式</vt:lpstr>
      <vt:lpstr>动作预测的序列建模方式</vt:lpstr>
      <vt:lpstr>物体外观的编码方式</vt:lpstr>
      <vt:lpstr>物体外观的编码方式</vt:lpstr>
      <vt:lpstr>PowerPoint 演示文稿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Ying Mao</dc:creator>
  <cp:lastModifiedBy>Ying Mao</cp:lastModifiedBy>
  <cp:revision>200</cp:revision>
  <dcterms:created xsi:type="dcterms:W3CDTF">2026-09-15T16:25:14Z</dcterms:created>
  <dcterms:modified xsi:type="dcterms:W3CDTF">2026-10-09T09:12:49Z</dcterms:modified>
</cp:coreProperties>
</file>