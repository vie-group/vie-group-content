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06" r:id="rId2"/>
    <p:sldId id="318" r:id="rId3"/>
    <p:sldId id="307" r:id="rId4"/>
    <p:sldId id="320" r:id="rId5"/>
    <p:sldId id="308" r:id="rId6"/>
    <p:sldId id="319" r:id="rId7"/>
    <p:sldId id="321" r:id="rId8"/>
    <p:sldId id="322" r:id="rId9"/>
  </p:sldIdLst>
  <p:sldSz cx="12192000" cy="6858000"/>
  <p:notesSz cx="12192000" cy="6858000"/>
  <p:custDataLst>
    <p:tags r:id="rId12"/>
  </p:custData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61AD"/>
    <a:srgbClr val="006F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howGuides="1">
      <p:cViewPr varScale="1">
        <p:scale>
          <a:sx n="120" d="100"/>
          <a:sy n="120" d="100"/>
        </p:scale>
        <p:origin x="800" y="184"/>
      </p:cViewPr>
      <p:guideLst>
        <p:guide orient="horz" pos="2880"/>
        <p:guide pos="21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6905979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0F9B84EA-7D68-4D60-9CB1-D50884785D1C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94283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2290"/>
              </a:lnSpc>
            </a:pPr>
            <a:r>
              <a:rPr dirty="0"/>
              <a:t>Page</a:t>
            </a:r>
            <a:r>
              <a:rPr spc="-20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585858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2290"/>
              </a:lnSpc>
            </a:pPr>
            <a:r>
              <a:rPr dirty="0"/>
              <a:t>Page</a:t>
            </a:r>
            <a:r>
              <a:rPr spc="-20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2290"/>
              </a:lnSpc>
            </a:pPr>
            <a:r>
              <a:rPr dirty="0"/>
              <a:t>Page</a:t>
            </a:r>
            <a:r>
              <a:rPr spc="-20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2290"/>
              </a:lnSpc>
            </a:pPr>
            <a:r>
              <a:rPr dirty="0"/>
              <a:t>Page</a:t>
            </a:r>
            <a:r>
              <a:rPr spc="-20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2290"/>
              </a:lnSpc>
            </a:pPr>
            <a:r>
              <a:rPr dirty="0"/>
              <a:t>Page</a:t>
            </a:r>
            <a:r>
              <a:rPr spc="-20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663304"/>
            <a:ext cx="9144000" cy="184665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748773" y="6470219"/>
            <a:ext cx="1625600" cy="276999"/>
          </a:xfrm>
          <a:prstGeom prst="rect">
            <a:avLst/>
          </a:prstGeom>
        </p:spPr>
        <p:txBody>
          <a:bodyPr/>
          <a:lstStyle/>
          <a:p>
            <a:fld id="{E05F1550-273F-4C78-8324-1DB8623B473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05732" y="6470219"/>
            <a:ext cx="2082800" cy="27699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85AAB-E8F4-4A98-A711-E7C44768F2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87117" y="2997200"/>
            <a:ext cx="8017764" cy="743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65123" y="1597152"/>
            <a:ext cx="10461752" cy="1435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585858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470" y="6499665"/>
            <a:ext cx="904875" cy="307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2290"/>
              </a:lnSpc>
            </a:pPr>
            <a:r>
              <a:rPr dirty="0"/>
              <a:t>Page</a:t>
            </a:r>
            <a:r>
              <a:rPr spc="-20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452245"/>
            <a:ext cx="6564630" cy="5010150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14350"/>
            <a:ext cx="722630" cy="1123950"/>
          </a:xfrm>
          <a:custGeom>
            <a:avLst/>
            <a:gdLst/>
            <a:ahLst/>
            <a:cxnLst/>
            <a:rect l="l" t="t" r="r" b="b"/>
            <a:pathLst>
              <a:path w="722630" h="1123950">
                <a:moveTo>
                  <a:pt x="261493" y="672592"/>
                </a:moveTo>
                <a:lnTo>
                  <a:pt x="0" y="824268"/>
                </a:lnTo>
                <a:lnTo>
                  <a:pt x="0" y="1123911"/>
                </a:lnTo>
                <a:lnTo>
                  <a:pt x="69240" y="1108341"/>
                </a:lnTo>
                <a:lnTo>
                  <a:pt x="116586" y="1090980"/>
                </a:lnTo>
                <a:lnTo>
                  <a:pt x="163779" y="1066901"/>
                </a:lnTo>
                <a:lnTo>
                  <a:pt x="206527" y="1035481"/>
                </a:lnTo>
                <a:lnTo>
                  <a:pt x="240538" y="996111"/>
                </a:lnTo>
                <a:lnTo>
                  <a:pt x="261493" y="948182"/>
                </a:lnTo>
                <a:lnTo>
                  <a:pt x="261493" y="672592"/>
                </a:lnTo>
                <a:close/>
              </a:path>
              <a:path w="722630" h="1123950">
                <a:moveTo>
                  <a:pt x="672490" y="773684"/>
                </a:moveTo>
                <a:lnTo>
                  <a:pt x="669036" y="773684"/>
                </a:lnTo>
                <a:lnTo>
                  <a:pt x="669036" y="1072261"/>
                </a:lnTo>
                <a:lnTo>
                  <a:pt x="672490" y="1072261"/>
                </a:lnTo>
                <a:lnTo>
                  <a:pt x="672490" y="773684"/>
                </a:lnTo>
                <a:close/>
              </a:path>
              <a:path w="722630" h="1123950">
                <a:moveTo>
                  <a:pt x="680808" y="773684"/>
                </a:moveTo>
                <a:lnTo>
                  <a:pt x="677354" y="773684"/>
                </a:lnTo>
                <a:lnTo>
                  <a:pt x="677354" y="1072261"/>
                </a:lnTo>
                <a:lnTo>
                  <a:pt x="680808" y="1072261"/>
                </a:lnTo>
                <a:lnTo>
                  <a:pt x="680808" y="773684"/>
                </a:lnTo>
                <a:close/>
              </a:path>
              <a:path w="722630" h="1123950">
                <a:moveTo>
                  <a:pt x="689114" y="773684"/>
                </a:moveTo>
                <a:lnTo>
                  <a:pt x="685660" y="773684"/>
                </a:lnTo>
                <a:lnTo>
                  <a:pt x="685660" y="1072261"/>
                </a:lnTo>
                <a:lnTo>
                  <a:pt x="689114" y="1072261"/>
                </a:lnTo>
                <a:lnTo>
                  <a:pt x="689114" y="773684"/>
                </a:lnTo>
                <a:close/>
              </a:path>
              <a:path w="722630" h="1123950">
                <a:moveTo>
                  <a:pt x="696468" y="395859"/>
                </a:moveTo>
                <a:lnTo>
                  <a:pt x="0" y="0"/>
                </a:lnTo>
                <a:lnTo>
                  <a:pt x="0" y="395859"/>
                </a:lnTo>
                <a:lnTo>
                  <a:pt x="696468" y="395859"/>
                </a:lnTo>
                <a:close/>
              </a:path>
              <a:path w="722630" h="1123950">
                <a:moveTo>
                  <a:pt x="697433" y="773684"/>
                </a:moveTo>
                <a:lnTo>
                  <a:pt x="693978" y="773684"/>
                </a:lnTo>
                <a:lnTo>
                  <a:pt x="693978" y="1072261"/>
                </a:lnTo>
                <a:lnTo>
                  <a:pt x="697433" y="1072261"/>
                </a:lnTo>
                <a:lnTo>
                  <a:pt x="697433" y="773684"/>
                </a:lnTo>
                <a:close/>
              </a:path>
              <a:path w="722630" h="1123950">
                <a:moveTo>
                  <a:pt x="705751" y="773684"/>
                </a:moveTo>
                <a:lnTo>
                  <a:pt x="702297" y="773684"/>
                </a:lnTo>
                <a:lnTo>
                  <a:pt x="702297" y="1072261"/>
                </a:lnTo>
                <a:lnTo>
                  <a:pt x="705751" y="1072261"/>
                </a:lnTo>
                <a:lnTo>
                  <a:pt x="705751" y="773684"/>
                </a:lnTo>
                <a:close/>
              </a:path>
              <a:path w="722630" h="1123950">
                <a:moveTo>
                  <a:pt x="705840" y="667893"/>
                </a:moveTo>
                <a:lnTo>
                  <a:pt x="703135" y="664083"/>
                </a:lnTo>
                <a:lnTo>
                  <a:pt x="699401" y="662686"/>
                </a:lnTo>
                <a:lnTo>
                  <a:pt x="699401" y="404749"/>
                </a:lnTo>
                <a:lnTo>
                  <a:pt x="694004" y="404749"/>
                </a:lnTo>
                <a:lnTo>
                  <a:pt x="696468" y="403352"/>
                </a:lnTo>
                <a:lnTo>
                  <a:pt x="0" y="403352"/>
                </a:lnTo>
                <a:lnTo>
                  <a:pt x="0" y="799223"/>
                </a:lnTo>
                <a:lnTo>
                  <a:pt x="692010" y="405892"/>
                </a:lnTo>
                <a:lnTo>
                  <a:pt x="692010" y="662686"/>
                </a:lnTo>
                <a:lnTo>
                  <a:pt x="688276" y="664083"/>
                </a:lnTo>
                <a:lnTo>
                  <a:pt x="685660" y="667893"/>
                </a:lnTo>
                <a:lnTo>
                  <a:pt x="685660" y="677926"/>
                </a:lnTo>
                <a:lnTo>
                  <a:pt x="690143" y="682498"/>
                </a:lnTo>
                <a:lnTo>
                  <a:pt x="701268" y="682498"/>
                </a:lnTo>
                <a:lnTo>
                  <a:pt x="705840" y="677926"/>
                </a:lnTo>
                <a:lnTo>
                  <a:pt x="705840" y="667893"/>
                </a:lnTo>
                <a:close/>
              </a:path>
              <a:path w="722630" h="1123950">
                <a:moveTo>
                  <a:pt x="714057" y="773684"/>
                </a:moveTo>
                <a:lnTo>
                  <a:pt x="710603" y="773684"/>
                </a:lnTo>
                <a:lnTo>
                  <a:pt x="710603" y="1072261"/>
                </a:lnTo>
                <a:lnTo>
                  <a:pt x="714057" y="1072261"/>
                </a:lnTo>
                <a:lnTo>
                  <a:pt x="714057" y="773684"/>
                </a:lnTo>
                <a:close/>
              </a:path>
              <a:path w="722630" h="1123950">
                <a:moveTo>
                  <a:pt x="722376" y="773684"/>
                </a:moveTo>
                <a:lnTo>
                  <a:pt x="718921" y="773684"/>
                </a:lnTo>
                <a:lnTo>
                  <a:pt x="718921" y="1072261"/>
                </a:lnTo>
                <a:lnTo>
                  <a:pt x="722376" y="1072261"/>
                </a:lnTo>
                <a:lnTo>
                  <a:pt x="722376" y="773684"/>
                </a:lnTo>
                <a:close/>
              </a:path>
              <a:path w="722630" h="1123950">
                <a:moveTo>
                  <a:pt x="722376" y="760857"/>
                </a:moveTo>
                <a:lnTo>
                  <a:pt x="669036" y="760857"/>
                </a:lnTo>
                <a:lnTo>
                  <a:pt x="669036" y="764667"/>
                </a:lnTo>
                <a:lnTo>
                  <a:pt x="722376" y="764667"/>
                </a:lnTo>
                <a:lnTo>
                  <a:pt x="722376" y="760857"/>
                </a:lnTo>
                <a:close/>
              </a:path>
              <a:path w="722630" h="1123950">
                <a:moveTo>
                  <a:pt x="722376" y="720344"/>
                </a:moveTo>
                <a:lnTo>
                  <a:pt x="720267" y="709777"/>
                </a:lnTo>
                <a:lnTo>
                  <a:pt x="714552" y="701141"/>
                </a:lnTo>
                <a:lnTo>
                  <a:pt x="706094" y="695312"/>
                </a:lnTo>
                <a:lnTo>
                  <a:pt x="695756" y="693166"/>
                </a:lnTo>
                <a:lnTo>
                  <a:pt x="685355" y="695312"/>
                </a:lnTo>
                <a:lnTo>
                  <a:pt x="676859" y="701141"/>
                </a:lnTo>
                <a:lnTo>
                  <a:pt x="671131" y="709777"/>
                </a:lnTo>
                <a:lnTo>
                  <a:pt x="669036" y="720344"/>
                </a:lnTo>
                <a:lnTo>
                  <a:pt x="669036" y="754507"/>
                </a:lnTo>
                <a:lnTo>
                  <a:pt x="722376" y="754507"/>
                </a:lnTo>
                <a:lnTo>
                  <a:pt x="722376" y="720344"/>
                </a:lnTo>
                <a:close/>
              </a:path>
            </a:pathLst>
          </a:custGeom>
          <a:solidFill>
            <a:srgbClr val="5095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9728" y="171068"/>
            <a:ext cx="657415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sz="2800" spc="-35" dirty="0">
                <a:solidFill>
                  <a:srgbClr val="000000"/>
                </a:solidFill>
              </a:rPr>
              <a:t>一</a:t>
            </a:r>
            <a:r>
              <a:rPr sz="2800" spc="-35" dirty="0">
                <a:solidFill>
                  <a:srgbClr val="000000"/>
                </a:solidFill>
              </a:rPr>
              <a:t>、</a:t>
            </a:r>
            <a:r>
              <a:rPr lang="zh-CN" sz="2800" spc="-35" dirty="0">
                <a:solidFill>
                  <a:srgbClr val="000000"/>
                </a:solidFill>
              </a:rPr>
              <a:t>论文概况</a:t>
            </a:r>
          </a:p>
        </p:txBody>
      </p:sp>
      <p:sp>
        <p:nvSpPr>
          <p:cNvPr id="4" name="object 4"/>
          <p:cNvSpPr/>
          <p:nvPr/>
        </p:nvSpPr>
        <p:spPr>
          <a:xfrm flipV="1">
            <a:off x="901700" y="758825"/>
            <a:ext cx="11146155" cy="76200"/>
          </a:xfrm>
          <a:custGeom>
            <a:avLst/>
            <a:gdLst/>
            <a:ahLst/>
            <a:cxnLst/>
            <a:rect l="l" t="t" r="r" b="b"/>
            <a:pathLst>
              <a:path w="10967085">
                <a:moveTo>
                  <a:pt x="0" y="0"/>
                </a:moveTo>
                <a:lnTo>
                  <a:pt x="10966831" y="0"/>
                </a:lnTo>
              </a:path>
            </a:pathLst>
          </a:custGeom>
          <a:ln w="38100">
            <a:solidFill>
              <a:srgbClr val="1C04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5" name="object 45"/>
          <p:cNvGrpSpPr/>
          <p:nvPr/>
        </p:nvGrpSpPr>
        <p:grpSpPr>
          <a:xfrm>
            <a:off x="0" y="6428956"/>
            <a:ext cx="12192000" cy="436370"/>
            <a:chOff x="0" y="6422138"/>
            <a:chExt cx="12192000" cy="436370"/>
          </a:xfrm>
        </p:grpSpPr>
        <p:sp>
          <p:nvSpPr>
            <p:cNvPr id="46" name="object 46"/>
            <p:cNvSpPr/>
            <p:nvPr/>
          </p:nvSpPr>
          <p:spPr>
            <a:xfrm>
              <a:off x="0" y="6426708"/>
              <a:ext cx="12192000" cy="431800"/>
            </a:xfrm>
            <a:custGeom>
              <a:avLst/>
              <a:gdLst/>
              <a:ahLst/>
              <a:cxnLst/>
              <a:rect l="l" t="t" r="r" b="b"/>
              <a:pathLst>
                <a:path w="12192000" h="431800">
                  <a:moveTo>
                    <a:pt x="12192000" y="0"/>
                  </a:moveTo>
                  <a:lnTo>
                    <a:pt x="0" y="0"/>
                  </a:lnTo>
                  <a:lnTo>
                    <a:pt x="0" y="431291"/>
                  </a:lnTo>
                  <a:lnTo>
                    <a:pt x="12192000" y="431291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8EB4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422138"/>
              <a:ext cx="1131570" cy="433590"/>
            </a:xfrm>
            <a:prstGeom prst="rect">
              <a:avLst/>
            </a:prstGeom>
          </p:spPr>
        </p:pic>
      </p:grp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xfrm>
            <a:off x="131470" y="6499665"/>
            <a:ext cx="904875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dirty="0"/>
              <a:t>Page</a:t>
            </a:r>
            <a:r>
              <a:rPr spc="-20" dirty="0"/>
              <a:t> </a:t>
            </a:r>
            <a:r>
              <a:rPr lang="en-US" spc="-20" dirty="0"/>
              <a:t>1</a:t>
            </a:r>
          </a:p>
        </p:txBody>
      </p:sp>
      <p:sp>
        <p:nvSpPr>
          <p:cNvPr id="6" name="矩形 5"/>
          <p:cNvSpPr/>
          <p:nvPr/>
        </p:nvSpPr>
        <p:spPr>
          <a:xfrm>
            <a:off x="377824" y="911860"/>
            <a:ext cx="11814175" cy="5617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05"/>
              </a:spcBef>
              <a:defRPr/>
            </a:pPr>
            <a:r>
              <a:rPr lang="en-US" altLang="zh-CN" sz="2800" b="1" spc="-35" dirty="0">
                <a:solidFill>
                  <a:srgbClr val="000000"/>
                </a:solidFill>
                <a:latin typeface="Arial Regular" panose="020B0704020202020204" charset="0"/>
                <a:ea typeface="+mj-ea"/>
                <a:cs typeface="Arial Regular" panose="020B0704020202020204" charset="0"/>
              </a:rPr>
              <a:t>PhyWorldBench:</a:t>
            </a:r>
            <a:r>
              <a:rPr lang="zh-CN" altLang="en-US" sz="2800" b="1" spc="-35" dirty="0">
                <a:solidFill>
                  <a:srgbClr val="000000"/>
                </a:solidFill>
                <a:latin typeface="Arial Regular" panose="020B0704020202020204" charset="0"/>
                <a:ea typeface="+mj-ea"/>
                <a:cs typeface="Arial Regular" panose="020B0704020202020204" charset="0"/>
              </a:rPr>
              <a:t>面向</a:t>
            </a:r>
            <a:r>
              <a:rPr lang="en-US" altLang="zh-CN" sz="2800" b="1" spc="-35" dirty="0">
                <a:solidFill>
                  <a:srgbClr val="000000"/>
                </a:solidFill>
                <a:latin typeface="Arial Regular" panose="020B0704020202020204" charset="0"/>
                <a:ea typeface="+mj-ea"/>
                <a:cs typeface="Arial Regular" panose="020B0704020202020204" charset="0"/>
              </a:rPr>
              <a:t> T2V</a:t>
            </a:r>
            <a:r>
              <a:rPr lang="zh-CN" altLang="en-US" sz="2800" b="1" spc="-35" dirty="0">
                <a:solidFill>
                  <a:srgbClr val="000000"/>
                </a:solidFill>
                <a:latin typeface="Arial Regular" panose="020B0704020202020204" charset="0"/>
                <a:ea typeface="+mj-ea"/>
                <a:cs typeface="Arial Regular" panose="020B0704020202020204" charset="0"/>
              </a:rPr>
              <a:t>模型生成视频</a:t>
            </a:r>
            <a:r>
              <a:rPr lang="en-US" altLang="zh-CN" sz="2800" b="1" spc="-35" dirty="0">
                <a:solidFill>
                  <a:srgbClr val="000000"/>
                </a:solidFill>
                <a:latin typeface="Arial Regular" panose="020B0704020202020204" charset="0"/>
                <a:ea typeface="+mj-ea"/>
                <a:cs typeface="Arial Regular" panose="020B0704020202020204" charset="0"/>
              </a:rPr>
              <a:t>的</a:t>
            </a:r>
            <a:r>
              <a:rPr lang="zh-CN" altLang="en-US" sz="2800" b="1" spc="-35" dirty="0">
                <a:solidFill>
                  <a:srgbClr val="000000"/>
                </a:solidFill>
                <a:latin typeface="Arial Regular" panose="020B0704020202020204" charset="0"/>
                <a:ea typeface="+mj-ea"/>
                <a:cs typeface="Arial Regular" panose="020B0704020202020204" charset="0"/>
              </a:rPr>
              <a:t>物理真实性评估的 </a:t>
            </a:r>
            <a:r>
              <a:rPr lang="en-US" altLang="zh-CN" sz="2800" b="1" spc="-35" dirty="0">
                <a:solidFill>
                  <a:srgbClr val="000000"/>
                </a:solidFill>
                <a:latin typeface="Arial Regular" panose="020B0704020202020204" charset="0"/>
                <a:ea typeface="+mj-ea"/>
                <a:cs typeface="Arial Regular" panose="020B0704020202020204" charset="0"/>
              </a:rPr>
              <a:t>Benchmark</a:t>
            </a:r>
          </a:p>
        </p:txBody>
      </p:sp>
      <p:sp>
        <p:nvSpPr>
          <p:cNvPr id="7" name="object 19"/>
          <p:cNvSpPr/>
          <p:nvPr/>
        </p:nvSpPr>
        <p:spPr>
          <a:xfrm>
            <a:off x="5404485" y="131445"/>
            <a:ext cx="6616065" cy="597535"/>
          </a:xfrm>
          <a:custGeom>
            <a:avLst/>
            <a:gdLst/>
            <a:ahLst/>
            <a:cxnLst/>
            <a:rect l="l" t="t" r="r" b="b"/>
            <a:pathLst>
              <a:path w="6131559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6042151" y="0"/>
                </a:lnTo>
                <a:lnTo>
                  <a:pt x="6076777" y="6979"/>
                </a:lnTo>
                <a:lnTo>
                  <a:pt x="6105032" y="26019"/>
                </a:lnTo>
                <a:lnTo>
                  <a:pt x="6124072" y="54274"/>
                </a:lnTo>
                <a:lnTo>
                  <a:pt x="6131051" y="88900"/>
                </a:lnTo>
                <a:lnTo>
                  <a:pt x="6131051" y="444500"/>
                </a:lnTo>
                <a:lnTo>
                  <a:pt x="6124072" y="479125"/>
                </a:lnTo>
                <a:lnTo>
                  <a:pt x="6105032" y="507380"/>
                </a:lnTo>
                <a:lnTo>
                  <a:pt x="6076777" y="526420"/>
                </a:lnTo>
                <a:lnTo>
                  <a:pt x="6042151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38100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文本框 8"/>
          <p:cNvSpPr txBox="1"/>
          <p:nvPr/>
        </p:nvSpPr>
        <p:spPr>
          <a:xfrm>
            <a:off x="5487035" y="231140"/>
            <a:ext cx="939165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altLang="zh-CN" sz="2400" b="1" spc="-10" dirty="0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</a:rPr>
              <a:t>ICLR 2026 Oral(Top 2%)     </a:t>
            </a:r>
            <a:r>
              <a:rPr lang="zh-CN" altLang="en-US" sz="2400" b="1" spc="-10" dirty="0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</a:rPr>
              <a:t>加州大学</a:t>
            </a:r>
            <a:r>
              <a:rPr lang="en-US" altLang="zh-CN" sz="2400" b="1" spc="-10" dirty="0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</a:rPr>
              <a:t>&amp;</a:t>
            </a:r>
            <a:r>
              <a:rPr lang="zh-CN" altLang="en-US" sz="2400" b="1" spc="-10" dirty="0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</a:rPr>
              <a:t>英伟达</a:t>
            </a:r>
            <a:r>
              <a:rPr lang="en-US" altLang="zh-CN" sz="2400" b="1" spc="-10" dirty="0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1244933" y="1452987"/>
            <a:ext cx="180595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0" name="Rectangle 6"/>
          <p:cNvSpPr>
            <a:spLocks noChangeArrowheads="1"/>
          </p:cNvSpPr>
          <p:nvPr/>
        </p:nvSpPr>
        <p:spPr bwMode="auto">
          <a:xfrm>
            <a:off x="4291226" y="-1"/>
            <a:ext cx="790077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1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6934200" y="1476375"/>
            <a:ext cx="4767580" cy="10267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2400" b="1" dirty="0">
                <a:solidFill>
                  <a:srgbClr val="C00000"/>
                </a:solidFill>
                <a:latin typeface="Arial" panose="020B0704020202020204" pitchFamily="34" charset="0"/>
              </a:rPr>
              <a:t>AIGC</a:t>
            </a:r>
            <a:r>
              <a:rPr kumimoji="1" lang="zh-CN" altLang="en-US" sz="2400" b="1" dirty="0">
                <a:solidFill>
                  <a:srgbClr val="C00000"/>
                </a:solidFill>
                <a:latin typeface="Arial" panose="020B0704020202020204" pitchFamily="34" charset="0"/>
              </a:rPr>
              <a:t>生成视频的评测发展</a:t>
            </a:r>
            <a:r>
              <a:rPr kumimoji="1" lang="en-US" altLang="zh-CN" sz="2400" b="1" dirty="0">
                <a:solidFill>
                  <a:srgbClr val="C00000"/>
                </a:solidFill>
                <a:latin typeface="Arial" panose="020B0704020202020204" pitchFamily="34" charset="0"/>
              </a:rPr>
              <a:t>:</a:t>
            </a:r>
          </a:p>
          <a:p>
            <a:pPr>
              <a:lnSpc>
                <a:spcPct val="110000"/>
              </a:lnSpc>
            </a:pPr>
            <a:r>
              <a:rPr kumimoji="1" lang="zh-CN" altLang="en-US" sz="2000" b="1" dirty="0">
                <a:solidFill>
                  <a:srgbClr val="C00000"/>
                </a:solidFill>
                <a:latin typeface="Arial" panose="020B0704020202020204" pitchFamily="34" charset="0"/>
              </a:rPr>
              <a:t>短期内难以实现统一的端到端解决方案</a:t>
            </a:r>
            <a:endParaRPr kumimoji="1" lang="zh-CN" altLang="en-US" sz="2400" b="1" dirty="0">
              <a:solidFill>
                <a:srgbClr val="C00000"/>
              </a:solidFill>
              <a:latin typeface="Arial" panose="020B0704020202020204" pitchFamily="34" charset="0"/>
            </a:endParaRPr>
          </a:p>
          <a:p>
            <a:pPr>
              <a:lnSpc>
                <a:spcPct val="110000"/>
              </a:lnSpc>
            </a:pPr>
            <a:endParaRPr kumimoji="1" lang="en-US" altLang="zh-CN" sz="2000" dirty="0"/>
          </a:p>
        </p:txBody>
      </p:sp>
      <p:sp>
        <p:nvSpPr>
          <p:cNvPr id="30" name="文本框 29"/>
          <p:cNvSpPr txBox="1"/>
          <p:nvPr/>
        </p:nvSpPr>
        <p:spPr>
          <a:xfrm>
            <a:off x="7239000" y="3505200"/>
            <a:ext cx="4098925" cy="218249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defTabSz="0">
              <a:lnSpc>
                <a:spcPct val="110000"/>
              </a:lnSpc>
              <a:tabLst>
                <a:tab pos="5282565" algn="l"/>
              </a:tabLst>
            </a:pPr>
            <a:r>
              <a:rPr lang="en-US" altLang="zh-CN" sz="2400" b="1" i="0">
                <a:solidFill>
                  <a:srgbClr val="1F1F1F"/>
                </a:solidFill>
                <a:latin typeface="Google Sans Flex"/>
                <a:ea typeface="Google Sans Flex"/>
              </a:rPr>
              <a:t>Stage 1: Pixel→Object</a:t>
            </a:r>
          </a:p>
          <a:p>
            <a:pPr marL="0" indent="0" defTabSz="0">
              <a:lnSpc>
                <a:spcPct val="110000"/>
              </a:lnSpc>
              <a:tabLst>
                <a:tab pos="5282565" algn="l"/>
              </a:tabLst>
            </a:pPr>
            <a:r>
              <a:rPr lang="en-US" altLang="zh-CN" sz="2400" b="1" i="0">
                <a:solidFill>
                  <a:srgbClr val="1F1F1F"/>
                </a:solidFill>
                <a:latin typeface="Google Sans Flex"/>
                <a:ea typeface="Google Sans Flex"/>
              </a:rPr>
              <a:t>Stage 2: Motion→Action</a:t>
            </a:r>
          </a:p>
          <a:p>
            <a:pPr marL="0" indent="0" defTabSz="0">
              <a:lnSpc>
                <a:spcPct val="110000"/>
              </a:lnSpc>
              <a:tabLst>
                <a:tab pos="5282565" algn="l"/>
              </a:tabLst>
            </a:pPr>
            <a:r>
              <a:rPr lang="en-US" altLang="zh-CN" sz="2400" b="1" i="0">
                <a:solidFill>
                  <a:srgbClr val="1F1F1F"/>
                </a:solidFill>
                <a:latin typeface="Google Sans Flex"/>
                <a:ea typeface="Google Sans Flex"/>
              </a:rPr>
              <a:t>Stage 3: Event→Causality</a:t>
            </a:r>
          </a:p>
          <a:p>
            <a:pPr marL="0" indent="0" defTabSz="0">
              <a:lnSpc>
                <a:spcPct val="110000"/>
              </a:lnSpc>
              <a:tabLst>
                <a:tab pos="5282565" algn="l"/>
              </a:tabLst>
            </a:pPr>
            <a:r>
              <a:rPr lang="en-US" altLang="zh-CN" sz="2400" b="1" i="0">
                <a:solidFill>
                  <a:srgbClr val="1F1F1F"/>
                </a:solidFill>
                <a:latin typeface="Google Sans Flex"/>
                <a:ea typeface="Google Sans Flex"/>
              </a:rPr>
              <a:t>New Stage : Physics</a:t>
            </a:r>
          </a:p>
        </p:txBody>
      </p:sp>
      <p:sp>
        <p:nvSpPr>
          <p:cNvPr id="32" name="矩形 31"/>
          <p:cNvSpPr/>
          <p:nvPr/>
        </p:nvSpPr>
        <p:spPr>
          <a:xfrm>
            <a:off x="8610600" y="2362200"/>
            <a:ext cx="1106805" cy="7137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05"/>
              </a:spcBef>
              <a:defRPr/>
            </a:pPr>
            <a:r>
              <a:rPr lang="en-US" altLang="zh-CN" sz="2400" b="1" spc="-35" dirty="0">
                <a:solidFill>
                  <a:srgbClr val="000000"/>
                </a:solidFill>
                <a:latin typeface="微软雅黑" panose="020B0503020204020204" charset="-122"/>
                <a:ea typeface="+mj-ea"/>
                <a:cs typeface="+mn-ea"/>
              </a:rPr>
              <a:t>Video</a:t>
            </a:r>
          </a:p>
        </p:txBody>
      </p:sp>
      <p:sp>
        <p:nvSpPr>
          <p:cNvPr id="36" name="矩形 35"/>
          <p:cNvSpPr/>
          <p:nvPr/>
        </p:nvSpPr>
        <p:spPr>
          <a:xfrm>
            <a:off x="8534400" y="5702935"/>
            <a:ext cx="1106805" cy="7137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05"/>
              </a:spcBef>
              <a:defRPr/>
            </a:pPr>
            <a:r>
              <a:rPr lang="en-US" altLang="zh-CN" sz="2400" b="1" spc="-35" dirty="0">
                <a:solidFill>
                  <a:srgbClr val="000000"/>
                </a:solidFill>
                <a:latin typeface="微软雅黑" panose="020B0503020204020204" charset="-122"/>
                <a:ea typeface="+mj-ea"/>
                <a:cs typeface="+mn-ea"/>
              </a:rPr>
              <a:t>Score</a:t>
            </a:r>
          </a:p>
        </p:txBody>
      </p:sp>
      <p:sp>
        <p:nvSpPr>
          <p:cNvPr id="35" name="左箭头 34"/>
          <p:cNvSpPr/>
          <p:nvPr/>
        </p:nvSpPr>
        <p:spPr>
          <a:xfrm rot="16200000">
            <a:off x="8971280" y="2966720"/>
            <a:ext cx="386080" cy="648970"/>
          </a:xfrm>
          <a:prstGeom prst="lef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左箭头 12"/>
          <p:cNvSpPr/>
          <p:nvPr/>
        </p:nvSpPr>
        <p:spPr>
          <a:xfrm rot="16200000">
            <a:off x="8894445" y="5184775"/>
            <a:ext cx="386080" cy="648970"/>
          </a:xfrm>
          <a:prstGeom prst="lef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944360" y="3496310"/>
            <a:ext cx="4481195" cy="1777365"/>
          </a:xfrm>
          <a:prstGeom prst="rect">
            <a:avLst/>
          </a:prstGeom>
          <a:noFill/>
          <a:ln w="28575">
            <a:solidFill>
              <a:srgbClr val="2E8FEB"/>
            </a:solidFill>
            <a:prstDash val="das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Arial" panose="020B0704020202020204" pitchFamily="34" charset="0"/>
              <a:ea typeface="Arial" panose="020B0704020202020204" pitchFamily="34" charset="0"/>
              <a:cs typeface="+mn-ea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2260"/>
            <a:ext cx="7778115" cy="4831715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14350"/>
            <a:ext cx="722630" cy="1123950"/>
          </a:xfrm>
          <a:custGeom>
            <a:avLst/>
            <a:gdLst/>
            <a:ahLst/>
            <a:cxnLst/>
            <a:rect l="l" t="t" r="r" b="b"/>
            <a:pathLst>
              <a:path w="722630" h="1123950">
                <a:moveTo>
                  <a:pt x="261493" y="672592"/>
                </a:moveTo>
                <a:lnTo>
                  <a:pt x="0" y="824268"/>
                </a:lnTo>
                <a:lnTo>
                  <a:pt x="0" y="1123911"/>
                </a:lnTo>
                <a:lnTo>
                  <a:pt x="69240" y="1108341"/>
                </a:lnTo>
                <a:lnTo>
                  <a:pt x="116586" y="1090980"/>
                </a:lnTo>
                <a:lnTo>
                  <a:pt x="163779" y="1066901"/>
                </a:lnTo>
                <a:lnTo>
                  <a:pt x="206527" y="1035481"/>
                </a:lnTo>
                <a:lnTo>
                  <a:pt x="240538" y="996111"/>
                </a:lnTo>
                <a:lnTo>
                  <a:pt x="261493" y="948182"/>
                </a:lnTo>
                <a:lnTo>
                  <a:pt x="261493" y="672592"/>
                </a:lnTo>
                <a:close/>
              </a:path>
              <a:path w="722630" h="1123950">
                <a:moveTo>
                  <a:pt x="672490" y="773684"/>
                </a:moveTo>
                <a:lnTo>
                  <a:pt x="669036" y="773684"/>
                </a:lnTo>
                <a:lnTo>
                  <a:pt x="669036" y="1072261"/>
                </a:lnTo>
                <a:lnTo>
                  <a:pt x="672490" y="1072261"/>
                </a:lnTo>
                <a:lnTo>
                  <a:pt x="672490" y="773684"/>
                </a:lnTo>
                <a:close/>
              </a:path>
              <a:path w="722630" h="1123950">
                <a:moveTo>
                  <a:pt x="680808" y="773684"/>
                </a:moveTo>
                <a:lnTo>
                  <a:pt x="677354" y="773684"/>
                </a:lnTo>
                <a:lnTo>
                  <a:pt x="677354" y="1072261"/>
                </a:lnTo>
                <a:lnTo>
                  <a:pt x="680808" y="1072261"/>
                </a:lnTo>
                <a:lnTo>
                  <a:pt x="680808" y="773684"/>
                </a:lnTo>
                <a:close/>
              </a:path>
              <a:path w="722630" h="1123950">
                <a:moveTo>
                  <a:pt x="689114" y="773684"/>
                </a:moveTo>
                <a:lnTo>
                  <a:pt x="685660" y="773684"/>
                </a:lnTo>
                <a:lnTo>
                  <a:pt x="685660" y="1072261"/>
                </a:lnTo>
                <a:lnTo>
                  <a:pt x="689114" y="1072261"/>
                </a:lnTo>
                <a:lnTo>
                  <a:pt x="689114" y="773684"/>
                </a:lnTo>
                <a:close/>
              </a:path>
              <a:path w="722630" h="1123950">
                <a:moveTo>
                  <a:pt x="696468" y="395859"/>
                </a:moveTo>
                <a:lnTo>
                  <a:pt x="0" y="0"/>
                </a:lnTo>
                <a:lnTo>
                  <a:pt x="0" y="395859"/>
                </a:lnTo>
                <a:lnTo>
                  <a:pt x="696468" y="395859"/>
                </a:lnTo>
                <a:close/>
              </a:path>
              <a:path w="722630" h="1123950">
                <a:moveTo>
                  <a:pt x="697433" y="773684"/>
                </a:moveTo>
                <a:lnTo>
                  <a:pt x="693978" y="773684"/>
                </a:lnTo>
                <a:lnTo>
                  <a:pt x="693978" y="1072261"/>
                </a:lnTo>
                <a:lnTo>
                  <a:pt x="697433" y="1072261"/>
                </a:lnTo>
                <a:lnTo>
                  <a:pt x="697433" y="773684"/>
                </a:lnTo>
                <a:close/>
              </a:path>
              <a:path w="722630" h="1123950">
                <a:moveTo>
                  <a:pt x="705751" y="773684"/>
                </a:moveTo>
                <a:lnTo>
                  <a:pt x="702297" y="773684"/>
                </a:lnTo>
                <a:lnTo>
                  <a:pt x="702297" y="1072261"/>
                </a:lnTo>
                <a:lnTo>
                  <a:pt x="705751" y="1072261"/>
                </a:lnTo>
                <a:lnTo>
                  <a:pt x="705751" y="773684"/>
                </a:lnTo>
                <a:close/>
              </a:path>
              <a:path w="722630" h="1123950">
                <a:moveTo>
                  <a:pt x="705840" y="667893"/>
                </a:moveTo>
                <a:lnTo>
                  <a:pt x="703135" y="664083"/>
                </a:lnTo>
                <a:lnTo>
                  <a:pt x="699401" y="662686"/>
                </a:lnTo>
                <a:lnTo>
                  <a:pt x="699401" y="404749"/>
                </a:lnTo>
                <a:lnTo>
                  <a:pt x="694004" y="404749"/>
                </a:lnTo>
                <a:lnTo>
                  <a:pt x="696468" y="403352"/>
                </a:lnTo>
                <a:lnTo>
                  <a:pt x="0" y="403352"/>
                </a:lnTo>
                <a:lnTo>
                  <a:pt x="0" y="799223"/>
                </a:lnTo>
                <a:lnTo>
                  <a:pt x="692010" y="405892"/>
                </a:lnTo>
                <a:lnTo>
                  <a:pt x="692010" y="662686"/>
                </a:lnTo>
                <a:lnTo>
                  <a:pt x="688276" y="664083"/>
                </a:lnTo>
                <a:lnTo>
                  <a:pt x="685660" y="667893"/>
                </a:lnTo>
                <a:lnTo>
                  <a:pt x="685660" y="677926"/>
                </a:lnTo>
                <a:lnTo>
                  <a:pt x="690143" y="682498"/>
                </a:lnTo>
                <a:lnTo>
                  <a:pt x="701268" y="682498"/>
                </a:lnTo>
                <a:lnTo>
                  <a:pt x="705840" y="677926"/>
                </a:lnTo>
                <a:lnTo>
                  <a:pt x="705840" y="667893"/>
                </a:lnTo>
                <a:close/>
              </a:path>
              <a:path w="722630" h="1123950">
                <a:moveTo>
                  <a:pt x="714057" y="773684"/>
                </a:moveTo>
                <a:lnTo>
                  <a:pt x="710603" y="773684"/>
                </a:lnTo>
                <a:lnTo>
                  <a:pt x="710603" y="1072261"/>
                </a:lnTo>
                <a:lnTo>
                  <a:pt x="714057" y="1072261"/>
                </a:lnTo>
                <a:lnTo>
                  <a:pt x="714057" y="773684"/>
                </a:lnTo>
                <a:close/>
              </a:path>
              <a:path w="722630" h="1123950">
                <a:moveTo>
                  <a:pt x="722376" y="773684"/>
                </a:moveTo>
                <a:lnTo>
                  <a:pt x="718921" y="773684"/>
                </a:lnTo>
                <a:lnTo>
                  <a:pt x="718921" y="1072261"/>
                </a:lnTo>
                <a:lnTo>
                  <a:pt x="722376" y="1072261"/>
                </a:lnTo>
                <a:lnTo>
                  <a:pt x="722376" y="773684"/>
                </a:lnTo>
                <a:close/>
              </a:path>
              <a:path w="722630" h="1123950">
                <a:moveTo>
                  <a:pt x="722376" y="760857"/>
                </a:moveTo>
                <a:lnTo>
                  <a:pt x="669036" y="760857"/>
                </a:lnTo>
                <a:lnTo>
                  <a:pt x="669036" y="764667"/>
                </a:lnTo>
                <a:lnTo>
                  <a:pt x="722376" y="764667"/>
                </a:lnTo>
                <a:lnTo>
                  <a:pt x="722376" y="760857"/>
                </a:lnTo>
                <a:close/>
              </a:path>
              <a:path w="722630" h="1123950">
                <a:moveTo>
                  <a:pt x="722376" y="720344"/>
                </a:moveTo>
                <a:lnTo>
                  <a:pt x="720267" y="709777"/>
                </a:lnTo>
                <a:lnTo>
                  <a:pt x="714552" y="701141"/>
                </a:lnTo>
                <a:lnTo>
                  <a:pt x="706094" y="695312"/>
                </a:lnTo>
                <a:lnTo>
                  <a:pt x="695756" y="693166"/>
                </a:lnTo>
                <a:lnTo>
                  <a:pt x="685355" y="695312"/>
                </a:lnTo>
                <a:lnTo>
                  <a:pt x="676859" y="701141"/>
                </a:lnTo>
                <a:lnTo>
                  <a:pt x="671131" y="709777"/>
                </a:lnTo>
                <a:lnTo>
                  <a:pt x="669036" y="720344"/>
                </a:lnTo>
                <a:lnTo>
                  <a:pt x="669036" y="754507"/>
                </a:lnTo>
                <a:lnTo>
                  <a:pt x="722376" y="754507"/>
                </a:lnTo>
                <a:lnTo>
                  <a:pt x="722376" y="720344"/>
                </a:lnTo>
                <a:close/>
              </a:path>
            </a:pathLst>
          </a:custGeom>
          <a:solidFill>
            <a:srgbClr val="5095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9728" y="171068"/>
            <a:ext cx="657415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sz="2800" spc="-35" dirty="0">
                <a:solidFill>
                  <a:srgbClr val="000000"/>
                </a:solidFill>
              </a:rPr>
              <a:t>二</a:t>
            </a:r>
            <a:r>
              <a:rPr sz="2800" spc="-35" dirty="0">
                <a:solidFill>
                  <a:srgbClr val="000000"/>
                </a:solidFill>
              </a:rPr>
              <a:t>、</a:t>
            </a:r>
            <a:r>
              <a:rPr lang="zh-CN" sz="2800" spc="-35" dirty="0">
                <a:solidFill>
                  <a:srgbClr val="000000"/>
                </a:solidFill>
              </a:rPr>
              <a:t>评什么</a:t>
            </a:r>
          </a:p>
        </p:txBody>
      </p:sp>
      <p:sp>
        <p:nvSpPr>
          <p:cNvPr id="4" name="object 4"/>
          <p:cNvSpPr/>
          <p:nvPr/>
        </p:nvSpPr>
        <p:spPr>
          <a:xfrm>
            <a:off x="901446" y="814577"/>
            <a:ext cx="10967085" cy="0"/>
          </a:xfrm>
          <a:custGeom>
            <a:avLst/>
            <a:gdLst/>
            <a:ahLst/>
            <a:cxnLst/>
            <a:rect l="l" t="t" r="r" b="b"/>
            <a:pathLst>
              <a:path w="10967085">
                <a:moveTo>
                  <a:pt x="0" y="0"/>
                </a:moveTo>
                <a:lnTo>
                  <a:pt x="10966831" y="0"/>
                </a:lnTo>
              </a:path>
            </a:pathLst>
          </a:custGeom>
          <a:ln w="38100">
            <a:solidFill>
              <a:srgbClr val="1C04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5" name="object 45"/>
          <p:cNvGrpSpPr/>
          <p:nvPr/>
        </p:nvGrpSpPr>
        <p:grpSpPr>
          <a:xfrm>
            <a:off x="0" y="6428956"/>
            <a:ext cx="12192000" cy="436370"/>
            <a:chOff x="0" y="6422138"/>
            <a:chExt cx="12192000" cy="436370"/>
          </a:xfrm>
        </p:grpSpPr>
        <p:sp>
          <p:nvSpPr>
            <p:cNvPr id="46" name="object 46"/>
            <p:cNvSpPr/>
            <p:nvPr/>
          </p:nvSpPr>
          <p:spPr>
            <a:xfrm>
              <a:off x="0" y="6426708"/>
              <a:ext cx="12192000" cy="431800"/>
            </a:xfrm>
            <a:custGeom>
              <a:avLst/>
              <a:gdLst/>
              <a:ahLst/>
              <a:cxnLst/>
              <a:rect l="l" t="t" r="r" b="b"/>
              <a:pathLst>
                <a:path w="12192000" h="431800">
                  <a:moveTo>
                    <a:pt x="12192000" y="0"/>
                  </a:moveTo>
                  <a:lnTo>
                    <a:pt x="0" y="0"/>
                  </a:lnTo>
                  <a:lnTo>
                    <a:pt x="0" y="431291"/>
                  </a:lnTo>
                  <a:lnTo>
                    <a:pt x="12192000" y="431291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8EB4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422138"/>
              <a:ext cx="1131570" cy="433590"/>
            </a:xfrm>
            <a:prstGeom prst="rect">
              <a:avLst/>
            </a:prstGeom>
          </p:spPr>
        </p:pic>
      </p:grp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xfrm>
            <a:off x="131470" y="6499665"/>
            <a:ext cx="904875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dirty="0"/>
              <a:t>Page</a:t>
            </a:r>
            <a:r>
              <a:rPr spc="-20" dirty="0"/>
              <a:t> </a:t>
            </a:r>
            <a:r>
              <a:rPr lang="en-US" spc="-20" dirty="0"/>
              <a:t>2</a:t>
            </a:r>
          </a:p>
        </p:txBody>
      </p:sp>
      <p:sp>
        <p:nvSpPr>
          <p:cNvPr id="6" name="矩形 5"/>
          <p:cNvSpPr/>
          <p:nvPr/>
        </p:nvSpPr>
        <p:spPr>
          <a:xfrm>
            <a:off x="762000" y="889635"/>
            <a:ext cx="11064875" cy="8610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05"/>
              </a:spcBef>
              <a:defRPr/>
            </a:pPr>
            <a:r>
              <a:rPr lang="zh-CN" altLang="en-US" sz="2400" b="1" spc="-35" dirty="0">
                <a:solidFill>
                  <a:srgbClr val="000000"/>
                </a:solidFill>
                <a:latin typeface="微软雅黑" panose="020B0503020204020204" charset="-122"/>
                <a:ea typeface="+mj-ea"/>
                <a:cs typeface="+mn-ea"/>
              </a:rPr>
              <a:t>评什么</a:t>
            </a:r>
            <a:r>
              <a:rPr lang="en-US" altLang="zh-CN" sz="2400" b="1" spc="-35" dirty="0">
                <a:solidFill>
                  <a:srgbClr val="000000"/>
                </a:solidFill>
                <a:latin typeface="微软雅黑" panose="020B0503020204020204" charset="-122"/>
                <a:ea typeface="+mj-ea"/>
                <a:cs typeface="+mn-ea"/>
              </a:rPr>
              <a:t>：</a:t>
            </a:r>
            <a:r>
              <a:rPr lang="zh-CN" altLang="en-US" sz="2400" b="1" spc="-35" dirty="0">
                <a:solidFill>
                  <a:srgbClr val="000000"/>
                </a:solidFill>
                <a:latin typeface="微软雅黑" panose="020B0503020204020204" charset="-122"/>
                <a:ea typeface="+mj-ea"/>
                <a:cs typeface="+mn-ea"/>
              </a:rPr>
              <a:t>评生成视频是否满足</a:t>
            </a:r>
            <a:r>
              <a:rPr lang="en-US" altLang="zh-CN" sz="2400" b="1" spc="-35" dirty="0">
                <a:solidFill>
                  <a:srgbClr val="000000"/>
                </a:solidFill>
                <a:latin typeface="微软雅黑" panose="020B0503020204020204" charset="-122"/>
                <a:ea typeface="+mj-ea"/>
                <a:cs typeface="+mn-ea"/>
              </a:rPr>
              <a:t>作者定义的各种物理标准，</a:t>
            </a:r>
            <a:r>
              <a:rPr lang="zh-CN" altLang="en-US" sz="2400" b="1" spc="-35" dirty="0">
                <a:solidFill>
                  <a:srgbClr val="000000"/>
                </a:solidFill>
                <a:latin typeface="微软雅黑" panose="020B0503020204020204" charset="-122"/>
                <a:ea typeface="+mj-ea"/>
                <a:cs typeface="+mn-ea"/>
              </a:rPr>
              <a:t>进而评</a:t>
            </a:r>
            <a:r>
              <a:rPr lang="en-US" altLang="zh-CN" sz="2400" b="1" spc="-35" dirty="0">
                <a:solidFill>
                  <a:srgbClr val="000000"/>
                </a:solidFill>
                <a:latin typeface="微软雅黑" panose="020B0503020204020204" charset="-122"/>
                <a:ea typeface="+mj-ea"/>
                <a:cs typeface="+mn-ea"/>
              </a:rPr>
              <a:t>T2V</a:t>
            </a:r>
            <a:r>
              <a:rPr lang="zh-CN" altLang="en-US" sz="2400" b="1" spc="-35" dirty="0">
                <a:solidFill>
                  <a:srgbClr val="000000"/>
                </a:solidFill>
                <a:latin typeface="微软雅黑" panose="020B0503020204020204" charset="-122"/>
                <a:ea typeface="+mj-ea"/>
                <a:cs typeface="+mn-ea"/>
              </a:rPr>
              <a:t>模型的指令遵循能力</a:t>
            </a:r>
            <a:r>
              <a:rPr lang="en-US" altLang="zh-CN" sz="2400" b="1" spc="-35" dirty="0">
                <a:solidFill>
                  <a:srgbClr val="000000"/>
                </a:solidFill>
                <a:latin typeface="微软雅黑" panose="020B0503020204020204" charset="-122"/>
                <a:ea typeface="+mj-ea"/>
                <a:cs typeface="+mn-ea"/>
              </a:rPr>
              <a:t>、</a:t>
            </a:r>
            <a:r>
              <a:rPr lang="zh-CN" altLang="en-US" sz="2400" b="1" spc="-35" dirty="0">
                <a:solidFill>
                  <a:srgbClr val="000000"/>
                </a:solidFill>
                <a:latin typeface="微软雅黑" panose="020B0503020204020204" charset="-122"/>
                <a:ea typeface="+mj-ea"/>
                <a:cs typeface="+mn-ea"/>
              </a:rPr>
              <a:t>物理生成和理解能力</a:t>
            </a:r>
            <a:r>
              <a:rPr lang="en-US" altLang="zh-CN" sz="2400" b="1" spc="-35" dirty="0">
                <a:solidFill>
                  <a:srgbClr val="000000"/>
                </a:solidFill>
                <a:latin typeface="微软雅黑" panose="020B0503020204020204" charset="-122"/>
                <a:ea typeface="+mj-ea"/>
                <a:cs typeface="+mn-ea"/>
              </a:rPr>
              <a:t>。</a:t>
            </a:r>
          </a:p>
        </p:txBody>
      </p:sp>
      <p:sp>
        <p:nvSpPr>
          <p:cNvPr id="7" name="object 19"/>
          <p:cNvSpPr/>
          <p:nvPr/>
        </p:nvSpPr>
        <p:spPr>
          <a:xfrm>
            <a:off x="3915410" y="137160"/>
            <a:ext cx="7743190" cy="591820"/>
          </a:xfrm>
          <a:custGeom>
            <a:avLst/>
            <a:gdLst/>
            <a:ahLst/>
            <a:cxnLst/>
            <a:rect l="l" t="t" r="r" b="b"/>
            <a:pathLst>
              <a:path w="6131559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6042151" y="0"/>
                </a:lnTo>
                <a:lnTo>
                  <a:pt x="6076777" y="6979"/>
                </a:lnTo>
                <a:lnTo>
                  <a:pt x="6105032" y="26019"/>
                </a:lnTo>
                <a:lnTo>
                  <a:pt x="6124072" y="54274"/>
                </a:lnTo>
                <a:lnTo>
                  <a:pt x="6131051" y="88900"/>
                </a:lnTo>
                <a:lnTo>
                  <a:pt x="6131051" y="444500"/>
                </a:lnTo>
                <a:lnTo>
                  <a:pt x="6124072" y="479125"/>
                </a:lnTo>
                <a:lnTo>
                  <a:pt x="6105032" y="507380"/>
                </a:lnTo>
                <a:lnTo>
                  <a:pt x="6076777" y="526420"/>
                </a:lnTo>
                <a:lnTo>
                  <a:pt x="6042151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38100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文本框 8"/>
          <p:cNvSpPr txBox="1"/>
          <p:nvPr/>
        </p:nvSpPr>
        <p:spPr>
          <a:xfrm>
            <a:off x="694055" y="200025"/>
            <a:ext cx="11100435" cy="1224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841500" lvl="4" indent="457200">
              <a:lnSpc>
                <a:spcPct val="100000"/>
              </a:lnSpc>
              <a:spcBef>
                <a:spcPts val="105"/>
              </a:spcBef>
            </a:pPr>
            <a:r>
              <a:rPr lang="en-US" altLang="zh-CN" sz="2400" b="1" spc="-10" dirty="0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</a:rPr>
              <a:t>            Evaluator:</a:t>
            </a:r>
            <a:r>
              <a:rPr lang="zh-CN" altLang="en-US" sz="2400" b="1" spc="-10" dirty="0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</a:rPr>
              <a:t>没有经过训练的</a:t>
            </a:r>
            <a:r>
              <a:rPr lang="en-US" altLang="zh-CN" sz="2400" b="1" spc="-10" dirty="0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</a:rPr>
              <a:t>MLLM gpt-o1</a:t>
            </a:r>
            <a:r>
              <a:rPr lang="zh-CN" altLang="en-US" sz="2400" b="1" spc="-10" dirty="0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</a:rPr>
              <a:t>的输入和输出</a:t>
            </a:r>
          </a:p>
        </p:txBody>
      </p:sp>
      <p:sp>
        <p:nvSpPr>
          <p:cNvPr id="14" name="矩形 13"/>
          <p:cNvSpPr/>
          <p:nvPr/>
        </p:nvSpPr>
        <p:spPr>
          <a:xfrm>
            <a:off x="7848600" y="1813560"/>
            <a:ext cx="4125595" cy="4539615"/>
          </a:xfrm>
          <a:prstGeom prst="rect">
            <a:avLst/>
          </a:prstGeom>
          <a:noFill/>
          <a:ln w="28575">
            <a:solidFill>
              <a:srgbClr val="2E8FEB"/>
            </a:solidFill>
            <a:prstDash val="das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Arial" panose="020B0704020202020204" pitchFamily="34" charset="0"/>
              <a:ea typeface="Arial" panose="020B0704020202020204" pitchFamily="34" charset="0"/>
              <a:cs typeface="+mn-ea"/>
            </a:endParaRPr>
          </a:p>
        </p:txBody>
      </p:sp>
      <p:sp>
        <p:nvSpPr>
          <p:cNvPr id="20" name="Rectangle 6"/>
          <p:cNvSpPr>
            <a:spLocks noChangeArrowheads="1"/>
          </p:cNvSpPr>
          <p:nvPr/>
        </p:nvSpPr>
        <p:spPr bwMode="auto">
          <a:xfrm>
            <a:off x="4291226" y="-1"/>
            <a:ext cx="790077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1" name="Rectangle 8"/>
          <p:cNvSpPr>
            <a:spLocks noChangeArrowheads="1"/>
          </p:cNvSpPr>
          <p:nvPr/>
        </p:nvSpPr>
        <p:spPr bwMode="auto">
          <a:xfrm>
            <a:off x="45720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10354945" y="1752600"/>
            <a:ext cx="501269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924800" y="1728470"/>
            <a:ext cx="3733800" cy="2576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2400" b="1" dirty="0">
                <a:solidFill>
                  <a:srgbClr val="C00000"/>
                </a:solidFill>
                <a:latin typeface="Arial" panose="020B0704020202020204" pitchFamily="34" charset="0"/>
              </a:rPr>
              <a:t>输入</a:t>
            </a:r>
            <a:r>
              <a:rPr kumimoji="1" lang="en-US" altLang="zh-CN" sz="2400" b="1" dirty="0">
                <a:solidFill>
                  <a:srgbClr val="C00000"/>
                </a:solidFill>
                <a:latin typeface="Arial" panose="020B0704020202020204" pitchFamily="34" charset="0"/>
              </a:rPr>
              <a:t>：</a:t>
            </a:r>
          </a:p>
          <a:p>
            <a:pPr marL="342900" indent="-342900">
              <a:lnSpc>
                <a:spcPct val="110000"/>
              </a:lnSpc>
              <a:buFont typeface="Arial" panose="020B0704020202020204" pitchFamily="34" charset="0"/>
              <a:buChar char="•"/>
            </a:pPr>
            <a:r>
              <a:rPr kumimoji="1" lang="en-US" altLang="zh-CN" sz="2000" b="0" dirty="0">
                <a:solidFill>
                  <a:schemeClr val="tx1"/>
                </a:solidFill>
                <a:latin typeface="Arial" panose="020B0704020202020204" pitchFamily="34" charset="0"/>
              </a:rPr>
              <a:t>Text Prompt</a:t>
            </a:r>
          </a:p>
          <a:p>
            <a:pPr marL="342900" indent="-342900">
              <a:lnSpc>
                <a:spcPct val="110000"/>
              </a:lnSpc>
              <a:buFont typeface="Arial" panose="020B0704020202020204" pitchFamily="34" charset="0"/>
              <a:buChar char="•"/>
            </a:pPr>
            <a:r>
              <a:rPr kumimoji="1" lang="en-US" altLang="zh-CN" sz="2000" b="0" dirty="0">
                <a:solidFill>
                  <a:schemeClr val="tx1"/>
                </a:solidFill>
                <a:latin typeface="Arial" panose="020B0704020202020204" pitchFamily="34" charset="0"/>
              </a:rPr>
              <a:t>Generated Video(</a:t>
            </a:r>
            <a:r>
              <a:rPr kumimoji="1" lang="zh-CN" altLang="en-US" sz="2000" b="0" dirty="0">
                <a:solidFill>
                  <a:schemeClr val="tx1"/>
                </a:solidFill>
                <a:latin typeface="Arial" panose="020B0704020202020204" pitchFamily="34" charset="0"/>
              </a:rPr>
              <a:t>多种</a:t>
            </a:r>
            <a:r>
              <a:rPr kumimoji="1" lang="en-US" altLang="zh-CN" sz="2000" b="0" dirty="0">
                <a:solidFill>
                  <a:schemeClr val="tx1"/>
                </a:solidFill>
                <a:latin typeface="Arial" panose="020B0704020202020204" pitchFamily="34" charset="0"/>
              </a:rPr>
              <a:t>T2V Model</a:t>
            </a:r>
            <a:r>
              <a:rPr kumimoji="1" lang="zh-CN" altLang="en-US" sz="2000" b="0" dirty="0">
                <a:solidFill>
                  <a:schemeClr val="tx1"/>
                </a:solidFill>
                <a:latin typeface="Arial" panose="020B0704020202020204" pitchFamily="34" charset="0"/>
              </a:rPr>
              <a:t>生成</a:t>
            </a:r>
            <a:r>
              <a:rPr kumimoji="1" lang="en-US" altLang="zh-CN" sz="2000" b="0" dirty="0">
                <a:solidFill>
                  <a:schemeClr val="tx1"/>
                </a:solidFill>
                <a:latin typeface="Arial" panose="020B0704020202020204" pitchFamily="34" charset="0"/>
              </a:rPr>
              <a:t>，</a:t>
            </a:r>
            <a:r>
              <a:rPr kumimoji="1" lang="zh-CN" altLang="en-US" sz="2000" b="0" dirty="0">
                <a:solidFill>
                  <a:schemeClr val="tx1"/>
                </a:solidFill>
                <a:latin typeface="Arial" panose="020B0704020202020204" pitchFamily="34" charset="0"/>
              </a:rPr>
              <a:t>统一均匀采样</a:t>
            </a:r>
            <a:r>
              <a:rPr kumimoji="1" lang="en-US" altLang="zh-CN" sz="2000" b="0" dirty="0">
                <a:solidFill>
                  <a:schemeClr val="tx1"/>
                </a:solidFill>
                <a:latin typeface="Arial" panose="020B0704020202020204" pitchFamily="34" charset="0"/>
              </a:rPr>
              <a:t>8</a:t>
            </a:r>
            <a:r>
              <a:rPr kumimoji="1" lang="zh-CN" altLang="en-US" sz="2000" b="0" dirty="0">
                <a:solidFill>
                  <a:schemeClr val="tx1"/>
                </a:solidFill>
                <a:latin typeface="Arial" panose="020B0704020202020204" pitchFamily="34" charset="0"/>
              </a:rPr>
              <a:t>帧</a:t>
            </a:r>
            <a:r>
              <a:rPr kumimoji="1" lang="en-US" altLang="zh-CN" sz="2000" b="0" dirty="0">
                <a:solidFill>
                  <a:schemeClr val="tx1"/>
                </a:solidFill>
                <a:latin typeface="Arial" panose="020B0704020202020204" pitchFamily="34" charset="0"/>
              </a:rPr>
              <a:t>)</a:t>
            </a:r>
          </a:p>
          <a:p>
            <a:pPr marL="342900" indent="-342900">
              <a:lnSpc>
                <a:spcPct val="110000"/>
              </a:lnSpc>
              <a:buFont typeface="Arial" panose="020B0704020202020204" pitchFamily="34" charset="0"/>
              <a:buChar char="•"/>
            </a:pPr>
            <a:r>
              <a:rPr kumimoji="1" lang="en-US" altLang="zh-CN" sz="2000" b="0" dirty="0">
                <a:solidFill>
                  <a:schemeClr val="tx1"/>
                </a:solidFill>
                <a:latin typeface="Arial" panose="020B0704020202020204" pitchFamily="34" charset="0"/>
              </a:rPr>
              <a:t>Standards：Basic</a:t>
            </a:r>
            <a:r>
              <a:rPr kumimoji="1" lang="zh-CN" altLang="en-US" sz="2000" b="0" dirty="0">
                <a:solidFill>
                  <a:schemeClr val="tx1"/>
                </a:solidFill>
                <a:latin typeface="Arial" panose="020B0704020202020204" pitchFamily="34" charset="0"/>
              </a:rPr>
              <a:t>和</a:t>
            </a:r>
            <a:r>
              <a:rPr kumimoji="1" lang="en-US" altLang="zh-CN" sz="2000" b="0" dirty="0">
                <a:solidFill>
                  <a:schemeClr val="tx1"/>
                </a:solidFill>
                <a:latin typeface="Arial" panose="020B0704020202020204" pitchFamily="34" charset="0"/>
              </a:rPr>
              <a:t>Key Standards(</a:t>
            </a:r>
            <a:r>
              <a:rPr kumimoji="1" lang="zh-CN" altLang="en-US" sz="2000" b="0" dirty="0">
                <a:solidFill>
                  <a:schemeClr val="tx1"/>
                </a:solidFill>
                <a:latin typeface="Arial" panose="020B0704020202020204" pitchFamily="34" charset="0"/>
              </a:rPr>
              <a:t>由评测器评测是否满足这些标准</a:t>
            </a:r>
            <a:r>
              <a:rPr kumimoji="1" lang="en-US" altLang="zh-CN" sz="2000" b="0" dirty="0">
                <a:solidFill>
                  <a:schemeClr val="tx1"/>
                </a:solidFill>
                <a:latin typeface="Arial" panose="020B0704020202020204" pitchFamily="34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zh-CN" altLang="en-US" sz="2400" b="1" i="0" u="none" strike="noStrike" kern="0" cap="none" spc="0" normalizeH="0" baseline="0" noProof="1">
                <a:solidFill>
                  <a:srgbClr val="C00000"/>
                </a:solidFill>
                <a:latin typeface="Arial" panose="020B0704020202020204" pitchFamily="34" charset="0"/>
                <a:ea typeface="Arial" panose="020B0704020202020204" pitchFamily="34" charset="0"/>
                <a:cs typeface="+mn-ea"/>
              </a:rPr>
              <a:t>输出</a:t>
            </a:r>
            <a:r>
              <a:rPr kumimoji="1" lang="zh-CN" altLang="en-US" sz="2000" b="1" i="0" u="none" strike="noStrike" kern="0" cap="none" spc="0" normalizeH="0" baseline="0" noProof="1">
                <a:solidFill>
                  <a:srgbClr val="C00000"/>
                </a:solidFill>
                <a:latin typeface="Arial" panose="020B0704020202020204" pitchFamily="34" charset="0"/>
                <a:ea typeface="Arial" panose="020B0704020202020204" pitchFamily="34" charset="0"/>
                <a:cs typeface="+mn-ea"/>
              </a:rPr>
              <a:t>：</a:t>
            </a:r>
          </a:p>
          <a:p>
            <a:pPr marL="342900" indent="-342900">
              <a:lnSpc>
                <a:spcPct val="110000"/>
              </a:lnSpc>
              <a:buFont typeface="Arial" panose="020B0704020202020204" pitchFamily="34" charset="0"/>
              <a:buChar char="•"/>
            </a:pPr>
            <a:r>
              <a:rPr kumimoji="1" lang="zh-CN" altLang="en-US" sz="2000" dirty="0"/>
              <a:t>每一项标准是否满足</a:t>
            </a:r>
            <a:r>
              <a:rPr kumimoji="1" lang="en-US" altLang="zh-CN" sz="2000" dirty="0"/>
              <a:t> yes/no</a:t>
            </a:r>
            <a:endParaRPr kumimoji="1" lang="zh-CN" altLang="en-US" sz="2000" dirty="0"/>
          </a:p>
          <a:p>
            <a:pPr marL="342900" indent="-342900">
              <a:lnSpc>
                <a:spcPct val="110000"/>
              </a:lnSpc>
              <a:buFont typeface="Arial" panose="020B0704020202020204" pitchFamily="34" charset="0"/>
              <a:buChar char="•"/>
            </a:pPr>
            <a:r>
              <a:rPr kumimoji="1" lang="en-US" altLang="zh-CN" sz="2000" dirty="0"/>
              <a:t>SA=1：</a:t>
            </a:r>
            <a:r>
              <a:rPr kumimoji="1" lang="zh-CN" altLang="en-US" sz="2000" dirty="0"/>
              <a:t>基础标准都满足</a:t>
            </a:r>
            <a:endParaRPr kumimoji="1" lang="en-US" altLang="zh-CN" sz="2000" dirty="0"/>
          </a:p>
          <a:p>
            <a:pPr marL="342900" indent="-342900">
              <a:lnSpc>
                <a:spcPct val="110000"/>
              </a:lnSpc>
              <a:buFont typeface="Arial" panose="020B0704020202020204" pitchFamily="34" charset="0"/>
              <a:buChar char="•"/>
            </a:pPr>
            <a:r>
              <a:rPr kumimoji="1" lang="en-US" altLang="zh-CN" sz="2000" dirty="0"/>
              <a:t>PC=1：</a:t>
            </a:r>
            <a:r>
              <a:rPr kumimoji="1" lang="zh-CN" altLang="en-US" sz="2000" dirty="0"/>
              <a:t>所有物理标准都满足</a:t>
            </a:r>
          </a:p>
          <a:p>
            <a:pPr marL="342900" indent="-342900">
              <a:lnSpc>
                <a:spcPct val="110000"/>
              </a:lnSpc>
              <a:buFont typeface="Arial" panose="020B0704020202020204" pitchFamily="34" charset="0"/>
              <a:buChar char="•"/>
            </a:pPr>
            <a:r>
              <a:rPr kumimoji="1" lang="en-US" altLang="zh-CN" sz="2000" dirty="0"/>
              <a:t>Both = SA ∧ PC</a:t>
            </a:r>
          </a:p>
        </p:txBody>
      </p:sp>
      <p:sp>
        <p:nvSpPr>
          <p:cNvPr id="8" name="矩形 7"/>
          <p:cNvSpPr/>
          <p:nvPr/>
        </p:nvSpPr>
        <p:spPr>
          <a:xfrm>
            <a:off x="2286000" y="3200400"/>
            <a:ext cx="381000" cy="609600"/>
          </a:xfrm>
          <a:prstGeom prst="rect">
            <a:avLst/>
          </a:prstGeom>
          <a:noFill/>
          <a:ln w="47625"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286000" y="5486400"/>
            <a:ext cx="381000" cy="609600"/>
          </a:xfrm>
          <a:prstGeom prst="rect">
            <a:avLst/>
          </a:prstGeom>
          <a:noFill/>
          <a:ln w="47625"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t="3364" r="1595"/>
          <a:stretch>
            <a:fillRect/>
          </a:stretch>
        </p:blipFill>
        <p:spPr>
          <a:xfrm>
            <a:off x="436245" y="1600200"/>
            <a:ext cx="10384155" cy="4524375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14350"/>
            <a:ext cx="722630" cy="1123950"/>
          </a:xfrm>
          <a:custGeom>
            <a:avLst/>
            <a:gdLst/>
            <a:ahLst/>
            <a:cxnLst/>
            <a:rect l="l" t="t" r="r" b="b"/>
            <a:pathLst>
              <a:path w="722630" h="1123950">
                <a:moveTo>
                  <a:pt x="261493" y="672592"/>
                </a:moveTo>
                <a:lnTo>
                  <a:pt x="0" y="824268"/>
                </a:lnTo>
                <a:lnTo>
                  <a:pt x="0" y="1123911"/>
                </a:lnTo>
                <a:lnTo>
                  <a:pt x="69240" y="1108341"/>
                </a:lnTo>
                <a:lnTo>
                  <a:pt x="116586" y="1090980"/>
                </a:lnTo>
                <a:lnTo>
                  <a:pt x="163779" y="1066901"/>
                </a:lnTo>
                <a:lnTo>
                  <a:pt x="206527" y="1035481"/>
                </a:lnTo>
                <a:lnTo>
                  <a:pt x="240538" y="996111"/>
                </a:lnTo>
                <a:lnTo>
                  <a:pt x="261493" y="948182"/>
                </a:lnTo>
                <a:lnTo>
                  <a:pt x="261493" y="672592"/>
                </a:lnTo>
                <a:close/>
              </a:path>
              <a:path w="722630" h="1123950">
                <a:moveTo>
                  <a:pt x="672490" y="773684"/>
                </a:moveTo>
                <a:lnTo>
                  <a:pt x="669036" y="773684"/>
                </a:lnTo>
                <a:lnTo>
                  <a:pt x="669036" y="1072261"/>
                </a:lnTo>
                <a:lnTo>
                  <a:pt x="672490" y="1072261"/>
                </a:lnTo>
                <a:lnTo>
                  <a:pt x="672490" y="773684"/>
                </a:lnTo>
                <a:close/>
              </a:path>
              <a:path w="722630" h="1123950">
                <a:moveTo>
                  <a:pt x="680808" y="773684"/>
                </a:moveTo>
                <a:lnTo>
                  <a:pt x="677354" y="773684"/>
                </a:lnTo>
                <a:lnTo>
                  <a:pt x="677354" y="1072261"/>
                </a:lnTo>
                <a:lnTo>
                  <a:pt x="680808" y="1072261"/>
                </a:lnTo>
                <a:lnTo>
                  <a:pt x="680808" y="773684"/>
                </a:lnTo>
                <a:close/>
              </a:path>
              <a:path w="722630" h="1123950">
                <a:moveTo>
                  <a:pt x="689114" y="773684"/>
                </a:moveTo>
                <a:lnTo>
                  <a:pt x="685660" y="773684"/>
                </a:lnTo>
                <a:lnTo>
                  <a:pt x="685660" y="1072261"/>
                </a:lnTo>
                <a:lnTo>
                  <a:pt x="689114" y="1072261"/>
                </a:lnTo>
                <a:lnTo>
                  <a:pt x="689114" y="773684"/>
                </a:lnTo>
                <a:close/>
              </a:path>
              <a:path w="722630" h="1123950">
                <a:moveTo>
                  <a:pt x="696468" y="395859"/>
                </a:moveTo>
                <a:lnTo>
                  <a:pt x="0" y="0"/>
                </a:lnTo>
                <a:lnTo>
                  <a:pt x="0" y="395859"/>
                </a:lnTo>
                <a:lnTo>
                  <a:pt x="696468" y="395859"/>
                </a:lnTo>
                <a:close/>
              </a:path>
              <a:path w="722630" h="1123950">
                <a:moveTo>
                  <a:pt x="697433" y="773684"/>
                </a:moveTo>
                <a:lnTo>
                  <a:pt x="693978" y="773684"/>
                </a:lnTo>
                <a:lnTo>
                  <a:pt x="693978" y="1072261"/>
                </a:lnTo>
                <a:lnTo>
                  <a:pt x="697433" y="1072261"/>
                </a:lnTo>
                <a:lnTo>
                  <a:pt x="697433" y="773684"/>
                </a:lnTo>
                <a:close/>
              </a:path>
              <a:path w="722630" h="1123950">
                <a:moveTo>
                  <a:pt x="705751" y="773684"/>
                </a:moveTo>
                <a:lnTo>
                  <a:pt x="702297" y="773684"/>
                </a:lnTo>
                <a:lnTo>
                  <a:pt x="702297" y="1072261"/>
                </a:lnTo>
                <a:lnTo>
                  <a:pt x="705751" y="1072261"/>
                </a:lnTo>
                <a:lnTo>
                  <a:pt x="705751" y="773684"/>
                </a:lnTo>
                <a:close/>
              </a:path>
              <a:path w="722630" h="1123950">
                <a:moveTo>
                  <a:pt x="705840" y="667893"/>
                </a:moveTo>
                <a:lnTo>
                  <a:pt x="703135" y="664083"/>
                </a:lnTo>
                <a:lnTo>
                  <a:pt x="699401" y="662686"/>
                </a:lnTo>
                <a:lnTo>
                  <a:pt x="699401" y="404749"/>
                </a:lnTo>
                <a:lnTo>
                  <a:pt x="694004" y="404749"/>
                </a:lnTo>
                <a:lnTo>
                  <a:pt x="696468" y="403352"/>
                </a:lnTo>
                <a:lnTo>
                  <a:pt x="0" y="403352"/>
                </a:lnTo>
                <a:lnTo>
                  <a:pt x="0" y="799223"/>
                </a:lnTo>
                <a:lnTo>
                  <a:pt x="692010" y="405892"/>
                </a:lnTo>
                <a:lnTo>
                  <a:pt x="692010" y="662686"/>
                </a:lnTo>
                <a:lnTo>
                  <a:pt x="688276" y="664083"/>
                </a:lnTo>
                <a:lnTo>
                  <a:pt x="685660" y="667893"/>
                </a:lnTo>
                <a:lnTo>
                  <a:pt x="685660" y="677926"/>
                </a:lnTo>
                <a:lnTo>
                  <a:pt x="690143" y="682498"/>
                </a:lnTo>
                <a:lnTo>
                  <a:pt x="701268" y="682498"/>
                </a:lnTo>
                <a:lnTo>
                  <a:pt x="705840" y="677926"/>
                </a:lnTo>
                <a:lnTo>
                  <a:pt x="705840" y="667893"/>
                </a:lnTo>
                <a:close/>
              </a:path>
              <a:path w="722630" h="1123950">
                <a:moveTo>
                  <a:pt x="714057" y="773684"/>
                </a:moveTo>
                <a:lnTo>
                  <a:pt x="710603" y="773684"/>
                </a:lnTo>
                <a:lnTo>
                  <a:pt x="710603" y="1072261"/>
                </a:lnTo>
                <a:lnTo>
                  <a:pt x="714057" y="1072261"/>
                </a:lnTo>
                <a:lnTo>
                  <a:pt x="714057" y="773684"/>
                </a:lnTo>
                <a:close/>
              </a:path>
              <a:path w="722630" h="1123950">
                <a:moveTo>
                  <a:pt x="722376" y="773684"/>
                </a:moveTo>
                <a:lnTo>
                  <a:pt x="718921" y="773684"/>
                </a:lnTo>
                <a:lnTo>
                  <a:pt x="718921" y="1072261"/>
                </a:lnTo>
                <a:lnTo>
                  <a:pt x="722376" y="1072261"/>
                </a:lnTo>
                <a:lnTo>
                  <a:pt x="722376" y="773684"/>
                </a:lnTo>
                <a:close/>
              </a:path>
              <a:path w="722630" h="1123950">
                <a:moveTo>
                  <a:pt x="722376" y="760857"/>
                </a:moveTo>
                <a:lnTo>
                  <a:pt x="669036" y="760857"/>
                </a:lnTo>
                <a:lnTo>
                  <a:pt x="669036" y="764667"/>
                </a:lnTo>
                <a:lnTo>
                  <a:pt x="722376" y="764667"/>
                </a:lnTo>
                <a:lnTo>
                  <a:pt x="722376" y="760857"/>
                </a:lnTo>
                <a:close/>
              </a:path>
              <a:path w="722630" h="1123950">
                <a:moveTo>
                  <a:pt x="722376" y="720344"/>
                </a:moveTo>
                <a:lnTo>
                  <a:pt x="720267" y="709777"/>
                </a:lnTo>
                <a:lnTo>
                  <a:pt x="714552" y="701141"/>
                </a:lnTo>
                <a:lnTo>
                  <a:pt x="706094" y="695312"/>
                </a:lnTo>
                <a:lnTo>
                  <a:pt x="695756" y="693166"/>
                </a:lnTo>
                <a:lnTo>
                  <a:pt x="685355" y="695312"/>
                </a:lnTo>
                <a:lnTo>
                  <a:pt x="676859" y="701141"/>
                </a:lnTo>
                <a:lnTo>
                  <a:pt x="671131" y="709777"/>
                </a:lnTo>
                <a:lnTo>
                  <a:pt x="669036" y="720344"/>
                </a:lnTo>
                <a:lnTo>
                  <a:pt x="669036" y="754507"/>
                </a:lnTo>
                <a:lnTo>
                  <a:pt x="722376" y="754507"/>
                </a:lnTo>
                <a:lnTo>
                  <a:pt x="722376" y="720344"/>
                </a:lnTo>
                <a:close/>
              </a:path>
            </a:pathLst>
          </a:custGeom>
          <a:solidFill>
            <a:srgbClr val="5095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9728" y="171068"/>
            <a:ext cx="657415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sz="2800" spc="-35" dirty="0">
                <a:solidFill>
                  <a:srgbClr val="000000"/>
                </a:solidFill>
              </a:rPr>
              <a:t>三</a:t>
            </a:r>
            <a:r>
              <a:rPr sz="2800" spc="-35" dirty="0">
                <a:solidFill>
                  <a:srgbClr val="000000"/>
                </a:solidFill>
              </a:rPr>
              <a:t>、</a:t>
            </a:r>
            <a:r>
              <a:rPr lang="zh-CN" sz="2800" spc="-35" dirty="0">
                <a:solidFill>
                  <a:srgbClr val="000000"/>
                </a:solidFill>
              </a:rPr>
              <a:t>怎么评</a:t>
            </a:r>
          </a:p>
        </p:txBody>
      </p:sp>
      <p:sp>
        <p:nvSpPr>
          <p:cNvPr id="4" name="object 4"/>
          <p:cNvSpPr/>
          <p:nvPr/>
        </p:nvSpPr>
        <p:spPr>
          <a:xfrm>
            <a:off x="901446" y="814577"/>
            <a:ext cx="10967085" cy="0"/>
          </a:xfrm>
          <a:custGeom>
            <a:avLst/>
            <a:gdLst/>
            <a:ahLst/>
            <a:cxnLst/>
            <a:rect l="l" t="t" r="r" b="b"/>
            <a:pathLst>
              <a:path w="10967085">
                <a:moveTo>
                  <a:pt x="0" y="0"/>
                </a:moveTo>
                <a:lnTo>
                  <a:pt x="10966831" y="0"/>
                </a:lnTo>
              </a:path>
            </a:pathLst>
          </a:custGeom>
          <a:ln w="38100">
            <a:solidFill>
              <a:srgbClr val="1C04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5" name="object 45"/>
          <p:cNvGrpSpPr/>
          <p:nvPr/>
        </p:nvGrpSpPr>
        <p:grpSpPr>
          <a:xfrm>
            <a:off x="0" y="6428956"/>
            <a:ext cx="12192000" cy="436370"/>
            <a:chOff x="0" y="6422138"/>
            <a:chExt cx="12192000" cy="436370"/>
          </a:xfrm>
        </p:grpSpPr>
        <p:sp>
          <p:nvSpPr>
            <p:cNvPr id="46" name="object 46"/>
            <p:cNvSpPr/>
            <p:nvPr/>
          </p:nvSpPr>
          <p:spPr>
            <a:xfrm>
              <a:off x="0" y="6426708"/>
              <a:ext cx="12192000" cy="431800"/>
            </a:xfrm>
            <a:custGeom>
              <a:avLst/>
              <a:gdLst/>
              <a:ahLst/>
              <a:cxnLst/>
              <a:rect l="l" t="t" r="r" b="b"/>
              <a:pathLst>
                <a:path w="12192000" h="431800">
                  <a:moveTo>
                    <a:pt x="12192000" y="0"/>
                  </a:moveTo>
                  <a:lnTo>
                    <a:pt x="0" y="0"/>
                  </a:lnTo>
                  <a:lnTo>
                    <a:pt x="0" y="431291"/>
                  </a:lnTo>
                  <a:lnTo>
                    <a:pt x="12192000" y="431291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8EB4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422138"/>
              <a:ext cx="1131570" cy="433590"/>
            </a:xfrm>
            <a:prstGeom prst="rect">
              <a:avLst/>
            </a:prstGeom>
          </p:spPr>
        </p:pic>
      </p:grp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xfrm>
            <a:off x="131470" y="6499665"/>
            <a:ext cx="904875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dirty="0"/>
              <a:t>Page</a:t>
            </a:r>
            <a:r>
              <a:rPr spc="-20" dirty="0"/>
              <a:t> </a:t>
            </a:r>
            <a:r>
              <a:rPr lang="en-US" spc="-20" dirty="0"/>
              <a:t>3</a:t>
            </a:r>
          </a:p>
        </p:txBody>
      </p:sp>
      <p:sp>
        <p:nvSpPr>
          <p:cNvPr id="6" name="矩形 5"/>
          <p:cNvSpPr/>
          <p:nvPr/>
        </p:nvSpPr>
        <p:spPr>
          <a:xfrm>
            <a:off x="527050" y="909320"/>
            <a:ext cx="11077575" cy="6635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05"/>
              </a:spcBef>
              <a:defRPr/>
            </a:pPr>
            <a:r>
              <a:rPr lang="zh-CN" altLang="en-US" sz="2800" b="1" spc="-10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定义符合人感知的物理类型</a:t>
            </a:r>
            <a:r>
              <a:rPr lang="en-US" altLang="zh-CN" sz="2800" b="1" spc="-10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2800" b="1" spc="-10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与</a:t>
            </a:r>
            <a:r>
              <a:rPr lang="en-US" altLang="zh-CN" sz="2800" b="1" spc="-10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world model</a:t>
            </a:r>
            <a:r>
              <a:rPr lang="zh-CN" altLang="en-US" sz="2800" b="1" spc="-10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区分</a:t>
            </a:r>
            <a:r>
              <a:rPr lang="en-US" altLang="zh-CN" sz="2800" b="1" spc="-10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sz="2800" b="1" spc="-10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不同类型的</a:t>
            </a:r>
            <a:r>
              <a:rPr lang="en-US" altLang="zh-CN" sz="2800" b="1" spc="-10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Prompt</a:t>
            </a:r>
            <a:endParaRPr lang="zh-CN" altLang="en-US" sz="2800" b="1" spc="-10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object 19"/>
          <p:cNvSpPr/>
          <p:nvPr/>
        </p:nvSpPr>
        <p:spPr>
          <a:xfrm>
            <a:off x="4416425" y="131445"/>
            <a:ext cx="7452360" cy="603250"/>
          </a:xfrm>
          <a:custGeom>
            <a:avLst/>
            <a:gdLst/>
            <a:ahLst/>
            <a:cxnLst/>
            <a:rect l="l" t="t" r="r" b="b"/>
            <a:pathLst>
              <a:path w="6131559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6042151" y="0"/>
                </a:lnTo>
                <a:lnTo>
                  <a:pt x="6076777" y="6979"/>
                </a:lnTo>
                <a:lnTo>
                  <a:pt x="6105032" y="26019"/>
                </a:lnTo>
                <a:lnTo>
                  <a:pt x="6124072" y="54274"/>
                </a:lnTo>
                <a:lnTo>
                  <a:pt x="6131051" y="88900"/>
                </a:lnTo>
                <a:lnTo>
                  <a:pt x="6131051" y="444500"/>
                </a:lnTo>
                <a:lnTo>
                  <a:pt x="6124072" y="479125"/>
                </a:lnTo>
                <a:lnTo>
                  <a:pt x="6105032" y="507380"/>
                </a:lnTo>
                <a:lnTo>
                  <a:pt x="6076777" y="526420"/>
                </a:lnTo>
                <a:lnTo>
                  <a:pt x="6042151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38100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文本框 8"/>
          <p:cNvSpPr txBox="1"/>
          <p:nvPr/>
        </p:nvSpPr>
        <p:spPr>
          <a:xfrm>
            <a:off x="4613275" y="150495"/>
            <a:ext cx="7780020" cy="7493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2400" b="1" spc="-10" dirty="0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</a:rPr>
              <a:t>数据集构建</a:t>
            </a:r>
            <a:r>
              <a:rPr lang="en-US" altLang="zh-CN" sz="2400" b="1" spc="-10" dirty="0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</a:rPr>
              <a:t>：物理类型的定义和三种类型的Prompt</a:t>
            </a: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1549733" y="1452987"/>
            <a:ext cx="180595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0" name="Rectangle 6"/>
          <p:cNvSpPr>
            <a:spLocks noChangeArrowheads="1"/>
          </p:cNvSpPr>
          <p:nvPr/>
        </p:nvSpPr>
        <p:spPr bwMode="auto">
          <a:xfrm>
            <a:off x="4291226" y="-1"/>
            <a:ext cx="790077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1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5367843" y="3799203"/>
            <a:ext cx="50803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5791200" y="1628775"/>
            <a:ext cx="2668905" cy="353695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8" name="下箭头 17"/>
          <p:cNvSpPr/>
          <p:nvPr/>
        </p:nvSpPr>
        <p:spPr>
          <a:xfrm rot="16200000">
            <a:off x="9264650" y="927100"/>
            <a:ext cx="220345" cy="1773555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210800" y="1562100"/>
            <a:ext cx="1976755" cy="1367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 b="1">
                <a:solidFill>
                  <a:schemeClr val="tx1"/>
                </a:solidFill>
                <a:latin typeface="Arial" panose="020B0704020202020204" pitchFamily="34" charset="0"/>
              </a:rPr>
              <a:t>涵盖物体运动、能量传递和光学等基本定律</a:t>
            </a:r>
          </a:p>
        </p:txBody>
      </p:sp>
      <p:sp>
        <p:nvSpPr>
          <p:cNvPr id="10" name="object 34"/>
          <p:cNvSpPr txBox="1"/>
          <p:nvPr/>
        </p:nvSpPr>
        <p:spPr>
          <a:xfrm>
            <a:off x="10245090" y="1529080"/>
            <a:ext cx="1861820" cy="1198245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vert="horz" wrap="square" lIns="0" tIns="134620" rIns="0" bIns="0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1060"/>
              </a:spcBef>
            </a:pPr>
            <a:r>
              <a:rPr kumimoji="0" lang="en-US" altLang="zh-CN" sz="2400" b="1" i="0" u="none" strike="noStrike" kern="0" cap="none" spc="-10" normalizeH="0" baseline="0" noProof="1">
                <a:latin typeface="微软雅黑" panose="020B0503020204020204" charset="-122"/>
                <a:ea typeface="Arial" panose="020B0704020202020204" pitchFamily="34" charset="0"/>
                <a:cs typeface="微软雅黑" panose="020B0503020204020204" charset="-122"/>
              </a:rPr>
              <a:t> </a:t>
            </a:r>
          </a:p>
        </p:txBody>
      </p:sp>
      <p:sp>
        <p:nvSpPr>
          <p:cNvPr id="11" name="下箭头 10"/>
          <p:cNvSpPr/>
          <p:nvPr/>
        </p:nvSpPr>
        <p:spPr>
          <a:xfrm rot="16200000">
            <a:off x="9312275" y="3695065"/>
            <a:ext cx="203835" cy="1805940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791200" y="4419600"/>
            <a:ext cx="2668905" cy="35369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3" name="object 34"/>
          <p:cNvSpPr txBox="1"/>
          <p:nvPr/>
        </p:nvSpPr>
        <p:spPr>
          <a:xfrm>
            <a:off x="10353675" y="3886200"/>
            <a:ext cx="1861820" cy="1198245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vert="horz" wrap="square" lIns="0" tIns="134620" rIns="0" bIns="0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1060"/>
              </a:spcBef>
            </a:pPr>
            <a:r>
              <a:rPr kumimoji="0" lang="en-US" altLang="zh-CN" sz="2400" b="1" i="0" u="none" strike="noStrike" kern="0" cap="none" spc="-10" normalizeH="0" baseline="0" noProof="1">
                <a:latin typeface="微软雅黑" panose="020B0503020204020204" charset="-122"/>
                <a:ea typeface="Arial" panose="020B0704020202020204" pitchFamily="34" charset="0"/>
                <a:cs typeface="微软雅黑" panose="020B0503020204020204" charset="-122"/>
              </a:rPr>
              <a:t> 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0330815" y="3940175"/>
            <a:ext cx="1976755" cy="11804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b="1">
                <a:latin typeface="Arial" panose="020B0704020202020204" pitchFamily="34" charset="0"/>
              </a:rPr>
              <a:t>涉及由多种相互作用原理产生的现实世界现象，例如人体运动</a:t>
            </a:r>
            <a:r>
              <a:rPr lang="zh-CN" altLang="en-US"/>
              <a:t>。</a:t>
            </a:r>
          </a:p>
        </p:txBody>
      </p:sp>
      <p:sp>
        <p:nvSpPr>
          <p:cNvPr id="15" name="矩形 14"/>
          <p:cNvSpPr/>
          <p:nvPr/>
        </p:nvSpPr>
        <p:spPr>
          <a:xfrm>
            <a:off x="1135380" y="4648200"/>
            <a:ext cx="1869440" cy="320675"/>
          </a:xfrm>
          <a:prstGeom prst="rect">
            <a:avLst/>
          </a:prstGeom>
          <a:noFill/>
          <a:ln w="47625"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6" name="下箭头 15"/>
          <p:cNvSpPr/>
          <p:nvPr/>
        </p:nvSpPr>
        <p:spPr>
          <a:xfrm>
            <a:off x="798830" y="5867400"/>
            <a:ext cx="471170" cy="293370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object 34"/>
          <p:cNvSpPr txBox="1"/>
          <p:nvPr/>
        </p:nvSpPr>
        <p:spPr>
          <a:xfrm>
            <a:off x="1295400" y="5828665"/>
            <a:ext cx="10819765" cy="876935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vert="horz" wrap="square" lIns="0" tIns="134620" rIns="0" bIns="0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1060"/>
              </a:spcBef>
            </a:pPr>
            <a:r>
              <a:rPr kumimoji="0" lang="en-US" altLang="zh-CN" sz="2400" b="1" i="0" u="none" strike="noStrike" kern="0" cap="none" spc="-10" normalizeH="0" baseline="0" noProof="1">
                <a:latin typeface="微软雅黑" panose="020B0503020204020204" charset="-122"/>
                <a:ea typeface="Arial" panose="020B0704020202020204" pitchFamily="34" charset="0"/>
                <a:cs typeface="微软雅黑" panose="020B0503020204020204" charset="-122"/>
              </a:rPr>
              <a:t> </a:t>
            </a:r>
          </a:p>
        </p:txBody>
      </p:sp>
      <p:sp>
        <p:nvSpPr>
          <p:cNvPr id="29" name="五角星 28"/>
          <p:cNvSpPr/>
          <p:nvPr/>
        </p:nvSpPr>
        <p:spPr>
          <a:xfrm>
            <a:off x="381000" y="4572000"/>
            <a:ext cx="533400" cy="381000"/>
          </a:xfrm>
          <a:prstGeom prst="star5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1270635" y="5773420"/>
            <a:ext cx="10750550" cy="967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000" b="1">
                <a:latin typeface="Arial" panose="020B0704020202020204" pitchFamily="34" charset="0"/>
                <a:cs typeface="Arial" panose="020B0704020202020204" pitchFamily="34" charset="0"/>
              </a:rPr>
              <a:t>Prompt </a:t>
            </a:r>
            <a:r>
              <a:rPr lang="zh-CN" altLang="en-US" sz="2000" b="1">
                <a:latin typeface="Arial" panose="020B0704020202020204" pitchFamily="34" charset="0"/>
                <a:cs typeface="Arial" panose="020B0704020202020204" pitchFamily="34" charset="0"/>
              </a:rPr>
              <a:t>中主动指定一种违反现实物理规律的现象</a:t>
            </a:r>
            <a:r>
              <a:rPr lang="en-US" altLang="zh-CN" sz="2000" b="1">
                <a:latin typeface="Arial" panose="020B0704020202020204" pitchFamily="34" charset="0"/>
                <a:cs typeface="Arial" panose="020B0704020202020204" pitchFamily="34" charset="0"/>
              </a:rPr>
              <a:t>，</a:t>
            </a:r>
            <a:r>
              <a:rPr lang="zh-CN" altLang="en-US" sz="2000" b="1">
                <a:latin typeface="Arial" panose="020B0704020202020204" pitchFamily="34" charset="0"/>
                <a:cs typeface="Arial" panose="020B0704020202020204" pitchFamily="34" charset="0"/>
              </a:rPr>
              <a:t>如违反重力</a:t>
            </a:r>
            <a:r>
              <a:rPr lang="en-US" altLang="zh-CN" sz="2000" b="1">
                <a:latin typeface="Arial" panose="020B0704020202020204" pitchFamily="34" charset="0"/>
                <a:cs typeface="Arial" panose="020B0704020202020204" pitchFamily="34" charset="0"/>
              </a:rPr>
              <a:t>。</a:t>
            </a:r>
            <a:r>
              <a:rPr lang="zh-CN" altLang="en-US" sz="2000" b="1">
                <a:latin typeface="Arial" panose="020B0704020202020204" pitchFamily="34" charset="0"/>
                <a:cs typeface="Arial" panose="020B0704020202020204" pitchFamily="34" charset="0"/>
              </a:rPr>
              <a:t>通过生成的视频检验</a:t>
            </a:r>
            <a:r>
              <a:rPr lang="en-US" altLang="zh-CN" sz="2000" b="1">
                <a:latin typeface="Arial" panose="020B0704020202020204" pitchFamily="34" charset="0"/>
                <a:cs typeface="Arial" panose="020B0704020202020204" pitchFamily="34" charset="0"/>
              </a:rPr>
              <a:t>Model</a:t>
            </a:r>
            <a:r>
              <a:rPr lang="zh-CN" altLang="en-US" sz="2000" b="1">
                <a:latin typeface="Arial" panose="020B0704020202020204" pitchFamily="34" charset="0"/>
                <a:cs typeface="Arial" panose="020B0704020202020204" pitchFamily="34" charset="0"/>
              </a:rPr>
              <a:t>能否真正理解物理规律</a:t>
            </a:r>
            <a:r>
              <a:rPr lang="en-US" altLang="zh-CN" sz="2000" b="1">
                <a:latin typeface="Arial" panose="020B0704020202020204" pitchFamily="34" charset="0"/>
                <a:cs typeface="Arial" panose="020B0704020202020204" pitchFamily="34" charset="0"/>
              </a:rPr>
              <a:t>。”</a:t>
            </a:r>
            <a:r>
              <a:rPr lang="zh-CN" altLang="en-US" sz="2000" b="1">
                <a:latin typeface="Arial" panose="020B0704020202020204" pitchFamily="34" charset="0"/>
                <a:cs typeface="Arial" panose="020B0704020202020204" pitchFamily="34" charset="0"/>
              </a:rPr>
              <a:t>杯子放在桌上，杯中的酒受到反向重力。”酒是否连续向上升起并形成液柱；液滴是否平滑悬浮和运动，而不是随机闪现或直接消失。</a:t>
            </a:r>
          </a:p>
        </p:txBody>
      </p:sp>
      <p:graphicFrame>
        <p:nvGraphicFramePr>
          <p:cNvPr id="31" name="表格 30"/>
          <p:cNvGraphicFramePr/>
          <p:nvPr/>
        </p:nvGraphicFramePr>
        <p:xfrm>
          <a:off x="1158240" y="3261360"/>
          <a:ext cx="10485120" cy="0"/>
        </p:xfrm>
        <a:graphic>
          <a:graphicData uri="http://schemas.openxmlformats.org/drawingml/2006/table">
            <a:tbl>
              <a:tblPr/>
              <a:tblGrid>
                <a:gridCol w="1048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/>
          <p:nvPr/>
        </p:nvGraphicFramePr>
        <p:xfrm>
          <a:off x="1158240" y="3261360"/>
          <a:ext cx="10485120" cy="0"/>
        </p:xfrm>
        <a:graphic>
          <a:graphicData uri="http://schemas.openxmlformats.org/drawingml/2006/table">
            <a:tbl>
              <a:tblPr/>
              <a:tblGrid>
                <a:gridCol w="1048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/>
          <p:nvPr/>
        </p:nvGraphicFramePr>
        <p:xfrm>
          <a:off x="1158240" y="3261360"/>
          <a:ext cx="10485120" cy="0"/>
        </p:xfrm>
        <a:graphic>
          <a:graphicData uri="http://schemas.openxmlformats.org/drawingml/2006/table">
            <a:tbl>
              <a:tblPr/>
              <a:tblGrid>
                <a:gridCol w="1048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/>
          <p:nvPr/>
        </p:nvGraphicFramePr>
        <p:xfrm>
          <a:off x="1158240" y="3261360"/>
          <a:ext cx="10485120" cy="0"/>
        </p:xfrm>
        <a:graphic>
          <a:graphicData uri="http://schemas.openxmlformats.org/drawingml/2006/table">
            <a:tbl>
              <a:tblPr/>
              <a:tblGrid>
                <a:gridCol w="1048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/>
          <p:nvPr/>
        </p:nvGraphicFramePr>
        <p:xfrm>
          <a:off x="1158240" y="3261360"/>
          <a:ext cx="10485120" cy="0"/>
        </p:xfrm>
        <a:graphic>
          <a:graphicData uri="http://schemas.openxmlformats.org/drawingml/2006/table">
            <a:tbl>
              <a:tblPr/>
              <a:tblGrid>
                <a:gridCol w="1048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矩形 22"/>
          <p:cNvSpPr/>
          <p:nvPr/>
        </p:nvSpPr>
        <p:spPr>
          <a:xfrm>
            <a:off x="1131570" y="4114800"/>
            <a:ext cx="1869440" cy="320675"/>
          </a:xfrm>
          <a:prstGeom prst="rect">
            <a:avLst/>
          </a:prstGeom>
          <a:noFill/>
          <a:ln w="47625"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24" name="下箭头 23"/>
          <p:cNvSpPr/>
          <p:nvPr/>
        </p:nvSpPr>
        <p:spPr>
          <a:xfrm rot="7800000">
            <a:off x="827405" y="3620135"/>
            <a:ext cx="158750" cy="641985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object 34"/>
          <p:cNvSpPr txBox="1"/>
          <p:nvPr/>
        </p:nvSpPr>
        <p:spPr>
          <a:xfrm>
            <a:off x="175260" y="2421890"/>
            <a:ext cx="1083945" cy="1045845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vert="horz" wrap="square" lIns="0" tIns="134620" rIns="0" bIns="0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1060"/>
              </a:spcBef>
            </a:pPr>
            <a:r>
              <a:rPr kumimoji="0" lang="en-US" altLang="zh-CN" sz="2400" b="1" i="0" u="none" strike="noStrike" kern="0" cap="none" spc="-10" normalizeH="0" baseline="0" noProof="1">
                <a:latin typeface="微软雅黑" panose="020B0503020204020204" charset="-122"/>
                <a:ea typeface="Arial" panose="020B0704020202020204" pitchFamily="34" charset="0"/>
                <a:cs typeface="微软雅黑" panose="020B0503020204020204" charset="-122"/>
              </a:rPr>
              <a:t> 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152400" y="2552065"/>
            <a:ext cx="1151255" cy="11804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b="1">
                <a:latin typeface="Arial" panose="020B0704020202020204" pitchFamily="34" charset="0"/>
                <a:cs typeface="Arial" panose="020B0704020202020204" pitchFamily="34" charset="0"/>
              </a:rPr>
              <a:t>构造三种类型的</a:t>
            </a:r>
            <a:r>
              <a:rPr lang="en-US" altLang="zh-CN" b="1">
                <a:latin typeface="Arial" panose="020B0704020202020204" pitchFamily="34" charset="0"/>
                <a:cs typeface="Arial" panose="020B0704020202020204" pitchFamily="34" charset="0"/>
              </a:rPr>
              <a:t>Prompt</a:t>
            </a: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350"/>
            <a:ext cx="722630" cy="1123950"/>
          </a:xfrm>
          <a:custGeom>
            <a:avLst/>
            <a:gdLst/>
            <a:ahLst/>
            <a:cxnLst/>
            <a:rect l="l" t="t" r="r" b="b"/>
            <a:pathLst>
              <a:path w="722630" h="1123950">
                <a:moveTo>
                  <a:pt x="261493" y="672592"/>
                </a:moveTo>
                <a:lnTo>
                  <a:pt x="0" y="824268"/>
                </a:lnTo>
                <a:lnTo>
                  <a:pt x="0" y="1123911"/>
                </a:lnTo>
                <a:lnTo>
                  <a:pt x="69240" y="1108341"/>
                </a:lnTo>
                <a:lnTo>
                  <a:pt x="116586" y="1090980"/>
                </a:lnTo>
                <a:lnTo>
                  <a:pt x="163779" y="1066901"/>
                </a:lnTo>
                <a:lnTo>
                  <a:pt x="206527" y="1035481"/>
                </a:lnTo>
                <a:lnTo>
                  <a:pt x="240538" y="996111"/>
                </a:lnTo>
                <a:lnTo>
                  <a:pt x="261493" y="948182"/>
                </a:lnTo>
                <a:lnTo>
                  <a:pt x="261493" y="672592"/>
                </a:lnTo>
                <a:close/>
              </a:path>
              <a:path w="722630" h="1123950">
                <a:moveTo>
                  <a:pt x="672490" y="773684"/>
                </a:moveTo>
                <a:lnTo>
                  <a:pt x="669036" y="773684"/>
                </a:lnTo>
                <a:lnTo>
                  <a:pt x="669036" y="1072261"/>
                </a:lnTo>
                <a:lnTo>
                  <a:pt x="672490" y="1072261"/>
                </a:lnTo>
                <a:lnTo>
                  <a:pt x="672490" y="773684"/>
                </a:lnTo>
                <a:close/>
              </a:path>
              <a:path w="722630" h="1123950">
                <a:moveTo>
                  <a:pt x="680808" y="773684"/>
                </a:moveTo>
                <a:lnTo>
                  <a:pt x="677354" y="773684"/>
                </a:lnTo>
                <a:lnTo>
                  <a:pt x="677354" y="1072261"/>
                </a:lnTo>
                <a:lnTo>
                  <a:pt x="680808" y="1072261"/>
                </a:lnTo>
                <a:lnTo>
                  <a:pt x="680808" y="773684"/>
                </a:lnTo>
                <a:close/>
              </a:path>
              <a:path w="722630" h="1123950">
                <a:moveTo>
                  <a:pt x="689114" y="773684"/>
                </a:moveTo>
                <a:lnTo>
                  <a:pt x="685660" y="773684"/>
                </a:lnTo>
                <a:lnTo>
                  <a:pt x="685660" y="1072261"/>
                </a:lnTo>
                <a:lnTo>
                  <a:pt x="689114" y="1072261"/>
                </a:lnTo>
                <a:lnTo>
                  <a:pt x="689114" y="773684"/>
                </a:lnTo>
                <a:close/>
              </a:path>
              <a:path w="722630" h="1123950">
                <a:moveTo>
                  <a:pt x="696468" y="395859"/>
                </a:moveTo>
                <a:lnTo>
                  <a:pt x="0" y="0"/>
                </a:lnTo>
                <a:lnTo>
                  <a:pt x="0" y="395859"/>
                </a:lnTo>
                <a:lnTo>
                  <a:pt x="696468" y="395859"/>
                </a:lnTo>
                <a:close/>
              </a:path>
              <a:path w="722630" h="1123950">
                <a:moveTo>
                  <a:pt x="697433" y="773684"/>
                </a:moveTo>
                <a:lnTo>
                  <a:pt x="693978" y="773684"/>
                </a:lnTo>
                <a:lnTo>
                  <a:pt x="693978" y="1072261"/>
                </a:lnTo>
                <a:lnTo>
                  <a:pt x="697433" y="1072261"/>
                </a:lnTo>
                <a:lnTo>
                  <a:pt x="697433" y="773684"/>
                </a:lnTo>
                <a:close/>
              </a:path>
              <a:path w="722630" h="1123950">
                <a:moveTo>
                  <a:pt x="705751" y="773684"/>
                </a:moveTo>
                <a:lnTo>
                  <a:pt x="702297" y="773684"/>
                </a:lnTo>
                <a:lnTo>
                  <a:pt x="702297" y="1072261"/>
                </a:lnTo>
                <a:lnTo>
                  <a:pt x="705751" y="1072261"/>
                </a:lnTo>
                <a:lnTo>
                  <a:pt x="705751" y="773684"/>
                </a:lnTo>
                <a:close/>
              </a:path>
              <a:path w="722630" h="1123950">
                <a:moveTo>
                  <a:pt x="705840" y="667893"/>
                </a:moveTo>
                <a:lnTo>
                  <a:pt x="703135" y="664083"/>
                </a:lnTo>
                <a:lnTo>
                  <a:pt x="699401" y="662686"/>
                </a:lnTo>
                <a:lnTo>
                  <a:pt x="699401" y="404749"/>
                </a:lnTo>
                <a:lnTo>
                  <a:pt x="694004" y="404749"/>
                </a:lnTo>
                <a:lnTo>
                  <a:pt x="696468" y="403352"/>
                </a:lnTo>
                <a:lnTo>
                  <a:pt x="0" y="403352"/>
                </a:lnTo>
                <a:lnTo>
                  <a:pt x="0" y="799223"/>
                </a:lnTo>
                <a:lnTo>
                  <a:pt x="692010" y="405892"/>
                </a:lnTo>
                <a:lnTo>
                  <a:pt x="692010" y="662686"/>
                </a:lnTo>
                <a:lnTo>
                  <a:pt x="688276" y="664083"/>
                </a:lnTo>
                <a:lnTo>
                  <a:pt x="685660" y="667893"/>
                </a:lnTo>
                <a:lnTo>
                  <a:pt x="685660" y="677926"/>
                </a:lnTo>
                <a:lnTo>
                  <a:pt x="690143" y="682498"/>
                </a:lnTo>
                <a:lnTo>
                  <a:pt x="701268" y="682498"/>
                </a:lnTo>
                <a:lnTo>
                  <a:pt x="705840" y="677926"/>
                </a:lnTo>
                <a:lnTo>
                  <a:pt x="705840" y="667893"/>
                </a:lnTo>
                <a:close/>
              </a:path>
              <a:path w="722630" h="1123950">
                <a:moveTo>
                  <a:pt x="714057" y="773684"/>
                </a:moveTo>
                <a:lnTo>
                  <a:pt x="710603" y="773684"/>
                </a:lnTo>
                <a:lnTo>
                  <a:pt x="710603" y="1072261"/>
                </a:lnTo>
                <a:lnTo>
                  <a:pt x="714057" y="1072261"/>
                </a:lnTo>
                <a:lnTo>
                  <a:pt x="714057" y="773684"/>
                </a:lnTo>
                <a:close/>
              </a:path>
              <a:path w="722630" h="1123950">
                <a:moveTo>
                  <a:pt x="722376" y="773684"/>
                </a:moveTo>
                <a:lnTo>
                  <a:pt x="718921" y="773684"/>
                </a:lnTo>
                <a:lnTo>
                  <a:pt x="718921" y="1072261"/>
                </a:lnTo>
                <a:lnTo>
                  <a:pt x="722376" y="1072261"/>
                </a:lnTo>
                <a:lnTo>
                  <a:pt x="722376" y="773684"/>
                </a:lnTo>
                <a:close/>
              </a:path>
              <a:path w="722630" h="1123950">
                <a:moveTo>
                  <a:pt x="722376" y="760857"/>
                </a:moveTo>
                <a:lnTo>
                  <a:pt x="669036" y="760857"/>
                </a:lnTo>
                <a:lnTo>
                  <a:pt x="669036" y="764667"/>
                </a:lnTo>
                <a:lnTo>
                  <a:pt x="722376" y="764667"/>
                </a:lnTo>
                <a:lnTo>
                  <a:pt x="722376" y="760857"/>
                </a:lnTo>
                <a:close/>
              </a:path>
              <a:path w="722630" h="1123950">
                <a:moveTo>
                  <a:pt x="722376" y="720344"/>
                </a:moveTo>
                <a:lnTo>
                  <a:pt x="720267" y="709777"/>
                </a:lnTo>
                <a:lnTo>
                  <a:pt x="714552" y="701141"/>
                </a:lnTo>
                <a:lnTo>
                  <a:pt x="706094" y="695312"/>
                </a:lnTo>
                <a:lnTo>
                  <a:pt x="695756" y="693166"/>
                </a:lnTo>
                <a:lnTo>
                  <a:pt x="685355" y="695312"/>
                </a:lnTo>
                <a:lnTo>
                  <a:pt x="676859" y="701141"/>
                </a:lnTo>
                <a:lnTo>
                  <a:pt x="671131" y="709777"/>
                </a:lnTo>
                <a:lnTo>
                  <a:pt x="669036" y="720344"/>
                </a:lnTo>
                <a:lnTo>
                  <a:pt x="669036" y="754507"/>
                </a:lnTo>
                <a:lnTo>
                  <a:pt x="722376" y="754507"/>
                </a:lnTo>
                <a:lnTo>
                  <a:pt x="722376" y="720344"/>
                </a:lnTo>
                <a:close/>
              </a:path>
            </a:pathLst>
          </a:custGeom>
          <a:solidFill>
            <a:srgbClr val="5095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9728" y="171068"/>
            <a:ext cx="657415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sz="2800" spc="-35" dirty="0">
                <a:solidFill>
                  <a:srgbClr val="000000"/>
                </a:solidFill>
                <a:sym typeface="+mn-ea"/>
              </a:rPr>
              <a:t>三</a:t>
            </a:r>
            <a:r>
              <a:rPr sz="2800" spc="-35" dirty="0">
                <a:solidFill>
                  <a:srgbClr val="000000"/>
                </a:solidFill>
                <a:sym typeface="+mn-ea"/>
              </a:rPr>
              <a:t>、</a:t>
            </a:r>
            <a:r>
              <a:rPr lang="zh-CN" sz="2800" spc="-35" dirty="0">
                <a:solidFill>
                  <a:srgbClr val="000000"/>
                </a:solidFill>
                <a:sym typeface="+mn-ea"/>
              </a:rPr>
              <a:t>怎么评</a:t>
            </a:r>
          </a:p>
        </p:txBody>
      </p:sp>
      <p:sp>
        <p:nvSpPr>
          <p:cNvPr id="4" name="object 4"/>
          <p:cNvSpPr/>
          <p:nvPr/>
        </p:nvSpPr>
        <p:spPr>
          <a:xfrm>
            <a:off x="901446" y="814577"/>
            <a:ext cx="10967085" cy="0"/>
          </a:xfrm>
          <a:custGeom>
            <a:avLst/>
            <a:gdLst/>
            <a:ahLst/>
            <a:cxnLst/>
            <a:rect l="l" t="t" r="r" b="b"/>
            <a:pathLst>
              <a:path w="10967085">
                <a:moveTo>
                  <a:pt x="0" y="0"/>
                </a:moveTo>
                <a:lnTo>
                  <a:pt x="10966831" y="0"/>
                </a:lnTo>
              </a:path>
            </a:pathLst>
          </a:custGeom>
          <a:ln w="38100">
            <a:solidFill>
              <a:srgbClr val="1C04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5" name="object 45"/>
          <p:cNvGrpSpPr/>
          <p:nvPr/>
        </p:nvGrpSpPr>
        <p:grpSpPr>
          <a:xfrm>
            <a:off x="0" y="6428956"/>
            <a:ext cx="12192000" cy="436370"/>
            <a:chOff x="0" y="6422138"/>
            <a:chExt cx="12192000" cy="436370"/>
          </a:xfrm>
        </p:grpSpPr>
        <p:sp>
          <p:nvSpPr>
            <p:cNvPr id="46" name="object 46"/>
            <p:cNvSpPr/>
            <p:nvPr/>
          </p:nvSpPr>
          <p:spPr>
            <a:xfrm>
              <a:off x="0" y="6426708"/>
              <a:ext cx="12192000" cy="431800"/>
            </a:xfrm>
            <a:custGeom>
              <a:avLst/>
              <a:gdLst/>
              <a:ahLst/>
              <a:cxnLst/>
              <a:rect l="l" t="t" r="r" b="b"/>
              <a:pathLst>
                <a:path w="12192000" h="431800">
                  <a:moveTo>
                    <a:pt x="12192000" y="0"/>
                  </a:moveTo>
                  <a:lnTo>
                    <a:pt x="0" y="0"/>
                  </a:lnTo>
                  <a:lnTo>
                    <a:pt x="0" y="431291"/>
                  </a:lnTo>
                  <a:lnTo>
                    <a:pt x="12192000" y="431291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8EB4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422138"/>
              <a:ext cx="1131570" cy="433590"/>
            </a:xfrm>
            <a:prstGeom prst="rect">
              <a:avLst/>
            </a:prstGeom>
          </p:spPr>
        </p:pic>
      </p:grp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xfrm>
            <a:off x="131470" y="6499665"/>
            <a:ext cx="904875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dirty="0"/>
              <a:t>Page</a:t>
            </a:r>
            <a:r>
              <a:rPr spc="-20" dirty="0"/>
              <a:t> </a:t>
            </a:r>
            <a:r>
              <a:rPr lang="en-US" spc="-20" dirty="0"/>
              <a:t>4</a:t>
            </a:r>
          </a:p>
        </p:txBody>
      </p:sp>
      <p:sp>
        <p:nvSpPr>
          <p:cNvPr id="6" name="矩形 5"/>
          <p:cNvSpPr/>
          <p:nvPr/>
        </p:nvSpPr>
        <p:spPr>
          <a:xfrm>
            <a:off x="1086485" y="872490"/>
            <a:ext cx="9883775" cy="6026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05"/>
              </a:spcBef>
              <a:defRPr/>
            </a:pPr>
            <a:r>
              <a:rPr lang="en-US" altLang="zh-CN" sz="2800" b="1" spc="-35" dirty="0">
                <a:solidFill>
                  <a:srgbClr val="000000"/>
                </a:solidFill>
                <a:latin typeface="微软雅黑" panose="020B0503020204020204" charset="-122"/>
                <a:ea typeface="+mj-ea"/>
                <a:cs typeface="+mn-ea"/>
              </a:rPr>
              <a:t>     </a:t>
            </a:r>
            <a:r>
              <a:rPr lang="zh-CN" altLang="en-US" sz="2800" b="1" spc="-35" dirty="0">
                <a:solidFill>
                  <a:srgbClr val="000000"/>
                </a:solidFill>
                <a:latin typeface="微软雅黑" panose="020B0503020204020204" charset="-122"/>
                <a:ea typeface="+mj-ea"/>
                <a:cs typeface="+mn-ea"/>
              </a:rPr>
              <a:t>通过</a:t>
            </a:r>
            <a:r>
              <a:rPr lang="en-US" altLang="zh-CN" sz="2800" b="1" spc="-35" dirty="0">
                <a:solidFill>
                  <a:srgbClr val="000000"/>
                </a:solidFill>
                <a:latin typeface="微软雅黑" panose="020B0503020204020204" charset="-122"/>
                <a:ea typeface="+mj-ea"/>
                <a:cs typeface="+mn-ea"/>
              </a:rPr>
              <a:t>CAP，</a:t>
            </a:r>
            <a:r>
              <a:rPr lang="zh-CN" altLang="en-US" sz="2800" b="1" spc="-35" dirty="0">
                <a:solidFill>
                  <a:srgbClr val="000000"/>
                </a:solidFill>
                <a:latin typeface="微软雅黑" panose="020B0503020204020204" charset="-122"/>
                <a:ea typeface="+mj-ea"/>
                <a:cs typeface="+mn-ea"/>
              </a:rPr>
              <a:t>让</a:t>
            </a:r>
            <a:r>
              <a:rPr lang="en-US" altLang="zh-CN" sz="2800" b="1" spc="-35" dirty="0">
                <a:solidFill>
                  <a:srgbClr val="000000"/>
                </a:solidFill>
                <a:latin typeface="微软雅黑" panose="020B0503020204020204" charset="-122"/>
                <a:ea typeface="+mj-ea"/>
                <a:cs typeface="+mn-ea"/>
              </a:rPr>
              <a:t>Train-free</a:t>
            </a:r>
            <a:r>
              <a:rPr lang="zh-CN" altLang="en-US" sz="2800" b="1" spc="-35" dirty="0">
                <a:solidFill>
                  <a:srgbClr val="000000"/>
                </a:solidFill>
                <a:latin typeface="微软雅黑" panose="020B0503020204020204" charset="-122"/>
                <a:ea typeface="+mj-ea"/>
                <a:cs typeface="+mn-ea"/>
              </a:rPr>
              <a:t>的</a:t>
            </a:r>
            <a:r>
              <a:rPr lang="en-US" altLang="zh-CN" sz="2800" b="1" spc="-35" dirty="0">
                <a:solidFill>
                  <a:srgbClr val="000000"/>
                </a:solidFill>
                <a:latin typeface="微软雅黑" panose="020B0503020204020204" charset="-122"/>
                <a:ea typeface="+mj-ea"/>
                <a:cs typeface="+mn-ea"/>
              </a:rPr>
              <a:t>MLLM GPT-o1 </a:t>
            </a:r>
            <a:r>
              <a:rPr lang="zh-CN" altLang="en-US" sz="2800" b="1" spc="-35" dirty="0">
                <a:solidFill>
                  <a:srgbClr val="000000"/>
                </a:solidFill>
                <a:latin typeface="微软雅黑" panose="020B0503020204020204" charset="-122"/>
                <a:ea typeface="+mj-ea"/>
                <a:cs typeface="+mn-ea"/>
              </a:rPr>
              <a:t>进行质量评价</a:t>
            </a: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1244933" y="1452987"/>
            <a:ext cx="180595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0" name="Rectangle 6"/>
          <p:cNvSpPr>
            <a:spLocks noChangeArrowheads="1"/>
          </p:cNvSpPr>
          <p:nvPr/>
        </p:nvSpPr>
        <p:spPr bwMode="auto">
          <a:xfrm>
            <a:off x="4291226" y="-1"/>
            <a:ext cx="790077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1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4" name="object 19"/>
          <p:cNvSpPr/>
          <p:nvPr/>
        </p:nvSpPr>
        <p:spPr>
          <a:xfrm>
            <a:off x="6817995" y="131445"/>
            <a:ext cx="4991735" cy="603250"/>
          </a:xfrm>
          <a:custGeom>
            <a:avLst/>
            <a:gdLst/>
            <a:ahLst/>
            <a:cxnLst/>
            <a:rect l="l" t="t" r="r" b="b"/>
            <a:pathLst>
              <a:path w="6131559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6042151" y="0"/>
                </a:lnTo>
                <a:lnTo>
                  <a:pt x="6076777" y="6979"/>
                </a:lnTo>
                <a:lnTo>
                  <a:pt x="6105032" y="26019"/>
                </a:lnTo>
                <a:lnTo>
                  <a:pt x="6124072" y="54274"/>
                </a:lnTo>
                <a:lnTo>
                  <a:pt x="6131051" y="88900"/>
                </a:lnTo>
                <a:lnTo>
                  <a:pt x="6131051" y="444500"/>
                </a:lnTo>
                <a:lnTo>
                  <a:pt x="6124072" y="479125"/>
                </a:lnTo>
                <a:lnTo>
                  <a:pt x="6105032" y="507380"/>
                </a:lnTo>
                <a:lnTo>
                  <a:pt x="6076777" y="526420"/>
                </a:lnTo>
                <a:lnTo>
                  <a:pt x="6042151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38100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文本框 46"/>
          <p:cNvSpPr txBox="1"/>
          <p:nvPr/>
        </p:nvSpPr>
        <p:spPr>
          <a:xfrm>
            <a:off x="1219200" y="2438400"/>
            <a:ext cx="5081270" cy="19278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zh-CN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b="46559"/>
          <a:stretch>
            <a:fillRect/>
          </a:stretch>
        </p:blipFill>
        <p:spPr>
          <a:xfrm>
            <a:off x="152400" y="1600200"/>
            <a:ext cx="12132945" cy="23622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300470" y="170815"/>
            <a:ext cx="5982970" cy="7969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altLang="zh-CN" sz="2400" b="1" spc="-10" dirty="0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lang="zh-CN" altLang="en-US" sz="2400" b="1" spc="-10" dirty="0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</a:rPr>
              <a:t>如何实现</a:t>
            </a:r>
            <a:r>
              <a:rPr lang="en-US" altLang="zh-CN" sz="2400" b="1" spc="-10" dirty="0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</a:rPr>
              <a:t>MLLM</a:t>
            </a:r>
            <a:r>
              <a:rPr lang="zh-CN" altLang="en-US" sz="2400" b="1" spc="-10" dirty="0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2400" b="1" spc="-10" dirty="0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</a:rPr>
              <a:t>Zero Shot</a:t>
            </a:r>
          </a:p>
        </p:txBody>
      </p:sp>
      <p:sp>
        <p:nvSpPr>
          <p:cNvPr id="44" name="矩形 43"/>
          <p:cNvSpPr/>
          <p:nvPr/>
        </p:nvSpPr>
        <p:spPr>
          <a:xfrm>
            <a:off x="304800" y="4267200"/>
            <a:ext cx="11846560" cy="1938020"/>
          </a:xfrm>
          <a:prstGeom prst="rect">
            <a:avLst/>
          </a:prstGeom>
          <a:noFill/>
          <a:ln w="28575">
            <a:solidFill>
              <a:srgbClr val="2E8FEB"/>
            </a:solidFill>
            <a:prstDash val="das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Arial" panose="020B0704020202020204" pitchFamily="34" charset="0"/>
              <a:ea typeface="Arial" panose="020B0704020202020204" pitchFamily="34" charset="0"/>
              <a:cs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304800" y="4282440"/>
            <a:ext cx="11647170" cy="1897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2400" b="1" dirty="0">
                <a:solidFill>
                  <a:srgbClr val="C00000"/>
                </a:solidFill>
                <a:latin typeface="Arial" panose="020B0704020202020204" pitchFamily="34" charset="0"/>
                <a:sym typeface="+mn-ea"/>
              </a:rPr>
              <a:t>CAP =Context Awareness+Two-stage Structured Reasoning</a:t>
            </a:r>
          </a:p>
          <a:p>
            <a:pPr>
              <a:lnSpc>
                <a:spcPct val="110000"/>
              </a:lnSpc>
            </a:pPr>
            <a:r>
              <a:rPr kumimoji="1" lang="zh-CN" altLang="en-US" sz="22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非常朴素的思想</a:t>
            </a:r>
            <a:r>
              <a:rPr kumimoji="1" lang="en-US" altLang="zh-CN" sz="22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。</a:t>
            </a:r>
            <a:r>
              <a:rPr kumimoji="1" lang="zh-CN" altLang="en-US" sz="22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第一阶段是描述这个</a:t>
            </a:r>
            <a:r>
              <a:rPr kumimoji="1" lang="en-US" altLang="zh-CN" sz="22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AI</a:t>
            </a:r>
            <a:r>
              <a:rPr kumimoji="1" lang="zh-CN" altLang="en-US" sz="22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生成的</a:t>
            </a:r>
            <a:r>
              <a:rPr kumimoji="1" lang="en-US" altLang="zh-CN" sz="22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Video</a:t>
            </a:r>
            <a:r>
              <a:rPr kumimoji="1" lang="zh-CN" altLang="en-US" sz="22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出现了什么问题</a:t>
            </a:r>
            <a:r>
              <a:rPr kumimoji="1" lang="en-US" altLang="zh-CN" sz="22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，</a:t>
            </a:r>
            <a:r>
              <a:rPr kumimoji="1" lang="zh-CN" altLang="en-US" sz="22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第二阶段是按照作者设计的</a:t>
            </a:r>
            <a:r>
              <a:rPr kumimoji="1" lang="en-US" altLang="zh-CN" sz="22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Standards</a:t>
            </a:r>
            <a:r>
              <a:rPr kumimoji="1" lang="zh-CN" altLang="en-US" sz="22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进行打分。</a:t>
            </a:r>
            <a:r>
              <a:rPr kumimoji="1" lang="en-US" altLang="zh-CN" sz="22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CAP</a:t>
            </a:r>
            <a:r>
              <a:rPr kumimoji="1" lang="zh-CN" altLang="en-US" sz="22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就是让模型在评测前</a:t>
            </a:r>
            <a:r>
              <a:rPr kumimoji="1" lang="en-US" altLang="zh-CN" sz="22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，</a:t>
            </a:r>
            <a:r>
              <a:rPr kumimoji="1" lang="zh-CN" altLang="en-US" sz="22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引导下模型这是</a:t>
            </a:r>
            <a:r>
              <a:rPr kumimoji="1" lang="en-US" altLang="zh-CN" sz="22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AI</a:t>
            </a:r>
            <a:r>
              <a:rPr kumimoji="1" lang="zh-CN" altLang="en-US" sz="22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生成的视频</a:t>
            </a:r>
            <a:r>
              <a:rPr kumimoji="1" lang="en-US" altLang="zh-CN" sz="22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，</a:t>
            </a:r>
            <a:r>
              <a:rPr kumimoji="1" lang="zh-CN" altLang="en-US" sz="22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会存在物理问题</a:t>
            </a:r>
            <a:r>
              <a:rPr kumimoji="1" lang="en-US" altLang="zh-CN" sz="22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，</a:t>
            </a:r>
            <a:r>
              <a:rPr kumimoji="1" lang="zh-CN" altLang="en-US" sz="22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模型才会往物理问题上思考</a:t>
            </a:r>
            <a:r>
              <a:rPr kumimoji="1" lang="en-US" altLang="zh-CN" sz="22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，</a:t>
            </a:r>
            <a:r>
              <a:rPr kumimoji="1" lang="zh-CN" altLang="en-US" sz="22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但是如果是不引导</a:t>
            </a:r>
            <a:r>
              <a:rPr kumimoji="1" lang="en-US" altLang="zh-CN" sz="22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，</a:t>
            </a:r>
            <a:r>
              <a:rPr kumimoji="1" lang="zh-CN" altLang="en-US" sz="22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模型会更加注重美学</a:t>
            </a:r>
            <a:r>
              <a:rPr kumimoji="1" lang="en-US" altLang="zh-CN" sz="22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、</a:t>
            </a:r>
            <a:r>
              <a:rPr kumimoji="1" lang="zh-CN" altLang="en-US" sz="22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物品</a:t>
            </a:r>
            <a:r>
              <a:rPr kumimoji="1" lang="en-US" altLang="zh-CN" sz="22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、</a:t>
            </a:r>
            <a:r>
              <a:rPr kumimoji="1" lang="zh-CN" altLang="en-US" sz="22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场景的描述</a:t>
            </a:r>
            <a:r>
              <a:rPr kumimoji="1" lang="en-US" altLang="zh-CN" sz="22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。</a:t>
            </a:r>
          </a:p>
          <a:p>
            <a:pPr>
              <a:lnSpc>
                <a:spcPct val="110000"/>
              </a:lnSpc>
            </a:pPr>
            <a:endParaRPr kumimoji="1" lang="zh-CN" altLang="en-US" sz="2000" dirty="0"/>
          </a:p>
          <a:p>
            <a:pPr>
              <a:lnSpc>
                <a:spcPct val="110000"/>
              </a:lnSpc>
            </a:pPr>
            <a:endParaRPr kumimoji="1" lang="en-US" altLang="zh-CN" sz="2000" dirty="0"/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350"/>
            <a:ext cx="722630" cy="1123950"/>
          </a:xfrm>
          <a:custGeom>
            <a:avLst/>
            <a:gdLst/>
            <a:ahLst/>
            <a:cxnLst/>
            <a:rect l="l" t="t" r="r" b="b"/>
            <a:pathLst>
              <a:path w="722630" h="1123950">
                <a:moveTo>
                  <a:pt x="261493" y="672592"/>
                </a:moveTo>
                <a:lnTo>
                  <a:pt x="0" y="824268"/>
                </a:lnTo>
                <a:lnTo>
                  <a:pt x="0" y="1123911"/>
                </a:lnTo>
                <a:lnTo>
                  <a:pt x="69240" y="1108341"/>
                </a:lnTo>
                <a:lnTo>
                  <a:pt x="116586" y="1090980"/>
                </a:lnTo>
                <a:lnTo>
                  <a:pt x="163779" y="1066901"/>
                </a:lnTo>
                <a:lnTo>
                  <a:pt x="206527" y="1035481"/>
                </a:lnTo>
                <a:lnTo>
                  <a:pt x="240538" y="996111"/>
                </a:lnTo>
                <a:lnTo>
                  <a:pt x="261493" y="948182"/>
                </a:lnTo>
                <a:lnTo>
                  <a:pt x="261493" y="672592"/>
                </a:lnTo>
                <a:close/>
              </a:path>
              <a:path w="722630" h="1123950">
                <a:moveTo>
                  <a:pt x="672490" y="773684"/>
                </a:moveTo>
                <a:lnTo>
                  <a:pt x="669036" y="773684"/>
                </a:lnTo>
                <a:lnTo>
                  <a:pt x="669036" y="1072261"/>
                </a:lnTo>
                <a:lnTo>
                  <a:pt x="672490" y="1072261"/>
                </a:lnTo>
                <a:lnTo>
                  <a:pt x="672490" y="773684"/>
                </a:lnTo>
                <a:close/>
              </a:path>
              <a:path w="722630" h="1123950">
                <a:moveTo>
                  <a:pt x="680808" y="773684"/>
                </a:moveTo>
                <a:lnTo>
                  <a:pt x="677354" y="773684"/>
                </a:lnTo>
                <a:lnTo>
                  <a:pt x="677354" y="1072261"/>
                </a:lnTo>
                <a:lnTo>
                  <a:pt x="680808" y="1072261"/>
                </a:lnTo>
                <a:lnTo>
                  <a:pt x="680808" y="773684"/>
                </a:lnTo>
                <a:close/>
              </a:path>
              <a:path w="722630" h="1123950">
                <a:moveTo>
                  <a:pt x="689114" y="773684"/>
                </a:moveTo>
                <a:lnTo>
                  <a:pt x="685660" y="773684"/>
                </a:lnTo>
                <a:lnTo>
                  <a:pt x="685660" y="1072261"/>
                </a:lnTo>
                <a:lnTo>
                  <a:pt x="689114" y="1072261"/>
                </a:lnTo>
                <a:lnTo>
                  <a:pt x="689114" y="773684"/>
                </a:lnTo>
                <a:close/>
              </a:path>
              <a:path w="722630" h="1123950">
                <a:moveTo>
                  <a:pt x="696468" y="395859"/>
                </a:moveTo>
                <a:lnTo>
                  <a:pt x="0" y="0"/>
                </a:lnTo>
                <a:lnTo>
                  <a:pt x="0" y="395859"/>
                </a:lnTo>
                <a:lnTo>
                  <a:pt x="696468" y="395859"/>
                </a:lnTo>
                <a:close/>
              </a:path>
              <a:path w="722630" h="1123950">
                <a:moveTo>
                  <a:pt x="697433" y="773684"/>
                </a:moveTo>
                <a:lnTo>
                  <a:pt x="693978" y="773684"/>
                </a:lnTo>
                <a:lnTo>
                  <a:pt x="693978" y="1072261"/>
                </a:lnTo>
                <a:lnTo>
                  <a:pt x="697433" y="1072261"/>
                </a:lnTo>
                <a:lnTo>
                  <a:pt x="697433" y="773684"/>
                </a:lnTo>
                <a:close/>
              </a:path>
              <a:path w="722630" h="1123950">
                <a:moveTo>
                  <a:pt x="705751" y="773684"/>
                </a:moveTo>
                <a:lnTo>
                  <a:pt x="702297" y="773684"/>
                </a:lnTo>
                <a:lnTo>
                  <a:pt x="702297" y="1072261"/>
                </a:lnTo>
                <a:lnTo>
                  <a:pt x="705751" y="1072261"/>
                </a:lnTo>
                <a:lnTo>
                  <a:pt x="705751" y="773684"/>
                </a:lnTo>
                <a:close/>
              </a:path>
              <a:path w="722630" h="1123950">
                <a:moveTo>
                  <a:pt x="705840" y="667893"/>
                </a:moveTo>
                <a:lnTo>
                  <a:pt x="703135" y="664083"/>
                </a:lnTo>
                <a:lnTo>
                  <a:pt x="699401" y="662686"/>
                </a:lnTo>
                <a:lnTo>
                  <a:pt x="699401" y="404749"/>
                </a:lnTo>
                <a:lnTo>
                  <a:pt x="694004" y="404749"/>
                </a:lnTo>
                <a:lnTo>
                  <a:pt x="696468" y="403352"/>
                </a:lnTo>
                <a:lnTo>
                  <a:pt x="0" y="403352"/>
                </a:lnTo>
                <a:lnTo>
                  <a:pt x="0" y="799223"/>
                </a:lnTo>
                <a:lnTo>
                  <a:pt x="692010" y="405892"/>
                </a:lnTo>
                <a:lnTo>
                  <a:pt x="692010" y="662686"/>
                </a:lnTo>
                <a:lnTo>
                  <a:pt x="688276" y="664083"/>
                </a:lnTo>
                <a:lnTo>
                  <a:pt x="685660" y="667893"/>
                </a:lnTo>
                <a:lnTo>
                  <a:pt x="685660" y="677926"/>
                </a:lnTo>
                <a:lnTo>
                  <a:pt x="690143" y="682498"/>
                </a:lnTo>
                <a:lnTo>
                  <a:pt x="701268" y="682498"/>
                </a:lnTo>
                <a:lnTo>
                  <a:pt x="705840" y="677926"/>
                </a:lnTo>
                <a:lnTo>
                  <a:pt x="705840" y="667893"/>
                </a:lnTo>
                <a:close/>
              </a:path>
              <a:path w="722630" h="1123950">
                <a:moveTo>
                  <a:pt x="714057" y="773684"/>
                </a:moveTo>
                <a:lnTo>
                  <a:pt x="710603" y="773684"/>
                </a:lnTo>
                <a:lnTo>
                  <a:pt x="710603" y="1072261"/>
                </a:lnTo>
                <a:lnTo>
                  <a:pt x="714057" y="1072261"/>
                </a:lnTo>
                <a:lnTo>
                  <a:pt x="714057" y="773684"/>
                </a:lnTo>
                <a:close/>
              </a:path>
              <a:path w="722630" h="1123950">
                <a:moveTo>
                  <a:pt x="722376" y="773684"/>
                </a:moveTo>
                <a:lnTo>
                  <a:pt x="718921" y="773684"/>
                </a:lnTo>
                <a:lnTo>
                  <a:pt x="718921" y="1072261"/>
                </a:lnTo>
                <a:lnTo>
                  <a:pt x="722376" y="1072261"/>
                </a:lnTo>
                <a:lnTo>
                  <a:pt x="722376" y="773684"/>
                </a:lnTo>
                <a:close/>
              </a:path>
              <a:path w="722630" h="1123950">
                <a:moveTo>
                  <a:pt x="722376" y="760857"/>
                </a:moveTo>
                <a:lnTo>
                  <a:pt x="669036" y="760857"/>
                </a:lnTo>
                <a:lnTo>
                  <a:pt x="669036" y="764667"/>
                </a:lnTo>
                <a:lnTo>
                  <a:pt x="722376" y="764667"/>
                </a:lnTo>
                <a:lnTo>
                  <a:pt x="722376" y="760857"/>
                </a:lnTo>
                <a:close/>
              </a:path>
              <a:path w="722630" h="1123950">
                <a:moveTo>
                  <a:pt x="722376" y="720344"/>
                </a:moveTo>
                <a:lnTo>
                  <a:pt x="720267" y="709777"/>
                </a:lnTo>
                <a:lnTo>
                  <a:pt x="714552" y="701141"/>
                </a:lnTo>
                <a:lnTo>
                  <a:pt x="706094" y="695312"/>
                </a:lnTo>
                <a:lnTo>
                  <a:pt x="695756" y="693166"/>
                </a:lnTo>
                <a:lnTo>
                  <a:pt x="685355" y="695312"/>
                </a:lnTo>
                <a:lnTo>
                  <a:pt x="676859" y="701141"/>
                </a:lnTo>
                <a:lnTo>
                  <a:pt x="671131" y="709777"/>
                </a:lnTo>
                <a:lnTo>
                  <a:pt x="669036" y="720344"/>
                </a:lnTo>
                <a:lnTo>
                  <a:pt x="669036" y="754507"/>
                </a:lnTo>
                <a:lnTo>
                  <a:pt x="722376" y="754507"/>
                </a:lnTo>
                <a:lnTo>
                  <a:pt x="722376" y="720344"/>
                </a:lnTo>
                <a:close/>
              </a:path>
            </a:pathLst>
          </a:custGeom>
          <a:solidFill>
            <a:srgbClr val="5095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9728" y="171068"/>
            <a:ext cx="657415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sz="2800" spc="-35" dirty="0">
                <a:solidFill>
                  <a:srgbClr val="000000"/>
                </a:solidFill>
                <a:sym typeface="+mn-ea"/>
              </a:rPr>
              <a:t>四</a:t>
            </a:r>
            <a:r>
              <a:rPr sz="2800" spc="-35" dirty="0">
                <a:solidFill>
                  <a:srgbClr val="000000"/>
                </a:solidFill>
                <a:sym typeface="+mn-ea"/>
              </a:rPr>
              <a:t>、</a:t>
            </a:r>
            <a:r>
              <a:rPr lang="zh-CN" sz="2800" spc="-35" dirty="0">
                <a:solidFill>
                  <a:srgbClr val="000000"/>
                </a:solidFill>
                <a:sym typeface="+mn-ea"/>
              </a:rPr>
              <a:t>评的结果</a:t>
            </a:r>
          </a:p>
        </p:txBody>
      </p:sp>
      <p:sp>
        <p:nvSpPr>
          <p:cNvPr id="4" name="object 4"/>
          <p:cNvSpPr/>
          <p:nvPr/>
        </p:nvSpPr>
        <p:spPr>
          <a:xfrm>
            <a:off x="901446" y="814577"/>
            <a:ext cx="10967085" cy="0"/>
          </a:xfrm>
          <a:custGeom>
            <a:avLst/>
            <a:gdLst/>
            <a:ahLst/>
            <a:cxnLst/>
            <a:rect l="l" t="t" r="r" b="b"/>
            <a:pathLst>
              <a:path w="10967085">
                <a:moveTo>
                  <a:pt x="0" y="0"/>
                </a:moveTo>
                <a:lnTo>
                  <a:pt x="10966831" y="0"/>
                </a:lnTo>
              </a:path>
            </a:pathLst>
          </a:custGeom>
          <a:ln w="38100">
            <a:solidFill>
              <a:srgbClr val="1C04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5" name="object 45"/>
          <p:cNvGrpSpPr/>
          <p:nvPr/>
        </p:nvGrpSpPr>
        <p:grpSpPr>
          <a:xfrm>
            <a:off x="0" y="6428956"/>
            <a:ext cx="12192000" cy="436370"/>
            <a:chOff x="0" y="6422138"/>
            <a:chExt cx="12192000" cy="436370"/>
          </a:xfrm>
        </p:grpSpPr>
        <p:sp>
          <p:nvSpPr>
            <p:cNvPr id="46" name="object 46"/>
            <p:cNvSpPr/>
            <p:nvPr/>
          </p:nvSpPr>
          <p:spPr>
            <a:xfrm>
              <a:off x="0" y="6426708"/>
              <a:ext cx="12192000" cy="431800"/>
            </a:xfrm>
            <a:custGeom>
              <a:avLst/>
              <a:gdLst/>
              <a:ahLst/>
              <a:cxnLst/>
              <a:rect l="l" t="t" r="r" b="b"/>
              <a:pathLst>
                <a:path w="12192000" h="431800">
                  <a:moveTo>
                    <a:pt x="12192000" y="0"/>
                  </a:moveTo>
                  <a:lnTo>
                    <a:pt x="0" y="0"/>
                  </a:lnTo>
                  <a:lnTo>
                    <a:pt x="0" y="431291"/>
                  </a:lnTo>
                  <a:lnTo>
                    <a:pt x="12192000" y="431291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8EB4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422138"/>
              <a:ext cx="1131570" cy="433590"/>
            </a:xfrm>
            <a:prstGeom prst="rect">
              <a:avLst/>
            </a:prstGeom>
          </p:spPr>
        </p:pic>
      </p:grp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xfrm>
            <a:off x="131470" y="6499665"/>
            <a:ext cx="904875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dirty="0"/>
              <a:t>Page</a:t>
            </a:r>
            <a:r>
              <a:rPr spc="-20" dirty="0"/>
              <a:t> </a:t>
            </a:r>
            <a:r>
              <a:rPr lang="en-US" spc="-20" dirty="0"/>
              <a:t>5</a:t>
            </a:r>
          </a:p>
        </p:txBody>
      </p:sp>
      <p:sp>
        <p:nvSpPr>
          <p:cNvPr id="6" name="矩形 5"/>
          <p:cNvSpPr/>
          <p:nvPr/>
        </p:nvSpPr>
        <p:spPr>
          <a:xfrm>
            <a:off x="805815" y="884555"/>
            <a:ext cx="11050905" cy="6915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05"/>
              </a:spcBef>
              <a:defRPr/>
            </a:pPr>
            <a:r>
              <a:rPr lang="zh-CN" altLang="en-US" sz="2800" b="1" spc="-35" dirty="0">
                <a:solidFill>
                  <a:srgbClr val="000000"/>
                </a:solidFill>
                <a:latin typeface="微软雅黑" panose="020B0503020204020204" charset="-122"/>
                <a:ea typeface="+mj-ea"/>
                <a:cs typeface="+mn-ea"/>
              </a:rPr>
              <a:t>结论</a:t>
            </a:r>
            <a:r>
              <a:rPr lang="en-US" altLang="zh-CN" sz="2800" b="1" spc="-35" dirty="0">
                <a:solidFill>
                  <a:srgbClr val="000000"/>
                </a:solidFill>
                <a:latin typeface="微软雅黑" panose="020B0503020204020204" charset="-122"/>
                <a:ea typeface="+mj-ea"/>
                <a:cs typeface="+mn-ea"/>
              </a:rPr>
              <a:t>:</a:t>
            </a:r>
            <a:r>
              <a:rPr lang="zh-CN" altLang="en-US" sz="2800" b="1" spc="-35" dirty="0">
                <a:solidFill>
                  <a:srgbClr val="000000"/>
                </a:solidFill>
                <a:latin typeface="微软雅黑" panose="020B0503020204020204" charset="-122"/>
                <a:ea typeface="+mj-ea"/>
                <a:cs typeface="+mn-ea"/>
              </a:rPr>
              <a:t>将物理现象明确到提示中可以让生成更符合现实物理规律的视频</a:t>
            </a:r>
          </a:p>
        </p:txBody>
      </p:sp>
      <p:sp>
        <p:nvSpPr>
          <p:cNvPr id="20" name="Rectangle 6"/>
          <p:cNvSpPr>
            <a:spLocks noChangeArrowheads="1"/>
          </p:cNvSpPr>
          <p:nvPr/>
        </p:nvSpPr>
        <p:spPr bwMode="auto">
          <a:xfrm>
            <a:off x="4291226" y="-1"/>
            <a:ext cx="790077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1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4" name="object 19"/>
          <p:cNvSpPr/>
          <p:nvPr/>
        </p:nvSpPr>
        <p:spPr>
          <a:xfrm>
            <a:off x="5509260" y="131445"/>
            <a:ext cx="6300470" cy="603250"/>
          </a:xfrm>
          <a:custGeom>
            <a:avLst/>
            <a:gdLst/>
            <a:ahLst/>
            <a:cxnLst/>
            <a:rect l="l" t="t" r="r" b="b"/>
            <a:pathLst>
              <a:path w="6131559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6042151" y="0"/>
                </a:lnTo>
                <a:lnTo>
                  <a:pt x="6076777" y="6979"/>
                </a:lnTo>
                <a:lnTo>
                  <a:pt x="6105032" y="26019"/>
                </a:lnTo>
                <a:lnTo>
                  <a:pt x="6124072" y="54274"/>
                </a:lnTo>
                <a:lnTo>
                  <a:pt x="6131051" y="88900"/>
                </a:lnTo>
                <a:lnTo>
                  <a:pt x="6131051" y="444500"/>
                </a:lnTo>
                <a:lnTo>
                  <a:pt x="6124072" y="479125"/>
                </a:lnTo>
                <a:lnTo>
                  <a:pt x="6105032" y="507380"/>
                </a:lnTo>
                <a:lnTo>
                  <a:pt x="6076777" y="526420"/>
                </a:lnTo>
                <a:lnTo>
                  <a:pt x="6042151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38100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文本框 15"/>
          <p:cNvSpPr txBox="1"/>
          <p:nvPr/>
        </p:nvSpPr>
        <p:spPr>
          <a:xfrm>
            <a:off x="4724400" y="212090"/>
            <a:ext cx="862266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n-US" altLang="zh-CN" sz="2400" b="1" spc="-10" dirty="0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            </a:t>
            </a:r>
            <a:r>
              <a:rPr lang="zh-CN" altLang="en-US" sz="2400" b="1" spc="-10" dirty="0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不同类型</a:t>
            </a:r>
            <a:r>
              <a:rPr lang="en-US" altLang="zh-CN" sz="2400" b="1" spc="-10" dirty="0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prompt</a:t>
            </a:r>
            <a:r>
              <a:rPr lang="zh-CN" altLang="en-US" sz="2400" b="1" spc="-10" dirty="0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的构建与模型能力的测试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t="8114"/>
          <a:stretch>
            <a:fillRect/>
          </a:stretch>
        </p:blipFill>
        <p:spPr>
          <a:xfrm>
            <a:off x="76200" y="1725295"/>
            <a:ext cx="6774815" cy="27114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rcRect b="2790"/>
          <a:stretch>
            <a:fillRect/>
          </a:stretch>
        </p:blipFill>
        <p:spPr>
          <a:xfrm>
            <a:off x="76200" y="4419600"/>
            <a:ext cx="6776085" cy="2057400"/>
          </a:xfrm>
          <a:prstGeom prst="rect">
            <a:avLst/>
          </a:prstGeom>
        </p:spPr>
      </p:pic>
      <p:sp>
        <p:nvSpPr>
          <p:cNvPr id="33" name="Rectangle 4"/>
          <p:cNvSpPr>
            <a:spLocks noChangeArrowheads="1"/>
          </p:cNvSpPr>
          <p:nvPr/>
        </p:nvSpPr>
        <p:spPr bwMode="auto">
          <a:xfrm>
            <a:off x="8223583" y="2113387"/>
            <a:ext cx="180595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6" name="object 41"/>
          <p:cNvSpPr/>
          <p:nvPr/>
        </p:nvSpPr>
        <p:spPr>
          <a:xfrm rot="10800000">
            <a:off x="8046720" y="2016760"/>
            <a:ext cx="546735" cy="1769110"/>
          </a:xfrm>
          <a:custGeom>
            <a:avLst/>
            <a:gdLst/>
            <a:ahLst/>
            <a:cxnLst/>
            <a:rect l="l" t="t" r="r" b="b"/>
            <a:pathLst>
              <a:path w="131445" h="706119">
                <a:moveTo>
                  <a:pt x="0" y="0"/>
                </a:moveTo>
                <a:lnTo>
                  <a:pt x="25509" y="849"/>
                </a:lnTo>
                <a:lnTo>
                  <a:pt x="46339" y="3175"/>
                </a:lnTo>
                <a:lnTo>
                  <a:pt x="60382" y="6643"/>
                </a:lnTo>
                <a:lnTo>
                  <a:pt x="65532" y="10922"/>
                </a:lnTo>
                <a:lnTo>
                  <a:pt x="65532" y="341884"/>
                </a:lnTo>
                <a:lnTo>
                  <a:pt x="70681" y="346108"/>
                </a:lnTo>
                <a:lnTo>
                  <a:pt x="84724" y="349583"/>
                </a:lnTo>
                <a:lnTo>
                  <a:pt x="105554" y="351938"/>
                </a:lnTo>
                <a:lnTo>
                  <a:pt x="131064" y="352806"/>
                </a:lnTo>
                <a:lnTo>
                  <a:pt x="105554" y="353655"/>
                </a:lnTo>
                <a:lnTo>
                  <a:pt x="84724" y="355981"/>
                </a:lnTo>
                <a:lnTo>
                  <a:pt x="70681" y="359449"/>
                </a:lnTo>
                <a:lnTo>
                  <a:pt x="65532" y="363728"/>
                </a:lnTo>
                <a:lnTo>
                  <a:pt x="65532" y="694690"/>
                </a:lnTo>
                <a:lnTo>
                  <a:pt x="60382" y="698914"/>
                </a:lnTo>
                <a:lnTo>
                  <a:pt x="46339" y="702389"/>
                </a:lnTo>
                <a:lnTo>
                  <a:pt x="25509" y="704744"/>
                </a:lnTo>
                <a:lnTo>
                  <a:pt x="0" y="705612"/>
                </a:lnTo>
              </a:path>
            </a:pathLst>
          </a:custGeom>
          <a:ln w="19050">
            <a:solidFill>
              <a:srgbClr val="0746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矩形 36"/>
          <p:cNvSpPr/>
          <p:nvPr/>
        </p:nvSpPr>
        <p:spPr>
          <a:xfrm>
            <a:off x="6925945" y="2414270"/>
            <a:ext cx="1076325" cy="9366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05"/>
              </a:spcBef>
              <a:defRPr/>
            </a:pPr>
            <a:r>
              <a:rPr lang="en-US" altLang="zh-CN" sz="1800" b="1" spc="-35" dirty="0">
                <a:solidFill>
                  <a:srgbClr val="000000"/>
                </a:solidFill>
                <a:latin typeface="微软雅黑" panose="020B0503020204020204" charset="-122"/>
                <a:ea typeface="+mj-ea"/>
                <a:cs typeface="+mn-ea"/>
              </a:rPr>
              <a:t>General Prompt</a:t>
            </a:r>
          </a:p>
        </p:txBody>
      </p:sp>
      <p:sp>
        <p:nvSpPr>
          <p:cNvPr id="40" name="object 34"/>
          <p:cNvSpPr txBox="1"/>
          <p:nvPr/>
        </p:nvSpPr>
        <p:spPr>
          <a:xfrm>
            <a:off x="8559800" y="1752600"/>
            <a:ext cx="3131185" cy="948055"/>
          </a:xfrm>
          <a:prstGeom prst="rect">
            <a:avLst/>
          </a:prstGeom>
          <a:ln w="12700">
            <a:solidFill>
              <a:srgbClr val="07468B"/>
            </a:solidFill>
          </a:ln>
        </p:spPr>
        <p:txBody>
          <a:bodyPr vert="horz" wrap="square" lIns="0" tIns="134620" rIns="0" bIns="0" rtlCol="0">
            <a:noAutofit/>
          </a:bodyPr>
          <a:lstStyle/>
          <a:p>
            <a:pPr marL="0" marR="0" lvl="0" algn="ctr" rtl="0" eaLnBrk="1" fontAlgn="auto" latinLnBrk="0" hangingPunct="1">
              <a:lnSpc>
                <a:spcPct val="140000"/>
              </a:lnSpc>
              <a:spcBef>
                <a:spcPts val="1060"/>
              </a:spcBef>
              <a:buClrTx/>
              <a:buSzTx/>
              <a:buFontTx/>
              <a:buNone/>
            </a:pPr>
            <a:r>
              <a:rPr kumimoji="0" lang="zh-CN" altLang="en-US" sz="2400" b="1" i="0" u="none" strike="noStrike" kern="0" cap="none" spc="-10" normalizeH="0" baseline="0" noProof="1">
                <a:latin typeface="微软雅黑" panose="020B0503020204020204" charset="-122"/>
                <a:ea typeface="Arial" panose="020B0704020202020204" pitchFamily="34" charset="0"/>
                <a:cs typeface="微软雅黑" panose="020B0503020204020204" charset="-122"/>
                <a:sym typeface="+mn-ea"/>
              </a:rPr>
              <a:t>物理增强类</a:t>
            </a:r>
            <a:r>
              <a:rPr kumimoji="0" lang="en-US" altLang="zh-CN" sz="2400" b="1" i="0" u="none" strike="noStrike" kern="0" cap="none" spc="-10" normalizeH="0" baseline="0" noProof="1">
                <a:latin typeface="微软雅黑" panose="020B0503020204020204" charset="-122"/>
                <a:ea typeface="Arial" panose="020B0704020202020204" pitchFamily="34" charset="0"/>
                <a:cs typeface="微软雅黑" panose="020B0503020204020204" charset="-122"/>
                <a:sym typeface="+mn-ea"/>
              </a:rPr>
              <a:t>prompt</a:t>
            </a:r>
            <a:endParaRPr kumimoji="0" lang="zh-CN" altLang="en-US" sz="2400" b="1" i="0" u="none" strike="noStrike" kern="0" cap="none" spc="-10" normalizeH="0" baseline="0" noProof="1">
              <a:latin typeface="微软雅黑" panose="020B0503020204020204" charset="-122"/>
              <a:ea typeface="Arial" panose="020B0704020202020204" pitchFamily="34" charset="0"/>
              <a:cs typeface="微软雅黑" panose="020B0503020204020204" charset="-122"/>
              <a:sym typeface="+mn-ea"/>
            </a:endParaRPr>
          </a:p>
          <a:p>
            <a:pPr marL="0" marR="0" lvl="0" algn="ctr" rtl="0" eaLnBrk="1" fontAlgn="auto" latinLnBrk="0" hangingPunct="1">
              <a:spcBef>
                <a:spcPts val="1060"/>
              </a:spcBef>
              <a:buClrTx/>
              <a:buSzTx/>
              <a:buFontTx/>
              <a:buNone/>
            </a:pPr>
            <a:endParaRPr kumimoji="0" lang="zh-CN" altLang="en-US" sz="2400" b="1" i="0" u="none" strike="noStrike" kern="0" cap="none" spc="-10" normalizeH="0" baseline="0" noProof="1">
              <a:latin typeface="微软雅黑" panose="020B0503020204020204" charset="-122"/>
              <a:ea typeface="Arial" panose="020B0704020202020204" pitchFamily="34" charset="0"/>
              <a:cs typeface="微软雅黑" panose="020B0503020204020204" charset="-122"/>
              <a:sym typeface="+mn-ea"/>
            </a:endParaRPr>
          </a:p>
          <a:p>
            <a:pPr marL="0" marR="0" lvl="0" algn="ctr" rtl="0" eaLnBrk="1" fontAlgn="auto" latinLnBrk="0" hangingPunct="1">
              <a:spcBef>
                <a:spcPts val="1060"/>
              </a:spcBef>
              <a:buClrTx/>
              <a:buSzTx/>
              <a:buFontTx/>
              <a:buNone/>
            </a:pPr>
            <a:endParaRPr kumimoji="0" lang="zh-CN" altLang="en-US" sz="2400" b="1" i="0" u="none" strike="noStrike" kern="0" cap="none" spc="-10" normalizeH="0" baseline="0" noProof="1">
              <a:latin typeface="微软雅黑" panose="020B0503020204020204" charset="-122"/>
              <a:ea typeface="Arial" panose="020B0704020202020204" pitchFamily="34" charset="0"/>
              <a:cs typeface="微软雅黑" panose="020B0503020204020204" charset="-122"/>
              <a:sym typeface="+mn-ea"/>
            </a:endParaRPr>
          </a:p>
        </p:txBody>
      </p:sp>
      <p:sp>
        <p:nvSpPr>
          <p:cNvPr id="43" name="object 34"/>
          <p:cNvSpPr txBox="1"/>
          <p:nvPr/>
        </p:nvSpPr>
        <p:spPr>
          <a:xfrm>
            <a:off x="8569960" y="3200400"/>
            <a:ext cx="3131185" cy="948055"/>
          </a:xfrm>
          <a:prstGeom prst="rect">
            <a:avLst/>
          </a:prstGeom>
          <a:ln w="12700">
            <a:solidFill>
              <a:srgbClr val="07468B"/>
            </a:solidFill>
          </a:ln>
        </p:spPr>
        <p:txBody>
          <a:bodyPr vert="horz" wrap="square" lIns="0" tIns="134620" rIns="0" bIns="0" rtlCol="0">
            <a:noAutofit/>
          </a:bodyPr>
          <a:lstStyle/>
          <a:p>
            <a:pPr algn="ctr">
              <a:lnSpc>
                <a:spcPct val="160000"/>
              </a:lnSpc>
              <a:spcBef>
                <a:spcPts val="1060"/>
              </a:spcBef>
            </a:pPr>
            <a:r>
              <a:rPr lang="zh-CN" altLang="en-US" sz="2400" b="1" spc="-10" dirty="0">
                <a:latin typeface="微软雅黑" panose="020B0503020204020204" charset="-122"/>
                <a:cs typeface="微软雅黑" panose="020B0503020204020204" charset="-122"/>
              </a:rPr>
              <a:t>详细叙述类</a:t>
            </a:r>
            <a:r>
              <a:rPr lang="en-US" altLang="zh-CN" sz="2400" b="1" spc="-10" dirty="0">
                <a:latin typeface="微软雅黑" panose="020B0503020204020204" charset="-122"/>
                <a:cs typeface="微软雅黑" panose="020B0503020204020204" charset="-122"/>
              </a:rPr>
              <a:t>Prompt</a:t>
            </a:r>
          </a:p>
        </p:txBody>
      </p:sp>
      <p:sp>
        <p:nvSpPr>
          <p:cNvPr id="44" name="矩形 43"/>
          <p:cNvSpPr/>
          <p:nvPr/>
        </p:nvSpPr>
        <p:spPr>
          <a:xfrm>
            <a:off x="7027545" y="4377055"/>
            <a:ext cx="5099685" cy="1938020"/>
          </a:xfrm>
          <a:prstGeom prst="rect">
            <a:avLst/>
          </a:prstGeom>
          <a:noFill/>
          <a:ln w="28575">
            <a:solidFill>
              <a:srgbClr val="2E8FEB"/>
            </a:solidFill>
            <a:prstDash val="das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Arial" panose="020B0704020202020204" pitchFamily="34" charset="0"/>
              <a:ea typeface="Arial" panose="020B0704020202020204" pitchFamily="34" charset="0"/>
              <a:cs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010400" y="4453255"/>
            <a:ext cx="5081270" cy="19278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zh-CN" sz="2000" dirty="0"/>
          </a:p>
        </p:txBody>
      </p:sp>
      <p:sp>
        <p:nvSpPr>
          <p:cNvPr id="48" name="文本框 47"/>
          <p:cNvSpPr txBox="1"/>
          <p:nvPr/>
        </p:nvSpPr>
        <p:spPr>
          <a:xfrm>
            <a:off x="7010400" y="4474210"/>
            <a:ext cx="5081270" cy="19278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2400" b="1" dirty="0">
                <a:solidFill>
                  <a:srgbClr val="C00000"/>
                </a:solidFill>
                <a:latin typeface="Arial" panose="020B0704020202020204" pitchFamily="34" charset="0"/>
                <a:sym typeface="+mn-ea"/>
              </a:rPr>
              <a:t>实验结果</a:t>
            </a:r>
            <a:r>
              <a:rPr kumimoji="1" lang="en-US" altLang="zh-CN" sz="2400" b="1" dirty="0">
                <a:solidFill>
                  <a:srgbClr val="C00000"/>
                </a:solidFill>
                <a:latin typeface="Arial" panose="020B0704020202020204" pitchFamily="34" charset="0"/>
                <a:sym typeface="+mn-ea"/>
              </a:rPr>
              <a:t>(</a:t>
            </a:r>
            <a:r>
              <a:rPr kumimoji="1" lang="zh-CN" altLang="en-US" sz="2400" b="1" i="0" dirty="0">
                <a:solidFill>
                  <a:srgbClr val="C00000"/>
                </a:solidFill>
                <a:latin typeface="Arial" panose="020B0704020202020204" pitchFamily="34" charset="0"/>
                <a:sym typeface="+mn-ea"/>
              </a:rPr>
              <a:t>评开源模型</a:t>
            </a:r>
            <a:r>
              <a:rPr kumimoji="1" lang="en-US" altLang="zh-CN" sz="2400" b="1" i="0" dirty="0">
                <a:solidFill>
                  <a:srgbClr val="C00000"/>
                </a:solidFill>
                <a:latin typeface="Arial" panose="020B0704020202020204" pitchFamily="34" charset="0"/>
                <a:sym typeface="+mn-ea"/>
              </a:rPr>
              <a:t>)</a:t>
            </a:r>
            <a:r>
              <a:rPr kumimoji="1" lang="en-US" altLang="zh-CN" sz="2400" b="1" dirty="0">
                <a:solidFill>
                  <a:srgbClr val="C00000"/>
                </a:solidFill>
                <a:latin typeface="Arial" panose="020B0704020202020204" pitchFamily="34" charset="0"/>
                <a:sym typeface="+mn-ea"/>
              </a:rPr>
              <a:t>：</a:t>
            </a:r>
          </a:p>
          <a:p>
            <a:pPr>
              <a:lnSpc>
                <a:spcPct val="110000"/>
              </a:lnSpc>
            </a:pPr>
            <a:r>
              <a:rPr kumimoji="1" lang="zh-CN" altLang="en-US" sz="20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只增加场景和美学描述无法让生成的视频更符合物理规律，要在</a:t>
            </a:r>
            <a:r>
              <a:rPr kumimoji="1" lang="en-US" altLang="zh-CN" sz="20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Prompt</a:t>
            </a:r>
            <a:r>
              <a:rPr kumimoji="1" lang="zh-CN" altLang="en-US" sz="20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中明确写出物理后果</a:t>
            </a:r>
            <a:r>
              <a:rPr kumimoji="1" lang="en-US" altLang="zh-CN" sz="2000" b="0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。</a:t>
            </a:r>
            <a:r>
              <a:rPr kumimoji="1" lang="en-US" altLang="zh-CN" sz="2000" b="1" dirty="0">
                <a:solidFill>
                  <a:schemeClr val="tx1"/>
                </a:solidFill>
                <a:latin typeface="Arial" panose="020B0704020202020204" pitchFamily="34" charset="0"/>
                <a:cs typeface="Arial" panose="020B0704020202020204" pitchFamily="34" charset="0"/>
                <a:sym typeface="+mn-ea"/>
              </a:rPr>
              <a:t>Strong Prompt-following ability</a:t>
            </a:r>
            <a:endParaRPr kumimoji="1" lang="en-US" altLang="zh-CN" sz="2000" b="0" dirty="0">
              <a:solidFill>
                <a:schemeClr val="tx1"/>
              </a:solidFill>
              <a:latin typeface="Arial" panose="020B0704020202020204" pitchFamily="34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kumimoji="1" lang="zh-CN" altLang="en-US" sz="2000" b="1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那么模型生成时到底能不能理解物理规律呢</a:t>
            </a:r>
            <a:r>
              <a:rPr kumimoji="1" lang="en-US" altLang="zh-CN" sz="2000" b="1" dirty="0">
                <a:solidFill>
                  <a:schemeClr val="tx1"/>
                </a:solidFill>
                <a:latin typeface="Arial" panose="020B0704020202020204" pitchFamily="34" charset="0"/>
                <a:sym typeface="+mn-ea"/>
              </a:rPr>
              <a:t>？</a:t>
            </a:r>
            <a:endParaRPr kumimoji="1" lang="zh-CN" altLang="en-US" sz="2000" b="1" dirty="0">
              <a:solidFill>
                <a:schemeClr val="tx1"/>
              </a:solidFill>
              <a:latin typeface="Arial" panose="020B0704020202020204" pitchFamily="34" charset="0"/>
              <a:sym typeface="+mn-ea"/>
            </a:endParaRPr>
          </a:p>
          <a:p>
            <a:pPr>
              <a:lnSpc>
                <a:spcPct val="110000"/>
              </a:lnSpc>
            </a:pPr>
            <a:endParaRPr kumimoji="1" lang="en-US" altLang="zh-CN" sz="2400" b="1" dirty="0">
              <a:solidFill>
                <a:srgbClr val="C00000"/>
              </a:solidFill>
              <a:latin typeface="Arial" panose="020B0704020202020204" pitchFamily="34" charset="0"/>
              <a:sym typeface="+mn-ea"/>
            </a:endParaRPr>
          </a:p>
          <a:p>
            <a:pPr>
              <a:lnSpc>
                <a:spcPct val="110000"/>
              </a:lnSpc>
            </a:pPr>
            <a:endParaRPr kumimoji="1" lang="zh-CN" altLang="en-US" sz="2000" dirty="0"/>
          </a:p>
          <a:p>
            <a:pPr>
              <a:lnSpc>
                <a:spcPct val="110000"/>
              </a:lnSpc>
            </a:pPr>
            <a:endParaRPr kumimoji="1" lang="en-US" altLang="zh-CN" sz="2000" dirty="0"/>
          </a:p>
        </p:txBody>
      </p:sp>
      <p:sp>
        <p:nvSpPr>
          <p:cNvPr id="50" name="矩形 49"/>
          <p:cNvSpPr/>
          <p:nvPr/>
        </p:nvSpPr>
        <p:spPr>
          <a:xfrm>
            <a:off x="3657600" y="4572000"/>
            <a:ext cx="1869440" cy="320675"/>
          </a:xfrm>
          <a:prstGeom prst="rect">
            <a:avLst/>
          </a:prstGeom>
          <a:noFill/>
          <a:ln w="47625"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350"/>
            <a:ext cx="722630" cy="1123950"/>
          </a:xfrm>
          <a:custGeom>
            <a:avLst/>
            <a:gdLst/>
            <a:ahLst/>
            <a:cxnLst/>
            <a:rect l="l" t="t" r="r" b="b"/>
            <a:pathLst>
              <a:path w="722630" h="1123950">
                <a:moveTo>
                  <a:pt x="261493" y="672592"/>
                </a:moveTo>
                <a:lnTo>
                  <a:pt x="0" y="824268"/>
                </a:lnTo>
                <a:lnTo>
                  <a:pt x="0" y="1123911"/>
                </a:lnTo>
                <a:lnTo>
                  <a:pt x="69240" y="1108341"/>
                </a:lnTo>
                <a:lnTo>
                  <a:pt x="116586" y="1090980"/>
                </a:lnTo>
                <a:lnTo>
                  <a:pt x="163779" y="1066901"/>
                </a:lnTo>
                <a:lnTo>
                  <a:pt x="206527" y="1035481"/>
                </a:lnTo>
                <a:lnTo>
                  <a:pt x="240538" y="996111"/>
                </a:lnTo>
                <a:lnTo>
                  <a:pt x="261493" y="948182"/>
                </a:lnTo>
                <a:lnTo>
                  <a:pt x="261493" y="672592"/>
                </a:lnTo>
                <a:close/>
              </a:path>
              <a:path w="722630" h="1123950">
                <a:moveTo>
                  <a:pt x="672490" y="773684"/>
                </a:moveTo>
                <a:lnTo>
                  <a:pt x="669036" y="773684"/>
                </a:lnTo>
                <a:lnTo>
                  <a:pt x="669036" y="1072261"/>
                </a:lnTo>
                <a:lnTo>
                  <a:pt x="672490" y="1072261"/>
                </a:lnTo>
                <a:lnTo>
                  <a:pt x="672490" y="773684"/>
                </a:lnTo>
                <a:close/>
              </a:path>
              <a:path w="722630" h="1123950">
                <a:moveTo>
                  <a:pt x="680808" y="773684"/>
                </a:moveTo>
                <a:lnTo>
                  <a:pt x="677354" y="773684"/>
                </a:lnTo>
                <a:lnTo>
                  <a:pt x="677354" y="1072261"/>
                </a:lnTo>
                <a:lnTo>
                  <a:pt x="680808" y="1072261"/>
                </a:lnTo>
                <a:lnTo>
                  <a:pt x="680808" y="773684"/>
                </a:lnTo>
                <a:close/>
              </a:path>
              <a:path w="722630" h="1123950">
                <a:moveTo>
                  <a:pt x="689114" y="773684"/>
                </a:moveTo>
                <a:lnTo>
                  <a:pt x="685660" y="773684"/>
                </a:lnTo>
                <a:lnTo>
                  <a:pt x="685660" y="1072261"/>
                </a:lnTo>
                <a:lnTo>
                  <a:pt x="689114" y="1072261"/>
                </a:lnTo>
                <a:lnTo>
                  <a:pt x="689114" y="773684"/>
                </a:lnTo>
                <a:close/>
              </a:path>
              <a:path w="722630" h="1123950">
                <a:moveTo>
                  <a:pt x="696468" y="395859"/>
                </a:moveTo>
                <a:lnTo>
                  <a:pt x="0" y="0"/>
                </a:lnTo>
                <a:lnTo>
                  <a:pt x="0" y="395859"/>
                </a:lnTo>
                <a:lnTo>
                  <a:pt x="696468" y="395859"/>
                </a:lnTo>
                <a:close/>
              </a:path>
              <a:path w="722630" h="1123950">
                <a:moveTo>
                  <a:pt x="697433" y="773684"/>
                </a:moveTo>
                <a:lnTo>
                  <a:pt x="693978" y="773684"/>
                </a:lnTo>
                <a:lnTo>
                  <a:pt x="693978" y="1072261"/>
                </a:lnTo>
                <a:lnTo>
                  <a:pt x="697433" y="1072261"/>
                </a:lnTo>
                <a:lnTo>
                  <a:pt x="697433" y="773684"/>
                </a:lnTo>
                <a:close/>
              </a:path>
              <a:path w="722630" h="1123950">
                <a:moveTo>
                  <a:pt x="705751" y="773684"/>
                </a:moveTo>
                <a:lnTo>
                  <a:pt x="702297" y="773684"/>
                </a:lnTo>
                <a:lnTo>
                  <a:pt x="702297" y="1072261"/>
                </a:lnTo>
                <a:lnTo>
                  <a:pt x="705751" y="1072261"/>
                </a:lnTo>
                <a:lnTo>
                  <a:pt x="705751" y="773684"/>
                </a:lnTo>
                <a:close/>
              </a:path>
              <a:path w="722630" h="1123950">
                <a:moveTo>
                  <a:pt x="705840" y="667893"/>
                </a:moveTo>
                <a:lnTo>
                  <a:pt x="703135" y="664083"/>
                </a:lnTo>
                <a:lnTo>
                  <a:pt x="699401" y="662686"/>
                </a:lnTo>
                <a:lnTo>
                  <a:pt x="699401" y="404749"/>
                </a:lnTo>
                <a:lnTo>
                  <a:pt x="694004" y="404749"/>
                </a:lnTo>
                <a:lnTo>
                  <a:pt x="696468" y="403352"/>
                </a:lnTo>
                <a:lnTo>
                  <a:pt x="0" y="403352"/>
                </a:lnTo>
                <a:lnTo>
                  <a:pt x="0" y="799223"/>
                </a:lnTo>
                <a:lnTo>
                  <a:pt x="692010" y="405892"/>
                </a:lnTo>
                <a:lnTo>
                  <a:pt x="692010" y="662686"/>
                </a:lnTo>
                <a:lnTo>
                  <a:pt x="688276" y="664083"/>
                </a:lnTo>
                <a:lnTo>
                  <a:pt x="685660" y="667893"/>
                </a:lnTo>
                <a:lnTo>
                  <a:pt x="685660" y="677926"/>
                </a:lnTo>
                <a:lnTo>
                  <a:pt x="690143" y="682498"/>
                </a:lnTo>
                <a:lnTo>
                  <a:pt x="701268" y="682498"/>
                </a:lnTo>
                <a:lnTo>
                  <a:pt x="705840" y="677926"/>
                </a:lnTo>
                <a:lnTo>
                  <a:pt x="705840" y="667893"/>
                </a:lnTo>
                <a:close/>
              </a:path>
              <a:path w="722630" h="1123950">
                <a:moveTo>
                  <a:pt x="714057" y="773684"/>
                </a:moveTo>
                <a:lnTo>
                  <a:pt x="710603" y="773684"/>
                </a:lnTo>
                <a:lnTo>
                  <a:pt x="710603" y="1072261"/>
                </a:lnTo>
                <a:lnTo>
                  <a:pt x="714057" y="1072261"/>
                </a:lnTo>
                <a:lnTo>
                  <a:pt x="714057" y="773684"/>
                </a:lnTo>
                <a:close/>
              </a:path>
              <a:path w="722630" h="1123950">
                <a:moveTo>
                  <a:pt x="722376" y="773684"/>
                </a:moveTo>
                <a:lnTo>
                  <a:pt x="718921" y="773684"/>
                </a:lnTo>
                <a:lnTo>
                  <a:pt x="718921" y="1072261"/>
                </a:lnTo>
                <a:lnTo>
                  <a:pt x="722376" y="1072261"/>
                </a:lnTo>
                <a:lnTo>
                  <a:pt x="722376" y="773684"/>
                </a:lnTo>
                <a:close/>
              </a:path>
              <a:path w="722630" h="1123950">
                <a:moveTo>
                  <a:pt x="722376" y="760857"/>
                </a:moveTo>
                <a:lnTo>
                  <a:pt x="669036" y="760857"/>
                </a:lnTo>
                <a:lnTo>
                  <a:pt x="669036" y="764667"/>
                </a:lnTo>
                <a:lnTo>
                  <a:pt x="722376" y="764667"/>
                </a:lnTo>
                <a:lnTo>
                  <a:pt x="722376" y="760857"/>
                </a:lnTo>
                <a:close/>
              </a:path>
              <a:path w="722630" h="1123950">
                <a:moveTo>
                  <a:pt x="722376" y="720344"/>
                </a:moveTo>
                <a:lnTo>
                  <a:pt x="720267" y="709777"/>
                </a:lnTo>
                <a:lnTo>
                  <a:pt x="714552" y="701141"/>
                </a:lnTo>
                <a:lnTo>
                  <a:pt x="706094" y="695312"/>
                </a:lnTo>
                <a:lnTo>
                  <a:pt x="695756" y="693166"/>
                </a:lnTo>
                <a:lnTo>
                  <a:pt x="685355" y="695312"/>
                </a:lnTo>
                <a:lnTo>
                  <a:pt x="676859" y="701141"/>
                </a:lnTo>
                <a:lnTo>
                  <a:pt x="671131" y="709777"/>
                </a:lnTo>
                <a:lnTo>
                  <a:pt x="669036" y="720344"/>
                </a:lnTo>
                <a:lnTo>
                  <a:pt x="669036" y="754507"/>
                </a:lnTo>
                <a:lnTo>
                  <a:pt x="722376" y="754507"/>
                </a:lnTo>
                <a:lnTo>
                  <a:pt x="722376" y="720344"/>
                </a:lnTo>
                <a:close/>
              </a:path>
            </a:pathLst>
          </a:custGeom>
          <a:solidFill>
            <a:srgbClr val="5095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9728" y="171068"/>
            <a:ext cx="657415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800" spc="-35" dirty="0">
                <a:solidFill>
                  <a:srgbClr val="000000"/>
                </a:solidFill>
              </a:rPr>
              <a:t>四、评的结果</a:t>
            </a:r>
          </a:p>
        </p:txBody>
      </p:sp>
      <p:sp>
        <p:nvSpPr>
          <p:cNvPr id="4" name="object 4"/>
          <p:cNvSpPr/>
          <p:nvPr/>
        </p:nvSpPr>
        <p:spPr>
          <a:xfrm>
            <a:off x="901446" y="814577"/>
            <a:ext cx="10967085" cy="0"/>
          </a:xfrm>
          <a:custGeom>
            <a:avLst/>
            <a:gdLst/>
            <a:ahLst/>
            <a:cxnLst/>
            <a:rect l="l" t="t" r="r" b="b"/>
            <a:pathLst>
              <a:path w="10967085">
                <a:moveTo>
                  <a:pt x="0" y="0"/>
                </a:moveTo>
                <a:lnTo>
                  <a:pt x="10966831" y="0"/>
                </a:lnTo>
              </a:path>
            </a:pathLst>
          </a:custGeom>
          <a:ln w="38100">
            <a:solidFill>
              <a:srgbClr val="1C04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5" name="object 45"/>
          <p:cNvGrpSpPr/>
          <p:nvPr/>
        </p:nvGrpSpPr>
        <p:grpSpPr>
          <a:xfrm>
            <a:off x="0" y="6428956"/>
            <a:ext cx="12192000" cy="436370"/>
            <a:chOff x="0" y="6422138"/>
            <a:chExt cx="12192000" cy="436370"/>
          </a:xfrm>
        </p:grpSpPr>
        <p:sp>
          <p:nvSpPr>
            <p:cNvPr id="46" name="object 46"/>
            <p:cNvSpPr/>
            <p:nvPr/>
          </p:nvSpPr>
          <p:spPr>
            <a:xfrm>
              <a:off x="0" y="6426708"/>
              <a:ext cx="12192000" cy="431800"/>
            </a:xfrm>
            <a:custGeom>
              <a:avLst/>
              <a:gdLst/>
              <a:ahLst/>
              <a:cxnLst/>
              <a:rect l="l" t="t" r="r" b="b"/>
              <a:pathLst>
                <a:path w="12192000" h="431800">
                  <a:moveTo>
                    <a:pt x="12192000" y="0"/>
                  </a:moveTo>
                  <a:lnTo>
                    <a:pt x="0" y="0"/>
                  </a:lnTo>
                  <a:lnTo>
                    <a:pt x="0" y="431291"/>
                  </a:lnTo>
                  <a:lnTo>
                    <a:pt x="12192000" y="431291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8EB4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422138"/>
              <a:ext cx="1131570" cy="433590"/>
            </a:xfrm>
            <a:prstGeom prst="rect">
              <a:avLst/>
            </a:prstGeom>
          </p:spPr>
        </p:pic>
      </p:grp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xfrm>
            <a:off x="131470" y="6499665"/>
            <a:ext cx="904875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dirty="0"/>
              <a:t>Page</a:t>
            </a:r>
            <a:r>
              <a:rPr spc="-20" dirty="0"/>
              <a:t> </a:t>
            </a:r>
            <a:r>
              <a:rPr lang="en-US" spc="-20" dirty="0"/>
              <a:t>6</a:t>
            </a:r>
          </a:p>
        </p:txBody>
      </p:sp>
      <p:sp>
        <p:nvSpPr>
          <p:cNvPr id="6" name="矩形 5"/>
          <p:cNvSpPr/>
          <p:nvPr/>
        </p:nvSpPr>
        <p:spPr>
          <a:xfrm>
            <a:off x="876300" y="884555"/>
            <a:ext cx="10764520" cy="5905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05"/>
              </a:spcBef>
              <a:defRPr/>
            </a:pPr>
            <a:r>
              <a:rPr lang="zh-CN" altLang="en-US" sz="2800" b="1" spc="-35" dirty="0">
                <a:solidFill>
                  <a:srgbClr val="000000"/>
                </a:solidFill>
                <a:latin typeface="微软雅黑" panose="020B0503020204020204" charset="-122"/>
                <a:ea typeface="+mj-ea"/>
                <a:cs typeface="+mn-ea"/>
              </a:rPr>
              <a:t>结论</a:t>
            </a:r>
            <a:r>
              <a:rPr lang="en-US" altLang="zh-CN" sz="2800" b="1" spc="-35" dirty="0">
                <a:solidFill>
                  <a:srgbClr val="000000"/>
                </a:solidFill>
                <a:latin typeface="微软雅黑" panose="020B0503020204020204" charset="-122"/>
                <a:ea typeface="+mj-ea"/>
                <a:cs typeface="+mn-ea"/>
              </a:rPr>
              <a:t>:</a:t>
            </a:r>
            <a:r>
              <a:rPr lang="zh-CN" altLang="en-US" sz="2800" b="1" spc="-35" dirty="0">
                <a:solidFill>
                  <a:srgbClr val="000000"/>
                </a:solidFill>
                <a:latin typeface="微软雅黑" panose="020B0503020204020204" charset="-122"/>
                <a:ea typeface="+mj-ea"/>
                <a:cs typeface="+mn-ea"/>
              </a:rPr>
              <a:t>生成模型优先考虑模仿训练数据</a:t>
            </a:r>
            <a:r>
              <a:rPr lang="en-US" altLang="zh-CN" sz="2800" b="1" spc="-35" dirty="0">
                <a:solidFill>
                  <a:srgbClr val="000000"/>
                </a:solidFill>
                <a:latin typeface="微软雅黑" panose="020B0503020204020204" charset="-122"/>
                <a:ea typeface="+mj-ea"/>
                <a:cs typeface="+mn-ea"/>
              </a:rPr>
              <a:t>，</a:t>
            </a:r>
            <a:r>
              <a:rPr lang="zh-CN" altLang="en-US" sz="2800" b="1" spc="-35" dirty="0">
                <a:solidFill>
                  <a:srgbClr val="000000"/>
                </a:solidFill>
                <a:latin typeface="微软雅黑" panose="020B0503020204020204" charset="-122"/>
                <a:ea typeface="+mj-ea"/>
                <a:cs typeface="+mn-ea"/>
              </a:rPr>
              <a:t>无法做到真正物理理解</a:t>
            </a: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1244933" y="1452987"/>
            <a:ext cx="180595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0" name="Rectangle 6"/>
          <p:cNvSpPr>
            <a:spLocks noChangeArrowheads="1"/>
          </p:cNvSpPr>
          <p:nvPr/>
        </p:nvSpPr>
        <p:spPr bwMode="auto">
          <a:xfrm>
            <a:off x="4291226" y="-1"/>
            <a:ext cx="790077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1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4" name="object 19"/>
          <p:cNvSpPr/>
          <p:nvPr/>
        </p:nvSpPr>
        <p:spPr>
          <a:xfrm>
            <a:off x="6231255" y="131445"/>
            <a:ext cx="5578475" cy="603250"/>
          </a:xfrm>
          <a:custGeom>
            <a:avLst/>
            <a:gdLst/>
            <a:ahLst/>
            <a:cxnLst/>
            <a:rect l="l" t="t" r="r" b="b"/>
            <a:pathLst>
              <a:path w="6131559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6042151" y="0"/>
                </a:lnTo>
                <a:lnTo>
                  <a:pt x="6076777" y="6979"/>
                </a:lnTo>
                <a:lnTo>
                  <a:pt x="6105032" y="26019"/>
                </a:lnTo>
                <a:lnTo>
                  <a:pt x="6124072" y="54274"/>
                </a:lnTo>
                <a:lnTo>
                  <a:pt x="6131051" y="88900"/>
                </a:lnTo>
                <a:lnTo>
                  <a:pt x="6131051" y="444500"/>
                </a:lnTo>
                <a:lnTo>
                  <a:pt x="6124072" y="479125"/>
                </a:lnTo>
                <a:lnTo>
                  <a:pt x="6105032" y="507380"/>
                </a:lnTo>
                <a:lnTo>
                  <a:pt x="6076777" y="526420"/>
                </a:lnTo>
                <a:lnTo>
                  <a:pt x="6042151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38100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文本框 15"/>
          <p:cNvSpPr txBox="1"/>
          <p:nvPr/>
        </p:nvSpPr>
        <p:spPr>
          <a:xfrm>
            <a:off x="6321425" y="177165"/>
            <a:ext cx="862266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n-US" altLang="zh-CN" sz="2400" b="1" spc="-10" dirty="0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T2V</a:t>
            </a:r>
            <a:r>
              <a:rPr lang="zh-CN" altLang="en-US" sz="2400" b="1" spc="-10" dirty="0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模型对物理理解能力的进一步测试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l="5422" t="4932" r="3313" b="47703"/>
          <a:stretch>
            <a:fillRect/>
          </a:stretch>
        </p:blipFill>
        <p:spPr>
          <a:xfrm>
            <a:off x="0" y="1593850"/>
            <a:ext cx="8950960" cy="2063750"/>
          </a:xfrm>
          <a:prstGeom prst="rect">
            <a:avLst/>
          </a:prstGeom>
        </p:spPr>
      </p:pic>
      <p:sp>
        <p:nvSpPr>
          <p:cNvPr id="18" name="下箭头 17"/>
          <p:cNvSpPr/>
          <p:nvPr/>
        </p:nvSpPr>
        <p:spPr>
          <a:xfrm rot="16200000">
            <a:off x="7526655" y="2378710"/>
            <a:ext cx="694690" cy="508635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350250" y="1861185"/>
            <a:ext cx="3194050" cy="1506220"/>
          </a:xfrm>
          <a:prstGeom prst="rect">
            <a:avLst/>
          </a:prstGeom>
          <a:noFill/>
          <a:ln w="28575">
            <a:solidFill>
              <a:srgbClr val="2E8FEB"/>
            </a:solidFill>
            <a:prstDash val="das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Arial" panose="020B0704020202020204" pitchFamily="34" charset="0"/>
              <a:ea typeface="Arial" panose="020B0704020202020204" pitchFamily="34" charset="0"/>
              <a:cs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382000" y="1676400"/>
            <a:ext cx="3259455" cy="603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10000"/>
              </a:lnSpc>
            </a:pPr>
            <a:endParaRPr lang="en-US" altLang="zh-CN" b="1">
              <a:latin typeface="Arial" panose="020B07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altLang="zh-CN" b="1">
                <a:latin typeface="Arial" panose="020B0704020202020204" pitchFamily="34" charset="0"/>
              </a:rPr>
              <a:t>“</a:t>
            </a:r>
            <a:r>
              <a:rPr lang="zh-CN" altLang="en-US" b="1">
                <a:latin typeface="Arial" panose="020B0704020202020204" pitchFamily="34" charset="0"/>
              </a:rPr>
              <a:t>桌子上放着一个杯子，杯子里的酒受到反重力</a:t>
            </a:r>
            <a:r>
              <a:rPr lang="en-US" altLang="zh-CN" b="1">
                <a:latin typeface="Arial" panose="020B0704020202020204" pitchFamily="34" charset="0"/>
              </a:rPr>
              <a:t>”</a:t>
            </a:r>
          </a:p>
          <a:p>
            <a:pPr>
              <a:lnSpc>
                <a:spcPct val="110000"/>
              </a:lnSpc>
            </a:pPr>
            <a:r>
              <a:rPr lang="zh-CN" altLang="en-US" b="1">
                <a:latin typeface="Arial" panose="020B0704020202020204" pitchFamily="34" charset="0"/>
              </a:rPr>
              <a:t>但是模型无法生成水向上的视频</a:t>
            </a:r>
            <a:r>
              <a:rPr lang="en-US" altLang="zh-CN" b="1">
                <a:latin typeface="Arial" panose="020B0704020202020204" pitchFamily="34" charset="0"/>
              </a:rPr>
              <a:t>，</a:t>
            </a:r>
            <a:r>
              <a:rPr lang="zh-CN" altLang="en-US" b="1">
                <a:latin typeface="Arial" panose="020B0704020202020204" pitchFamily="34" charset="0"/>
              </a:rPr>
              <a:t>只能得到静止的照片</a:t>
            </a:r>
            <a:r>
              <a:rPr lang="en-US" altLang="zh-CN" b="1">
                <a:latin typeface="Arial" panose="020B0704020202020204" pitchFamily="34" charset="0"/>
              </a:rPr>
              <a:t>。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rcRect t="3636" b="1818"/>
          <a:stretch>
            <a:fillRect/>
          </a:stretch>
        </p:blipFill>
        <p:spPr>
          <a:xfrm>
            <a:off x="1143000" y="3657600"/>
            <a:ext cx="6841490" cy="1981200"/>
          </a:xfrm>
          <a:prstGeom prst="rect">
            <a:avLst/>
          </a:prstGeom>
        </p:spPr>
      </p:pic>
      <p:sp>
        <p:nvSpPr>
          <p:cNvPr id="26" name="下箭头 25"/>
          <p:cNvSpPr/>
          <p:nvPr/>
        </p:nvSpPr>
        <p:spPr>
          <a:xfrm rot="16200000">
            <a:off x="7526655" y="4097020"/>
            <a:ext cx="694690" cy="508635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8305800" y="3733800"/>
            <a:ext cx="3194050" cy="1506220"/>
          </a:xfrm>
          <a:prstGeom prst="rect">
            <a:avLst/>
          </a:prstGeom>
          <a:noFill/>
          <a:ln w="28575">
            <a:solidFill>
              <a:srgbClr val="2E8FEB"/>
            </a:solidFill>
            <a:prstDash val="das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Arial" panose="020B0704020202020204" pitchFamily="34" charset="0"/>
              <a:ea typeface="Arial" panose="020B0704020202020204" pitchFamily="34" charset="0"/>
              <a:cs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382000" y="3758565"/>
            <a:ext cx="3259455" cy="603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b="1">
                <a:latin typeface="Arial" panose="020B0704020202020204" pitchFamily="34" charset="0"/>
              </a:rPr>
              <a:t>“杯子掉到地上”</a:t>
            </a:r>
          </a:p>
          <a:p>
            <a:pPr>
              <a:lnSpc>
                <a:spcPct val="110000"/>
              </a:lnSpc>
            </a:pPr>
            <a:r>
              <a:rPr lang="zh-CN" altLang="en-US" b="1">
                <a:latin typeface="Arial" panose="020B0704020202020204" pitchFamily="34" charset="0"/>
              </a:rPr>
              <a:t>杯子缺没有碎</a:t>
            </a:r>
            <a:r>
              <a:rPr lang="en-US" altLang="zh-CN" b="1">
                <a:latin typeface="Arial" panose="020B0704020202020204" pitchFamily="34" charset="0"/>
              </a:rPr>
              <a:t>。</a:t>
            </a:r>
            <a:r>
              <a:rPr lang="zh-CN" altLang="en-US" b="1">
                <a:latin typeface="Arial" panose="020B0704020202020204" pitchFamily="34" charset="0"/>
              </a:rPr>
              <a:t>模型没有尝试去生成</a:t>
            </a:r>
            <a:r>
              <a:rPr lang="en-US" altLang="zh-CN" b="1">
                <a:latin typeface="Arial" panose="020B0704020202020204" pitchFamily="34" charset="0"/>
              </a:rPr>
              <a:t>，</a:t>
            </a:r>
            <a:r>
              <a:rPr lang="zh-CN" altLang="en-US" b="1">
                <a:latin typeface="Arial" panose="020B0704020202020204" pitchFamily="34" charset="0"/>
              </a:rPr>
              <a:t>而是选择保持更加平稳的状态</a:t>
            </a:r>
            <a:r>
              <a:rPr lang="en-US" altLang="zh-CN" b="1">
                <a:latin typeface="Arial" panose="020B0704020202020204" pitchFamily="34" charset="0"/>
              </a:rPr>
              <a:t>。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250190" y="5636260"/>
            <a:ext cx="11729720" cy="7569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 b="1">
                <a:latin typeface="Arial" panose="020B0704020202020204" pitchFamily="34" charset="0"/>
                <a:cs typeface="Arial" panose="020B0704020202020204" pitchFamily="34" charset="0"/>
              </a:rPr>
              <a:t>当出现违反正常物理规律的</a:t>
            </a:r>
            <a:r>
              <a:rPr lang="en-US" altLang="zh-CN" sz="2000" b="1">
                <a:latin typeface="Arial" panose="020B0704020202020204" pitchFamily="34" charset="0"/>
                <a:cs typeface="Arial" panose="020B0704020202020204" pitchFamily="34" charset="0"/>
              </a:rPr>
              <a:t>prompt,</a:t>
            </a:r>
            <a:r>
              <a:rPr lang="zh-CN" altLang="en-US" sz="2000" b="1">
                <a:latin typeface="Arial" panose="020B0704020202020204" pitchFamily="34" charset="0"/>
                <a:cs typeface="Arial" panose="020B0704020202020204" pitchFamily="34" charset="0"/>
              </a:rPr>
              <a:t>模型优先考虑模仿训练数据</a:t>
            </a:r>
            <a:r>
              <a:rPr lang="en-US" altLang="zh-CN" sz="2000" b="1">
                <a:latin typeface="Arial" panose="020B0704020202020204" pitchFamily="34" charset="0"/>
                <a:cs typeface="Arial" panose="020B0704020202020204" pitchFamily="34" charset="0"/>
              </a:rPr>
              <a:t>；</a:t>
            </a:r>
            <a:r>
              <a:rPr lang="zh-CN" altLang="en-US" sz="2000" b="1">
                <a:latin typeface="Arial" panose="020B0704020202020204" pitchFamily="34" charset="0"/>
                <a:cs typeface="Arial" panose="020B0704020202020204" pitchFamily="34" charset="0"/>
              </a:rPr>
              <a:t>当提示出现不稳定的视觉变化时，模型倾向于简化任务并生成更简单的版本</a:t>
            </a:r>
            <a:r>
              <a:rPr lang="en-US" altLang="zh-CN" sz="2000" b="1">
                <a:latin typeface="Arial" panose="020B0704020202020204" pitchFamily="34" charset="0"/>
                <a:cs typeface="Arial" panose="020B0704020202020204" pitchFamily="34" charset="0"/>
              </a:rPr>
              <a:t>——</a:t>
            </a:r>
            <a:r>
              <a:rPr lang="zh-CN" altLang="en-US" sz="2000" b="1">
                <a:latin typeface="Arial" panose="020B0704020202020204" pitchFamily="34" charset="0"/>
                <a:cs typeface="Arial" panose="020B0704020202020204" pitchFamily="34" charset="0"/>
              </a:rPr>
              <a:t>模型没能真正理解物理规律</a:t>
            </a:r>
            <a:r>
              <a:rPr lang="en-US" altLang="zh-CN" sz="2000" b="1">
                <a:latin typeface="Arial" panose="020B0704020202020204" pitchFamily="34" charset="0"/>
                <a:cs typeface="Arial" panose="020B0704020202020204" pitchFamily="34" charset="0"/>
              </a:rPr>
              <a:t>，</a:t>
            </a:r>
            <a:r>
              <a:rPr lang="zh-CN" altLang="en-US" sz="2000" b="1">
                <a:latin typeface="Arial" panose="020B0704020202020204" pitchFamily="34" charset="0"/>
                <a:cs typeface="Arial" panose="020B0704020202020204" pitchFamily="34" charset="0"/>
              </a:rPr>
              <a:t>还是处在对训练数据的模仿</a:t>
            </a:r>
            <a:r>
              <a:rPr lang="en-US" altLang="zh-CN" sz="2000" b="1">
                <a:latin typeface="Arial" panose="020B0704020202020204" pitchFamily="34" charset="0"/>
                <a:cs typeface="Arial" panose="020B0704020202020204" pitchFamily="34" charset="0"/>
              </a:rPr>
              <a:t>。</a:t>
            </a:r>
          </a:p>
        </p:txBody>
      </p:sp>
      <p:sp>
        <p:nvSpPr>
          <p:cNvPr id="31" name="矩形 30"/>
          <p:cNvSpPr/>
          <p:nvPr/>
        </p:nvSpPr>
        <p:spPr>
          <a:xfrm>
            <a:off x="300990" y="5634355"/>
            <a:ext cx="11704955" cy="760730"/>
          </a:xfrm>
          <a:prstGeom prst="rect">
            <a:avLst/>
          </a:prstGeom>
          <a:noFill/>
          <a:ln w="28575">
            <a:solidFill>
              <a:srgbClr val="2E8FEB"/>
            </a:solidFill>
            <a:prstDash val="das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Arial" panose="020B0704020202020204" pitchFamily="34" charset="0"/>
              <a:ea typeface="Arial" panose="020B0704020202020204" pitchFamily="34" charset="0"/>
              <a:cs typeface="+mn-ea"/>
            </a:endParaRP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350"/>
            <a:ext cx="722630" cy="1123950"/>
          </a:xfrm>
          <a:custGeom>
            <a:avLst/>
            <a:gdLst/>
            <a:ahLst/>
            <a:cxnLst/>
            <a:rect l="l" t="t" r="r" b="b"/>
            <a:pathLst>
              <a:path w="722630" h="1123950">
                <a:moveTo>
                  <a:pt x="261493" y="672592"/>
                </a:moveTo>
                <a:lnTo>
                  <a:pt x="0" y="824268"/>
                </a:lnTo>
                <a:lnTo>
                  <a:pt x="0" y="1123911"/>
                </a:lnTo>
                <a:lnTo>
                  <a:pt x="69240" y="1108341"/>
                </a:lnTo>
                <a:lnTo>
                  <a:pt x="116586" y="1090980"/>
                </a:lnTo>
                <a:lnTo>
                  <a:pt x="163779" y="1066901"/>
                </a:lnTo>
                <a:lnTo>
                  <a:pt x="206527" y="1035481"/>
                </a:lnTo>
                <a:lnTo>
                  <a:pt x="240538" y="996111"/>
                </a:lnTo>
                <a:lnTo>
                  <a:pt x="261493" y="948182"/>
                </a:lnTo>
                <a:lnTo>
                  <a:pt x="261493" y="672592"/>
                </a:lnTo>
                <a:close/>
              </a:path>
              <a:path w="722630" h="1123950">
                <a:moveTo>
                  <a:pt x="672490" y="773684"/>
                </a:moveTo>
                <a:lnTo>
                  <a:pt x="669036" y="773684"/>
                </a:lnTo>
                <a:lnTo>
                  <a:pt x="669036" y="1072261"/>
                </a:lnTo>
                <a:lnTo>
                  <a:pt x="672490" y="1072261"/>
                </a:lnTo>
                <a:lnTo>
                  <a:pt x="672490" y="773684"/>
                </a:lnTo>
                <a:close/>
              </a:path>
              <a:path w="722630" h="1123950">
                <a:moveTo>
                  <a:pt x="680808" y="773684"/>
                </a:moveTo>
                <a:lnTo>
                  <a:pt x="677354" y="773684"/>
                </a:lnTo>
                <a:lnTo>
                  <a:pt x="677354" y="1072261"/>
                </a:lnTo>
                <a:lnTo>
                  <a:pt x="680808" y="1072261"/>
                </a:lnTo>
                <a:lnTo>
                  <a:pt x="680808" y="773684"/>
                </a:lnTo>
                <a:close/>
              </a:path>
              <a:path w="722630" h="1123950">
                <a:moveTo>
                  <a:pt x="689114" y="773684"/>
                </a:moveTo>
                <a:lnTo>
                  <a:pt x="685660" y="773684"/>
                </a:lnTo>
                <a:lnTo>
                  <a:pt x="685660" y="1072261"/>
                </a:lnTo>
                <a:lnTo>
                  <a:pt x="689114" y="1072261"/>
                </a:lnTo>
                <a:lnTo>
                  <a:pt x="689114" y="773684"/>
                </a:lnTo>
                <a:close/>
              </a:path>
              <a:path w="722630" h="1123950">
                <a:moveTo>
                  <a:pt x="696468" y="395859"/>
                </a:moveTo>
                <a:lnTo>
                  <a:pt x="0" y="0"/>
                </a:lnTo>
                <a:lnTo>
                  <a:pt x="0" y="395859"/>
                </a:lnTo>
                <a:lnTo>
                  <a:pt x="696468" y="395859"/>
                </a:lnTo>
                <a:close/>
              </a:path>
              <a:path w="722630" h="1123950">
                <a:moveTo>
                  <a:pt x="697433" y="773684"/>
                </a:moveTo>
                <a:lnTo>
                  <a:pt x="693978" y="773684"/>
                </a:lnTo>
                <a:lnTo>
                  <a:pt x="693978" y="1072261"/>
                </a:lnTo>
                <a:lnTo>
                  <a:pt x="697433" y="1072261"/>
                </a:lnTo>
                <a:lnTo>
                  <a:pt x="697433" y="773684"/>
                </a:lnTo>
                <a:close/>
              </a:path>
              <a:path w="722630" h="1123950">
                <a:moveTo>
                  <a:pt x="705751" y="773684"/>
                </a:moveTo>
                <a:lnTo>
                  <a:pt x="702297" y="773684"/>
                </a:lnTo>
                <a:lnTo>
                  <a:pt x="702297" y="1072261"/>
                </a:lnTo>
                <a:lnTo>
                  <a:pt x="705751" y="1072261"/>
                </a:lnTo>
                <a:lnTo>
                  <a:pt x="705751" y="773684"/>
                </a:lnTo>
                <a:close/>
              </a:path>
              <a:path w="722630" h="1123950">
                <a:moveTo>
                  <a:pt x="705840" y="667893"/>
                </a:moveTo>
                <a:lnTo>
                  <a:pt x="703135" y="664083"/>
                </a:lnTo>
                <a:lnTo>
                  <a:pt x="699401" y="662686"/>
                </a:lnTo>
                <a:lnTo>
                  <a:pt x="699401" y="404749"/>
                </a:lnTo>
                <a:lnTo>
                  <a:pt x="694004" y="404749"/>
                </a:lnTo>
                <a:lnTo>
                  <a:pt x="696468" y="403352"/>
                </a:lnTo>
                <a:lnTo>
                  <a:pt x="0" y="403352"/>
                </a:lnTo>
                <a:lnTo>
                  <a:pt x="0" y="799223"/>
                </a:lnTo>
                <a:lnTo>
                  <a:pt x="692010" y="405892"/>
                </a:lnTo>
                <a:lnTo>
                  <a:pt x="692010" y="662686"/>
                </a:lnTo>
                <a:lnTo>
                  <a:pt x="688276" y="664083"/>
                </a:lnTo>
                <a:lnTo>
                  <a:pt x="685660" y="667893"/>
                </a:lnTo>
                <a:lnTo>
                  <a:pt x="685660" y="677926"/>
                </a:lnTo>
                <a:lnTo>
                  <a:pt x="690143" y="682498"/>
                </a:lnTo>
                <a:lnTo>
                  <a:pt x="701268" y="682498"/>
                </a:lnTo>
                <a:lnTo>
                  <a:pt x="705840" y="677926"/>
                </a:lnTo>
                <a:lnTo>
                  <a:pt x="705840" y="667893"/>
                </a:lnTo>
                <a:close/>
              </a:path>
              <a:path w="722630" h="1123950">
                <a:moveTo>
                  <a:pt x="714057" y="773684"/>
                </a:moveTo>
                <a:lnTo>
                  <a:pt x="710603" y="773684"/>
                </a:lnTo>
                <a:lnTo>
                  <a:pt x="710603" y="1072261"/>
                </a:lnTo>
                <a:lnTo>
                  <a:pt x="714057" y="1072261"/>
                </a:lnTo>
                <a:lnTo>
                  <a:pt x="714057" y="773684"/>
                </a:lnTo>
                <a:close/>
              </a:path>
              <a:path w="722630" h="1123950">
                <a:moveTo>
                  <a:pt x="722376" y="773684"/>
                </a:moveTo>
                <a:lnTo>
                  <a:pt x="718921" y="773684"/>
                </a:lnTo>
                <a:lnTo>
                  <a:pt x="718921" y="1072261"/>
                </a:lnTo>
                <a:lnTo>
                  <a:pt x="722376" y="1072261"/>
                </a:lnTo>
                <a:lnTo>
                  <a:pt x="722376" y="773684"/>
                </a:lnTo>
                <a:close/>
              </a:path>
              <a:path w="722630" h="1123950">
                <a:moveTo>
                  <a:pt x="722376" y="760857"/>
                </a:moveTo>
                <a:lnTo>
                  <a:pt x="669036" y="760857"/>
                </a:lnTo>
                <a:lnTo>
                  <a:pt x="669036" y="764667"/>
                </a:lnTo>
                <a:lnTo>
                  <a:pt x="722376" y="764667"/>
                </a:lnTo>
                <a:lnTo>
                  <a:pt x="722376" y="760857"/>
                </a:lnTo>
                <a:close/>
              </a:path>
              <a:path w="722630" h="1123950">
                <a:moveTo>
                  <a:pt x="722376" y="720344"/>
                </a:moveTo>
                <a:lnTo>
                  <a:pt x="720267" y="709777"/>
                </a:lnTo>
                <a:lnTo>
                  <a:pt x="714552" y="701141"/>
                </a:lnTo>
                <a:lnTo>
                  <a:pt x="706094" y="695312"/>
                </a:lnTo>
                <a:lnTo>
                  <a:pt x="695756" y="693166"/>
                </a:lnTo>
                <a:lnTo>
                  <a:pt x="685355" y="695312"/>
                </a:lnTo>
                <a:lnTo>
                  <a:pt x="676859" y="701141"/>
                </a:lnTo>
                <a:lnTo>
                  <a:pt x="671131" y="709777"/>
                </a:lnTo>
                <a:lnTo>
                  <a:pt x="669036" y="720344"/>
                </a:lnTo>
                <a:lnTo>
                  <a:pt x="669036" y="754507"/>
                </a:lnTo>
                <a:lnTo>
                  <a:pt x="722376" y="754507"/>
                </a:lnTo>
                <a:lnTo>
                  <a:pt x="722376" y="720344"/>
                </a:lnTo>
                <a:close/>
              </a:path>
            </a:pathLst>
          </a:custGeom>
          <a:solidFill>
            <a:srgbClr val="5095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9728" y="171068"/>
            <a:ext cx="657415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2800" spc="-35" dirty="0">
                <a:solidFill>
                  <a:srgbClr val="000000"/>
                </a:solidFill>
              </a:rPr>
              <a:t>五</a:t>
            </a:r>
            <a:r>
              <a:rPr lang="zh-CN" altLang="en-US" sz="2800" spc="-35" dirty="0">
                <a:solidFill>
                  <a:srgbClr val="000000"/>
                </a:solidFill>
              </a:rPr>
              <a:t>、</a:t>
            </a:r>
            <a:r>
              <a:rPr lang="en-US" altLang="zh-CN" sz="2800" spc="-35" dirty="0">
                <a:solidFill>
                  <a:srgbClr val="000000"/>
                </a:solidFill>
              </a:rPr>
              <a:t>写作分析</a:t>
            </a:r>
          </a:p>
        </p:txBody>
      </p:sp>
      <p:grpSp>
        <p:nvGrpSpPr>
          <p:cNvPr id="45" name="object 45"/>
          <p:cNvGrpSpPr/>
          <p:nvPr/>
        </p:nvGrpSpPr>
        <p:grpSpPr>
          <a:xfrm>
            <a:off x="0" y="6428956"/>
            <a:ext cx="12192000" cy="436370"/>
            <a:chOff x="0" y="6422138"/>
            <a:chExt cx="12192000" cy="436370"/>
          </a:xfrm>
        </p:grpSpPr>
        <p:sp>
          <p:nvSpPr>
            <p:cNvPr id="46" name="object 46"/>
            <p:cNvSpPr/>
            <p:nvPr/>
          </p:nvSpPr>
          <p:spPr>
            <a:xfrm>
              <a:off x="0" y="6426708"/>
              <a:ext cx="12192000" cy="431800"/>
            </a:xfrm>
            <a:custGeom>
              <a:avLst/>
              <a:gdLst/>
              <a:ahLst/>
              <a:cxnLst/>
              <a:rect l="l" t="t" r="r" b="b"/>
              <a:pathLst>
                <a:path w="12192000" h="431800">
                  <a:moveTo>
                    <a:pt x="12192000" y="0"/>
                  </a:moveTo>
                  <a:lnTo>
                    <a:pt x="0" y="0"/>
                  </a:lnTo>
                  <a:lnTo>
                    <a:pt x="0" y="431291"/>
                  </a:lnTo>
                  <a:lnTo>
                    <a:pt x="12192000" y="431291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8EB4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422138"/>
              <a:ext cx="1131570" cy="433590"/>
            </a:xfrm>
            <a:prstGeom prst="rect">
              <a:avLst/>
            </a:prstGeom>
          </p:spPr>
        </p:pic>
      </p:grp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xfrm>
            <a:off x="131470" y="6499665"/>
            <a:ext cx="904875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dirty="0"/>
              <a:t>Page</a:t>
            </a:r>
            <a:r>
              <a:rPr spc="-20" dirty="0"/>
              <a:t> </a:t>
            </a:r>
            <a:r>
              <a:rPr lang="en-US" spc="-20" dirty="0"/>
              <a:t>7</a:t>
            </a:r>
          </a:p>
        </p:txBody>
      </p:sp>
      <p:sp>
        <p:nvSpPr>
          <p:cNvPr id="20" name="Rectangle 6"/>
          <p:cNvSpPr>
            <a:spLocks noChangeArrowheads="1"/>
          </p:cNvSpPr>
          <p:nvPr/>
        </p:nvSpPr>
        <p:spPr bwMode="auto">
          <a:xfrm>
            <a:off x="4291226" y="-1"/>
            <a:ext cx="790077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1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rcRect b="4942"/>
          <a:stretch>
            <a:fillRect/>
          </a:stretch>
        </p:blipFill>
        <p:spPr>
          <a:xfrm>
            <a:off x="914400" y="784225"/>
            <a:ext cx="10641330" cy="55454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638800"/>
            <a:ext cx="7362190" cy="50927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01700" y="739140"/>
            <a:ext cx="10970895" cy="76200"/>
          </a:xfrm>
          <a:custGeom>
            <a:avLst/>
            <a:gdLst/>
            <a:ahLst/>
            <a:cxnLst/>
            <a:rect l="l" t="t" r="r" b="b"/>
            <a:pathLst>
              <a:path w="10967085">
                <a:moveTo>
                  <a:pt x="0" y="0"/>
                </a:moveTo>
                <a:lnTo>
                  <a:pt x="10966831" y="0"/>
                </a:lnTo>
              </a:path>
            </a:pathLst>
          </a:custGeom>
          <a:ln w="38100">
            <a:solidFill>
              <a:srgbClr val="1C04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350"/>
            <a:ext cx="722630" cy="1123950"/>
          </a:xfrm>
          <a:custGeom>
            <a:avLst/>
            <a:gdLst/>
            <a:ahLst/>
            <a:cxnLst/>
            <a:rect l="l" t="t" r="r" b="b"/>
            <a:pathLst>
              <a:path w="722630" h="1123950">
                <a:moveTo>
                  <a:pt x="261493" y="672592"/>
                </a:moveTo>
                <a:lnTo>
                  <a:pt x="0" y="824268"/>
                </a:lnTo>
                <a:lnTo>
                  <a:pt x="0" y="1123911"/>
                </a:lnTo>
                <a:lnTo>
                  <a:pt x="69240" y="1108341"/>
                </a:lnTo>
                <a:lnTo>
                  <a:pt x="116586" y="1090980"/>
                </a:lnTo>
                <a:lnTo>
                  <a:pt x="163779" y="1066901"/>
                </a:lnTo>
                <a:lnTo>
                  <a:pt x="206527" y="1035481"/>
                </a:lnTo>
                <a:lnTo>
                  <a:pt x="240538" y="996111"/>
                </a:lnTo>
                <a:lnTo>
                  <a:pt x="261493" y="948182"/>
                </a:lnTo>
                <a:lnTo>
                  <a:pt x="261493" y="672592"/>
                </a:lnTo>
                <a:close/>
              </a:path>
              <a:path w="722630" h="1123950">
                <a:moveTo>
                  <a:pt x="672490" y="773684"/>
                </a:moveTo>
                <a:lnTo>
                  <a:pt x="669036" y="773684"/>
                </a:lnTo>
                <a:lnTo>
                  <a:pt x="669036" y="1072261"/>
                </a:lnTo>
                <a:lnTo>
                  <a:pt x="672490" y="1072261"/>
                </a:lnTo>
                <a:lnTo>
                  <a:pt x="672490" y="773684"/>
                </a:lnTo>
                <a:close/>
              </a:path>
              <a:path w="722630" h="1123950">
                <a:moveTo>
                  <a:pt x="680808" y="773684"/>
                </a:moveTo>
                <a:lnTo>
                  <a:pt x="677354" y="773684"/>
                </a:lnTo>
                <a:lnTo>
                  <a:pt x="677354" y="1072261"/>
                </a:lnTo>
                <a:lnTo>
                  <a:pt x="680808" y="1072261"/>
                </a:lnTo>
                <a:lnTo>
                  <a:pt x="680808" y="773684"/>
                </a:lnTo>
                <a:close/>
              </a:path>
              <a:path w="722630" h="1123950">
                <a:moveTo>
                  <a:pt x="689114" y="773684"/>
                </a:moveTo>
                <a:lnTo>
                  <a:pt x="685660" y="773684"/>
                </a:lnTo>
                <a:lnTo>
                  <a:pt x="685660" y="1072261"/>
                </a:lnTo>
                <a:lnTo>
                  <a:pt x="689114" y="1072261"/>
                </a:lnTo>
                <a:lnTo>
                  <a:pt x="689114" y="773684"/>
                </a:lnTo>
                <a:close/>
              </a:path>
              <a:path w="722630" h="1123950">
                <a:moveTo>
                  <a:pt x="696468" y="395859"/>
                </a:moveTo>
                <a:lnTo>
                  <a:pt x="0" y="0"/>
                </a:lnTo>
                <a:lnTo>
                  <a:pt x="0" y="395859"/>
                </a:lnTo>
                <a:lnTo>
                  <a:pt x="696468" y="395859"/>
                </a:lnTo>
                <a:close/>
              </a:path>
              <a:path w="722630" h="1123950">
                <a:moveTo>
                  <a:pt x="697433" y="773684"/>
                </a:moveTo>
                <a:lnTo>
                  <a:pt x="693978" y="773684"/>
                </a:lnTo>
                <a:lnTo>
                  <a:pt x="693978" y="1072261"/>
                </a:lnTo>
                <a:lnTo>
                  <a:pt x="697433" y="1072261"/>
                </a:lnTo>
                <a:lnTo>
                  <a:pt x="697433" y="773684"/>
                </a:lnTo>
                <a:close/>
              </a:path>
              <a:path w="722630" h="1123950">
                <a:moveTo>
                  <a:pt x="705751" y="773684"/>
                </a:moveTo>
                <a:lnTo>
                  <a:pt x="702297" y="773684"/>
                </a:lnTo>
                <a:lnTo>
                  <a:pt x="702297" y="1072261"/>
                </a:lnTo>
                <a:lnTo>
                  <a:pt x="705751" y="1072261"/>
                </a:lnTo>
                <a:lnTo>
                  <a:pt x="705751" y="773684"/>
                </a:lnTo>
                <a:close/>
              </a:path>
              <a:path w="722630" h="1123950">
                <a:moveTo>
                  <a:pt x="705840" y="667893"/>
                </a:moveTo>
                <a:lnTo>
                  <a:pt x="703135" y="664083"/>
                </a:lnTo>
                <a:lnTo>
                  <a:pt x="699401" y="662686"/>
                </a:lnTo>
                <a:lnTo>
                  <a:pt x="699401" y="404749"/>
                </a:lnTo>
                <a:lnTo>
                  <a:pt x="694004" y="404749"/>
                </a:lnTo>
                <a:lnTo>
                  <a:pt x="696468" y="403352"/>
                </a:lnTo>
                <a:lnTo>
                  <a:pt x="0" y="403352"/>
                </a:lnTo>
                <a:lnTo>
                  <a:pt x="0" y="799223"/>
                </a:lnTo>
                <a:lnTo>
                  <a:pt x="692010" y="405892"/>
                </a:lnTo>
                <a:lnTo>
                  <a:pt x="692010" y="662686"/>
                </a:lnTo>
                <a:lnTo>
                  <a:pt x="688276" y="664083"/>
                </a:lnTo>
                <a:lnTo>
                  <a:pt x="685660" y="667893"/>
                </a:lnTo>
                <a:lnTo>
                  <a:pt x="685660" y="677926"/>
                </a:lnTo>
                <a:lnTo>
                  <a:pt x="690143" y="682498"/>
                </a:lnTo>
                <a:lnTo>
                  <a:pt x="701268" y="682498"/>
                </a:lnTo>
                <a:lnTo>
                  <a:pt x="705840" y="677926"/>
                </a:lnTo>
                <a:lnTo>
                  <a:pt x="705840" y="667893"/>
                </a:lnTo>
                <a:close/>
              </a:path>
              <a:path w="722630" h="1123950">
                <a:moveTo>
                  <a:pt x="714057" y="773684"/>
                </a:moveTo>
                <a:lnTo>
                  <a:pt x="710603" y="773684"/>
                </a:lnTo>
                <a:lnTo>
                  <a:pt x="710603" y="1072261"/>
                </a:lnTo>
                <a:lnTo>
                  <a:pt x="714057" y="1072261"/>
                </a:lnTo>
                <a:lnTo>
                  <a:pt x="714057" y="773684"/>
                </a:lnTo>
                <a:close/>
              </a:path>
              <a:path w="722630" h="1123950">
                <a:moveTo>
                  <a:pt x="722376" y="773684"/>
                </a:moveTo>
                <a:lnTo>
                  <a:pt x="718921" y="773684"/>
                </a:lnTo>
                <a:lnTo>
                  <a:pt x="718921" y="1072261"/>
                </a:lnTo>
                <a:lnTo>
                  <a:pt x="722376" y="1072261"/>
                </a:lnTo>
                <a:lnTo>
                  <a:pt x="722376" y="773684"/>
                </a:lnTo>
                <a:close/>
              </a:path>
              <a:path w="722630" h="1123950">
                <a:moveTo>
                  <a:pt x="722376" y="760857"/>
                </a:moveTo>
                <a:lnTo>
                  <a:pt x="669036" y="760857"/>
                </a:lnTo>
                <a:lnTo>
                  <a:pt x="669036" y="764667"/>
                </a:lnTo>
                <a:lnTo>
                  <a:pt x="722376" y="764667"/>
                </a:lnTo>
                <a:lnTo>
                  <a:pt x="722376" y="760857"/>
                </a:lnTo>
                <a:close/>
              </a:path>
              <a:path w="722630" h="1123950">
                <a:moveTo>
                  <a:pt x="722376" y="720344"/>
                </a:moveTo>
                <a:lnTo>
                  <a:pt x="720267" y="709777"/>
                </a:lnTo>
                <a:lnTo>
                  <a:pt x="714552" y="701141"/>
                </a:lnTo>
                <a:lnTo>
                  <a:pt x="706094" y="695312"/>
                </a:lnTo>
                <a:lnTo>
                  <a:pt x="695756" y="693166"/>
                </a:lnTo>
                <a:lnTo>
                  <a:pt x="685355" y="695312"/>
                </a:lnTo>
                <a:lnTo>
                  <a:pt x="676859" y="701141"/>
                </a:lnTo>
                <a:lnTo>
                  <a:pt x="671131" y="709777"/>
                </a:lnTo>
                <a:lnTo>
                  <a:pt x="669036" y="720344"/>
                </a:lnTo>
                <a:lnTo>
                  <a:pt x="669036" y="754507"/>
                </a:lnTo>
                <a:lnTo>
                  <a:pt x="722376" y="754507"/>
                </a:lnTo>
                <a:lnTo>
                  <a:pt x="722376" y="720344"/>
                </a:lnTo>
                <a:close/>
              </a:path>
            </a:pathLst>
          </a:custGeom>
          <a:solidFill>
            <a:srgbClr val="5095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9728" y="171068"/>
            <a:ext cx="657415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2800" spc="-35" dirty="0">
                <a:solidFill>
                  <a:srgbClr val="000000"/>
                </a:solidFill>
              </a:rPr>
              <a:t>六</a:t>
            </a:r>
            <a:r>
              <a:rPr lang="zh-CN" altLang="en-US" sz="2800" spc="-35" dirty="0">
                <a:solidFill>
                  <a:srgbClr val="000000"/>
                </a:solidFill>
              </a:rPr>
              <a:t>、</a:t>
            </a:r>
            <a:r>
              <a:rPr lang="en-US" altLang="zh-CN" sz="2800" spc="-35" dirty="0">
                <a:solidFill>
                  <a:srgbClr val="000000"/>
                </a:solidFill>
              </a:rPr>
              <a:t>个人总结</a:t>
            </a:r>
          </a:p>
        </p:txBody>
      </p:sp>
      <p:sp>
        <p:nvSpPr>
          <p:cNvPr id="4" name="object 4"/>
          <p:cNvSpPr/>
          <p:nvPr/>
        </p:nvSpPr>
        <p:spPr>
          <a:xfrm>
            <a:off x="901446" y="814577"/>
            <a:ext cx="10967085" cy="0"/>
          </a:xfrm>
          <a:custGeom>
            <a:avLst/>
            <a:gdLst/>
            <a:ahLst/>
            <a:cxnLst/>
            <a:rect l="l" t="t" r="r" b="b"/>
            <a:pathLst>
              <a:path w="10967085">
                <a:moveTo>
                  <a:pt x="0" y="0"/>
                </a:moveTo>
                <a:lnTo>
                  <a:pt x="10966831" y="0"/>
                </a:lnTo>
              </a:path>
            </a:pathLst>
          </a:custGeom>
          <a:ln w="38100">
            <a:solidFill>
              <a:srgbClr val="1C04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5" name="object 45"/>
          <p:cNvGrpSpPr/>
          <p:nvPr/>
        </p:nvGrpSpPr>
        <p:grpSpPr>
          <a:xfrm>
            <a:off x="0" y="6428956"/>
            <a:ext cx="12192000" cy="436370"/>
            <a:chOff x="0" y="6422138"/>
            <a:chExt cx="12192000" cy="436370"/>
          </a:xfrm>
        </p:grpSpPr>
        <p:sp>
          <p:nvSpPr>
            <p:cNvPr id="46" name="object 46"/>
            <p:cNvSpPr/>
            <p:nvPr/>
          </p:nvSpPr>
          <p:spPr>
            <a:xfrm>
              <a:off x="0" y="6426708"/>
              <a:ext cx="12192000" cy="431800"/>
            </a:xfrm>
            <a:custGeom>
              <a:avLst/>
              <a:gdLst/>
              <a:ahLst/>
              <a:cxnLst/>
              <a:rect l="l" t="t" r="r" b="b"/>
              <a:pathLst>
                <a:path w="12192000" h="431800">
                  <a:moveTo>
                    <a:pt x="12192000" y="0"/>
                  </a:moveTo>
                  <a:lnTo>
                    <a:pt x="0" y="0"/>
                  </a:lnTo>
                  <a:lnTo>
                    <a:pt x="0" y="431291"/>
                  </a:lnTo>
                  <a:lnTo>
                    <a:pt x="12192000" y="431291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8EB4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422138"/>
              <a:ext cx="1131570" cy="433590"/>
            </a:xfrm>
            <a:prstGeom prst="rect">
              <a:avLst/>
            </a:prstGeom>
          </p:spPr>
        </p:pic>
      </p:grp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xfrm>
            <a:off x="131470" y="6499665"/>
            <a:ext cx="904875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dirty="0"/>
              <a:t>Page</a:t>
            </a:r>
            <a:r>
              <a:rPr spc="-20" dirty="0"/>
              <a:t> </a:t>
            </a:r>
            <a:r>
              <a:rPr lang="en-US" spc="-20" dirty="0"/>
              <a:t>8</a:t>
            </a:r>
          </a:p>
        </p:txBody>
      </p:sp>
      <p:sp>
        <p:nvSpPr>
          <p:cNvPr id="20" name="Rectangle 6"/>
          <p:cNvSpPr>
            <a:spLocks noChangeArrowheads="1"/>
          </p:cNvSpPr>
          <p:nvPr/>
        </p:nvSpPr>
        <p:spPr bwMode="auto">
          <a:xfrm>
            <a:off x="4291226" y="-1"/>
            <a:ext cx="790077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1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685800" y="990600"/>
            <a:ext cx="4516755" cy="5346700"/>
          </a:xfrm>
          <a:prstGeom prst="rect">
            <a:avLst/>
          </a:prstGeom>
          <a:noFill/>
          <a:ln w="28575">
            <a:solidFill>
              <a:srgbClr val="2E8FEB"/>
            </a:solidFill>
            <a:prstDash val="das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Arial" panose="020B0704020202020204" pitchFamily="34" charset="0"/>
              <a:ea typeface="Arial" panose="020B0704020202020204" pitchFamily="34" charset="0"/>
              <a:cs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53405" y="941705"/>
            <a:ext cx="6223000" cy="5414645"/>
          </a:xfrm>
          <a:prstGeom prst="rect">
            <a:avLst/>
          </a:prstGeom>
          <a:noFill/>
          <a:ln w="28575">
            <a:solidFill>
              <a:srgbClr val="2E8FEB"/>
            </a:solidFill>
            <a:prstDash val="das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Arial" panose="020B0704020202020204" pitchFamily="34" charset="0"/>
              <a:ea typeface="Arial" panose="020B0704020202020204" pitchFamily="34" charset="0"/>
              <a:cs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62000" y="914400"/>
            <a:ext cx="4325620" cy="231203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defTabSz="0">
              <a:lnSpc>
                <a:spcPct val="110000"/>
              </a:lnSpc>
              <a:tabLst>
                <a:tab pos="5282565" algn="l"/>
              </a:tabLst>
            </a:pPr>
            <a:r>
              <a:rPr lang="en-US" altLang="zh-CN" sz="3200" b="1" i="0">
                <a:solidFill>
                  <a:srgbClr val="C00000"/>
                </a:solidFill>
                <a:latin typeface="Google Sans Flex"/>
                <a:ea typeface="Google Sans Flex"/>
              </a:rPr>
              <a:t>优点：</a:t>
            </a:r>
          </a:p>
          <a:p>
            <a:pPr marL="457200" indent="-457200" defTabSz="0">
              <a:lnSpc>
                <a:spcPct val="120000"/>
              </a:lnSpc>
              <a:buFont typeface="Arial" panose="020B0704020202020204" pitchFamily="34" charset="0"/>
              <a:buChar char="•"/>
              <a:tabLst>
                <a:tab pos="5282565" algn="l"/>
              </a:tabLst>
            </a:pPr>
            <a:r>
              <a:rPr lang="en-US" altLang="zh-CN" sz="2400" b="1" i="0">
                <a:solidFill>
                  <a:schemeClr val="tx1"/>
                </a:solidFill>
                <a:latin typeface="Google Sans Flex"/>
                <a:ea typeface="Google Sans Flex"/>
              </a:rPr>
              <a:t>在比较好的风口对 </a:t>
            </a:r>
            <a:r>
              <a:rPr lang="en-US" altLang="zh-CN" sz="2400" b="1" i="1">
                <a:solidFill>
                  <a:schemeClr val="tx1"/>
                </a:solidFill>
                <a:latin typeface="Google Sans Flex"/>
                <a:ea typeface="Google Sans Flex"/>
              </a:rPr>
              <a:t>生成视频是否符合人类物理感知 </a:t>
            </a:r>
            <a:r>
              <a:rPr lang="en-US" altLang="zh-CN" sz="2400" b="1" i="0">
                <a:solidFill>
                  <a:schemeClr val="tx1"/>
                </a:solidFill>
                <a:latin typeface="Google Sans Flex"/>
                <a:ea typeface="Google Sans Flex"/>
              </a:rPr>
              <a:t>这个问题做了全面的定义</a:t>
            </a:r>
          </a:p>
          <a:p>
            <a:pPr marL="457200" indent="-457200" defTabSz="0">
              <a:lnSpc>
                <a:spcPct val="120000"/>
              </a:lnSpc>
              <a:buFont typeface="Arial" panose="020B0704020202020204" pitchFamily="34" charset="0"/>
              <a:buChar char="•"/>
              <a:tabLst>
                <a:tab pos="5282565" algn="l"/>
              </a:tabLst>
            </a:pPr>
            <a:r>
              <a:rPr lang="en-US" altLang="zh-CN" sz="2400" b="1" i="0">
                <a:solidFill>
                  <a:schemeClr val="tx1"/>
                </a:solidFill>
                <a:latin typeface="Google Sans Flex"/>
                <a:ea typeface="Google Sans Flex"/>
              </a:rPr>
              <a:t>对符合这个任务物理类型的定义比较精确（和World Model的物理性进行区分）</a:t>
            </a:r>
          </a:p>
          <a:p>
            <a:pPr marL="457200" indent="-457200" defTabSz="0">
              <a:lnSpc>
                <a:spcPct val="120000"/>
              </a:lnSpc>
              <a:buFont typeface="Arial" panose="020B0704020202020204" pitchFamily="34" charset="0"/>
              <a:buChar char="•"/>
              <a:tabLst>
                <a:tab pos="5282565" algn="l"/>
              </a:tabLst>
            </a:pPr>
            <a:r>
              <a:rPr lang="en-US" altLang="zh-CN" sz="2400" b="1" i="0">
                <a:solidFill>
                  <a:schemeClr val="tx1"/>
                </a:solidFill>
                <a:latin typeface="Google Sans Flex"/>
                <a:ea typeface="Google Sans Flex"/>
              </a:rPr>
              <a:t>通过构建不同类型的Prompt、CAP简单的方法发现有启发性的问题，生成模型对物理规律只是模仿，没能学会</a:t>
            </a:r>
          </a:p>
          <a:p>
            <a:pPr marL="457200" indent="-457200" defTabSz="0">
              <a:lnSpc>
                <a:spcPct val="110000"/>
              </a:lnSpc>
              <a:buFont typeface="Arial" panose="020B0704020202020204" pitchFamily="34" charset="0"/>
              <a:buChar char="•"/>
              <a:tabLst>
                <a:tab pos="5282565" algn="l"/>
              </a:tabLst>
            </a:pPr>
            <a:endParaRPr lang="en-US" altLang="zh-CN" sz="2400" b="1" i="0">
              <a:solidFill>
                <a:schemeClr val="tx1"/>
              </a:solidFill>
              <a:latin typeface="Google Sans Flex"/>
              <a:ea typeface="Google Sans Flex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634990" y="863600"/>
            <a:ext cx="6365875" cy="24231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defTabSz="0">
              <a:lnSpc>
                <a:spcPct val="120000"/>
              </a:lnSpc>
              <a:tabLst>
                <a:tab pos="5282565" algn="l"/>
              </a:tabLst>
            </a:pPr>
            <a:r>
              <a:rPr lang="en-US" altLang="zh-CN" sz="3200" b="1" i="0">
                <a:solidFill>
                  <a:srgbClr val="C00000"/>
                </a:solidFill>
                <a:latin typeface="Google Sans Flex"/>
                <a:ea typeface="Google Sans Flex"/>
              </a:rPr>
              <a:t>没有解决的问题：</a:t>
            </a:r>
          </a:p>
          <a:p>
            <a:pPr marL="457200" indent="-457200" defTabSz="0">
              <a:lnSpc>
                <a:spcPct val="110000"/>
              </a:lnSpc>
              <a:buFont typeface="Arial" panose="020B0704020202020204" pitchFamily="34" charset="0"/>
              <a:buChar char="•"/>
              <a:tabLst>
                <a:tab pos="5282565" algn="l"/>
              </a:tabLst>
            </a:pPr>
            <a:r>
              <a:rPr lang="en-US" altLang="zh-CN" sz="2400" b="1" i="0">
                <a:solidFill>
                  <a:schemeClr val="tx1"/>
                </a:solidFill>
                <a:latin typeface="Google Sans Flex"/>
                <a:ea typeface="Google Sans Flex"/>
              </a:rPr>
              <a:t>评价太简单。评测器只是对问题进行简单描述和打分，打分是简单0/1输出。</a:t>
            </a:r>
          </a:p>
          <a:p>
            <a:pPr marL="457200" indent="-457200" defTabSz="0">
              <a:lnSpc>
                <a:spcPct val="110000"/>
              </a:lnSpc>
              <a:buFont typeface="Arial" panose="020B0704020202020204" pitchFamily="34" charset="0"/>
              <a:buChar char="•"/>
              <a:tabLst>
                <a:tab pos="5282565" algn="l"/>
              </a:tabLst>
            </a:pPr>
            <a:r>
              <a:rPr lang="en-US" altLang="zh-CN" sz="2400" b="1" i="0">
                <a:solidFill>
                  <a:schemeClr val="tx1"/>
                </a:solidFill>
                <a:latin typeface="Google Sans Flex"/>
                <a:ea typeface="Google Sans Flex"/>
              </a:rPr>
              <a:t>评价缺乏时间维度。无法从时间上对出现问题的视频段进行定位</a:t>
            </a:r>
          </a:p>
          <a:p>
            <a:pPr marL="457200" indent="-457200" defTabSz="0">
              <a:lnSpc>
                <a:spcPct val="110000"/>
              </a:lnSpc>
              <a:buFont typeface="Arial" panose="020B0704020202020204" pitchFamily="34" charset="0"/>
              <a:buChar char="•"/>
              <a:tabLst>
                <a:tab pos="5282565" algn="l"/>
              </a:tabLst>
            </a:pPr>
            <a:r>
              <a:rPr lang="en-US" altLang="zh-CN" sz="2400" b="1" i="0">
                <a:solidFill>
                  <a:schemeClr val="tx1"/>
                </a:solidFill>
                <a:latin typeface="Google Sans Flex"/>
                <a:ea typeface="Google Sans Flex"/>
                <a:sym typeface="+mn-ea"/>
              </a:rPr>
              <a:t>评价缺少解释。没能定位哪一帧的物理原因没有做好，导致后面几帧的物理结果不正常</a:t>
            </a:r>
          </a:p>
          <a:p>
            <a:pPr marL="457200" indent="-457200" defTabSz="0">
              <a:lnSpc>
                <a:spcPct val="110000"/>
              </a:lnSpc>
              <a:buFont typeface="Arial" panose="020B0704020202020204" pitchFamily="34" charset="0"/>
              <a:buChar char="•"/>
              <a:tabLst>
                <a:tab pos="5282565" algn="l"/>
              </a:tabLst>
            </a:pPr>
            <a:r>
              <a:rPr lang="en-US" altLang="zh-CN" sz="2400" b="1" i="0">
                <a:solidFill>
                  <a:schemeClr val="tx1"/>
                </a:solidFill>
                <a:latin typeface="Google Sans Flex"/>
                <a:ea typeface="Google Sans Flex"/>
                <a:sym typeface="+mn-ea"/>
              </a:rPr>
              <a:t>评价不稳定。用Zero-Shot的MLLM评分往往会出现比较绝对的评价，从QA工作的角度需要稳定的打分。</a:t>
            </a:r>
          </a:p>
          <a:p>
            <a:pPr marL="457200" indent="-457200" defTabSz="0">
              <a:lnSpc>
                <a:spcPct val="110000"/>
              </a:lnSpc>
              <a:buFont typeface="Arial" panose="020B0704020202020204" pitchFamily="34" charset="0"/>
              <a:buChar char="•"/>
              <a:tabLst>
                <a:tab pos="5282565" algn="l"/>
              </a:tabLst>
            </a:pPr>
            <a:r>
              <a:rPr lang="en-US" altLang="zh-CN" sz="2400" b="1" i="0">
                <a:solidFill>
                  <a:schemeClr val="tx1"/>
                </a:solidFill>
                <a:latin typeface="Google Sans Flex"/>
                <a:ea typeface="Google Sans Flex"/>
              </a:rPr>
              <a:t>评价方法简单。只是从语义prompt的角度进行研究，没有更深入研究里面的机制</a:t>
            </a:r>
          </a:p>
        </p:txBody>
      </p:sp>
    </p:spTree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JjOTQxYzhjODMyMDAzZmE0MDJkMWFkNmJlNDkwYT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744</Words>
  <Application>Microsoft Macintosh PowerPoint</Application>
  <PresentationFormat>宽屏</PresentationFormat>
  <Paragraphs>83</Paragraphs>
  <Slides>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 Regular</vt:lpstr>
      <vt:lpstr>Google Sans Flex</vt:lpstr>
      <vt:lpstr>微软雅黑</vt:lpstr>
      <vt:lpstr>Arial</vt:lpstr>
      <vt:lpstr>Calibri</vt:lpstr>
      <vt:lpstr>Times New Roman</vt:lpstr>
      <vt:lpstr>Office Theme</vt:lpstr>
      <vt:lpstr>一、论文概况</vt:lpstr>
      <vt:lpstr>二、评什么</vt:lpstr>
      <vt:lpstr>三、怎么评</vt:lpstr>
      <vt:lpstr>三、怎么评</vt:lpstr>
      <vt:lpstr>四、评的结果</vt:lpstr>
      <vt:lpstr>四、评的结果</vt:lpstr>
      <vt:lpstr>五、写作分析</vt:lpstr>
      <vt:lpstr>六、个人总结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Tomato Intelligent Growth Detection System_x000d_Based on Deep Neural Network</dc:title>
  <dc:creator>A2125</dc:creator>
  <cp:lastModifiedBy>s1305</cp:lastModifiedBy>
  <cp:revision>289</cp:revision>
  <dcterms:created xsi:type="dcterms:W3CDTF">2026-09-17T10:27:08Z</dcterms:created>
  <dcterms:modified xsi:type="dcterms:W3CDTF">2026-10-13T10:24:46Z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2023-05-10T00:00:00Z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2024-04-06T00:00:00Z</vt:filetime>
  </property>
  <property fmtid="{D5CDD505-2E9C-101B-9397-08002B2CF9AE}" pid="5" name="ICV">
    <vt:lpwstr>0B75B897D850B8AD283BA96A843269F4_43</vt:lpwstr>
  </property>
  <property fmtid="{D5CDD505-2E9C-101B-9397-08002B2CF9AE}" pid="6" name="KSOProductBuildVer">
    <vt:lpwstr>2052-12.1.26055.26055</vt:lpwstr>
  </property>
</Properties>
</file>