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691" r:id="rId7"/>
    <p:sldId id="261" r:id="rId8"/>
    <p:sldId id="262" r:id="rId9"/>
    <p:sldId id="693" r:id="rId10"/>
    <p:sldId id="263" r:id="rId11"/>
    <p:sldId id="264" r:id="rId12"/>
    <p:sldId id="266" r:id="rId13"/>
    <p:sldId id="267" r:id="rId14"/>
    <p:sldId id="692" r:id="rId15"/>
    <p:sldId id="265" r:id="rId16"/>
    <p:sldId id="268" r:id="rId17"/>
    <p:sldId id="269" r:id="rId18"/>
    <p:sldId id="694" r:id="rId19"/>
    <p:sldId id="270" r:id="rId20"/>
    <p:sldId id="271" r:id="rId21"/>
    <p:sldId id="696" r:id="rId22"/>
    <p:sldId id="272" r:id="rId23"/>
    <p:sldId id="697" r:id="rId24"/>
    <p:sldId id="273" r:id="rId25"/>
    <p:sldId id="274" r:id="rId26"/>
    <p:sldId id="695" r:id="rId27"/>
    <p:sldId id="275" r:id="rId28"/>
    <p:sldId id="276" r:id="rId29"/>
    <p:sldId id="277" r:id="rId30"/>
    <p:sldId id="278" r:id="rId31"/>
    <p:sldId id="281" r:id="rId32"/>
    <p:sldId id="282" r:id="rId33"/>
    <p:sldId id="554" r:id="rId34"/>
    <p:sldId id="279" r:id="rId35"/>
    <p:sldId id="329" r:id="rId36"/>
    <p:sldId id="280" r:id="rId37"/>
    <p:sldId id="451" r:id="rId38"/>
    <p:sldId id="622" r:id="rId39"/>
    <p:sldId id="671" r:id="rId40"/>
    <p:sldId id="576" r:id="rId41"/>
    <p:sldId id="577" r:id="rId42"/>
    <p:sldId id="605" r:id="rId43"/>
    <p:sldId id="670" r:id="rId44"/>
    <p:sldId id="672" r:id="rId45"/>
    <p:sldId id="682" r:id="rId46"/>
    <p:sldId id="683" r:id="rId47"/>
    <p:sldId id="684" r:id="rId48"/>
    <p:sldId id="685" r:id="rId49"/>
    <p:sldId id="686" r:id="rId50"/>
    <p:sldId id="687" r:id="rId51"/>
    <p:sldId id="688" r:id="rId52"/>
    <p:sldId id="689" r:id="rId53"/>
    <p:sldId id="690" r:id="rId54"/>
    <p:sldId id="285"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873" autoAdjust="0"/>
  </p:normalViewPr>
  <p:slideViewPr>
    <p:cSldViewPr snapToGrid="0" snapToObjects="1">
      <p:cViewPr varScale="1">
        <p:scale>
          <a:sx n="65" d="100"/>
          <a:sy n="65" d="100"/>
        </p:scale>
        <p:origin x="1330" y="38"/>
      </p:cViewPr>
      <p:guideLst>
        <p:guide orient="horz" pos="2160"/>
        <p:guide pos="2880"/>
      </p:guideLst>
    </p:cSldViewPr>
  </p:slideViewPr>
  <p:notesTextViewPr>
    <p:cViewPr>
      <p:scale>
        <a:sx n="100" d="100"/>
        <a:sy n="100" d="100"/>
      </p:scale>
      <p:origin x="0" y="-245"/>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851EE4-8644-4FE0-B570-EB2B61FEB918}" type="datetimeFigureOut">
              <a:rPr lang="zh-CN" altLang="en-US" smtClean="0"/>
              <a:t>2026/10/15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175C1-4B1A-4603-A6A8-EDA08D4C4599}" type="slidenum">
              <a:rPr lang="zh-CN" altLang="en-US" smtClean="0"/>
              <a:t>‹#›</a:t>
            </a:fld>
            <a:endParaRPr lang="zh-CN" altLang="en-US"/>
          </a:p>
        </p:txBody>
      </p:sp>
    </p:spTree>
    <p:extLst>
      <p:ext uri="{BB962C8B-B14F-4D97-AF65-F5344CB8AC3E}">
        <p14:creationId xmlns:p14="http://schemas.microsoft.com/office/powerpoint/2010/main" val="3638110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effectLst/>
              </a:rPr>
              <a:t>法国斯特拉斯堡大学 </a:t>
            </a:r>
            <a:r>
              <a:rPr lang="en-US" altLang="zh-CN" b="1" dirty="0">
                <a:effectLst/>
              </a:rPr>
              <a:t>University of Strasbourg</a:t>
            </a:r>
            <a:endParaRPr lang="en-US" altLang="zh-CN" dirty="0">
              <a:effectLst/>
            </a:endParaRPr>
          </a:p>
          <a:p>
            <a:r>
              <a:rPr lang="en-US" altLang="zh-CN" b="1" dirty="0">
                <a:effectLst/>
              </a:rPr>
              <a:t>CNRS</a:t>
            </a:r>
            <a:r>
              <a:rPr lang="zh-CN" altLang="en-US" b="1" dirty="0">
                <a:effectLst/>
              </a:rPr>
              <a:t>（法国国家科研中心）、</a:t>
            </a:r>
            <a:r>
              <a:rPr lang="en-US" altLang="zh-CN" b="1" dirty="0">
                <a:effectLst/>
              </a:rPr>
              <a:t>INSERM</a:t>
            </a:r>
            <a:r>
              <a:rPr lang="zh-CN" altLang="en-US" b="1" dirty="0">
                <a:effectLst/>
              </a:rPr>
              <a:t>（法国国家健康与医学研究院）、</a:t>
            </a:r>
            <a:r>
              <a:rPr lang="en-US" altLang="zh-CN" b="1" dirty="0" err="1">
                <a:effectLst/>
              </a:rPr>
              <a:t>ICube</a:t>
            </a:r>
            <a:r>
              <a:rPr lang="en-US" altLang="zh-CN" b="1" dirty="0">
                <a:effectLst/>
              </a:rPr>
              <a:t> </a:t>
            </a:r>
            <a:r>
              <a:rPr lang="zh-CN" altLang="en-US" b="1" dirty="0">
                <a:effectLst/>
              </a:rPr>
              <a:t>实验室（</a:t>
            </a:r>
            <a:r>
              <a:rPr lang="en-US" altLang="zh-CN" b="1" dirty="0">
                <a:effectLst/>
              </a:rPr>
              <a:t>UMR7357</a:t>
            </a:r>
            <a:r>
              <a:rPr lang="zh-CN" altLang="en-US" b="1" dirty="0">
                <a:effectLst/>
              </a:rPr>
              <a:t>）</a:t>
            </a:r>
            <a:endParaRPr lang="en-US" altLang="zh-CN" dirty="0">
              <a:effectLst/>
            </a:endParaRPr>
          </a:p>
          <a:p>
            <a:r>
              <a:rPr lang="en-US" altLang="zh-CN" dirty="0" err="1"/>
              <a:t>ICube</a:t>
            </a:r>
            <a:r>
              <a:rPr lang="en-US" altLang="zh-CN" dirty="0"/>
              <a:t> </a:t>
            </a:r>
            <a:r>
              <a:rPr lang="zh-CN" altLang="en-US" dirty="0"/>
              <a:t>是斯特拉斯堡大学跨学科实验室，</a:t>
            </a:r>
            <a:r>
              <a:rPr lang="en-US" altLang="zh-CN" dirty="0"/>
              <a:t>CAMMA </a:t>
            </a:r>
            <a:r>
              <a:rPr lang="zh-CN" altLang="en-US" dirty="0"/>
              <a:t>课题组挂靠于此</a:t>
            </a:r>
          </a:p>
          <a:p>
            <a:r>
              <a:rPr lang="en-US" altLang="zh-CN" b="1" dirty="0">
                <a:effectLst/>
              </a:rPr>
              <a:t>IHU Strasbourg</a:t>
            </a:r>
            <a:r>
              <a:rPr lang="zh-CN" altLang="en-US" b="1" dirty="0">
                <a:effectLst/>
              </a:rPr>
              <a:t>（斯特拉斯堡微创外科研究所）</a:t>
            </a:r>
            <a:r>
              <a:rPr lang="zh-CN" altLang="en-US" dirty="0">
                <a:effectLst/>
              </a:rPr>
              <a:t>：欧洲顶尖的微创外科临床 </a:t>
            </a:r>
            <a:r>
              <a:rPr lang="en-US" altLang="zh-CN" dirty="0">
                <a:effectLst/>
              </a:rPr>
              <a:t>+ AI </a:t>
            </a:r>
            <a:r>
              <a:rPr lang="zh-CN" altLang="en-US" dirty="0">
                <a:effectLst/>
              </a:rPr>
              <a:t>联合研究中心，</a:t>
            </a:r>
            <a:r>
              <a:rPr lang="en-US" altLang="zh-CN" dirty="0">
                <a:effectLst/>
              </a:rPr>
              <a:t>CAMMA </a:t>
            </a:r>
            <a:r>
              <a:rPr lang="zh-CN" altLang="en-US" dirty="0">
                <a:effectLst/>
              </a:rPr>
              <a:t>主要依托 </a:t>
            </a:r>
            <a:r>
              <a:rPr lang="en-US" altLang="zh-CN" dirty="0">
                <a:effectLst/>
              </a:rPr>
              <a:t>IHU </a:t>
            </a:r>
            <a:r>
              <a:rPr lang="zh-CN" altLang="en-US" dirty="0">
                <a:effectLst/>
              </a:rPr>
              <a:t>开展手术视频采集、临床专家标注</a:t>
            </a:r>
          </a:p>
          <a:p>
            <a:r>
              <a:rPr lang="zh-CN" altLang="en-US" dirty="0">
                <a:effectLst/>
              </a:rPr>
              <a:t>其他附属单位： </a:t>
            </a:r>
          </a:p>
          <a:p>
            <a:pPr lvl="1"/>
            <a:r>
              <a:rPr lang="en-US" altLang="zh-CN" dirty="0">
                <a:effectLst/>
              </a:rPr>
              <a:t>Shih-Min Yin</a:t>
            </a:r>
            <a:r>
              <a:rPr lang="zh-CN" altLang="en-US" dirty="0">
                <a:effectLst/>
              </a:rPr>
              <a:t>：高雄长庚纪念医院普通外科，长庚大学医学院（中国台湾）</a:t>
            </a:r>
          </a:p>
          <a:p>
            <a:pPr lvl="1"/>
            <a:r>
              <a:rPr lang="en-US" altLang="zh-CN" dirty="0">
                <a:effectLst/>
              </a:rPr>
              <a:t>Pietro Mascagni</a:t>
            </a:r>
            <a:r>
              <a:rPr lang="zh-CN" altLang="en-US" dirty="0">
                <a:effectLst/>
              </a:rPr>
              <a:t>：罗马 </a:t>
            </a:r>
            <a:r>
              <a:rPr lang="en-US" altLang="zh-CN" dirty="0">
                <a:effectLst/>
              </a:rPr>
              <a:t>Fondazione Policlinico Universitario Agostino Gemelli IRCCS</a:t>
            </a:r>
            <a:r>
              <a:rPr lang="zh-CN" altLang="en-US" dirty="0">
                <a:effectLst/>
              </a:rPr>
              <a:t>（意大利罗马综合医院）</a:t>
            </a:r>
          </a:p>
          <a:p>
            <a:r>
              <a:rPr lang="zh-CN" altLang="en-US" b="1" dirty="0"/>
              <a:t>团队简要背景</a:t>
            </a:r>
          </a:p>
          <a:p>
            <a:r>
              <a:rPr lang="en-US" altLang="zh-CN" b="1" dirty="0"/>
              <a:t>CAMMA </a:t>
            </a:r>
            <a:r>
              <a:rPr lang="zh-CN" altLang="en-US" b="1" dirty="0"/>
              <a:t>课题组（</a:t>
            </a:r>
            <a:r>
              <a:rPr lang="en-US" altLang="zh-CN" b="1" dirty="0"/>
              <a:t>PI</a:t>
            </a:r>
            <a:r>
              <a:rPr lang="zh-CN" altLang="en-US" b="1" dirty="0"/>
              <a:t>：</a:t>
            </a:r>
            <a:r>
              <a:rPr lang="en-US" altLang="zh-CN" b="1" dirty="0"/>
              <a:t>Nicolas </a:t>
            </a:r>
            <a:r>
              <a:rPr lang="en-US" altLang="zh-CN" b="1" dirty="0" err="1"/>
              <a:t>Padoy</a:t>
            </a:r>
            <a:r>
              <a:rPr lang="zh-CN" altLang="en-US" b="1" dirty="0"/>
              <a:t>）</a:t>
            </a:r>
            <a:endParaRPr lang="en-US" altLang="zh-CN" dirty="0"/>
          </a:p>
          <a:p>
            <a:r>
              <a:rPr lang="zh-CN" altLang="en-US" dirty="0">
                <a:effectLst/>
              </a:rPr>
              <a:t>主攻</a:t>
            </a:r>
            <a:r>
              <a:rPr lang="zh-CN" altLang="en-US" b="1" dirty="0">
                <a:effectLst/>
              </a:rPr>
              <a:t>外科计算机视觉、手术多模态大模型、手术视频数据集构建</a:t>
            </a:r>
            <a:r>
              <a:rPr lang="zh-CN" altLang="en-US" dirty="0">
                <a:effectLst/>
              </a:rPr>
              <a:t>，是外科 </a:t>
            </a:r>
            <a:r>
              <a:rPr lang="en-US" altLang="zh-CN" dirty="0">
                <a:effectLst/>
              </a:rPr>
              <a:t>AI </a:t>
            </a:r>
            <a:r>
              <a:rPr lang="zh-CN" altLang="en-US" dirty="0">
                <a:effectLst/>
              </a:rPr>
              <a:t>领域非常知名的团队；</a:t>
            </a:r>
          </a:p>
          <a:p>
            <a:r>
              <a:rPr lang="zh-CN" altLang="en-US" dirty="0">
                <a:effectLst/>
              </a:rPr>
              <a:t>之前产出大量腹腔镜胆囊切除术的经典数据集：</a:t>
            </a:r>
            <a:r>
              <a:rPr lang="en-US" altLang="zh-CN" dirty="0">
                <a:effectLst/>
              </a:rPr>
              <a:t>CholecT50</a:t>
            </a:r>
            <a:r>
              <a:rPr lang="zh-CN" altLang="en-US" dirty="0">
                <a:effectLst/>
              </a:rPr>
              <a:t>、</a:t>
            </a:r>
            <a:r>
              <a:rPr lang="en-US" altLang="zh-CN" dirty="0" err="1">
                <a:effectLst/>
              </a:rPr>
              <a:t>Endoscapes</a:t>
            </a:r>
            <a:r>
              <a:rPr lang="zh-CN" altLang="en-US" dirty="0">
                <a:effectLst/>
              </a:rPr>
              <a:t>、</a:t>
            </a:r>
            <a:r>
              <a:rPr lang="en-US" altLang="zh-CN" dirty="0" err="1">
                <a:effectLst/>
              </a:rPr>
              <a:t>CholeScore</a:t>
            </a:r>
            <a:r>
              <a:rPr lang="zh-CN" altLang="en-US" dirty="0">
                <a:effectLst/>
              </a:rPr>
              <a:t>，也就是 </a:t>
            </a:r>
            <a:r>
              <a:rPr lang="en-US" altLang="zh-CN" dirty="0" err="1">
                <a:effectLst/>
              </a:rPr>
              <a:t>SurgTEMP</a:t>
            </a:r>
            <a:r>
              <a:rPr lang="en-US" altLang="zh-CN" dirty="0">
                <a:effectLst/>
              </a:rPr>
              <a:t> </a:t>
            </a:r>
            <a:r>
              <a:rPr lang="zh-CN" altLang="en-US" dirty="0">
                <a:effectLst/>
              </a:rPr>
              <a:t>用到的全部数据源；</a:t>
            </a:r>
          </a:p>
          <a:p>
            <a:r>
              <a:rPr lang="zh-CN" altLang="en-US" dirty="0">
                <a:effectLst/>
              </a:rPr>
              <a:t>长期做 </a:t>
            </a:r>
            <a:r>
              <a:rPr lang="en-US" altLang="zh-CN" dirty="0">
                <a:effectLst/>
              </a:rPr>
              <a:t>CVS </a:t>
            </a:r>
            <a:r>
              <a:rPr lang="zh-CN" altLang="en-US" dirty="0">
                <a:effectLst/>
              </a:rPr>
              <a:t>安全关键视图、手术阶段识别、手术动作三元组检测、外科 </a:t>
            </a:r>
            <a:r>
              <a:rPr lang="en-US" altLang="zh-CN" dirty="0">
                <a:effectLst/>
              </a:rPr>
              <a:t>VQA</a:t>
            </a:r>
            <a:r>
              <a:rPr lang="zh-CN" altLang="en-US" dirty="0">
                <a:effectLst/>
              </a:rPr>
              <a:t>（</a:t>
            </a:r>
            <a:r>
              <a:rPr lang="en-US" altLang="zh-CN" dirty="0">
                <a:effectLst/>
              </a:rPr>
              <a:t>SSG-VQA</a:t>
            </a:r>
            <a:r>
              <a:rPr lang="zh-CN" altLang="en-US" dirty="0">
                <a:effectLst/>
              </a:rPr>
              <a:t>）；</a:t>
            </a:r>
          </a:p>
          <a:p>
            <a:endParaRPr lang="zh-CN" altLang="en-US" dirty="0"/>
          </a:p>
        </p:txBody>
      </p:sp>
      <p:sp>
        <p:nvSpPr>
          <p:cNvPr id="4" name="灯片编号占位符 3"/>
          <p:cNvSpPr>
            <a:spLocks noGrp="1"/>
          </p:cNvSpPr>
          <p:nvPr>
            <p:ph type="sldNum" sz="quarter" idx="5"/>
          </p:nvPr>
        </p:nvSpPr>
        <p:spPr/>
        <p:txBody>
          <a:bodyPr/>
          <a:lstStyle/>
          <a:p>
            <a:fld id="{A78175C1-4B1A-4603-A6A8-EDA08D4C4599}" type="slidenum">
              <a:rPr lang="zh-CN" altLang="en-US" smtClean="0"/>
              <a:t>1</a:t>
            </a:fld>
            <a:endParaRPr lang="zh-CN" altLang="en-US"/>
          </a:p>
        </p:txBody>
      </p:sp>
    </p:spTree>
    <p:extLst>
      <p:ext uri="{BB962C8B-B14F-4D97-AF65-F5344CB8AC3E}">
        <p14:creationId xmlns:p14="http://schemas.microsoft.com/office/powerpoint/2010/main" val="1056208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78175C1-4B1A-4603-A6A8-EDA08D4C4599}" type="slidenum">
              <a:rPr lang="zh-CN" altLang="en-US" smtClean="0"/>
              <a:t>2</a:t>
            </a:fld>
            <a:endParaRPr lang="zh-CN" altLang="en-US"/>
          </a:p>
        </p:txBody>
      </p:sp>
    </p:spTree>
    <p:extLst>
      <p:ext uri="{BB962C8B-B14F-4D97-AF65-F5344CB8AC3E}">
        <p14:creationId xmlns:p14="http://schemas.microsoft.com/office/powerpoint/2010/main" val="456277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细粒度局部解剖细节 </a:t>
            </a:r>
            <a:r>
              <a:rPr lang="en-US" altLang="zh-CN" dirty="0"/>
              <a:t>+ </a:t>
            </a:r>
            <a:r>
              <a:rPr lang="zh-CN" altLang="en-US" dirty="0"/>
              <a:t>长时序全局手术流程</a:t>
            </a:r>
            <a:endParaRPr lang="en-US" altLang="zh-CN" dirty="0"/>
          </a:p>
          <a:p>
            <a:r>
              <a:rPr lang="en-US" altLang="zh-CN" dirty="0"/>
              <a:t>TEMP </a:t>
            </a:r>
            <a:r>
              <a:rPr lang="zh-CN" altLang="en-US" dirty="0"/>
              <a:t>是</a:t>
            </a:r>
            <a:r>
              <a:rPr lang="zh-CN" altLang="en-US" b="1" dirty="0"/>
              <a:t>跨模态、可学习的视觉 </a:t>
            </a:r>
            <a:r>
              <a:rPr lang="en-US" altLang="zh-CN" b="1" dirty="0"/>
              <a:t>token </a:t>
            </a:r>
            <a:r>
              <a:rPr lang="zh-CN" altLang="en-US" b="1" dirty="0"/>
              <a:t>排布模块</a:t>
            </a:r>
            <a:r>
              <a:rPr lang="zh-CN" altLang="en-US" dirty="0"/>
              <a:t>，由</a:t>
            </a:r>
            <a:r>
              <a:rPr lang="zh-CN" altLang="en-US" b="1" dirty="0"/>
              <a:t>三步</a:t>
            </a:r>
            <a:r>
              <a:rPr lang="zh-CN" altLang="en-US" dirty="0"/>
              <a:t>构成：</a:t>
            </a:r>
          </a:p>
          <a:p>
            <a:r>
              <a:rPr lang="zh-CN" altLang="en-US" dirty="0">
                <a:effectLst/>
              </a:rPr>
              <a:t>计算多级文本 </a:t>
            </a:r>
            <a:r>
              <a:rPr lang="en-US" altLang="zh-CN" dirty="0">
                <a:effectLst/>
              </a:rPr>
              <a:t>- </a:t>
            </a:r>
            <a:r>
              <a:rPr lang="zh-CN" altLang="en-US" dirty="0">
                <a:effectLst/>
              </a:rPr>
              <a:t>视觉跨模态注意力图</a:t>
            </a:r>
          </a:p>
          <a:p>
            <a:r>
              <a:rPr lang="zh-CN" altLang="en-US" dirty="0">
                <a:effectLst/>
              </a:rPr>
              <a:t>构建</a:t>
            </a:r>
            <a:r>
              <a:rPr lang="zh-CN" altLang="en-US" b="1" dirty="0">
                <a:effectLst/>
              </a:rPr>
              <a:t>空间记忆库 </a:t>
            </a:r>
            <a:r>
              <a:rPr lang="en-US" altLang="zh-CN" b="1" dirty="0">
                <a:effectLst/>
              </a:rPr>
              <a:t>Spatial Memory Bank</a:t>
            </a:r>
            <a:r>
              <a:rPr lang="zh-CN" altLang="en-US" dirty="0">
                <a:effectLst/>
              </a:rPr>
              <a:t>（细粒度，局部 </a:t>
            </a:r>
            <a:r>
              <a:rPr lang="en-US" altLang="zh-CN" dirty="0">
                <a:effectLst/>
              </a:rPr>
              <a:t>patch / </a:t>
            </a:r>
            <a:r>
              <a:rPr lang="zh-CN" altLang="en-US" dirty="0">
                <a:effectLst/>
              </a:rPr>
              <a:t>解剖细节）</a:t>
            </a:r>
          </a:p>
          <a:p>
            <a:r>
              <a:rPr lang="zh-CN" altLang="en-US" dirty="0">
                <a:effectLst/>
              </a:rPr>
              <a:t>构建</a:t>
            </a:r>
            <a:r>
              <a:rPr lang="zh-CN" altLang="en-US" b="1" dirty="0">
                <a:effectLst/>
              </a:rPr>
              <a:t>时间记忆库 </a:t>
            </a:r>
            <a:r>
              <a:rPr lang="en-US" altLang="zh-CN" b="1" dirty="0">
                <a:effectLst/>
              </a:rPr>
              <a:t>Temporal Memory Bank</a:t>
            </a:r>
            <a:r>
              <a:rPr lang="zh-CN" altLang="en-US" dirty="0">
                <a:effectLst/>
              </a:rPr>
              <a:t>（粗粒度，长时序帧级全局信息）</a:t>
            </a:r>
          </a:p>
          <a:p>
            <a:r>
              <a:rPr lang="zh-CN" altLang="en-US" dirty="0"/>
              <a:t>输入：视觉 </a:t>
            </a:r>
            <a:r>
              <a:rPr lang="en-US" altLang="zh-CN" dirty="0"/>
              <a:t>token</a:t>
            </a:r>
            <a:r>
              <a:rPr lang="zh-CN" altLang="en-US" dirty="0"/>
              <a:t>（视频帧 </a:t>
            </a:r>
            <a:r>
              <a:rPr lang="en-US" altLang="zh-CN" dirty="0"/>
              <a:t>patch </a:t>
            </a:r>
            <a:r>
              <a:rPr lang="zh-CN" altLang="en-US" dirty="0"/>
              <a:t>特征） </a:t>
            </a:r>
            <a:r>
              <a:rPr lang="en-US" altLang="zh-CN" dirty="0"/>
              <a:t>+ </a:t>
            </a:r>
            <a:r>
              <a:rPr lang="zh-CN" altLang="en-US" dirty="0"/>
              <a:t>问题文本 </a:t>
            </a:r>
            <a:r>
              <a:rPr lang="en-US" altLang="zh-CN" dirty="0"/>
              <a:t>token</a:t>
            </a:r>
            <a:r>
              <a:rPr lang="zh-CN" altLang="en-US" dirty="0"/>
              <a:t>； 输出：融合后的分层视觉记忆 </a:t>
            </a:r>
            <a:r>
              <a:rPr lang="en-US" altLang="zh-CN" dirty="0"/>
              <a:t>token </a:t>
            </a:r>
            <a:r>
              <a:rPr lang="zh-CN" altLang="en-US" dirty="0"/>
              <a:t>序列，送入后面 </a:t>
            </a:r>
            <a:r>
              <a:rPr lang="en-US" altLang="zh-CN" dirty="0"/>
              <a:t>Qwen2 </a:t>
            </a:r>
            <a:r>
              <a:rPr lang="zh-CN" altLang="en-US" dirty="0"/>
              <a:t>大语言模型做问答推理。</a:t>
            </a:r>
          </a:p>
          <a:p>
            <a:r>
              <a:rPr lang="zh-CN" altLang="en-US" b="1" dirty="0"/>
              <a:t>分步详解（对应图上三个子步骤）</a:t>
            </a:r>
          </a:p>
          <a:p>
            <a:r>
              <a:rPr lang="en-US" altLang="zh-CN" b="1" dirty="0"/>
              <a:t>Step1</a:t>
            </a:r>
            <a:r>
              <a:rPr lang="zh-CN" altLang="en-US" b="1" dirty="0"/>
              <a:t>：计算多级文本 </a:t>
            </a:r>
            <a:r>
              <a:rPr lang="en-US" altLang="zh-CN" b="1" dirty="0"/>
              <a:t>- </a:t>
            </a:r>
            <a:r>
              <a:rPr lang="zh-CN" altLang="en-US" b="1" dirty="0"/>
              <a:t>视觉注意力图（</a:t>
            </a:r>
            <a:r>
              <a:rPr lang="en-US" altLang="zh-CN" b="1" dirty="0"/>
              <a:t>Multi-level text-visual attention maps</a:t>
            </a:r>
            <a:r>
              <a:rPr lang="zh-CN" altLang="en-US" b="1" dirty="0"/>
              <a:t>）</a:t>
            </a:r>
          </a:p>
          <a:p>
            <a:r>
              <a:rPr lang="zh-CN" altLang="en-US" dirty="0"/>
              <a:t>输入的</a:t>
            </a:r>
            <a:r>
              <a:rPr lang="zh-CN" altLang="en-US" b="1" dirty="0"/>
              <a:t>文本 </a:t>
            </a:r>
            <a:r>
              <a:rPr lang="en-US" altLang="zh-CN" b="1" dirty="0"/>
              <a:t>query</a:t>
            </a:r>
            <a:r>
              <a:rPr lang="zh-CN" altLang="en-US" b="1" dirty="0"/>
              <a:t>（用户问题）</a:t>
            </a:r>
            <a:r>
              <a:rPr lang="zh-CN" altLang="en-US" dirty="0"/>
              <a:t>作为引导信号，分别计算两种注意力：</a:t>
            </a:r>
          </a:p>
          <a:p>
            <a:r>
              <a:rPr lang="en-US" altLang="zh-CN" dirty="0">
                <a:effectLst/>
              </a:rPr>
              <a:t>Patch-level </a:t>
            </a:r>
            <a:r>
              <a:rPr lang="zh-CN" altLang="en-US" dirty="0">
                <a:effectLst/>
              </a:rPr>
              <a:t>块级注意力：文本 </a:t>
            </a:r>
            <a:r>
              <a:rPr lang="en-US" altLang="zh-CN" dirty="0">
                <a:effectLst/>
              </a:rPr>
              <a:t>query </a:t>
            </a:r>
            <a:r>
              <a:rPr lang="zh-CN" altLang="en-US" dirty="0">
                <a:effectLst/>
              </a:rPr>
              <a:t>与图像内每个空间 </a:t>
            </a:r>
            <a:r>
              <a:rPr lang="en-US" altLang="zh-CN" dirty="0">
                <a:effectLst/>
              </a:rPr>
              <a:t>patch </a:t>
            </a:r>
            <a:r>
              <a:rPr lang="zh-CN" altLang="en-US" dirty="0">
                <a:effectLst/>
              </a:rPr>
              <a:t>之间的相似度。用来判断</a:t>
            </a:r>
            <a:r>
              <a:rPr lang="zh-CN" altLang="en-US" b="1" dirty="0">
                <a:effectLst/>
              </a:rPr>
              <a:t>画面里哪一小块区域和当前问题相关</a:t>
            </a:r>
            <a:r>
              <a:rPr lang="zh-CN" altLang="en-US" dirty="0">
                <a:effectLst/>
              </a:rPr>
              <a:t>（例如问题问胆囊三角，则胆囊三角区域 </a:t>
            </a:r>
            <a:r>
              <a:rPr lang="en-US" altLang="zh-CN" dirty="0">
                <a:effectLst/>
              </a:rPr>
              <a:t>patch </a:t>
            </a:r>
            <a:r>
              <a:rPr lang="zh-CN" altLang="en-US" dirty="0">
                <a:effectLst/>
              </a:rPr>
              <a:t>获得高注意力权重）。</a:t>
            </a:r>
          </a:p>
          <a:p>
            <a:r>
              <a:rPr lang="en-US" altLang="zh-CN" dirty="0">
                <a:effectLst/>
              </a:rPr>
              <a:t>Frame-level </a:t>
            </a:r>
            <a:r>
              <a:rPr lang="zh-CN" altLang="en-US" dirty="0">
                <a:effectLst/>
              </a:rPr>
              <a:t>帧级注意力：文本 </a:t>
            </a:r>
            <a:r>
              <a:rPr lang="en-US" altLang="zh-CN" dirty="0">
                <a:effectLst/>
              </a:rPr>
              <a:t>query </a:t>
            </a:r>
            <a:r>
              <a:rPr lang="zh-CN" altLang="en-US" dirty="0">
                <a:effectLst/>
              </a:rPr>
              <a:t>与整帧视频特征的相似度。用来判断</a:t>
            </a:r>
            <a:r>
              <a:rPr lang="zh-CN" altLang="en-US" b="1" dirty="0">
                <a:effectLst/>
              </a:rPr>
              <a:t>哪些视频帧对回答这个问题更关键</a:t>
            </a:r>
            <a:r>
              <a:rPr lang="zh-CN" altLang="en-US" dirty="0">
                <a:effectLst/>
              </a:rPr>
              <a:t>。</a:t>
            </a:r>
          </a:p>
          <a:p>
            <a:r>
              <a:rPr lang="zh-CN" altLang="en-US" dirty="0"/>
              <a:t>核心思想：</a:t>
            </a:r>
            <a:r>
              <a:rPr lang="zh-CN" altLang="en-US" b="1" dirty="0"/>
              <a:t>由问题引导注意力，而不是对所有视觉信息同等看待</a:t>
            </a:r>
            <a:r>
              <a:rPr lang="zh-CN" altLang="en-US" dirty="0"/>
              <a:t>。外科视频对比度低，依靠文本问题的语义去定位相关解剖区域 </a:t>
            </a:r>
            <a:r>
              <a:rPr lang="en-US" altLang="zh-CN" dirty="0"/>
              <a:t>/ </a:t>
            </a:r>
            <a:r>
              <a:rPr lang="zh-CN" altLang="en-US" dirty="0"/>
              <a:t>关键帧，缓解术野视觉特征弱的问题。图上会画出热力图示意 </a:t>
            </a:r>
            <a:r>
              <a:rPr lang="en-US" altLang="zh-CN" dirty="0"/>
              <a:t>patch / </a:t>
            </a:r>
            <a:r>
              <a:rPr lang="zh-CN" altLang="en-US" dirty="0"/>
              <a:t>帧的注意力权重高低。</a:t>
            </a:r>
          </a:p>
          <a:p>
            <a:r>
              <a:rPr lang="en-US" altLang="zh-CN" b="1" dirty="0"/>
              <a:t>Step2</a:t>
            </a:r>
            <a:r>
              <a:rPr lang="zh-CN" altLang="en-US" b="1" dirty="0"/>
              <a:t>：构建空间记忆库 </a:t>
            </a:r>
            <a:r>
              <a:rPr lang="en-US" altLang="zh-CN" b="1" dirty="0"/>
              <a:t>Spatial Memory Bank</a:t>
            </a:r>
            <a:r>
              <a:rPr lang="zh-CN" altLang="en-US" b="1" dirty="0"/>
              <a:t>（细粒度短时记忆）</a:t>
            </a:r>
          </a:p>
          <a:p>
            <a:r>
              <a:rPr lang="zh-CN" altLang="en-US" dirty="0"/>
              <a:t>基于第一步得到的两级注意力，完成两个操作：</a:t>
            </a:r>
          </a:p>
          <a:p>
            <a:r>
              <a:rPr lang="zh-CN" altLang="en-US" dirty="0">
                <a:effectLst/>
              </a:rPr>
              <a:t>利用</a:t>
            </a:r>
            <a:r>
              <a:rPr lang="zh-CN" altLang="en-US" b="1" dirty="0">
                <a:effectLst/>
              </a:rPr>
              <a:t>帧级注意力</a:t>
            </a:r>
            <a:r>
              <a:rPr lang="zh-CN" altLang="en-US" dirty="0">
                <a:effectLst/>
              </a:rPr>
              <a:t>，筛选和问题高度相关的视频帧；</a:t>
            </a:r>
          </a:p>
          <a:p>
            <a:r>
              <a:rPr lang="zh-CN" altLang="en-US" dirty="0">
                <a:effectLst/>
              </a:rPr>
              <a:t>利用</a:t>
            </a:r>
            <a:r>
              <a:rPr lang="en-US" altLang="zh-CN" b="1" dirty="0">
                <a:effectLst/>
              </a:rPr>
              <a:t>patch </a:t>
            </a:r>
            <a:r>
              <a:rPr lang="zh-CN" altLang="en-US" b="1" dirty="0">
                <a:effectLst/>
              </a:rPr>
              <a:t>级注意力</a:t>
            </a:r>
            <a:r>
              <a:rPr lang="zh-CN" altLang="en-US" dirty="0">
                <a:effectLst/>
              </a:rPr>
              <a:t>，对选中帧内部的视觉 </a:t>
            </a:r>
            <a:r>
              <a:rPr lang="en-US" altLang="zh-CN" dirty="0">
                <a:effectLst/>
              </a:rPr>
              <a:t>patch token </a:t>
            </a:r>
            <a:r>
              <a:rPr lang="zh-CN" altLang="en-US" dirty="0">
                <a:effectLst/>
              </a:rPr>
              <a:t>做重加权； 保留高相关的局部空间特征。</a:t>
            </a:r>
          </a:p>
          <a:p>
            <a:r>
              <a:rPr lang="zh-CN" altLang="en-US" dirty="0"/>
              <a:t>✅ 空间记忆库的作用：保存</a:t>
            </a:r>
            <a:r>
              <a:rPr lang="zh-CN" altLang="en-US" b="1" dirty="0"/>
              <a:t>局部细粒度解剖细节</a:t>
            </a:r>
            <a:r>
              <a:rPr lang="zh-CN" altLang="en-US" dirty="0"/>
              <a:t>，适合短时间窗口、需要精细空间信息的任务。 例子：识别 </a:t>
            </a:r>
            <a:r>
              <a:rPr lang="en-US" altLang="zh-CN" dirty="0"/>
              <a:t>CVS </a:t>
            </a:r>
            <a:r>
              <a:rPr lang="zh-CN" altLang="en-US" dirty="0"/>
              <a:t>安全关键视图、判断解剖标志形态、器械位置。</a:t>
            </a:r>
          </a:p>
          <a:p>
            <a:r>
              <a:rPr lang="zh-CN" altLang="en-US" dirty="0"/>
              <a:t>空间记忆库就是用来回答 “这一小块术野里的解剖结构长什么样”。</a:t>
            </a:r>
          </a:p>
          <a:p>
            <a:r>
              <a:rPr lang="en-US" altLang="zh-CN" b="1" dirty="0"/>
              <a:t>Step3</a:t>
            </a:r>
            <a:r>
              <a:rPr lang="zh-CN" altLang="en-US" b="1" dirty="0"/>
              <a:t>：构建时间记忆库 </a:t>
            </a:r>
            <a:r>
              <a:rPr lang="en-US" altLang="zh-CN" b="1" dirty="0"/>
              <a:t>Temporal Memory Bank</a:t>
            </a:r>
            <a:r>
              <a:rPr lang="zh-CN" altLang="en-US" b="1" dirty="0"/>
              <a:t>（粗粒度长时序记忆）</a:t>
            </a:r>
          </a:p>
          <a:p>
            <a:r>
              <a:rPr lang="zh-CN" altLang="en-US" dirty="0"/>
              <a:t>在帧级注意力基础上做</a:t>
            </a:r>
            <a:r>
              <a:rPr lang="zh-CN" altLang="en-US" b="1" dirty="0"/>
              <a:t>时序池化（</a:t>
            </a:r>
            <a:r>
              <a:rPr lang="en-US" altLang="zh-CN" b="1" dirty="0"/>
              <a:t>temporal pooling</a:t>
            </a:r>
            <a:r>
              <a:rPr lang="zh-CN" altLang="en-US" b="1" dirty="0"/>
              <a:t>）</a:t>
            </a:r>
            <a:r>
              <a:rPr lang="en-US" altLang="zh-CN" b="1" dirty="0"/>
              <a:t>+ </a:t>
            </a:r>
            <a:r>
              <a:rPr lang="zh-CN" altLang="en-US" b="1" dirty="0"/>
              <a:t>帧特征重加权</a:t>
            </a:r>
            <a:r>
              <a:rPr lang="zh-CN" altLang="en-US" dirty="0"/>
              <a:t>：</a:t>
            </a:r>
          </a:p>
          <a:p>
            <a:r>
              <a:rPr lang="zh-CN" altLang="en-US" dirty="0">
                <a:effectLst/>
              </a:rPr>
              <a:t>把连续多个视频帧的特征做聚合压缩；</a:t>
            </a:r>
          </a:p>
          <a:p>
            <a:r>
              <a:rPr lang="zh-CN" altLang="en-US" dirty="0">
                <a:effectLst/>
              </a:rPr>
              <a:t>按照帧级注意力对时序特征重新赋予权重；</a:t>
            </a:r>
          </a:p>
          <a:p>
            <a:r>
              <a:rPr lang="zh-CN" altLang="en-US" dirty="0">
                <a:effectLst/>
              </a:rPr>
              <a:t>得到精简的长时序表征，作为时间记忆库。</a:t>
            </a:r>
          </a:p>
          <a:p>
            <a:r>
              <a:rPr lang="zh-CN" altLang="en-US" dirty="0"/>
              <a:t>✅ 时间记忆库的作用：</a:t>
            </a:r>
            <a:r>
              <a:rPr lang="zh-CN" altLang="en-US" b="1" dirty="0"/>
              <a:t>保留长手术阶段中逐步累积的时序信息</a:t>
            </a:r>
            <a:r>
              <a:rPr lang="zh-CN" altLang="en-US" dirty="0"/>
              <a:t>，压缩长视频，适合跨多片段的综合评估、手术熟练度评估、术中规划这类需要长时间上下文的高阶任务。 例子：整段手术阶段评估操作流畅度、跨多个手术步骤推理下一步手术方案。</a:t>
            </a:r>
          </a:p>
          <a:p>
            <a:r>
              <a:rPr lang="zh-CN" altLang="en-US" b="1" dirty="0"/>
              <a:t>图上视觉元素</a:t>
            </a:r>
          </a:p>
          <a:p>
            <a:r>
              <a:rPr lang="zh-CN" altLang="en-US" dirty="0">
                <a:effectLst/>
              </a:rPr>
              <a:t>左侧输入：视频帧 </a:t>
            </a:r>
            <a:r>
              <a:rPr lang="en-US" altLang="zh-CN" dirty="0">
                <a:effectLst/>
              </a:rPr>
              <a:t>patch </a:t>
            </a:r>
            <a:r>
              <a:rPr lang="zh-CN" altLang="en-US" dirty="0">
                <a:effectLst/>
              </a:rPr>
              <a:t>视觉特征、文本 </a:t>
            </a:r>
            <a:r>
              <a:rPr lang="en-US" altLang="zh-CN" dirty="0">
                <a:effectLst/>
              </a:rPr>
              <a:t>query token</a:t>
            </a:r>
            <a:r>
              <a:rPr lang="zh-CN" altLang="en-US" dirty="0">
                <a:effectLst/>
              </a:rPr>
              <a:t>；</a:t>
            </a:r>
          </a:p>
          <a:p>
            <a:r>
              <a:rPr lang="en-US" altLang="zh-CN" dirty="0">
                <a:effectLst/>
              </a:rPr>
              <a:t>Step1 </a:t>
            </a:r>
            <a:r>
              <a:rPr lang="zh-CN" altLang="en-US" dirty="0">
                <a:effectLst/>
              </a:rPr>
              <a:t>子图：</a:t>
            </a:r>
            <a:r>
              <a:rPr lang="en-US" altLang="zh-CN" dirty="0">
                <a:effectLst/>
              </a:rPr>
              <a:t>patch </a:t>
            </a:r>
            <a:r>
              <a:rPr lang="zh-CN" altLang="en-US" dirty="0">
                <a:effectLst/>
              </a:rPr>
              <a:t>注意力热力图 </a:t>
            </a:r>
            <a:r>
              <a:rPr lang="en-US" altLang="zh-CN" dirty="0">
                <a:effectLst/>
              </a:rPr>
              <a:t>+ </a:t>
            </a:r>
            <a:r>
              <a:rPr lang="zh-CN" altLang="en-US" dirty="0">
                <a:effectLst/>
              </a:rPr>
              <a:t>帧注意力分数条，直观展示文本 </a:t>
            </a:r>
            <a:r>
              <a:rPr lang="en-US" altLang="zh-CN" dirty="0">
                <a:effectLst/>
              </a:rPr>
              <a:t>query </a:t>
            </a:r>
            <a:r>
              <a:rPr lang="zh-CN" altLang="en-US" dirty="0">
                <a:effectLst/>
              </a:rPr>
              <a:t>如何关注图像区域；</a:t>
            </a:r>
          </a:p>
          <a:p>
            <a:r>
              <a:rPr lang="en-US" altLang="zh-CN" dirty="0">
                <a:effectLst/>
              </a:rPr>
              <a:t>Step2 </a:t>
            </a:r>
            <a:r>
              <a:rPr lang="zh-CN" altLang="en-US" dirty="0">
                <a:effectLst/>
              </a:rPr>
              <a:t>子图：筛选帧 </a:t>
            </a:r>
            <a:r>
              <a:rPr lang="en-US" altLang="zh-CN" dirty="0">
                <a:effectLst/>
              </a:rPr>
              <a:t>+ patch </a:t>
            </a:r>
            <a:r>
              <a:rPr lang="zh-CN" altLang="en-US" dirty="0">
                <a:effectLst/>
              </a:rPr>
              <a:t>重加权，输出空间记忆 </a:t>
            </a:r>
            <a:r>
              <a:rPr lang="en-US" altLang="zh-CN" dirty="0">
                <a:effectLst/>
              </a:rPr>
              <a:t>token</a:t>
            </a:r>
            <a:r>
              <a:rPr lang="zh-CN" altLang="en-US" dirty="0">
                <a:effectLst/>
              </a:rPr>
              <a:t>；</a:t>
            </a:r>
          </a:p>
          <a:p>
            <a:r>
              <a:rPr lang="en-US" altLang="zh-CN" dirty="0">
                <a:effectLst/>
              </a:rPr>
              <a:t>Step3 </a:t>
            </a:r>
            <a:r>
              <a:rPr lang="zh-CN" altLang="en-US" dirty="0">
                <a:effectLst/>
              </a:rPr>
              <a:t>子图：跨帧时序池化、帧特征加权，输出时间记忆 </a:t>
            </a:r>
            <a:r>
              <a:rPr lang="en-US" altLang="zh-CN" dirty="0">
                <a:effectLst/>
              </a:rPr>
              <a:t>token</a:t>
            </a:r>
            <a:r>
              <a:rPr lang="zh-CN" altLang="en-US" dirty="0">
                <a:effectLst/>
              </a:rPr>
              <a:t>；</a:t>
            </a:r>
          </a:p>
          <a:p>
            <a:r>
              <a:rPr lang="zh-CN" altLang="en-US" dirty="0">
                <a:effectLst/>
              </a:rPr>
              <a:t>右侧输出：合并</a:t>
            </a:r>
            <a:r>
              <a:rPr lang="zh-CN" altLang="en-US" b="1" dirty="0">
                <a:effectLst/>
              </a:rPr>
              <a:t>空间记忆 </a:t>
            </a:r>
            <a:r>
              <a:rPr lang="en-US" altLang="zh-CN" b="1" dirty="0">
                <a:effectLst/>
              </a:rPr>
              <a:t>token</a:t>
            </a:r>
            <a:r>
              <a:rPr lang="zh-CN" altLang="en-US" b="1" dirty="0">
                <a:effectLst/>
              </a:rPr>
              <a:t>、时间记忆 </a:t>
            </a:r>
            <a:r>
              <a:rPr lang="en-US" altLang="zh-CN" b="1" dirty="0">
                <a:effectLst/>
              </a:rPr>
              <a:t>token</a:t>
            </a:r>
            <a:r>
              <a:rPr lang="zh-CN" altLang="en-US" b="1" dirty="0">
                <a:effectLst/>
              </a:rPr>
              <a:t>、原始文本 </a:t>
            </a:r>
            <a:r>
              <a:rPr lang="en-US" altLang="zh-CN" b="1" dirty="0">
                <a:effectLst/>
              </a:rPr>
              <a:t>token</a:t>
            </a:r>
            <a:r>
              <a:rPr lang="zh-CN" altLang="en-US" dirty="0">
                <a:effectLst/>
              </a:rPr>
              <a:t>，一起送入主干 </a:t>
            </a:r>
            <a:r>
              <a:rPr lang="en-US" altLang="zh-CN" dirty="0">
                <a:effectLst/>
              </a:rPr>
              <a:t>LLM</a:t>
            </a:r>
            <a:r>
              <a:rPr lang="zh-CN" altLang="en-US" dirty="0">
                <a:effectLst/>
              </a:rPr>
              <a:t>。</a:t>
            </a:r>
          </a:p>
          <a:p>
            <a:endParaRPr lang="zh-CN" altLang="en-US" dirty="0"/>
          </a:p>
        </p:txBody>
      </p:sp>
      <p:sp>
        <p:nvSpPr>
          <p:cNvPr id="4" name="灯片编号占位符 3"/>
          <p:cNvSpPr>
            <a:spLocks noGrp="1"/>
          </p:cNvSpPr>
          <p:nvPr>
            <p:ph type="sldNum" sz="quarter" idx="5"/>
          </p:nvPr>
        </p:nvSpPr>
        <p:spPr/>
        <p:txBody>
          <a:bodyPr/>
          <a:lstStyle/>
          <a:p>
            <a:fld id="{A78175C1-4B1A-4603-A6A8-EDA08D4C4599}" type="slidenum">
              <a:rPr lang="zh-CN" altLang="en-US" smtClean="0"/>
              <a:t>8</a:t>
            </a:fld>
            <a:endParaRPr lang="zh-CN" altLang="en-US"/>
          </a:p>
        </p:txBody>
      </p:sp>
    </p:spTree>
    <p:extLst>
      <p:ext uri="{BB962C8B-B14F-4D97-AF65-F5344CB8AC3E}">
        <p14:creationId xmlns:p14="http://schemas.microsoft.com/office/powerpoint/2010/main" val="1151204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SCP </a:t>
            </a:r>
            <a:r>
              <a:rPr lang="zh-CN" altLang="en-US" dirty="0"/>
              <a:t>是课程式分阶段训练策略，模仿外科医生的培养路径，从简单感知任务开始训练，再学评估，最后高阶推理；并且是累积式训练，后面阶段会保留前面阶段数据，只是降低采样率</a:t>
            </a:r>
            <a:endParaRPr lang="en-US" altLang="zh-CN" dirty="0"/>
          </a:p>
          <a:p>
            <a:r>
              <a:rPr lang="en-US" altLang="zh-CN" dirty="0"/>
              <a:t>SCP </a:t>
            </a:r>
            <a:r>
              <a:rPr lang="zh-CN" altLang="en-US" dirty="0"/>
              <a:t>分阶段训练，随着任务难度提升，模型逐步学会调用 </a:t>
            </a:r>
            <a:r>
              <a:rPr lang="en-US" altLang="zh-CN" dirty="0"/>
              <a:t>TEMP </a:t>
            </a:r>
            <a:r>
              <a:rPr lang="zh-CN" altLang="en-US" dirty="0"/>
              <a:t>的两套记忆： </a:t>
            </a:r>
            <a:r>
              <a:rPr lang="en-US" altLang="zh-CN" dirty="0">
                <a:effectLst/>
              </a:rPr>
              <a:t>Stage1 </a:t>
            </a:r>
            <a:r>
              <a:rPr lang="zh-CN" altLang="en-US" dirty="0">
                <a:effectLst/>
              </a:rPr>
              <a:t>感知：主要依赖</a:t>
            </a:r>
            <a:r>
              <a:rPr lang="zh-CN" altLang="en-US" b="1" dirty="0">
                <a:effectLst/>
              </a:rPr>
              <a:t>空间记忆</a:t>
            </a:r>
            <a:r>
              <a:rPr lang="en-US" altLang="zh-CN" b="1" dirty="0">
                <a:effectLst/>
              </a:rPr>
              <a:t>\(X_{spatial}\)</a:t>
            </a:r>
            <a:r>
              <a:rPr lang="zh-CN" altLang="en-US" dirty="0">
                <a:effectLst/>
              </a:rPr>
              <a:t>，抓局部 </a:t>
            </a:r>
            <a:r>
              <a:rPr lang="en-US" altLang="zh-CN" dirty="0">
                <a:effectLst/>
              </a:rPr>
              <a:t>patch </a:t>
            </a:r>
            <a:r>
              <a:rPr lang="zh-CN" altLang="en-US" dirty="0">
                <a:effectLst/>
              </a:rPr>
              <a:t>解剖细节；</a:t>
            </a:r>
          </a:p>
          <a:p>
            <a:r>
              <a:rPr lang="en-US" altLang="zh-CN" dirty="0">
                <a:effectLst/>
              </a:rPr>
              <a:t>Stage2 </a:t>
            </a:r>
            <a:r>
              <a:rPr lang="zh-CN" altLang="en-US" dirty="0">
                <a:effectLst/>
              </a:rPr>
              <a:t>评估：同时使用空间 </a:t>
            </a:r>
            <a:r>
              <a:rPr lang="en-US" altLang="zh-CN" dirty="0">
                <a:effectLst/>
              </a:rPr>
              <a:t>+ </a:t>
            </a:r>
            <a:r>
              <a:rPr lang="zh-CN" altLang="en-US" dirty="0">
                <a:effectLst/>
              </a:rPr>
              <a:t>时序记忆；</a:t>
            </a:r>
          </a:p>
          <a:p>
            <a:r>
              <a:rPr lang="en-US" altLang="zh-CN" dirty="0">
                <a:effectLst/>
              </a:rPr>
              <a:t>Stage3 </a:t>
            </a:r>
            <a:r>
              <a:rPr lang="zh-CN" altLang="en-US" dirty="0">
                <a:effectLst/>
              </a:rPr>
              <a:t>推理：大量依赖</a:t>
            </a:r>
            <a:r>
              <a:rPr lang="zh-CN" altLang="en-US" b="1" dirty="0">
                <a:effectLst/>
              </a:rPr>
              <a:t>时序记忆</a:t>
            </a:r>
            <a:r>
              <a:rPr lang="en-US" altLang="zh-CN" b="1" dirty="0">
                <a:effectLst/>
              </a:rPr>
              <a:t>\(X_{temporal}\)</a:t>
            </a:r>
            <a:r>
              <a:rPr lang="zh-CN" altLang="en-US" dirty="0">
                <a:effectLst/>
              </a:rPr>
              <a:t>，做跨长视频片段的时序推理。</a:t>
            </a:r>
          </a:p>
          <a:p>
            <a:endParaRPr lang="zh-CN" altLang="en-US" dirty="0"/>
          </a:p>
        </p:txBody>
      </p:sp>
      <p:sp>
        <p:nvSpPr>
          <p:cNvPr id="4" name="灯片编号占位符 3"/>
          <p:cNvSpPr>
            <a:spLocks noGrp="1"/>
          </p:cNvSpPr>
          <p:nvPr>
            <p:ph type="sldNum" sz="quarter" idx="5"/>
          </p:nvPr>
        </p:nvSpPr>
        <p:spPr/>
        <p:txBody>
          <a:bodyPr/>
          <a:lstStyle/>
          <a:p>
            <a:fld id="{A78175C1-4B1A-4603-A6A8-EDA08D4C4599}" type="slidenum">
              <a:rPr lang="zh-CN" altLang="en-US" smtClean="0"/>
              <a:t>11</a:t>
            </a:fld>
            <a:endParaRPr lang="zh-CN" altLang="en-US"/>
          </a:p>
        </p:txBody>
      </p:sp>
    </p:spTree>
    <p:extLst>
      <p:ext uri="{BB962C8B-B14F-4D97-AF65-F5344CB8AC3E}">
        <p14:creationId xmlns:p14="http://schemas.microsoft.com/office/powerpoint/2010/main" val="2208329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第一层：</a:t>
            </a:r>
            <a:r>
              <a:rPr lang="en-US" altLang="zh-CN" b="1" dirty="0"/>
              <a:t>Perception </a:t>
            </a:r>
            <a:r>
              <a:rPr lang="zh-CN" altLang="en-US" b="1" dirty="0"/>
              <a:t>感知层（底层基础，共 </a:t>
            </a:r>
            <a:r>
              <a:rPr lang="en-US" altLang="zh-CN" b="1" dirty="0"/>
              <a:t>3 </a:t>
            </a:r>
            <a:r>
              <a:rPr lang="zh-CN" altLang="en-US" b="1" dirty="0"/>
              <a:t>个任务，短视频片段，来自 </a:t>
            </a:r>
            <a:r>
              <a:rPr lang="en-US" altLang="zh-CN" b="1" dirty="0"/>
              <a:t>CholecT50</a:t>
            </a:r>
            <a:r>
              <a:rPr lang="zh-CN" altLang="en-US" b="1" dirty="0"/>
              <a:t>）</a:t>
            </a:r>
          </a:p>
          <a:p>
            <a:r>
              <a:rPr lang="zh-CN" altLang="en-US" dirty="0"/>
              <a:t>目标：基础手术场景感知，识别术野内实体，对应外科入门学习。</a:t>
            </a:r>
          </a:p>
          <a:p>
            <a:r>
              <a:rPr lang="en-US" altLang="zh-CN" b="1" dirty="0">
                <a:effectLst/>
              </a:rPr>
              <a:t>Tool Perception (TP) </a:t>
            </a:r>
            <a:r>
              <a:rPr lang="zh-CN" altLang="en-US" b="1" dirty="0">
                <a:effectLst/>
              </a:rPr>
              <a:t>器械感知</a:t>
            </a:r>
            <a:r>
              <a:rPr lang="zh-CN" altLang="en-US" dirty="0">
                <a:effectLst/>
              </a:rPr>
              <a:t>：基于器械位置、运动状态做动态问答</a:t>
            </a:r>
          </a:p>
          <a:p>
            <a:r>
              <a:rPr lang="en-US" altLang="zh-CN" b="1" dirty="0">
                <a:effectLst/>
              </a:rPr>
              <a:t>Action Perception (AP) </a:t>
            </a:r>
            <a:r>
              <a:rPr lang="zh-CN" altLang="en-US" b="1" dirty="0">
                <a:effectLst/>
              </a:rPr>
              <a:t>操作感知</a:t>
            </a:r>
            <a:r>
              <a:rPr lang="zh-CN" altLang="en-US" dirty="0">
                <a:effectLst/>
              </a:rPr>
              <a:t>：识别手术动作，并附带对应的临床原理</a:t>
            </a:r>
          </a:p>
          <a:p>
            <a:r>
              <a:rPr lang="en-US" altLang="zh-CN" b="1" dirty="0">
                <a:effectLst/>
              </a:rPr>
              <a:t>Anatomical Structure Perception (ASP) </a:t>
            </a:r>
            <a:r>
              <a:rPr lang="zh-CN" altLang="en-US" b="1" dirty="0">
                <a:effectLst/>
              </a:rPr>
              <a:t>解剖结构感知</a:t>
            </a:r>
            <a:r>
              <a:rPr lang="zh-CN" altLang="en-US" dirty="0">
                <a:effectLst/>
              </a:rPr>
              <a:t>：精细描述解剖标志：位置、形态、颜色、当前状态</a:t>
            </a:r>
          </a:p>
          <a:p>
            <a:r>
              <a:rPr lang="zh-CN" altLang="en-US" dirty="0"/>
              <a:t>数据特点：短片段（按动作连续性切分）；训练模型看懂手术视野里 “有什么、在发生什么”，是所有上层任务的基础。</a:t>
            </a:r>
          </a:p>
          <a:p>
            <a:r>
              <a:rPr lang="zh-CN" altLang="en-US" b="1" dirty="0"/>
              <a:t>第二层：</a:t>
            </a:r>
            <a:r>
              <a:rPr lang="en-US" altLang="zh-CN" b="1" dirty="0"/>
              <a:t>Assessment </a:t>
            </a:r>
            <a:r>
              <a:rPr lang="zh-CN" altLang="en-US" b="1" dirty="0"/>
              <a:t>评估层（中间层，共 </a:t>
            </a:r>
            <a:r>
              <a:rPr lang="en-US" altLang="zh-CN" b="1" dirty="0"/>
              <a:t>4 </a:t>
            </a:r>
            <a:r>
              <a:rPr lang="zh-CN" altLang="en-US" b="1" dirty="0"/>
              <a:t>个任务，来自 </a:t>
            </a:r>
            <a:r>
              <a:rPr lang="en-US" altLang="zh-CN" b="1" dirty="0" err="1"/>
              <a:t>Endoscapes+CholeScore</a:t>
            </a:r>
            <a:r>
              <a:rPr lang="zh-CN" altLang="en-US" b="1" dirty="0"/>
              <a:t>）</a:t>
            </a:r>
          </a:p>
          <a:p>
            <a:r>
              <a:rPr lang="zh-CN" altLang="en-US" dirty="0"/>
              <a:t>目标：基于感知信息，做临床术中定量 </a:t>
            </a:r>
            <a:r>
              <a:rPr lang="en-US" altLang="zh-CN" dirty="0"/>
              <a:t>/ </a:t>
            </a:r>
            <a:r>
              <a:rPr lang="zh-CN" altLang="en-US" dirty="0"/>
              <a:t>定性评估，对应住院医师术中评估能力。 </a:t>
            </a:r>
            <a:endParaRPr lang="en-US" altLang="zh-CN" dirty="0"/>
          </a:p>
          <a:p>
            <a:r>
              <a:rPr lang="en-US" altLang="zh-CN" dirty="0"/>
              <a:t>4. </a:t>
            </a:r>
            <a:r>
              <a:rPr lang="en-US" altLang="zh-CN" b="1" dirty="0"/>
              <a:t>Critical View of Safety Assessment (CVSA) </a:t>
            </a:r>
            <a:r>
              <a:rPr lang="zh-CN" altLang="en-US" b="1" dirty="0"/>
              <a:t>安全关键视图 </a:t>
            </a:r>
            <a:r>
              <a:rPr lang="en-US" altLang="zh-CN" b="1" dirty="0"/>
              <a:t>CVS </a:t>
            </a:r>
            <a:r>
              <a:rPr lang="zh-CN" altLang="en-US" b="1" dirty="0"/>
              <a:t>评估</a:t>
            </a:r>
            <a:r>
              <a:rPr lang="zh-CN" altLang="en-US" dirty="0"/>
              <a:t> </a:t>
            </a:r>
            <a:endParaRPr lang="en-US" altLang="zh-CN" dirty="0"/>
          </a:p>
          <a:p>
            <a:r>
              <a:rPr lang="en-US" altLang="zh-CN" dirty="0"/>
              <a:t>5. </a:t>
            </a:r>
            <a:r>
              <a:rPr lang="en-US" altLang="zh-CN" b="1" dirty="0"/>
              <a:t>Difficulty Findings Assessment (DFA) </a:t>
            </a:r>
            <a:r>
              <a:rPr lang="zh-CN" altLang="en-US" b="1" dirty="0"/>
              <a:t>手术难度特征评估（</a:t>
            </a:r>
            <a:r>
              <a:rPr lang="en-US" altLang="zh-CN" b="1" dirty="0"/>
              <a:t>LCOD</a:t>
            </a:r>
            <a:r>
              <a:rPr lang="zh-CN" altLang="en-US" b="1" dirty="0"/>
              <a:t>）</a:t>
            </a:r>
            <a:r>
              <a:rPr lang="en-US" altLang="zh-CN" dirty="0"/>
              <a:t> </a:t>
            </a:r>
          </a:p>
          <a:p>
            <a:r>
              <a:rPr lang="en-US" altLang="zh-CN" dirty="0"/>
              <a:t>6. </a:t>
            </a:r>
            <a:r>
              <a:rPr lang="en-US" altLang="zh-CN" b="1" dirty="0"/>
              <a:t>Skills Proficiency Assessment (SPA) </a:t>
            </a:r>
            <a:r>
              <a:rPr lang="zh-CN" altLang="en-US" b="1" dirty="0"/>
              <a:t>手术操作熟练度评估</a:t>
            </a:r>
            <a:r>
              <a:rPr lang="zh-CN" altLang="en-US" dirty="0"/>
              <a:t> </a:t>
            </a:r>
            <a:endParaRPr lang="en-US" altLang="zh-CN" dirty="0"/>
          </a:p>
          <a:p>
            <a:r>
              <a:rPr lang="en-US" altLang="zh-CN" dirty="0"/>
              <a:t>7. </a:t>
            </a:r>
            <a:r>
              <a:rPr lang="en-US" altLang="zh-CN" b="1" dirty="0"/>
              <a:t>Adverse Events Assessment (AEA) </a:t>
            </a:r>
            <a:r>
              <a:rPr lang="zh-CN" altLang="en-US" b="1" dirty="0"/>
              <a:t>术中不良事件评估</a:t>
            </a:r>
            <a:endParaRPr lang="zh-CN" altLang="en-US" dirty="0"/>
          </a:p>
          <a:p>
            <a:r>
              <a:rPr lang="zh-CN" altLang="en-US" dirty="0"/>
              <a:t>数据特点：两种时间尺度：</a:t>
            </a:r>
            <a:r>
              <a:rPr lang="en-US" altLang="zh-CN" dirty="0" err="1"/>
              <a:t>Endoscapes</a:t>
            </a:r>
            <a:r>
              <a:rPr lang="en-US" altLang="zh-CN" dirty="0"/>
              <a:t> </a:t>
            </a:r>
            <a:r>
              <a:rPr lang="zh-CN" altLang="en-US" dirty="0"/>
              <a:t>固定 </a:t>
            </a:r>
            <a:r>
              <a:rPr lang="en-US" altLang="zh-CN" dirty="0"/>
              <a:t>5s </a:t>
            </a:r>
            <a:r>
              <a:rPr lang="zh-CN" altLang="en-US" dirty="0"/>
              <a:t>短片段（</a:t>
            </a:r>
            <a:r>
              <a:rPr lang="en-US" altLang="zh-CN" dirty="0"/>
              <a:t>CVS </a:t>
            </a:r>
            <a:r>
              <a:rPr lang="zh-CN" altLang="en-US" dirty="0"/>
              <a:t>细粒度评估）；</a:t>
            </a:r>
            <a:r>
              <a:rPr lang="en-US" altLang="zh-CN" dirty="0" err="1"/>
              <a:t>CholeScore</a:t>
            </a:r>
            <a:r>
              <a:rPr lang="en-US" altLang="zh-CN" dirty="0"/>
              <a:t> </a:t>
            </a:r>
            <a:r>
              <a:rPr lang="zh-CN" altLang="en-US" dirty="0"/>
              <a:t>按手术阶段切分长片段（难度 </a:t>
            </a:r>
            <a:r>
              <a:rPr lang="en-US" altLang="zh-CN" dirty="0"/>
              <a:t>/ </a:t>
            </a:r>
            <a:r>
              <a:rPr lang="zh-CN" altLang="en-US" dirty="0"/>
              <a:t>技能 </a:t>
            </a:r>
            <a:r>
              <a:rPr lang="en-US" altLang="zh-CN" dirty="0"/>
              <a:t>/ </a:t>
            </a:r>
            <a:r>
              <a:rPr lang="zh-CN" altLang="en-US" dirty="0"/>
              <a:t>不良事件）。任务包含二分类、多分类评估。</a:t>
            </a:r>
          </a:p>
          <a:p>
            <a:r>
              <a:rPr lang="zh-CN" altLang="en-US" b="1" dirty="0"/>
              <a:t>第三层：</a:t>
            </a:r>
            <a:r>
              <a:rPr lang="en-US" altLang="zh-CN" b="1" dirty="0"/>
              <a:t>Reasoning </a:t>
            </a:r>
            <a:r>
              <a:rPr lang="zh-CN" altLang="en-US" b="1" dirty="0"/>
              <a:t>推理层（顶层高阶，共 </a:t>
            </a:r>
            <a:r>
              <a:rPr lang="en-US" altLang="zh-CN" b="1" dirty="0"/>
              <a:t>4 </a:t>
            </a:r>
            <a:r>
              <a:rPr lang="zh-CN" altLang="en-US" b="1" dirty="0"/>
              <a:t>个任务，跨多个视频片段做时序推理）</a:t>
            </a:r>
          </a:p>
          <a:p>
            <a:r>
              <a:rPr lang="zh-CN" altLang="en-US" dirty="0"/>
              <a:t>目标：跨多个时间窗口融合信息、多步临床推理，对应高年资医生综合判断与术中决策。 </a:t>
            </a:r>
            <a:endParaRPr lang="en-US" altLang="zh-CN" dirty="0"/>
          </a:p>
          <a:p>
            <a:r>
              <a:rPr lang="en-US" altLang="zh-CN" dirty="0"/>
              <a:t>8. </a:t>
            </a:r>
            <a:r>
              <a:rPr lang="en-US" altLang="zh-CN" b="1" dirty="0"/>
              <a:t>Surgical Scene Description (SSD) </a:t>
            </a:r>
            <a:r>
              <a:rPr lang="zh-CN" altLang="en-US" b="1" dirty="0"/>
              <a:t>手术场景描述</a:t>
            </a:r>
            <a:r>
              <a:rPr lang="zh-CN" altLang="en-US" dirty="0"/>
              <a:t>：综合多段视频，完整描述术野 </a:t>
            </a:r>
            <a:endParaRPr lang="en-US" altLang="zh-CN" dirty="0"/>
          </a:p>
          <a:p>
            <a:r>
              <a:rPr lang="en-US" altLang="zh-CN" dirty="0"/>
              <a:t>9. </a:t>
            </a:r>
            <a:r>
              <a:rPr lang="en-US" altLang="zh-CN" b="1" dirty="0"/>
              <a:t>Comprehensive Assessment (CA) </a:t>
            </a:r>
            <a:r>
              <a:rPr lang="zh-CN" altLang="en-US" b="1" dirty="0"/>
              <a:t>综合评估</a:t>
            </a:r>
            <a:r>
              <a:rPr lang="zh-CN" altLang="en-US" dirty="0"/>
              <a:t>：融合多项评估指标综合分析 </a:t>
            </a:r>
            <a:endParaRPr lang="en-US" altLang="zh-CN" dirty="0"/>
          </a:p>
          <a:p>
            <a:r>
              <a:rPr lang="en-US" altLang="zh-CN" dirty="0"/>
              <a:t>10. </a:t>
            </a:r>
            <a:r>
              <a:rPr lang="en-US" altLang="zh-CN" b="1" dirty="0"/>
              <a:t>Action Rationale Reasoning (ARR) </a:t>
            </a:r>
            <a:r>
              <a:rPr lang="zh-CN" altLang="en-US" b="1" dirty="0"/>
              <a:t>动作原理推理</a:t>
            </a:r>
            <a:r>
              <a:rPr lang="zh-CN" altLang="en-US" dirty="0"/>
              <a:t>：分析术者操作意图，解释为什么执行该操作 </a:t>
            </a:r>
            <a:endParaRPr lang="en-US" altLang="zh-CN" dirty="0"/>
          </a:p>
          <a:p>
            <a:r>
              <a:rPr lang="en-US" altLang="zh-CN" dirty="0"/>
              <a:t>11. </a:t>
            </a:r>
            <a:r>
              <a:rPr lang="en-US" altLang="zh-CN" b="1" dirty="0"/>
              <a:t>Intra-operative Planning (IP) </a:t>
            </a:r>
            <a:r>
              <a:rPr lang="zh-CN" altLang="en-US" b="1" dirty="0"/>
              <a:t>术中规划</a:t>
            </a:r>
            <a:r>
              <a:rPr lang="zh-CN" altLang="en-US" dirty="0"/>
              <a:t>：基于前面手术阶段情况，推理下一步安全手术策略</a:t>
            </a:r>
          </a:p>
          <a:p>
            <a:endParaRPr lang="zh-CN" altLang="en-US" dirty="0"/>
          </a:p>
        </p:txBody>
      </p:sp>
      <p:sp>
        <p:nvSpPr>
          <p:cNvPr id="4" name="灯片编号占位符 3"/>
          <p:cNvSpPr>
            <a:spLocks noGrp="1"/>
          </p:cNvSpPr>
          <p:nvPr>
            <p:ph type="sldNum" sz="quarter" idx="5"/>
          </p:nvPr>
        </p:nvSpPr>
        <p:spPr/>
        <p:txBody>
          <a:bodyPr/>
          <a:lstStyle/>
          <a:p>
            <a:fld id="{A78175C1-4B1A-4603-A6A8-EDA08D4C4599}" type="slidenum">
              <a:rPr lang="zh-CN" altLang="en-US" smtClean="0"/>
              <a:t>14</a:t>
            </a:fld>
            <a:endParaRPr lang="zh-CN" altLang="en-US"/>
          </a:p>
        </p:txBody>
      </p:sp>
    </p:spTree>
    <p:extLst>
      <p:ext uri="{BB962C8B-B14F-4D97-AF65-F5344CB8AC3E}">
        <p14:creationId xmlns:p14="http://schemas.microsoft.com/office/powerpoint/2010/main" val="3859540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1. GPT Scores</a:t>
            </a:r>
            <a:r>
              <a:rPr lang="zh-CN" altLang="en-US" b="1" dirty="0"/>
              <a:t>（</a:t>
            </a:r>
            <a:r>
              <a:rPr lang="en-US" altLang="zh-CN" b="1" dirty="0"/>
              <a:t>LLM-as-judge</a:t>
            </a:r>
            <a:r>
              <a:rPr lang="zh-CN" altLang="en-US" b="1" dirty="0"/>
              <a:t>，</a:t>
            </a:r>
            <a:r>
              <a:rPr lang="en-US" altLang="zh-CN" b="1" dirty="0"/>
              <a:t>gpt-oss-120b pointwise </a:t>
            </a:r>
            <a:r>
              <a:rPr lang="zh-CN" altLang="en-US" b="1" dirty="0"/>
              <a:t>单点打分，</a:t>
            </a:r>
            <a:r>
              <a:rPr lang="en-US" altLang="zh-CN" b="1" dirty="0"/>
              <a:t>0~100</a:t>
            </a:r>
            <a:r>
              <a:rPr lang="zh-CN" altLang="en-US" b="1" dirty="0"/>
              <a:t>）</a:t>
            </a:r>
          </a:p>
          <a:p>
            <a:r>
              <a:rPr lang="en-US" altLang="zh-CN" b="1" dirty="0">
                <a:effectLst/>
              </a:rPr>
              <a:t>CR</a:t>
            </a:r>
            <a:r>
              <a:rPr lang="zh-CN" altLang="en-US" b="1" dirty="0">
                <a:effectLst/>
              </a:rPr>
              <a:t>（</a:t>
            </a:r>
            <a:r>
              <a:rPr lang="en-US" altLang="zh-CN" b="1" dirty="0">
                <a:effectLst/>
              </a:rPr>
              <a:t>Correctness</a:t>
            </a:r>
            <a:r>
              <a:rPr lang="zh-CN" altLang="en-US" b="1" dirty="0">
                <a:effectLst/>
              </a:rPr>
              <a:t>）临床正确性</a:t>
            </a:r>
            <a:r>
              <a:rPr lang="zh-CN" altLang="en-US" dirty="0">
                <a:effectLst/>
              </a:rPr>
              <a:t>：回答在临床上是否正确，有没有医学幻觉</a:t>
            </a:r>
          </a:p>
          <a:p>
            <a:r>
              <a:rPr lang="en-US" altLang="zh-CN" b="1" dirty="0">
                <a:effectLst/>
              </a:rPr>
              <a:t>RL</a:t>
            </a:r>
            <a:r>
              <a:rPr lang="zh-CN" altLang="en-US" b="1" dirty="0">
                <a:effectLst/>
              </a:rPr>
              <a:t>（</a:t>
            </a:r>
            <a:r>
              <a:rPr lang="en-US" altLang="zh-CN" b="1" dirty="0">
                <a:effectLst/>
              </a:rPr>
              <a:t>Relevance</a:t>
            </a:r>
            <a:r>
              <a:rPr lang="zh-CN" altLang="en-US" b="1" dirty="0">
                <a:effectLst/>
              </a:rPr>
              <a:t>）相关性</a:t>
            </a:r>
            <a:r>
              <a:rPr lang="zh-CN" altLang="en-US" dirty="0">
                <a:effectLst/>
              </a:rPr>
              <a:t>：回答是否贴合视频 </a:t>
            </a:r>
            <a:r>
              <a:rPr lang="en-US" altLang="zh-CN" dirty="0">
                <a:effectLst/>
              </a:rPr>
              <a:t>+ </a:t>
            </a:r>
            <a:r>
              <a:rPr lang="zh-CN" altLang="en-US" dirty="0">
                <a:effectLst/>
              </a:rPr>
              <a:t>问题，不跑题</a:t>
            </a:r>
          </a:p>
          <a:p>
            <a:r>
              <a:rPr lang="en-US" altLang="zh-CN" b="1" dirty="0">
                <a:effectLst/>
              </a:rPr>
              <a:t>LG</a:t>
            </a:r>
            <a:r>
              <a:rPr lang="zh-CN" altLang="en-US" b="1" dirty="0">
                <a:effectLst/>
              </a:rPr>
              <a:t>（</a:t>
            </a:r>
            <a:r>
              <a:rPr lang="en-US" altLang="zh-CN" b="1" dirty="0">
                <a:effectLst/>
              </a:rPr>
              <a:t>Linguistic Quality</a:t>
            </a:r>
            <a:r>
              <a:rPr lang="zh-CN" altLang="en-US" b="1" dirty="0">
                <a:effectLst/>
              </a:rPr>
              <a:t>）语言质量</a:t>
            </a:r>
            <a:r>
              <a:rPr lang="zh-CN" altLang="en-US" dirty="0">
                <a:effectLst/>
              </a:rPr>
              <a:t>：语句通顺、逻辑清晰、专业表达规范</a:t>
            </a:r>
          </a:p>
          <a:p>
            <a:r>
              <a:rPr lang="zh-CN" altLang="en-US" dirty="0"/>
              <a:t>这就是你前面问的：</a:t>
            </a:r>
            <a:r>
              <a:rPr lang="en-US" altLang="zh-CN" b="1" dirty="0"/>
              <a:t>pointwise </a:t>
            </a:r>
            <a:r>
              <a:rPr lang="zh-CN" altLang="en-US" b="1" dirty="0"/>
              <a:t>单点打分</a:t>
            </a:r>
            <a:r>
              <a:rPr lang="zh-CN" altLang="en-US" dirty="0"/>
              <a:t>，不是 </a:t>
            </a:r>
            <a:r>
              <a:rPr lang="en-US" altLang="zh-CN" dirty="0"/>
              <a:t>pairwise </a:t>
            </a:r>
            <a:r>
              <a:rPr lang="zh-CN" altLang="en-US" dirty="0"/>
              <a:t>两两 </a:t>
            </a:r>
            <a:r>
              <a:rPr lang="en-US" altLang="zh-CN" dirty="0"/>
              <a:t>PK</a:t>
            </a:r>
            <a:r>
              <a:rPr lang="zh-CN" altLang="en-US" dirty="0"/>
              <a:t>。</a:t>
            </a:r>
            <a:r>
              <a:rPr lang="en-US" altLang="zh-CN" dirty="0"/>
              <a:t>Judge </a:t>
            </a:r>
            <a:r>
              <a:rPr lang="zh-CN" altLang="en-US" dirty="0"/>
              <a:t>单独对每一条 </a:t>
            </a:r>
            <a:r>
              <a:rPr lang="en-US" altLang="zh-CN" dirty="0"/>
              <a:t>QA </a:t>
            </a:r>
            <a:r>
              <a:rPr lang="zh-CN" altLang="en-US" dirty="0"/>
              <a:t>输出打这 </a:t>
            </a:r>
            <a:r>
              <a:rPr lang="en-US" altLang="zh-CN" dirty="0"/>
              <a:t>3 </a:t>
            </a:r>
            <a:r>
              <a:rPr lang="zh-CN" altLang="en-US" dirty="0"/>
              <a:t>个分数，最后全测试集取平均得到表 </a:t>
            </a:r>
            <a:r>
              <a:rPr lang="en-US" altLang="zh-CN" dirty="0"/>
              <a:t>6 </a:t>
            </a:r>
            <a:r>
              <a:rPr lang="zh-CN" altLang="en-US" dirty="0"/>
              <a:t>里的数值。</a:t>
            </a:r>
          </a:p>
          <a:p>
            <a:r>
              <a:rPr lang="en-US" altLang="zh-CN" b="1" dirty="0"/>
              <a:t>2. Overlap Metrics </a:t>
            </a:r>
            <a:r>
              <a:rPr lang="zh-CN" altLang="en-US" b="1" dirty="0"/>
              <a:t>文本字符串重叠指标（传统 </a:t>
            </a:r>
            <a:r>
              <a:rPr lang="en-US" altLang="zh-CN" b="1" dirty="0"/>
              <a:t>NLP </a:t>
            </a:r>
            <a:r>
              <a:rPr lang="zh-CN" altLang="en-US" b="1" dirty="0"/>
              <a:t>指标，对比生成文本和参考答案字面相似度）</a:t>
            </a:r>
          </a:p>
          <a:p>
            <a:r>
              <a:rPr lang="en-US" altLang="zh-CN" dirty="0"/>
              <a:t>BLEU</a:t>
            </a:r>
            <a:r>
              <a:rPr lang="zh-CN" altLang="en-US" dirty="0"/>
              <a:t>、</a:t>
            </a:r>
            <a:r>
              <a:rPr lang="en-US" altLang="zh-CN" dirty="0"/>
              <a:t>METEOR</a:t>
            </a:r>
            <a:r>
              <a:rPr lang="zh-CN" altLang="en-US" dirty="0"/>
              <a:t>、</a:t>
            </a:r>
            <a:r>
              <a:rPr lang="en-US" altLang="zh-CN" dirty="0"/>
              <a:t>ROUGE-L</a:t>
            </a:r>
            <a:r>
              <a:rPr lang="zh-CN" altLang="en-US" dirty="0"/>
              <a:t>、</a:t>
            </a:r>
            <a:r>
              <a:rPr lang="en-US" altLang="zh-CN" dirty="0" err="1"/>
              <a:t>CIDEr</a:t>
            </a:r>
            <a:endParaRPr lang="en-US" altLang="zh-CN" dirty="0"/>
          </a:p>
          <a:p>
            <a:r>
              <a:rPr lang="zh-CN" altLang="en-US" dirty="0"/>
              <a:t>局限：只看文字重合，</a:t>
            </a:r>
            <a:r>
              <a:rPr lang="zh-CN" altLang="en-US" b="1" dirty="0"/>
              <a:t>不能评判临床对错</a:t>
            </a:r>
            <a:r>
              <a:rPr lang="zh-CN" altLang="en-US" dirty="0"/>
              <a:t>，只能作为辅助。手术问答很多时候表述不同但临床结论正确，所以不能单用这一组。</a:t>
            </a:r>
          </a:p>
          <a:p>
            <a:r>
              <a:rPr lang="en-US" altLang="zh-CN" b="1" dirty="0"/>
              <a:t>3. Classification Metrics </a:t>
            </a:r>
            <a:r>
              <a:rPr lang="zh-CN" altLang="en-US" b="1" dirty="0"/>
              <a:t>分类类指标（针对 </a:t>
            </a:r>
            <a:r>
              <a:rPr lang="en-US" altLang="zh-CN" b="1" dirty="0"/>
              <a:t>CVS</a:t>
            </a:r>
            <a:r>
              <a:rPr lang="zh-CN" altLang="en-US" b="1" dirty="0"/>
              <a:t>、不良事件这类判断型任务）</a:t>
            </a:r>
          </a:p>
          <a:p>
            <a:r>
              <a:rPr lang="en-US" altLang="zh-CN" dirty="0" err="1">
                <a:effectLst/>
              </a:rPr>
              <a:t>bAcc</a:t>
            </a:r>
            <a:r>
              <a:rPr lang="zh-CN" altLang="en-US" dirty="0">
                <a:effectLst/>
              </a:rPr>
              <a:t>（</a:t>
            </a:r>
            <a:r>
              <a:rPr lang="en-US" altLang="zh-CN" dirty="0">
                <a:effectLst/>
              </a:rPr>
              <a:t>balanced Accuracy</a:t>
            </a:r>
            <a:r>
              <a:rPr lang="zh-CN" altLang="en-US" dirty="0">
                <a:effectLst/>
              </a:rPr>
              <a:t>）：平衡准确率</a:t>
            </a:r>
          </a:p>
          <a:p>
            <a:r>
              <a:rPr lang="en-US" altLang="zh-CN" dirty="0">
                <a:effectLst/>
              </a:rPr>
              <a:t>F1-score</a:t>
            </a:r>
          </a:p>
          <a:p>
            <a:r>
              <a:rPr lang="zh-CN" altLang="en-US" dirty="0"/>
              <a:t>每一个分类指标有两列：</a:t>
            </a:r>
          </a:p>
          <a:p>
            <a:r>
              <a:rPr lang="en-US" altLang="zh-CN" sz="1200" kern="1200" dirty="0">
                <a:solidFill>
                  <a:schemeClr val="tx1"/>
                </a:solidFill>
                <a:effectLst/>
                <a:latin typeface="+mn-lt"/>
                <a:ea typeface="+mn-ea"/>
                <a:cs typeface="+mn-cs"/>
              </a:rPr>
              <a:t>Score</a:t>
            </a:r>
            <a:r>
              <a:rPr lang="zh-CN" altLang="en-US" dirty="0">
                <a:effectLst/>
              </a:rPr>
              <a:t>：在模型</a:t>
            </a:r>
            <a:r>
              <a:rPr lang="zh-CN" altLang="en-US" b="1" dirty="0">
                <a:effectLst/>
              </a:rPr>
              <a:t>成功给出回答</a:t>
            </a:r>
            <a:r>
              <a:rPr lang="zh-CN" altLang="en-US" dirty="0">
                <a:effectLst/>
              </a:rPr>
              <a:t>的样本上算出的指标值</a:t>
            </a:r>
          </a:p>
          <a:p>
            <a:r>
              <a:rPr lang="en-US" altLang="zh-CN" sz="1200" kern="1200" dirty="0">
                <a:solidFill>
                  <a:schemeClr val="tx1"/>
                </a:solidFill>
                <a:effectLst/>
                <a:latin typeface="+mn-lt"/>
                <a:ea typeface="+mn-ea"/>
                <a:cs typeface="+mn-cs"/>
              </a:rPr>
              <a:t>Rate</a:t>
            </a:r>
            <a:r>
              <a:rPr lang="zh-CN" altLang="en-US" dirty="0">
                <a:effectLst/>
              </a:rPr>
              <a:t>：</a:t>
            </a:r>
            <a:r>
              <a:rPr lang="zh-CN" altLang="en-US" b="1" dirty="0">
                <a:effectLst/>
              </a:rPr>
              <a:t>回答率（</a:t>
            </a:r>
            <a:r>
              <a:rPr lang="en-US" altLang="zh-CN" b="1" dirty="0">
                <a:effectLst/>
              </a:rPr>
              <a:t>%</a:t>
            </a:r>
            <a:r>
              <a:rPr lang="zh-CN" altLang="en-US" b="1" dirty="0">
                <a:effectLst/>
              </a:rPr>
              <a:t>）</a:t>
            </a:r>
            <a:r>
              <a:rPr lang="zh-CN" altLang="en-US" dirty="0">
                <a:effectLst/>
              </a:rPr>
              <a:t>，代表模型愿意输出答案的样本占比；有些模型会拒答，回答率低。</a:t>
            </a:r>
          </a:p>
          <a:p>
            <a:r>
              <a:rPr lang="zh-CN" altLang="en-US" dirty="0"/>
              <a:t>论文特别指出：</a:t>
            </a:r>
            <a:r>
              <a:rPr lang="zh-CN" altLang="en-US" b="1" dirty="0"/>
              <a:t>高回答率 ≠ 回答正确</a:t>
            </a:r>
            <a:r>
              <a:rPr lang="zh-CN" altLang="en-US" dirty="0"/>
              <a:t>。例如 </a:t>
            </a:r>
            <a:r>
              <a:rPr lang="en-US" altLang="zh-CN" dirty="0"/>
              <a:t>mPLUG-Owl3 </a:t>
            </a:r>
            <a:r>
              <a:rPr lang="zh-CN" altLang="en-US" dirty="0"/>
              <a:t>回答率很高，但 </a:t>
            </a:r>
            <a:r>
              <a:rPr lang="en-US" altLang="zh-CN" dirty="0"/>
              <a:t>CR </a:t>
            </a:r>
            <a:r>
              <a:rPr lang="zh-CN" altLang="en-US" dirty="0"/>
              <a:t>很低，属于 “敢胡说”。</a:t>
            </a:r>
          </a:p>
          <a:p>
            <a:endParaRPr lang="zh-CN" altLang="en-US" dirty="0"/>
          </a:p>
        </p:txBody>
      </p:sp>
      <p:sp>
        <p:nvSpPr>
          <p:cNvPr id="4" name="灯片编号占位符 3"/>
          <p:cNvSpPr>
            <a:spLocks noGrp="1"/>
          </p:cNvSpPr>
          <p:nvPr>
            <p:ph type="sldNum" sz="quarter" idx="5"/>
          </p:nvPr>
        </p:nvSpPr>
        <p:spPr/>
        <p:txBody>
          <a:bodyPr/>
          <a:lstStyle/>
          <a:p>
            <a:fld id="{A78175C1-4B1A-4603-A6A8-EDA08D4C4599}" type="slidenum">
              <a:rPr lang="zh-CN" altLang="en-US" smtClean="0"/>
              <a:t>17</a:t>
            </a:fld>
            <a:endParaRPr lang="zh-CN" altLang="en-US"/>
          </a:p>
        </p:txBody>
      </p:sp>
    </p:spTree>
    <p:extLst>
      <p:ext uri="{BB962C8B-B14F-4D97-AF65-F5344CB8AC3E}">
        <p14:creationId xmlns:p14="http://schemas.microsoft.com/office/powerpoint/2010/main" val="2714909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 </a:t>
            </a:r>
            <a:r>
              <a:rPr lang="en-US" altLang="zh-CN" dirty="0"/>
              <a:t>7 </a:t>
            </a:r>
            <a:r>
              <a:rPr lang="zh-CN" altLang="en-US" dirty="0"/>
              <a:t>是</a:t>
            </a:r>
            <a:r>
              <a:rPr lang="zh-CN" altLang="en-US" b="1" dirty="0"/>
              <a:t>雷达图（</a:t>
            </a:r>
            <a:r>
              <a:rPr lang="en-US" altLang="zh-CN" b="1" dirty="0"/>
              <a:t>Radar Chart</a:t>
            </a:r>
            <a:r>
              <a:rPr lang="zh-CN" altLang="en-US" b="1" dirty="0"/>
              <a:t>）</a:t>
            </a:r>
            <a:r>
              <a:rPr lang="zh-CN" altLang="en-US" dirty="0"/>
              <a:t>，用来拆解</a:t>
            </a:r>
            <a:r>
              <a:rPr lang="zh-CN" altLang="en-US" b="1" dirty="0"/>
              <a:t>不同模型在 </a:t>
            </a:r>
            <a:r>
              <a:rPr lang="en-US" altLang="zh-CN" b="1" dirty="0"/>
              <a:t>11 </a:t>
            </a:r>
            <a:r>
              <a:rPr lang="zh-CN" altLang="en-US" b="1" dirty="0"/>
              <a:t>个细粒度子任务、三层任务层级上的性能差异</a:t>
            </a:r>
            <a:r>
              <a:rPr lang="zh-CN" altLang="en-US" dirty="0"/>
              <a:t>；指标是 </a:t>
            </a:r>
            <a:r>
              <a:rPr lang="en-US" altLang="zh-CN" b="1" dirty="0"/>
              <a:t>CR </a:t>
            </a:r>
            <a:r>
              <a:rPr lang="zh-CN" altLang="en-US" b="1" dirty="0"/>
              <a:t>临床正确性、</a:t>
            </a:r>
            <a:r>
              <a:rPr lang="en-US" altLang="zh-CN" b="1" dirty="0"/>
              <a:t>RL </a:t>
            </a:r>
            <a:r>
              <a:rPr lang="zh-CN" altLang="en-US" b="1" dirty="0"/>
              <a:t>相关性、</a:t>
            </a:r>
            <a:r>
              <a:rPr lang="en-US" altLang="zh-CN" b="1" dirty="0"/>
              <a:t>LG </a:t>
            </a:r>
            <a:r>
              <a:rPr lang="zh-CN" altLang="en-US" b="1" dirty="0"/>
              <a:t>语言质量三者的平均分（</a:t>
            </a:r>
            <a:r>
              <a:rPr lang="en-US" altLang="zh-CN" b="1" dirty="0"/>
              <a:t>GPT judge pointwise </a:t>
            </a:r>
            <a:r>
              <a:rPr lang="zh-CN" altLang="en-US" b="1" dirty="0"/>
              <a:t>打分）</a:t>
            </a:r>
            <a:r>
              <a:rPr lang="zh-CN" altLang="en-US" dirty="0"/>
              <a:t>。 核心目的：</a:t>
            </a:r>
            <a:r>
              <a:rPr lang="zh-CN" altLang="en-US" b="1" dirty="0"/>
              <a:t>不是只看全集平均指标（表 </a:t>
            </a:r>
            <a:r>
              <a:rPr lang="en-US" altLang="zh-CN" b="1" dirty="0"/>
              <a:t>6</a:t>
            </a:r>
            <a:r>
              <a:rPr lang="zh-CN" altLang="en-US" b="1" dirty="0"/>
              <a:t>），而是拆开看：</a:t>
            </a:r>
            <a:r>
              <a:rPr lang="en-US" altLang="zh-CN" b="1" dirty="0" err="1"/>
              <a:t>SurgTEMP</a:t>
            </a:r>
            <a:r>
              <a:rPr lang="en-US" altLang="zh-CN" b="1" dirty="0"/>
              <a:t> </a:t>
            </a:r>
            <a:r>
              <a:rPr lang="zh-CN" altLang="en-US" b="1" dirty="0"/>
              <a:t>到底在哪一类任务上变强、在哪一类任务提升有限，用来印证 </a:t>
            </a:r>
            <a:r>
              <a:rPr lang="en-US" altLang="zh-CN" b="1" dirty="0"/>
              <a:t>TEMP </a:t>
            </a:r>
            <a:r>
              <a:rPr lang="zh-CN" altLang="en-US" b="1" dirty="0"/>
              <a:t>双记忆金字塔 </a:t>
            </a:r>
            <a:r>
              <a:rPr lang="en-US" altLang="zh-CN" b="1" dirty="0"/>
              <a:t>+ SCP </a:t>
            </a:r>
            <a:r>
              <a:rPr lang="zh-CN" altLang="en-US" b="1" dirty="0"/>
              <a:t>课程训练的设计动机</a:t>
            </a:r>
            <a:r>
              <a:rPr lang="zh-CN" altLang="en-US" dirty="0"/>
              <a:t>。</a:t>
            </a:r>
          </a:p>
        </p:txBody>
      </p:sp>
      <p:sp>
        <p:nvSpPr>
          <p:cNvPr id="4" name="灯片编号占位符 3"/>
          <p:cNvSpPr>
            <a:spLocks noGrp="1"/>
          </p:cNvSpPr>
          <p:nvPr>
            <p:ph type="sldNum" sz="quarter" idx="5"/>
          </p:nvPr>
        </p:nvSpPr>
        <p:spPr/>
        <p:txBody>
          <a:bodyPr/>
          <a:lstStyle/>
          <a:p>
            <a:fld id="{A78175C1-4B1A-4603-A6A8-EDA08D4C4599}" type="slidenum">
              <a:rPr lang="zh-CN" altLang="en-US" smtClean="0"/>
              <a:t>21</a:t>
            </a:fld>
            <a:endParaRPr lang="zh-CN" altLang="en-US"/>
          </a:p>
        </p:txBody>
      </p:sp>
    </p:spTree>
    <p:extLst>
      <p:ext uri="{BB962C8B-B14F-4D97-AF65-F5344CB8AC3E}">
        <p14:creationId xmlns:p14="http://schemas.microsoft.com/office/powerpoint/2010/main" val="3213096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安全视野评估（</a:t>
            </a:r>
            <a:r>
              <a:rPr lang="en-US" altLang="zh-CN" dirty="0"/>
              <a:t>CVSA</a:t>
            </a:r>
            <a:r>
              <a:rPr lang="zh-CN" altLang="en-US" dirty="0"/>
              <a:t>）</a:t>
            </a:r>
            <a:endParaRPr lang="en-US" altLang="zh-CN" dirty="0"/>
          </a:p>
          <a:p>
            <a:r>
              <a:rPr lang="zh-CN" altLang="en-US" dirty="0"/>
              <a:t>手术难度评估（</a:t>
            </a:r>
            <a:r>
              <a:rPr lang="en-US" altLang="zh-CN" dirty="0"/>
              <a:t>DFA</a:t>
            </a:r>
            <a:r>
              <a:rPr lang="zh-CN" altLang="en-US" dirty="0"/>
              <a:t>）：提升幅度更大，说明识别手术难度相关因素（例如致密粘连、内脏脂肪）需要更复杂的视觉模式识别与上下文理解能力，而本文 </a:t>
            </a:r>
            <a:r>
              <a:rPr lang="en-US" altLang="zh-CN" dirty="0"/>
              <a:t>TEMP </a:t>
            </a:r>
            <a:r>
              <a:rPr lang="zh-CN" altLang="en-US" dirty="0"/>
              <a:t>模块的文本引导注意力机制能够有效捕获这类信息</a:t>
            </a:r>
            <a:endParaRPr lang="en-US" altLang="zh-CN" dirty="0"/>
          </a:p>
          <a:p>
            <a:r>
              <a:rPr lang="zh-CN" altLang="en-US" dirty="0"/>
              <a:t>不良事件评估（</a:t>
            </a:r>
            <a:r>
              <a:rPr lang="en-US" altLang="zh-CN" dirty="0"/>
              <a:t>AEA</a:t>
            </a:r>
            <a:r>
              <a:rPr lang="zh-CN" altLang="en-US" dirty="0"/>
              <a:t>）：性能差异证明，识别细微组织异常、热损伤以及出血并发症，需要对转瞬即逝的视觉线索施加细粒度时空注意力，而这一点是传统模型架构经常忽略的</a:t>
            </a:r>
            <a:br>
              <a:rPr lang="en-US" altLang="zh-CN" dirty="0"/>
            </a:br>
            <a:r>
              <a:rPr lang="zh-CN" altLang="en-US" dirty="0"/>
              <a:t>手术熟练度评估（</a:t>
            </a:r>
            <a:r>
              <a:rPr lang="en-US" altLang="zh-CN" dirty="0"/>
              <a:t>SPA</a:t>
            </a:r>
            <a:r>
              <a:rPr lang="zh-CN" altLang="en-US" dirty="0"/>
              <a:t>）：最大的提升，证实了在长手术阶段中评估操作技术质量时，完整时序上下文信息融合的重要性</a:t>
            </a:r>
          </a:p>
        </p:txBody>
      </p:sp>
      <p:sp>
        <p:nvSpPr>
          <p:cNvPr id="4" name="灯片编号占位符 3"/>
          <p:cNvSpPr>
            <a:spLocks noGrp="1"/>
          </p:cNvSpPr>
          <p:nvPr>
            <p:ph type="sldNum" sz="quarter" idx="5"/>
          </p:nvPr>
        </p:nvSpPr>
        <p:spPr/>
        <p:txBody>
          <a:bodyPr/>
          <a:lstStyle/>
          <a:p>
            <a:fld id="{A78175C1-4B1A-4603-A6A8-EDA08D4C4599}" type="slidenum">
              <a:rPr lang="zh-CN" altLang="en-US" smtClean="0"/>
              <a:t>23</a:t>
            </a:fld>
            <a:endParaRPr lang="zh-CN" altLang="en-US"/>
          </a:p>
        </p:txBody>
      </p:sp>
    </p:spTree>
    <p:extLst>
      <p:ext uri="{BB962C8B-B14F-4D97-AF65-F5344CB8AC3E}">
        <p14:creationId xmlns:p14="http://schemas.microsoft.com/office/powerpoint/2010/main" val="3291577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临床正确性、回答相关性、语言质量</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Temporal Memory Bank (TMB)</a:t>
            </a:r>
            <a:r>
              <a:rPr lang="zh-CN" altLang="en-US" sz="1200" b="0" i="0" kern="1200" dirty="0">
                <a:solidFill>
                  <a:schemeClr val="tx1"/>
                </a:solidFill>
                <a:effectLst/>
                <a:latin typeface="+mn-lt"/>
                <a:ea typeface="+mn-ea"/>
                <a:cs typeface="+mn-cs"/>
              </a:rPr>
              <a:t>：</a:t>
            </a:r>
            <a:r>
              <a:rPr lang="zh-CN" altLang="en-US" dirty="0"/>
              <a:t>时序记忆库，移除分层时序记忆金字塔结构</a:t>
            </a:r>
            <a:endParaRPr lang="en-US" altLang="zh-CN" dirty="0"/>
          </a:p>
          <a:p>
            <a:r>
              <a:rPr lang="en-US" altLang="zh-CN" sz="1200" b="0" i="0" kern="1200" dirty="0">
                <a:solidFill>
                  <a:schemeClr val="tx1"/>
                </a:solidFill>
                <a:effectLst/>
                <a:latin typeface="+mn-lt"/>
                <a:ea typeface="+mn-ea"/>
                <a:cs typeface="+mn-cs"/>
              </a:rPr>
              <a:t>Text-guided Attention Selection (TAS)</a:t>
            </a:r>
            <a:r>
              <a:rPr lang="zh-CN" altLang="en-US" sz="1200" b="0" i="0" kern="1200" dirty="0">
                <a:solidFill>
                  <a:schemeClr val="tx1"/>
                </a:solidFill>
                <a:effectLst/>
                <a:latin typeface="+mn-lt"/>
                <a:ea typeface="+mn-ea"/>
                <a:cs typeface="+mn-cs"/>
              </a:rPr>
              <a:t>：</a:t>
            </a:r>
            <a:r>
              <a:rPr lang="zh-CN" altLang="en-US" dirty="0"/>
              <a:t>文本引导注意力筛选模块，替换为随机帧筛选</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Learnable Separator (LS)</a:t>
            </a:r>
            <a:r>
              <a:rPr lang="zh-CN" altLang="en-US" sz="1200" b="0" i="0" kern="1200" dirty="0">
                <a:solidFill>
                  <a:schemeClr val="tx1"/>
                </a:solidFill>
                <a:effectLst/>
                <a:latin typeface="+mn-lt"/>
                <a:ea typeface="+mn-ea"/>
                <a:cs typeface="+mn-cs"/>
              </a:rPr>
              <a:t>：</a:t>
            </a:r>
            <a:r>
              <a:rPr lang="zh-CN" altLang="en-US" dirty="0"/>
              <a:t>可学习分隔符，替换为固定全零向量</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Surgical Competency Progression (SCP)</a:t>
            </a:r>
            <a:r>
              <a:rPr lang="zh-CN" altLang="en-US" sz="1200" b="0" i="0" kern="1200" dirty="0">
                <a:solidFill>
                  <a:schemeClr val="tx1"/>
                </a:solidFill>
                <a:effectLst/>
                <a:latin typeface="+mn-lt"/>
                <a:ea typeface="+mn-ea"/>
                <a:cs typeface="+mn-cs"/>
              </a:rPr>
              <a:t>：</a:t>
            </a:r>
            <a:r>
              <a:rPr lang="zh-CN" altLang="en-US" dirty="0"/>
              <a:t>外科能力递进训练</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Component Synergy</a:t>
            </a:r>
            <a:r>
              <a:rPr lang="zh-CN" altLang="en-US" sz="1200" b="0" i="0" kern="1200" dirty="0">
                <a:solidFill>
                  <a:schemeClr val="tx1"/>
                </a:solidFill>
                <a:effectLst/>
                <a:latin typeface="+mn-lt"/>
                <a:ea typeface="+mn-ea"/>
                <a:cs typeface="+mn-cs"/>
              </a:rPr>
              <a:t>：</a:t>
            </a:r>
            <a:r>
              <a:rPr lang="zh-CN" altLang="en-US" dirty="0"/>
              <a:t>组件协同效应</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Visual Inputs (VI)</a:t>
            </a:r>
            <a:r>
              <a:rPr lang="zh-CN" altLang="en-US" sz="1200" b="0" i="0" kern="1200" dirty="0">
                <a:solidFill>
                  <a:schemeClr val="tx1"/>
                </a:solidFill>
                <a:effectLst/>
                <a:latin typeface="+mn-lt"/>
                <a:ea typeface="+mn-ea"/>
                <a:cs typeface="+mn-cs"/>
              </a:rPr>
              <a:t>：</a:t>
            </a:r>
            <a:r>
              <a:rPr lang="zh-CN" altLang="en-US" dirty="0"/>
              <a:t>视觉输入，模型不会仅依靠文本问题走捷径生成答案</a:t>
            </a:r>
          </a:p>
        </p:txBody>
      </p:sp>
      <p:sp>
        <p:nvSpPr>
          <p:cNvPr id="4" name="灯片编号占位符 3"/>
          <p:cNvSpPr>
            <a:spLocks noGrp="1"/>
          </p:cNvSpPr>
          <p:nvPr>
            <p:ph type="sldNum" sz="quarter" idx="5"/>
          </p:nvPr>
        </p:nvSpPr>
        <p:spPr/>
        <p:txBody>
          <a:bodyPr/>
          <a:lstStyle/>
          <a:p>
            <a:fld id="{A78175C1-4B1A-4603-A6A8-EDA08D4C4599}" type="slidenum">
              <a:rPr lang="zh-CN" altLang="en-US" smtClean="0"/>
              <a:t>25</a:t>
            </a:fld>
            <a:endParaRPr lang="zh-CN" altLang="en-US"/>
          </a:p>
        </p:txBody>
      </p:sp>
    </p:spTree>
    <p:extLst>
      <p:ext uri="{BB962C8B-B14F-4D97-AF65-F5344CB8AC3E}">
        <p14:creationId xmlns:p14="http://schemas.microsoft.com/office/powerpoint/2010/main" val="2533892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外科手术本身复杂且风险高，需要从业者具备丰富专业知识，并且时刻保持专注，才能应对不断变化的术中场景。外科视觉问答（</a:t>
            </a:r>
            <a:r>
              <a:rPr lang="en-US" altLang="zh-CN" dirty="0"/>
              <a:t>VQA</a:t>
            </a:r>
            <a:r>
              <a:rPr lang="zh-CN" altLang="en-US" dirty="0"/>
              <a:t>）这类计算机辅助系统，有望应用于外科教学以及术中辅助工作。</a:t>
            </a:r>
          </a:p>
          <a:p>
            <a:r>
              <a:rPr lang="zh-CN" altLang="en-US" dirty="0"/>
              <a:t>当前外科视觉问答研究大多聚焦于静态图像帧分析，忽略了丰富的时序语义信息。外科视频问答还面临多重难题：图像视觉对比度低、高度依赖专业领域知识、需要在碎片化的不同时间窗口开展多样化分析，同时还存在从基础感知到高阶术中评估的层级任务关系。</a:t>
            </a:r>
          </a:p>
          <a:p>
            <a:r>
              <a:rPr lang="zh-CN" altLang="en-US" dirty="0"/>
              <a:t>为解决上述难题，本文提出</a:t>
            </a:r>
            <a:r>
              <a:rPr lang="en-US" altLang="zh-CN" b="1" dirty="0" err="1"/>
              <a:t>SurgTEMP</a:t>
            </a:r>
            <a:r>
              <a:rPr lang="zh-CN" altLang="en-US" dirty="0"/>
              <a:t>这一多模态大语言模型框架，包含两大核心部分：</a:t>
            </a:r>
            <a:r>
              <a:rPr lang="en-US" altLang="zh-CN" dirty="0"/>
              <a:t>(1) </a:t>
            </a:r>
            <a:r>
              <a:rPr lang="zh-CN" altLang="en-US" dirty="0"/>
              <a:t>查询引导的 </a:t>
            </a:r>
            <a:r>
              <a:rPr lang="en-US" altLang="zh-CN" dirty="0"/>
              <a:t>token </a:t>
            </a:r>
            <a:r>
              <a:rPr lang="zh-CN" altLang="en-US" dirty="0"/>
              <a:t>选择模块，用于构建分层视觉记忆（空间记忆库与时间记忆库）；</a:t>
            </a:r>
            <a:r>
              <a:rPr lang="en-US" altLang="zh-CN" dirty="0"/>
              <a:t>(2)</a:t>
            </a:r>
            <a:r>
              <a:rPr lang="zh-CN" altLang="en-US" b="1" dirty="0"/>
              <a:t>外科能力递进（</a:t>
            </a:r>
            <a:r>
              <a:rPr lang="en-US" altLang="zh-CN" b="1" dirty="0"/>
              <a:t>SCP</a:t>
            </a:r>
            <a:r>
              <a:rPr lang="zh-CN" altLang="en-US" b="1" dirty="0"/>
              <a:t>）</a:t>
            </a:r>
            <a:r>
              <a:rPr lang="zh-CN" altLang="en-US" dirty="0"/>
              <a:t>训练策略。二者协同作用，可以有效建模不同时长的外科视频，保留手术相关特征与时序一致性，更好地支撑各类下游评估任务。</a:t>
            </a:r>
          </a:p>
          <a:p>
            <a:r>
              <a:rPr lang="zh-CN" altLang="en-US" dirty="0"/>
              <a:t>为推动模型研究，本文构建了数据集</a:t>
            </a:r>
            <a:r>
              <a:rPr lang="en-US" altLang="zh-CN" b="1" dirty="0"/>
              <a:t>CholeVidQA‑32K</a:t>
            </a:r>
            <a:r>
              <a:rPr lang="zh-CN" altLang="en-US" dirty="0"/>
              <a:t>。该外科视频问答数据集取自腹腔镜胆囊切除术，包含 </a:t>
            </a:r>
            <a:r>
              <a:rPr lang="en-US" altLang="zh-CN" dirty="0"/>
              <a:t>32000 </a:t>
            </a:r>
            <a:r>
              <a:rPr lang="zh-CN" altLang="en-US" dirty="0"/>
              <a:t>个开放式问答对、</a:t>
            </a:r>
            <a:r>
              <a:rPr lang="en-US" altLang="zh-CN" dirty="0"/>
              <a:t>3855 </a:t>
            </a:r>
            <a:r>
              <a:rPr lang="zh-CN" altLang="en-US" dirty="0"/>
              <a:t>段视频片段，总时长约 </a:t>
            </a:r>
            <a:r>
              <a:rPr lang="en-US" altLang="zh-CN" dirty="0"/>
              <a:t>128 </a:t>
            </a:r>
            <a:r>
              <a:rPr lang="zh-CN" altLang="en-US" dirty="0"/>
              <a:t>小时。数据集分为</a:t>
            </a:r>
            <a:r>
              <a:rPr lang="zh-CN" altLang="en-US" b="1" dirty="0"/>
              <a:t>感知、评估、推理</a:t>
            </a:r>
            <a:r>
              <a:rPr lang="zh-CN" altLang="en-US" dirty="0"/>
              <a:t>三层层级，涵盖 </a:t>
            </a:r>
            <a:r>
              <a:rPr lang="en-US" altLang="zh-CN" dirty="0"/>
              <a:t>11 </a:t>
            </a:r>
            <a:r>
              <a:rPr lang="zh-CN" altLang="en-US" dirty="0"/>
              <a:t>项任务：从器械 </a:t>
            </a:r>
            <a:r>
              <a:rPr lang="en-US" altLang="zh-CN" dirty="0"/>
              <a:t>/ </a:t>
            </a:r>
            <a:r>
              <a:rPr lang="zh-CN" altLang="en-US" dirty="0"/>
              <a:t>操作 </a:t>
            </a:r>
            <a:r>
              <a:rPr lang="en-US" altLang="zh-CN" dirty="0"/>
              <a:t>/ </a:t>
            </a:r>
            <a:r>
              <a:rPr lang="zh-CN" altLang="en-US" dirty="0"/>
              <a:t>解剖结构感知，到安全关键视图（</a:t>
            </a:r>
            <a:r>
              <a:rPr lang="en-US" altLang="zh-CN" dirty="0"/>
              <a:t>CVS</a:t>
            </a:r>
            <a:r>
              <a:rPr lang="zh-CN" altLang="en-US" dirty="0"/>
              <a:t>）、术中难度、手术操作熟练度以及术中不良事件评估。</a:t>
            </a:r>
          </a:p>
          <a:p>
            <a:r>
              <a:rPr lang="zh-CN" altLang="en-US" dirty="0"/>
              <a:t>在与当前主流开源多模态、视频大语言模型（包含微调与零样本两种设置）的全面对比实验中，</a:t>
            </a:r>
            <a:r>
              <a:rPr lang="en-US" altLang="zh-CN" dirty="0" err="1"/>
              <a:t>SurgTEMP</a:t>
            </a:r>
            <a:r>
              <a:rPr lang="en-US" altLang="zh-CN" dirty="0"/>
              <a:t> </a:t>
            </a:r>
            <a:r>
              <a:rPr lang="zh-CN" altLang="en-US" dirty="0"/>
              <a:t>取得显著性能提升，推动了外科视频问答领域技术发展。</a:t>
            </a:r>
          </a:p>
          <a:p>
            <a:endParaRPr lang="zh-CN" altLang="en-US" dirty="0"/>
          </a:p>
        </p:txBody>
      </p:sp>
      <p:sp>
        <p:nvSpPr>
          <p:cNvPr id="4" name="灯片编号占位符 3"/>
          <p:cNvSpPr>
            <a:spLocks noGrp="1"/>
          </p:cNvSpPr>
          <p:nvPr>
            <p:ph type="sldNum" sz="quarter" idx="5"/>
          </p:nvPr>
        </p:nvSpPr>
        <p:spPr/>
        <p:txBody>
          <a:bodyPr/>
          <a:lstStyle/>
          <a:p>
            <a:fld id="{A78175C1-4B1A-4603-A6A8-EDA08D4C4599}" type="slidenum">
              <a:rPr lang="zh-CN" altLang="en-US" smtClean="0"/>
              <a:t>35</a:t>
            </a:fld>
            <a:endParaRPr lang="zh-CN" altLang="en-US"/>
          </a:p>
        </p:txBody>
      </p:sp>
    </p:spTree>
    <p:extLst>
      <p:ext uri="{BB962C8B-B14F-4D97-AF65-F5344CB8AC3E}">
        <p14:creationId xmlns:p14="http://schemas.microsoft.com/office/powerpoint/2010/main" val="3918137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外科是一门复杂度极高、对操作技术要求严苛的学科，该领域风险高，从业人员需要经过长期培训才能达到熟练水平。一般认为，受训人员在学习之初就应当扎实掌握解剖学知识，这是解读手术视野的基础，例如识别关键解剖标志、评估其状态都离不开解剖功底。在此基础上，住院医师通常需要历经数年规范化培训，才能掌握缝合、组织牵拉等基础手术操作，并养成结合术中实际情况开展评估的能力。以腹腔镜胆囊切除术为例，外科医生必须判断胆囊管是否得到充分游离显露，切断胆囊管是否安全。这类能力往往需要完成大量手术病例之后才能习得。该类技术能力对于保障手术顺利开展、减少并发症、获得理想的术后预后至关重要。</a:t>
            </a:r>
          </a:p>
        </p:txBody>
      </p:sp>
      <p:sp>
        <p:nvSpPr>
          <p:cNvPr id="4" name="灯片编号占位符 3"/>
          <p:cNvSpPr>
            <a:spLocks noGrp="1"/>
          </p:cNvSpPr>
          <p:nvPr>
            <p:ph type="sldNum" sz="quarter" idx="5"/>
          </p:nvPr>
        </p:nvSpPr>
        <p:spPr/>
        <p:txBody>
          <a:bodyPr/>
          <a:lstStyle/>
          <a:p>
            <a:fld id="{722ABA14-E4A8-40DA-B7B0-41950E132D30}" type="slidenum">
              <a:rPr lang="zh-CN" altLang="en-US" smtClean="0"/>
              <a:t>37</a:t>
            </a:fld>
            <a:endParaRPr lang="zh-CN" altLang="en-US"/>
          </a:p>
        </p:txBody>
      </p:sp>
    </p:spTree>
    <p:extLst>
      <p:ext uri="{BB962C8B-B14F-4D97-AF65-F5344CB8AC3E}">
        <p14:creationId xmlns:p14="http://schemas.microsoft.com/office/powerpoint/2010/main" val="2283649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外科数据科学领域的最新研究，致力于捕捉上述外科临床中的复杂细节。已有大量研究围绕手术场景感知展开，研究对象包括手术器械（</a:t>
            </a:r>
            <a:r>
              <a:rPr lang="en-US" altLang="zh-CN" dirty="0"/>
              <a:t>Allan </a:t>
            </a:r>
            <a:r>
              <a:rPr lang="zh-CN" altLang="en-US" dirty="0"/>
              <a:t>等人，</a:t>
            </a:r>
            <a:r>
              <a:rPr lang="en-US" altLang="zh-CN" dirty="0"/>
              <a:t>2019</a:t>
            </a:r>
            <a:r>
              <a:rPr lang="zh-CN" altLang="en-US" dirty="0"/>
              <a:t>；</a:t>
            </a:r>
            <a:r>
              <a:rPr lang="en-US" altLang="zh-CN" dirty="0"/>
              <a:t>Nwoye </a:t>
            </a:r>
            <a:r>
              <a:rPr lang="zh-CN" altLang="en-US" dirty="0"/>
              <a:t>等人，</a:t>
            </a:r>
            <a:r>
              <a:rPr lang="en-US" altLang="zh-CN" dirty="0"/>
              <a:t>2019</a:t>
            </a:r>
            <a:r>
              <a:rPr lang="zh-CN" altLang="en-US" dirty="0"/>
              <a:t>；</a:t>
            </a:r>
            <a:r>
              <a:rPr lang="en-US" altLang="zh-CN" dirty="0"/>
              <a:t>da Costa Rocha </a:t>
            </a:r>
            <a:r>
              <a:rPr lang="zh-CN" altLang="en-US" dirty="0"/>
              <a:t>等人，</a:t>
            </a:r>
            <a:r>
              <a:rPr lang="en-US" altLang="zh-CN" dirty="0"/>
              <a:t>2019</a:t>
            </a:r>
            <a:r>
              <a:rPr lang="zh-CN" altLang="en-US" dirty="0"/>
              <a:t>；</a:t>
            </a:r>
            <a:r>
              <a:rPr lang="en-US" altLang="zh-CN" dirty="0"/>
              <a:t>Hasan </a:t>
            </a:r>
            <a:r>
              <a:rPr lang="zh-CN" altLang="en-US" dirty="0"/>
              <a:t>等人，</a:t>
            </a:r>
            <a:r>
              <a:rPr lang="en-US" altLang="zh-CN" dirty="0"/>
              <a:t>2021</a:t>
            </a:r>
            <a:r>
              <a:rPr lang="zh-CN" altLang="en-US" dirty="0"/>
              <a:t>；</a:t>
            </a:r>
            <a:r>
              <a:rPr lang="en-US" altLang="zh-CN" dirty="0"/>
              <a:t>Wagner </a:t>
            </a:r>
            <a:r>
              <a:rPr lang="zh-CN" altLang="en-US" dirty="0"/>
              <a:t>等人，</a:t>
            </a:r>
            <a:r>
              <a:rPr lang="en-US" altLang="zh-CN" dirty="0"/>
              <a:t>2023</a:t>
            </a:r>
            <a:r>
              <a:rPr lang="zh-CN" altLang="en-US" dirty="0"/>
              <a:t>；</a:t>
            </a:r>
            <a:r>
              <a:rPr lang="en-US" altLang="zh-CN" dirty="0"/>
              <a:t>Tao </a:t>
            </a:r>
            <a:r>
              <a:rPr lang="zh-CN" altLang="en-US" dirty="0"/>
              <a:t>等人，</a:t>
            </a:r>
            <a:r>
              <a:rPr lang="en-US" altLang="zh-CN" dirty="0"/>
              <a:t>2023</a:t>
            </a:r>
            <a:r>
              <a:rPr lang="zh-CN" altLang="en-US" dirty="0"/>
              <a:t>；</a:t>
            </a:r>
            <a:r>
              <a:rPr lang="en-US" altLang="zh-CN" dirty="0"/>
              <a:t>Zia </a:t>
            </a:r>
            <a:r>
              <a:rPr lang="zh-CN" altLang="en-US" dirty="0"/>
              <a:t>等人，</a:t>
            </a:r>
            <a:r>
              <a:rPr lang="en-US" altLang="zh-CN" dirty="0"/>
              <a:t>2025</a:t>
            </a:r>
            <a:r>
              <a:rPr lang="zh-CN" altLang="en-US" dirty="0"/>
              <a:t>）、解剖结构（</a:t>
            </a:r>
            <a:r>
              <a:rPr lang="en-US" altLang="zh-CN" dirty="0" err="1"/>
              <a:t>Vlontzos</a:t>
            </a:r>
            <a:r>
              <a:rPr lang="en-US" altLang="zh-CN" dirty="0"/>
              <a:t> </a:t>
            </a:r>
            <a:r>
              <a:rPr lang="zh-CN" altLang="en-US" dirty="0"/>
              <a:t>等人，</a:t>
            </a:r>
            <a:r>
              <a:rPr lang="en-US" altLang="zh-CN" dirty="0"/>
              <a:t>2019</a:t>
            </a:r>
            <a:r>
              <a:rPr lang="zh-CN" altLang="en-US" dirty="0"/>
              <a:t>；</a:t>
            </a:r>
            <a:r>
              <a:rPr lang="en-US" altLang="zh-CN" dirty="0"/>
              <a:t>Ali </a:t>
            </a:r>
            <a:r>
              <a:rPr lang="zh-CN" altLang="en-US" dirty="0"/>
              <a:t>等人，</a:t>
            </a:r>
            <a:r>
              <a:rPr lang="en-US" altLang="zh-CN" dirty="0"/>
              <a:t>2021</a:t>
            </a:r>
            <a:r>
              <a:rPr lang="zh-CN" altLang="en-US" dirty="0"/>
              <a:t>；</a:t>
            </a:r>
            <a:r>
              <a:rPr lang="en-US" altLang="zh-CN" dirty="0"/>
              <a:t>Meyer </a:t>
            </a:r>
            <a:r>
              <a:rPr lang="zh-CN" altLang="en-US" dirty="0"/>
              <a:t>等人，</a:t>
            </a:r>
            <a:r>
              <a:rPr lang="en-US" altLang="zh-CN" dirty="0"/>
              <a:t>2025</a:t>
            </a:r>
            <a:r>
              <a:rPr lang="zh-CN" altLang="en-US" dirty="0"/>
              <a:t>；</a:t>
            </a:r>
            <a:r>
              <a:rPr lang="en-US" altLang="zh-CN" dirty="0"/>
              <a:t>Murali </a:t>
            </a:r>
            <a:r>
              <a:rPr lang="zh-CN" altLang="en-US" dirty="0"/>
              <a:t>等人，</a:t>
            </a:r>
            <a:r>
              <a:rPr lang="en-US" altLang="zh-CN" dirty="0"/>
              <a:t>2025</a:t>
            </a:r>
            <a:r>
              <a:rPr lang="zh-CN" altLang="en-US" dirty="0"/>
              <a:t>）以及外科操作动作（</a:t>
            </a:r>
            <a:r>
              <a:rPr lang="en-US" altLang="zh-CN" dirty="0"/>
              <a:t>Nwoye </a:t>
            </a:r>
            <a:r>
              <a:rPr lang="zh-CN" altLang="en-US" dirty="0"/>
              <a:t>等人，</a:t>
            </a:r>
            <a:r>
              <a:rPr lang="en-US" altLang="zh-CN" dirty="0"/>
              <a:t>2020</a:t>
            </a:r>
            <a:r>
              <a:rPr lang="zh-CN" altLang="en-US" dirty="0"/>
              <a:t>、</a:t>
            </a:r>
            <a:r>
              <a:rPr lang="en-US" altLang="zh-CN" dirty="0"/>
              <a:t>2022</a:t>
            </a:r>
            <a:r>
              <a:rPr lang="zh-CN" altLang="en-US" dirty="0"/>
              <a:t>；</a:t>
            </a:r>
            <a:r>
              <a:rPr lang="en-US" altLang="zh-CN" dirty="0"/>
              <a:t>Sharma </a:t>
            </a:r>
            <a:r>
              <a:rPr lang="zh-CN" altLang="en-US" dirty="0"/>
              <a:t>等人，</a:t>
            </a:r>
            <a:r>
              <a:rPr lang="en-US" altLang="zh-CN" dirty="0"/>
              <a:t>2023a</a:t>
            </a:r>
            <a:r>
              <a:rPr lang="zh-CN" altLang="en-US" dirty="0"/>
              <a:t>；</a:t>
            </a:r>
            <a:r>
              <a:rPr lang="en-US" altLang="zh-CN" dirty="0"/>
              <a:t>Hu </a:t>
            </a:r>
            <a:r>
              <a:rPr lang="zh-CN" altLang="en-US" dirty="0"/>
              <a:t>等人，</a:t>
            </a:r>
            <a:r>
              <a:rPr lang="en-US" altLang="zh-CN" dirty="0"/>
              <a:t>2024</a:t>
            </a:r>
            <a:r>
              <a:rPr lang="zh-CN" altLang="en-US" dirty="0"/>
              <a:t>；</a:t>
            </a:r>
            <a:r>
              <a:rPr lang="en-US" altLang="zh-CN" dirty="0"/>
              <a:t>Pei </a:t>
            </a:r>
            <a:r>
              <a:rPr lang="zh-CN" altLang="en-US" dirty="0"/>
              <a:t>等人，</a:t>
            </a:r>
            <a:r>
              <a:rPr lang="en-US" altLang="zh-CN" dirty="0"/>
              <a:t>2025</a:t>
            </a:r>
            <a:r>
              <a:rPr lang="zh-CN" altLang="en-US" dirty="0"/>
              <a:t>；</a:t>
            </a:r>
            <a:r>
              <a:rPr lang="en-US" altLang="zh-CN" dirty="0" err="1"/>
              <a:t>Ayobi</a:t>
            </a:r>
            <a:r>
              <a:rPr lang="en-US" altLang="zh-CN" dirty="0"/>
              <a:t> </a:t>
            </a:r>
            <a:r>
              <a:rPr lang="zh-CN" altLang="en-US" dirty="0"/>
              <a:t>等人，</a:t>
            </a:r>
            <a:r>
              <a:rPr lang="en-US" altLang="zh-CN" dirty="0"/>
              <a:t>2025</a:t>
            </a:r>
            <a:r>
              <a:rPr lang="zh-CN" altLang="en-US" dirty="0"/>
              <a:t>）。</a:t>
            </a:r>
          </a:p>
          <a:p>
            <a:r>
              <a:rPr lang="zh-CN" altLang="en-US" dirty="0"/>
              <a:t>在手术场景理解这些基础研究之外，也涌现出针对外科其他维度开展更复杂评估方向的工作。其中一个重要研究方向聚焦于</a:t>
            </a:r>
            <a:r>
              <a:rPr lang="zh-CN" altLang="en-US" b="1" dirty="0"/>
              <a:t>安全关键视图（</a:t>
            </a:r>
            <a:r>
              <a:rPr lang="en-US" altLang="zh-CN" b="1" dirty="0"/>
              <a:t>CVS</a:t>
            </a:r>
            <a:r>
              <a:rPr lang="zh-CN" altLang="en-US" b="1" dirty="0"/>
              <a:t>）</a:t>
            </a:r>
            <a:r>
              <a:rPr lang="zh-CN" altLang="en-US" dirty="0"/>
              <a:t>（</a:t>
            </a:r>
            <a:r>
              <a:rPr lang="en-US" altLang="zh-CN" dirty="0"/>
              <a:t>Mascagni </a:t>
            </a:r>
            <a:r>
              <a:rPr lang="zh-CN" altLang="en-US" dirty="0"/>
              <a:t>等人，</a:t>
            </a:r>
            <a:r>
              <a:rPr lang="en-US" altLang="zh-CN" dirty="0"/>
              <a:t>2020</a:t>
            </a:r>
            <a:r>
              <a:rPr lang="zh-CN" altLang="en-US" dirty="0"/>
              <a:t>），它是腹腔镜胆囊切除术这类特定手术的标准化核查标准。遵循安全关键视图的要求，保证关键解剖标志充分游离显露，能够降低重要组织被误伤的风险。已有不少基于视觉的模型，利用术中视觉线索预测是否达成安全关键视图标准（</a:t>
            </a:r>
            <a:r>
              <a:rPr lang="en-US" altLang="zh-CN" dirty="0"/>
              <a:t>Murali </a:t>
            </a:r>
            <a:r>
              <a:rPr lang="zh-CN" altLang="en-US" dirty="0"/>
              <a:t>等人，</a:t>
            </a:r>
            <a:r>
              <a:rPr lang="en-US" altLang="zh-CN" dirty="0"/>
              <a:t>2023a</a:t>
            </a:r>
            <a:r>
              <a:rPr lang="zh-CN" altLang="en-US" dirty="0"/>
              <a:t>、</a:t>
            </a:r>
            <a:r>
              <a:rPr lang="en-US" altLang="zh-CN" dirty="0"/>
              <a:t>2023b</a:t>
            </a:r>
            <a:r>
              <a:rPr lang="zh-CN" altLang="en-US" dirty="0"/>
              <a:t>；</a:t>
            </a:r>
            <a:r>
              <a:rPr lang="en-US" altLang="zh-CN" dirty="0" err="1"/>
              <a:t>Alapatt</a:t>
            </a:r>
            <a:r>
              <a:rPr lang="en-US" altLang="zh-CN" dirty="0"/>
              <a:t> </a:t>
            </a:r>
            <a:r>
              <a:rPr lang="zh-CN" altLang="en-US" dirty="0"/>
              <a:t>等人，</a:t>
            </a:r>
            <a:r>
              <a:rPr lang="en-US" altLang="zh-CN" dirty="0"/>
              <a:t>2024</a:t>
            </a:r>
            <a:r>
              <a:rPr lang="zh-CN" altLang="en-US" dirty="0"/>
              <a:t>；</a:t>
            </a:r>
            <a:r>
              <a:rPr lang="en-US" altLang="zh-CN" dirty="0"/>
              <a:t>Jaspers </a:t>
            </a:r>
            <a:r>
              <a:rPr lang="zh-CN" altLang="en-US" dirty="0"/>
              <a:t>等人，</a:t>
            </a:r>
            <a:r>
              <a:rPr lang="en-US" altLang="zh-CN" dirty="0"/>
              <a:t>2025</a:t>
            </a:r>
            <a:r>
              <a:rPr lang="zh-CN" altLang="en-US" dirty="0"/>
              <a:t>），为这项重要安全规范提供自动化辅助手段。</a:t>
            </a:r>
          </a:p>
          <a:p>
            <a:endParaRPr lang="zh-CN" altLang="en-US" dirty="0"/>
          </a:p>
        </p:txBody>
      </p:sp>
      <p:sp>
        <p:nvSpPr>
          <p:cNvPr id="4" name="灯片编号占位符 3"/>
          <p:cNvSpPr>
            <a:spLocks noGrp="1"/>
          </p:cNvSpPr>
          <p:nvPr>
            <p:ph type="sldNum" sz="quarter" idx="5"/>
          </p:nvPr>
        </p:nvSpPr>
        <p:spPr/>
        <p:txBody>
          <a:bodyPr/>
          <a:lstStyle/>
          <a:p>
            <a:fld id="{A78175C1-4B1A-4603-A6A8-EDA08D4C4599}" type="slidenum">
              <a:rPr lang="zh-CN" altLang="en-US" smtClean="0"/>
              <a:t>38</a:t>
            </a:fld>
            <a:endParaRPr lang="zh-CN" altLang="en-US"/>
          </a:p>
        </p:txBody>
      </p:sp>
    </p:spTree>
    <p:extLst>
      <p:ext uri="{BB962C8B-B14F-4D97-AF65-F5344CB8AC3E}">
        <p14:creationId xmlns:p14="http://schemas.microsoft.com/office/powerpoint/2010/main" val="3574550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另一个很有前景的方向是</a:t>
            </a:r>
            <a:r>
              <a:rPr lang="zh-CN" altLang="en-US" b="1" dirty="0"/>
              <a:t>腹腔镜胆囊切除术手术难度评估（</a:t>
            </a:r>
            <a:r>
              <a:rPr lang="en-US" altLang="zh-CN" b="1" dirty="0"/>
              <a:t>LCOD</a:t>
            </a:r>
            <a:r>
              <a:rPr lang="zh-CN" altLang="en-US" b="1" dirty="0"/>
              <a:t>）</a:t>
            </a:r>
            <a:r>
              <a:rPr lang="zh-CN" altLang="en-US" dirty="0"/>
              <a:t>（</a:t>
            </a:r>
            <a:r>
              <a:rPr lang="en-US" altLang="zh-CN" dirty="0"/>
              <a:t>Vannucci </a:t>
            </a:r>
            <a:r>
              <a:rPr lang="zh-CN" altLang="en-US" dirty="0"/>
              <a:t>等人，</a:t>
            </a:r>
            <a:r>
              <a:rPr lang="en-US" altLang="zh-CN" dirty="0"/>
              <a:t>2022</a:t>
            </a:r>
            <a:r>
              <a:rPr lang="zh-CN" altLang="en-US" dirty="0"/>
              <a:t>；</a:t>
            </a:r>
            <a:r>
              <a:rPr lang="en-US" altLang="zh-CN" dirty="0"/>
              <a:t>Sharma </a:t>
            </a:r>
            <a:r>
              <a:rPr lang="zh-CN" altLang="en-US" dirty="0"/>
              <a:t>等人，</a:t>
            </a:r>
            <a:r>
              <a:rPr lang="en-US" altLang="zh-CN" dirty="0"/>
              <a:t>2025</a:t>
            </a:r>
            <a:r>
              <a:rPr lang="zh-CN" altLang="en-US" dirty="0"/>
              <a:t>）。相关评分系统依据术中可见表现量化手术难度，比如内脏脂肪过厚会遮挡解剖标志、干扰器械操作；评分系统可为关键临床决策提供依据，例如是否需要高年资医师介入、是否要从腹腔镜术式中转开腹。</a:t>
            </a:r>
          </a:p>
          <a:p>
            <a:r>
              <a:rPr lang="zh-CN" altLang="en-US" dirty="0"/>
              <a:t>除此之外，</a:t>
            </a:r>
            <a:r>
              <a:rPr lang="zh-CN" altLang="en-US" b="1" dirty="0"/>
              <a:t>术中不良事件（</a:t>
            </a:r>
            <a:r>
              <a:rPr lang="en-US" altLang="zh-CN" b="1" dirty="0"/>
              <a:t>IAE</a:t>
            </a:r>
            <a:r>
              <a:rPr lang="zh-CN" altLang="en-US" b="1" dirty="0"/>
              <a:t>）检测模型</a:t>
            </a:r>
            <a:r>
              <a:rPr lang="zh-CN" altLang="en-US" dirty="0"/>
              <a:t>（</a:t>
            </a:r>
            <a:r>
              <a:rPr lang="en-US" altLang="zh-CN" dirty="0"/>
              <a:t>Bose </a:t>
            </a:r>
            <a:r>
              <a:rPr lang="zh-CN" altLang="en-US" dirty="0"/>
              <a:t>等人，</a:t>
            </a:r>
            <a:r>
              <a:rPr lang="en-US" altLang="zh-CN" dirty="0"/>
              <a:t>2025</a:t>
            </a:r>
            <a:r>
              <a:rPr lang="zh-CN" altLang="en-US" dirty="0"/>
              <a:t>）也得到开发，用于识别手术过程中突发的不良状况，包括出血、机械性损伤以及其他偏离理想手术流程的现象。此外，</a:t>
            </a:r>
            <a:r>
              <a:rPr lang="zh-CN" altLang="en-US" b="1" dirty="0"/>
              <a:t>外科操作技能评估</a:t>
            </a:r>
            <a:r>
              <a:rPr lang="zh-CN" altLang="en-US" dirty="0"/>
              <a:t>（</a:t>
            </a:r>
            <a:r>
              <a:rPr lang="en-US" altLang="zh-CN" dirty="0"/>
              <a:t>Wagner </a:t>
            </a:r>
            <a:r>
              <a:rPr lang="zh-CN" altLang="en-US" dirty="0"/>
              <a:t>等人，</a:t>
            </a:r>
            <a:r>
              <a:rPr lang="en-US" altLang="zh-CN" dirty="0"/>
              <a:t>2021</a:t>
            </a:r>
            <a:r>
              <a:rPr lang="zh-CN" altLang="en-US" dirty="0"/>
              <a:t>；</a:t>
            </a:r>
            <a:r>
              <a:rPr lang="en-US" altLang="zh-CN" dirty="0" err="1"/>
              <a:t>Pedrett</a:t>
            </a:r>
            <a:r>
              <a:rPr lang="en-US" altLang="zh-CN" dirty="0"/>
              <a:t> </a:t>
            </a:r>
            <a:r>
              <a:rPr lang="zh-CN" altLang="en-US" dirty="0"/>
              <a:t>等人，</a:t>
            </a:r>
            <a:r>
              <a:rPr lang="en-US" altLang="zh-CN" dirty="0"/>
              <a:t>2023</a:t>
            </a:r>
            <a:r>
              <a:rPr lang="zh-CN" altLang="en-US" dirty="0"/>
              <a:t>）是一项发展较为成熟的建模任务，可对组织处理、缝合以及其他操作技术的熟练程度进行量化评估。</a:t>
            </a:r>
          </a:p>
          <a:p>
            <a:endParaRPr lang="zh-CN" altLang="en-US" dirty="0"/>
          </a:p>
        </p:txBody>
      </p:sp>
      <p:sp>
        <p:nvSpPr>
          <p:cNvPr id="4" name="灯片编号占位符 3"/>
          <p:cNvSpPr>
            <a:spLocks noGrp="1"/>
          </p:cNvSpPr>
          <p:nvPr>
            <p:ph type="sldNum" sz="quarter" idx="5"/>
          </p:nvPr>
        </p:nvSpPr>
        <p:spPr/>
        <p:txBody>
          <a:bodyPr/>
          <a:lstStyle/>
          <a:p>
            <a:fld id="{A78175C1-4B1A-4603-A6A8-EDA08D4C4599}" type="slidenum">
              <a:rPr lang="zh-CN" altLang="en-US" smtClean="0"/>
              <a:t>39</a:t>
            </a:fld>
            <a:endParaRPr lang="zh-CN" altLang="en-US"/>
          </a:p>
        </p:txBody>
      </p:sp>
    </p:spTree>
    <p:extLst>
      <p:ext uri="{BB962C8B-B14F-4D97-AF65-F5344CB8AC3E}">
        <p14:creationId xmlns:p14="http://schemas.microsoft.com/office/powerpoint/2010/main" val="3402311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上述各类术中评估本质上具备动态属性：评估是逐步演变的，只有结合时序上下文才能完整解读。除了前面提到的纯视觉方案之外，外科视觉问答（</a:t>
            </a:r>
            <a:r>
              <a:rPr lang="en-US" altLang="zh-CN" dirty="0"/>
              <a:t>VQA</a:t>
            </a:r>
            <a:r>
              <a:rPr lang="zh-CN" altLang="en-US" dirty="0"/>
              <a:t>）系统成为颇具前景的术中分析工具。它将检测任务转化为用户与模型之间交互式问答、推理流程，以此助力外科教学，拥有更高的灵活性，具备更广泛的应用潜力。</a:t>
            </a:r>
          </a:p>
          <a:p>
            <a:r>
              <a:rPr lang="zh-CN" altLang="en-US" dirty="0"/>
              <a:t>现有研究，例如 </a:t>
            </a:r>
            <a:r>
              <a:rPr lang="en-US" altLang="zh-CN" dirty="0"/>
              <a:t>Surgical‑VQA</a:t>
            </a:r>
            <a:r>
              <a:rPr lang="zh-CN" altLang="en-US" dirty="0"/>
              <a:t>（</a:t>
            </a:r>
            <a:r>
              <a:rPr lang="en-US" altLang="zh-CN" dirty="0"/>
              <a:t>Seenivasan </a:t>
            </a:r>
            <a:r>
              <a:rPr lang="zh-CN" altLang="en-US" dirty="0"/>
              <a:t>等人，</a:t>
            </a:r>
            <a:r>
              <a:rPr lang="en-US" altLang="zh-CN" dirty="0"/>
              <a:t>2022</a:t>
            </a:r>
            <a:r>
              <a:rPr lang="zh-CN" altLang="en-US" dirty="0"/>
              <a:t>）、</a:t>
            </a:r>
            <a:r>
              <a:rPr lang="en-US" altLang="zh-CN" dirty="0"/>
              <a:t>Surgical‑VQLA</a:t>
            </a:r>
            <a:r>
              <a:rPr lang="zh-CN" altLang="en-US" dirty="0"/>
              <a:t>（</a:t>
            </a:r>
            <a:r>
              <a:rPr lang="en-US" altLang="zh-CN" dirty="0"/>
              <a:t>Bai </a:t>
            </a:r>
            <a:r>
              <a:rPr lang="zh-CN" altLang="en-US" dirty="0"/>
              <a:t>等人，</a:t>
            </a:r>
            <a:r>
              <a:rPr lang="en-US" altLang="zh-CN" dirty="0"/>
              <a:t>2023b</a:t>
            </a:r>
            <a:r>
              <a:rPr lang="zh-CN" altLang="en-US" dirty="0"/>
              <a:t>）、</a:t>
            </a:r>
            <a:r>
              <a:rPr lang="en-US" altLang="zh-CN" dirty="0"/>
              <a:t>SSG‑VQA</a:t>
            </a:r>
            <a:r>
              <a:rPr lang="zh-CN" altLang="en-US" dirty="0"/>
              <a:t>（</a:t>
            </a:r>
            <a:r>
              <a:rPr lang="en-US" altLang="zh-CN" dirty="0"/>
              <a:t>Yuan </a:t>
            </a:r>
            <a:r>
              <a:rPr lang="zh-CN" altLang="en-US" dirty="0"/>
              <a:t>等人，</a:t>
            </a:r>
            <a:r>
              <a:rPr lang="en-US" altLang="zh-CN" dirty="0"/>
              <a:t>2024</a:t>
            </a:r>
            <a:r>
              <a:rPr lang="zh-CN" altLang="en-US" dirty="0"/>
              <a:t>）以及 </a:t>
            </a:r>
            <a:r>
              <a:rPr lang="en-US" altLang="zh-CN" dirty="0" err="1"/>
              <a:t>PitVQA</a:t>
            </a:r>
            <a:r>
              <a:rPr lang="zh-CN" altLang="en-US" dirty="0"/>
              <a:t>（</a:t>
            </a:r>
            <a:r>
              <a:rPr lang="en-US" altLang="zh-CN" dirty="0"/>
              <a:t>He </a:t>
            </a:r>
            <a:r>
              <a:rPr lang="zh-CN" altLang="en-US" dirty="0"/>
              <a:t>等人，</a:t>
            </a:r>
            <a:r>
              <a:rPr lang="en-US" altLang="zh-CN" dirty="0"/>
              <a:t>2024</a:t>
            </a:r>
            <a:r>
              <a:rPr lang="zh-CN" altLang="en-US" dirty="0"/>
              <a:t>），为本方向打下研究基础。这些工作探究视觉问答系统，在外科视频的静态图像帧上完成关键要素（如器械、解剖结构、手术动作）检测与定位推理的能力。尽管发展前景可观，但蕴含在时序上下文当中的动态信息仍研究不足，而这类动态信息对于各类术中分析工作必不可少，这也限制了现有系统的实际应用价值。</a:t>
            </a:r>
          </a:p>
          <a:p>
            <a:endParaRPr lang="zh-CN" altLang="en-US" dirty="0"/>
          </a:p>
        </p:txBody>
      </p:sp>
      <p:sp>
        <p:nvSpPr>
          <p:cNvPr id="4" name="灯片编号占位符 3"/>
          <p:cNvSpPr>
            <a:spLocks noGrp="1"/>
          </p:cNvSpPr>
          <p:nvPr>
            <p:ph type="sldNum" sz="quarter" idx="5"/>
          </p:nvPr>
        </p:nvSpPr>
        <p:spPr/>
        <p:txBody>
          <a:bodyPr/>
          <a:lstStyle/>
          <a:p>
            <a:fld id="{A78175C1-4B1A-4603-A6A8-EDA08D4C4599}" type="slidenum">
              <a:rPr lang="zh-CN" altLang="en-US" smtClean="0"/>
              <a:t>40</a:t>
            </a:fld>
            <a:endParaRPr lang="zh-CN" altLang="en-US"/>
          </a:p>
        </p:txBody>
      </p:sp>
    </p:spTree>
    <p:extLst>
      <p:ext uri="{BB962C8B-B14F-4D97-AF65-F5344CB8AC3E}">
        <p14:creationId xmlns:p14="http://schemas.microsoft.com/office/powerpoint/2010/main" val="3106493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想要弥补这一研究缺口、面向多样化实际术中分析需求开发外科视频问答系统，还面临几大关键挑战。</a:t>
            </a:r>
          </a:p>
          <a:p>
            <a:r>
              <a:rPr lang="zh-CN" altLang="en-US" b="1" dirty="0"/>
              <a:t>第一，面向领域的视觉解析问题</a:t>
            </a:r>
            <a:r>
              <a:rPr lang="zh-CN" altLang="en-US" dirty="0"/>
              <a:t>：自然图像、视频当中，物体以及边缘、色彩等核心视觉特征通常清晰突出；而内镜手术视频与此不同，带来独特难题。手术视频里解剖结构往往视觉对比度很低，解剖边界、组织类型或是病理状态的识别高度依赖该领域的先验知识。举例来说，外科医生会综合多方上下文信息推导精细解剖细节，包括手术术式、手术阶段、已知解剖标志的相对位置，再结合微弱的视觉线索，以及对标准空间位置、组织预期形态的认知。</a:t>
            </a:r>
          </a:p>
          <a:p>
            <a:endParaRPr lang="zh-CN" altLang="en-US" dirty="0"/>
          </a:p>
        </p:txBody>
      </p:sp>
      <p:sp>
        <p:nvSpPr>
          <p:cNvPr id="4" name="灯片编号占位符 3"/>
          <p:cNvSpPr>
            <a:spLocks noGrp="1"/>
          </p:cNvSpPr>
          <p:nvPr>
            <p:ph type="sldNum" sz="quarter" idx="5"/>
          </p:nvPr>
        </p:nvSpPr>
        <p:spPr/>
        <p:txBody>
          <a:bodyPr/>
          <a:lstStyle/>
          <a:p>
            <a:fld id="{A78175C1-4B1A-4603-A6A8-EDA08D4C4599}" type="slidenum">
              <a:rPr lang="zh-CN" altLang="en-US" smtClean="0"/>
              <a:t>41</a:t>
            </a:fld>
            <a:endParaRPr lang="zh-CN" altLang="en-US"/>
          </a:p>
        </p:txBody>
      </p:sp>
    </p:spTree>
    <p:extLst>
      <p:ext uri="{BB962C8B-B14F-4D97-AF65-F5344CB8AC3E}">
        <p14:creationId xmlns:p14="http://schemas.microsoft.com/office/powerpoint/2010/main" val="3541763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第二，时空粒度需求的差异性</a:t>
            </a:r>
            <a:r>
              <a:rPr lang="zh-CN" altLang="en-US" dirty="0"/>
              <a:t>：一台手术过程中，大量评估任务对应的时间跨度各不相同，需要的分析粒度也差异巨大。比如识别腹腔镜胆囊切除术手术难度特征（</a:t>
            </a:r>
            <a:r>
              <a:rPr lang="en-US" altLang="zh-CN" dirty="0"/>
              <a:t>LCOD</a:t>
            </a:r>
            <a:r>
              <a:rPr lang="zh-CN" altLang="en-US" dirty="0"/>
              <a:t>）、检测术中不良事件（</a:t>
            </a:r>
            <a:r>
              <a:rPr lang="en-US" altLang="zh-CN" dirty="0"/>
              <a:t>IAE</a:t>
            </a:r>
            <a:r>
              <a:rPr lang="zh-CN" altLang="en-US" dirty="0"/>
              <a:t>），需要捕捉短时间事件，依赖细粒度分析；这类任务往往和解剖标志状态相关，需要依靠形态、纹理等微弱视觉信号。与之相反，评估手术操作熟练度，则需要更长观测窗口，要结合操作流畅度、操作险情等信息综合判断操作水平。这就要求模型具备更强的时空理解能力，可以适配多种多样的任务需求。</a:t>
            </a:r>
          </a:p>
        </p:txBody>
      </p:sp>
      <p:sp>
        <p:nvSpPr>
          <p:cNvPr id="4" name="灯片编号占位符 3"/>
          <p:cNvSpPr>
            <a:spLocks noGrp="1"/>
          </p:cNvSpPr>
          <p:nvPr>
            <p:ph type="sldNum" sz="quarter" idx="5"/>
          </p:nvPr>
        </p:nvSpPr>
        <p:spPr/>
        <p:txBody>
          <a:bodyPr/>
          <a:lstStyle/>
          <a:p>
            <a:fld id="{A78175C1-4B1A-4603-A6A8-EDA08D4C4599}" type="slidenum">
              <a:rPr lang="zh-CN" altLang="en-US" smtClean="0"/>
              <a:t>42</a:t>
            </a:fld>
            <a:endParaRPr lang="zh-CN" altLang="en-US"/>
          </a:p>
        </p:txBody>
      </p:sp>
    </p:spTree>
    <p:extLst>
      <p:ext uri="{BB962C8B-B14F-4D97-AF65-F5344CB8AC3E}">
        <p14:creationId xmlns:p14="http://schemas.microsoft.com/office/powerpoint/2010/main" val="42849013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第三，任务之间存在层级依赖关系</a:t>
            </a:r>
            <a:r>
              <a:rPr lang="zh-CN" altLang="en-US" dirty="0"/>
              <a:t>：所有术中评估任务，都建立在解读手术视野这一基础能力之上，形成明确层级结构。即最基础、单元化的手术场景理解，是高层级评估任务的前置条件。例如，判断安全关键视图（</a:t>
            </a:r>
            <a:r>
              <a:rPr lang="en-US" altLang="zh-CN" dirty="0"/>
              <a:t>CVS</a:t>
            </a:r>
            <a:r>
              <a:rPr lang="zh-CN" altLang="en-US" dirty="0"/>
              <a:t>）是否达标，就必须能够准确识别经过充分游离、显露的各类解剖标志。</a:t>
            </a:r>
          </a:p>
        </p:txBody>
      </p:sp>
      <p:sp>
        <p:nvSpPr>
          <p:cNvPr id="4" name="灯片编号占位符 3"/>
          <p:cNvSpPr>
            <a:spLocks noGrp="1"/>
          </p:cNvSpPr>
          <p:nvPr>
            <p:ph type="sldNum" sz="quarter" idx="5"/>
          </p:nvPr>
        </p:nvSpPr>
        <p:spPr/>
        <p:txBody>
          <a:bodyPr/>
          <a:lstStyle/>
          <a:p>
            <a:fld id="{A78175C1-4B1A-4603-A6A8-EDA08D4C4599}" type="slidenum">
              <a:rPr lang="zh-CN" altLang="en-US" smtClean="0"/>
              <a:t>43</a:t>
            </a:fld>
            <a:endParaRPr lang="zh-CN" altLang="en-US"/>
          </a:p>
        </p:txBody>
      </p:sp>
    </p:spTree>
    <p:extLst>
      <p:ext uri="{BB962C8B-B14F-4D97-AF65-F5344CB8AC3E}">
        <p14:creationId xmlns:p14="http://schemas.microsoft.com/office/powerpoint/2010/main" val="20168765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1B13C-ECE8-9223-7444-41FA4BF967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F56D18-F914-39B1-15A8-48583628E9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E3D708-19EC-9876-BBF4-27C8557E4B26}"/>
              </a:ext>
            </a:extLst>
          </p:cNvPr>
          <p:cNvSpPr>
            <a:spLocks noGrp="1"/>
          </p:cNvSpPr>
          <p:nvPr>
            <p:ph type="body" idx="1"/>
          </p:nvPr>
        </p:nvSpPr>
        <p:spPr/>
        <p:txBody>
          <a:bodyPr/>
          <a:lstStyle/>
          <a:p>
            <a:r>
              <a:rPr lang="zh-CN" altLang="en-US" dirty="0"/>
              <a:t>为解决上述挑战，本文提出一种全新的外科视频问答框架</a:t>
            </a:r>
            <a:r>
              <a:rPr lang="en-US" altLang="zh-CN" dirty="0" err="1"/>
              <a:t>SurgTEMP</a:t>
            </a:r>
            <a:r>
              <a:rPr lang="zh-CN" altLang="en-US" dirty="0"/>
              <a:t>。该框架基于多模态大语言模型，包含视觉特征提取模块与文本分词模块，用于生成两种模态对应的</a:t>
            </a:r>
            <a:r>
              <a:rPr lang="en-US" altLang="zh-CN" dirty="0"/>
              <a:t>token</a:t>
            </a:r>
            <a:r>
              <a:rPr lang="zh-CN" altLang="en-US" dirty="0"/>
              <a:t>，并将其送入主干大语言模型，生成文本回答，如图</a:t>
            </a:r>
            <a:r>
              <a:rPr lang="en-US" altLang="zh-CN" dirty="0"/>
              <a:t>1</a:t>
            </a:r>
            <a:r>
              <a:rPr lang="zh-CN" altLang="en-US" dirty="0"/>
              <a:t>所示。框架的核心是</a:t>
            </a:r>
            <a:r>
              <a:rPr lang="en-US" altLang="zh-CN" dirty="0"/>
              <a:t>TEMP</a:t>
            </a:r>
            <a:r>
              <a:rPr lang="zh-CN" altLang="en-US" dirty="0"/>
              <a:t>（文本引导记忆金字塔，</a:t>
            </a:r>
            <a:r>
              <a:rPr lang="en-US" altLang="zh-CN" dirty="0" err="1"/>
              <a:t>TExt</a:t>
            </a:r>
            <a:r>
              <a:rPr lang="en-US" altLang="zh-CN" dirty="0"/>
              <a:t>-guided Memory Pyramid</a:t>
            </a:r>
            <a:r>
              <a:rPr lang="zh-CN" altLang="en-US" dirty="0"/>
              <a:t>）构造器</a:t>
            </a:r>
            <a:r>
              <a:rPr lang="en-US" altLang="zh-CN" dirty="0"/>
              <a:t>——</a:t>
            </a:r>
            <a:r>
              <a:rPr lang="zh-CN" altLang="en-US" dirty="0"/>
              <a:t>这是一个可学习的跨模态视觉</a:t>
            </a:r>
            <a:r>
              <a:rPr lang="en-US" altLang="zh-CN" dirty="0"/>
              <a:t>token</a:t>
            </a:r>
            <a:r>
              <a:rPr lang="zh-CN" altLang="en-US" dirty="0"/>
              <a:t>排布模块，专门针对知识密集型外科领域设计，用以平衡两大关键需求。首先，该模块通过空间记忆库（例如充分游离，显露关键解剖结构），在短但关键的时空上下文中捕捉细粒度细节。其次，该模块借助时间记忆库，保存长时段内逐步变化的分析信息（例如，在一整个手术阶段内评估操作熟练度，反映术野操作过程中累积的各项决策节点）。除此之外，本文提出领域专属训练策略 </a:t>
            </a:r>
            <a:r>
              <a:rPr lang="en-US" altLang="zh-CN" dirty="0"/>
              <a:t>——</a:t>
            </a:r>
            <a:r>
              <a:rPr lang="zh-CN" altLang="en-US" b="1" dirty="0"/>
              <a:t>外科能力递进训练（</a:t>
            </a:r>
            <a:r>
              <a:rPr lang="en-US" altLang="zh-CN" b="1" dirty="0"/>
              <a:t>SCP</a:t>
            </a:r>
            <a:r>
              <a:rPr lang="zh-CN" altLang="en-US" b="1" dirty="0"/>
              <a:t>）</a:t>
            </a:r>
            <a:r>
              <a:rPr lang="zh-CN" altLang="en-US" dirty="0"/>
              <a:t>，循序渐进地让模型从基础感知任务，逐步掌握高阶评估与推理任务。</a:t>
            </a:r>
          </a:p>
        </p:txBody>
      </p:sp>
      <p:sp>
        <p:nvSpPr>
          <p:cNvPr id="4" name="灯片编号占位符 3">
            <a:extLst>
              <a:ext uri="{FF2B5EF4-FFF2-40B4-BE49-F238E27FC236}">
                <a16:creationId xmlns:a16="http://schemas.microsoft.com/office/drawing/2014/main" id="{5E976F52-AD85-8157-4A6E-14A03697F9E6}"/>
              </a:ext>
            </a:extLst>
          </p:cNvPr>
          <p:cNvSpPr>
            <a:spLocks noGrp="1"/>
          </p:cNvSpPr>
          <p:nvPr>
            <p:ph type="sldNum" sz="quarter" idx="5"/>
          </p:nvPr>
        </p:nvSpPr>
        <p:spPr/>
        <p:txBody>
          <a:bodyPr/>
          <a:lstStyle/>
          <a:p>
            <a:fld id="{A78175C1-4B1A-4603-A6A8-EDA08D4C4599}" type="slidenum">
              <a:rPr lang="zh-CN" altLang="en-US" smtClean="0"/>
              <a:t>44</a:t>
            </a:fld>
            <a:endParaRPr lang="zh-CN" altLang="en-US"/>
          </a:p>
        </p:txBody>
      </p:sp>
    </p:spTree>
    <p:extLst>
      <p:ext uri="{BB962C8B-B14F-4D97-AF65-F5344CB8AC3E}">
        <p14:creationId xmlns:p14="http://schemas.microsoft.com/office/powerpoint/2010/main" val="21060323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A4554-A3D3-1355-5108-B3E7C56168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D213AF-032B-3239-467F-47D2D3D2D5B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BD033B-DCF6-CBA2-5C1E-5A67DBE8975C}"/>
              </a:ext>
            </a:extLst>
          </p:cNvPr>
          <p:cNvSpPr>
            <a:spLocks noGrp="1"/>
          </p:cNvSpPr>
          <p:nvPr>
            <p:ph type="body" idx="1"/>
          </p:nvPr>
        </p:nvSpPr>
        <p:spPr/>
        <p:txBody>
          <a:bodyPr/>
          <a:lstStyle/>
          <a:p>
            <a:r>
              <a:rPr lang="zh-CN" altLang="en-US" dirty="0"/>
              <a:t>上述模型设计与训练策略直接解决前文提出的领域难题。第一，模型以文本查询作为引导信号，学习构建具备有效信息的空间记忆库；该机制能够利用预训练主干多模态大模型内置知识，适配下游微调数据集带来的领域偏移问题，缓解图像对比度不足带来的困难，并充分利用外科视频高度依赖专业知识这一特点。第二，本文构建分层记忆库，同时包含细粒度短时记忆与粗粒度长时记忆，使模型能够更好地应对不同评估任务差异化的时空关注需求。第三，</a:t>
            </a:r>
            <a:r>
              <a:rPr lang="en-US" altLang="zh-CN" dirty="0"/>
              <a:t>SCP </a:t>
            </a:r>
            <a:r>
              <a:rPr lang="zh-CN" altLang="en-US" dirty="0"/>
              <a:t>训练策略由基础感知任务向高阶评估、推理任务递进训练，显式建模 “基础手术场景理解是复杂术中评估的前提” 这一结构，直接攻克任务层级依赖带来的挑战。</a:t>
            </a:r>
          </a:p>
        </p:txBody>
      </p:sp>
      <p:sp>
        <p:nvSpPr>
          <p:cNvPr id="4" name="灯片编号占位符 3">
            <a:extLst>
              <a:ext uri="{FF2B5EF4-FFF2-40B4-BE49-F238E27FC236}">
                <a16:creationId xmlns:a16="http://schemas.microsoft.com/office/drawing/2014/main" id="{76F322F6-8B2F-AAFC-0322-0327EACD24F2}"/>
              </a:ext>
            </a:extLst>
          </p:cNvPr>
          <p:cNvSpPr>
            <a:spLocks noGrp="1"/>
          </p:cNvSpPr>
          <p:nvPr>
            <p:ph type="sldNum" sz="quarter" idx="5"/>
          </p:nvPr>
        </p:nvSpPr>
        <p:spPr/>
        <p:txBody>
          <a:bodyPr/>
          <a:lstStyle/>
          <a:p>
            <a:fld id="{A78175C1-4B1A-4603-A6A8-EDA08D4C4599}" type="slidenum">
              <a:rPr lang="zh-CN" altLang="en-US" smtClean="0"/>
              <a:t>45</a:t>
            </a:fld>
            <a:endParaRPr lang="zh-CN" altLang="en-US"/>
          </a:p>
        </p:txBody>
      </p:sp>
    </p:spTree>
    <p:extLst>
      <p:ext uri="{BB962C8B-B14F-4D97-AF65-F5344CB8AC3E}">
        <p14:creationId xmlns:p14="http://schemas.microsoft.com/office/powerpoint/2010/main" val="22169734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D7CBE-ED90-6665-9A0E-401E27136D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5FCE1C-324C-BC17-BAD0-C2ED9D81D8C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63EA59-6282-71B4-F37A-351FBDEEC6C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4F8A635-1E42-183E-1C8C-2926F2328DA6}"/>
              </a:ext>
            </a:extLst>
          </p:cNvPr>
          <p:cNvSpPr>
            <a:spLocks noGrp="1"/>
          </p:cNvSpPr>
          <p:nvPr>
            <p:ph type="sldNum" sz="quarter" idx="5"/>
          </p:nvPr>
        </p:nvSpPr>
        <p:spPr/>
        <p:txBody>
          <a:bodyPr/>
          <a:lstStyle/>
          <a:p>
            <a:fld id="{A78175C1-4B1A-4603-A6A8-EDA08D4C4599}" type="slidenum">
              <a:rPr lang="zh-CN" altLang="en-US" smtClean="0"/>
              <a:t>46</a:t>
            </a:fld>
            <a:endParaRPr lang="zh-CN" altLang="en-US"/>
          </a:p>
        </p:txBody>
      </p:sp>
    </p:spTree>
    <p:extLst>
      <p:ext uri="{BB962C8B-B14F-4D97-AF65-F5344CB8AC3E}">
        <p14:creationId xmlns:p14="http://schemas.microsoft.com/office/powerpoint/2010/main" val="36681325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73828-DFC4-5420-A548-A26F8B3D96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DBA78B-C2A2-B8EB-2C94-E858EC099C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03B07D-2165-FFC8-96EE-0DE753FD928F}"/>
              </a:ext>
            </a:extLst>
          </p:cNvPr>
          <p:cNvSpPr>
            <a:spLocks noGrp="1"/>
          </p:cNvSpPr>
          <p:nvPr>
            <p:ph type="body" idx="1"/>
          </p:nvPr>
        </p:nvSpPr>
        <p:spPr/>
        <p:txBody>
          <a:bodyPr/>
          <a:lstStyle/>
          <a:p>
            <a:r>
              <a:rPr lang="zh-CN" altLang="en-US" b="1" dirty="0"/>
              <a:t>感知层</a:t>
            </a:r>
            <a:r>
              <a:rPr lang="zh-CN" altLang="en-US" dirty="0"/>
              <a:t>：设计三项手术场景理解基础任务。器械感知支持结合上下文动态回答，可依据器械位置与运动状态对器械进行描述；操作感知结合临床原理识别手术动作；解剖结构感知对解剖标志进行精细描述，包含状态、位置、形态、颜色等属性。 感知层数据来源于 </a:t>
            </a:r>
            <a:r>
              <a:rPr lang="en-US" altLang="zh-CN" dirty="0"/>
              <a:t>CholecT50 </a:t>
            </a:r>
            <a:r>
              <a:rPr lang="zh-CN" altLang="en-US" dirty="0"/>
              <a:t>数据集（</a:t>
            </a:r>
            <a:r>
              <a:rPr lang="en-US" altLang="zh-CN" dirty="0"/>
              <a:t>Nwoye </a:t>
            </a:r>
            <a:r>
              <a:rPr lang="zh-CN" altLang="en-US" dirty="0"/>
              <a:t>等人，</a:t>
            </a:r>
            <a:r>
              <a:rPr lang="en-US" altLang="zh-CN" dirty="0"/>
              <a:t>2022</a:t>
            </a:r>
            <a:r>
              <a:rPr lang="zh-CN" altLang="en-US" dirty="0"/>
              <a:t>）。我们按照动作连续性对视频进行切分，引入临床医师结构化标注文本，将其转化为语义丰富的问答对。这些短片段视频保留了和操作相关的动态视觉信息。这三项任务共同搭建起手术场景的基础视觉识别能力。</a:t>
            </a:r>
            <a:endParaRPr lang="en-US" altLang="zh-CN" dirty="0"/>
          </a:p>
          <a:p>
            <a:endParaRPr lang="en-US" altLang="zh-CN" dirty="0"/>
          </a:p>
          <a:p>
            <a:r>
              <a:rPr lang="zh-CN" altLang="en-US" dirty="0">
                <a:effectLst/>
              </a:rPr>
              <a:t>标注核心：帧级</a:t>
            </a:r>
            <a:r>
              <a:rPr lang="en-US" altLang="zh-CN" b="1" dirty="0">
                <a:effectLst/>
              </a:rPr>
              <a:t>&lt;</a:t>
            </a:r>
            <a:r>
              <a:rPr lang="zh-CN" altLang="en-US" b="1" dirty="0">
                <a:effectLst/>
              </a:rPr>
              <a:t>器械，动作，目标组织</a:t>
            </a:r>
            <a:r>
              <a:rPr lang="en-US" altLang="zh-CN" b="1" dirty="0">
                <a:effectLst/>
              </a:rPr>
              <a:t>&gt; </a:t>
            </a:r>
            <a:r>
              <a:rPr lang="zh-CN" altLang="en-US" b="1" dirty="0">
                <a:effectLst/>
              </a:rPr>
              <a:t>三元组（</a:t>
            </a:r>
            <a:r>
              <a:rPr lang="en-US" altLang="zh-CN" b="1" dirty="0">
                <a:effectLst/>
              </a:rPr>
              <a:t>instrument, verb, target</a:t>
            </a:r>
            <a:r>
              <a:rPr lang="zh-CN" altLang="en-US" b="1" dirty="0">
                <a:effectLst/>
              </a:rPr>
              <a:t>）</a:t>
            </a:r>
            <a:r>
              <a:rPr lang="zh-CN" altLang="en-US" dirty="0">
                <a:effectLst/>
              </a:rPr>
              <a:t>，一共 </a:t>
            </a:r>
            <a:r>
              <a:rPr lang="en-US" altLang="zh-CN" dirty="0">
                <a:effectLst/>
              </a:rPr>
              <a:t>100 </a:t>
            </a:r>
            <a:r>
              <a:rPr lang="zh-CN" altLang="en-US" dirty="0">
                <a:effectLst/>
              </a:rPr>
              <a:t>种三元组类别，例如 </a:t>
            </a:r>
            <a:r>
              <a:rPr lang="en-US" altLang="zh-CN" dirty="0">
                <a:effectLst/>
              </a:rPr>
              <a:t>&lt;</a:t>
            </a:r>
            <a:r>
              <a:rPr lang="zh-CN" altLang="en-US" dirty="0">
                <a:effectLst/>
              </a:rPr>
              <a:t>抓钳，牵拉，胆囊</a:t>
            </a:r>
            <a:r>
              <a:rPr lang="en-US" altLang="zh-CN" dirty="0">
                <a:effectLst/>
              </a:rPr>
              <a:t>&gt;</a:t>
            </a:r>
            <a:r>
              <a:rPr lang="zh-CN" altLang="en-US" dirty="0">
                <a:effectLst/>
              </a:rPr>
              <a:t>、</a:t>
            </a:r>
            <a:r>
              <a:rPr lang="en-US" altLang="zh-CN" dirty="0">
                <a:effectLst/>
              </a:rPr>
              <a:t>&lt; </a:t>
            </a:r>
            <a:r>
              <a:rPr lang="zh-CN" altLang="en-US" dirty="0">
                <a:effectLst/>
              </a:rPr>
              <a:t>钩状电刀，分离，网膜 </a:t>
            </a:r>
            <a:r>
              <a:rPr lang="en-US" altLang="zh-CN" dirty="0">
                <a:effectLst/>
              </a:rPr>
              <a:t>&gt;</a:t>
            </a:r>
            <a:endParaRPr lang="zh-CN" altLang="en-US" dirty="0">
              <a:effectLst/>
            </a:endParaRPr>
          </a:p>
          <a:p>
            <a:r>
              <a:rPr lang="zh-CN" altLang="en-US" dirty="0">
                <a:effectLst/>
              </a:rPr>
              <a:t>附带标注：手术阶段标签；部分视频还有器械框标注；约 </a:t>
            </a:r>
            <a:r>
              <a:rPr lang="en-US" altLang="zh-CN" dirty="0">
                <a:effectLst/>
              </a:rPr>
              <a:t>10 </a:t>
            </a:r>
            <a:r>
              <a:rPr lang="zh-CN" altLang="en-US" dirty="0">
                <a:effectLst/>
              </a:rPr>
              <a:t>万标注帧，</a:t>
            </a:r>
            <a:r>
              <a:rPr lang="en-US" altLang="zh-CN" dirty="0">
                <a:effectLst/>
              </a:rPr>
              <a:t>1fps </a:t>
            </a:r>
            <a:r>
              <a:rPr lang="zh-CN" altLang="en-US" dirty="0">
                <a:effectLst/>
              </a:rPr>
              <a:t>采样标注。</a:t>
            </a:r>
          </a:p>
          <a:p>
            <a:r>
              <a:rPr lang="zh-CN" altLang="en-US" dirty="0">
                <a:effectLst/>
              </a:rPr>
              <a:t>覆盖 </a:t>
            </a:r>
            <a:r>
              <a:rPr lang="en-US" altLang="zh-CN" dirty="0">
                <a:effectLst/>
              </a:rPr>
              <a:t>6 </a:t>
            </a:r>
            <a:r>
              <a:rPr lang="zh-CN" altLang="en-US" dirty="0">
                <a:effectLst/>
              </a:rPr>
              <a:t>种手术器械、</a:t>
            </a:r>
            <a:r>
              <a:rPr lang="en-US" altLang="zh-CN" dirty="0">
                <a:effectLst/>
              </a:rPr>
              <a:t>10 </a:t>
            </a:r>
            <a:r>
              <a:rPr lang="zh-CN" altLang="en-US" dirty="0">
                <a:effectLst/>
              </a:rPr>
              <a:t>类手术动作、</a:t>
            </a:r>
            <a:r>
              <a:rPr lang="en-US" altLang="zh-CN" dirty="0">
                <a:effectLst/>
              </a:rPr>
              <a:t>15 </a:t>
            </a:r>
            <a:r>
              <a:rPr lang="zh-CN" altLang="en-US" dirty="0">
                <a:effectLst/>
              </a:rPr>
              <a:t>种解剖目标组织。</a:t>
            </a:r>
          </a:p>
          <a:p>
            <a:endParaRPr lang="zh-CN" altLang="en-US" dirty="0"/>
          </a:p>
        </p:txBody>
      </p:sp>
      <p:sp>
        <p:nvSpPr>
          <p:cNvPr id="4" name="灯片编号占位符 3">
            <a:extLst>
              <a:ext uri="{FF2B5EF4-FFF2-40B4-BE49-F238E27FC236}">
                <a16:creationId xmlns:a16="http://schemas.microsoft.com/office/drawing/2014/main" id="{E1276D2E-EADF-2844-4571-82EEFE3CFF56}"/>
              </a:ext>
            </a:extLst>
          </p:cNvPr>
          <p:cNvSpPr>
            <a:spLocks noGrp="1"/>
          </p:cNvSpPr>
          <p:nvPr>
            <p:ph type="sldNum" sz="quarter" idx="5"/>
          </p:nvPr>
        </p:nvSpPr>
        <p:spPr/>
        <p:txBody>
          <a:bodyPr/>
          <a:lstStyle/>
          <a:p>
            <a:fld id="{A78175C1-4B1A-4603-A6A8-EDA08D4C4599}" type="slidenum">
              <a:rPr lang="zh-CN" altLang="en-US" smtClean="0"/>
              <a:t>47</a:t>
            </a:fld>
            <a:endParaRPr lang="zh-CN" altLang="en-US"/>
          </a:p>
        </p:txBody>
      </p:sp>
    </p:spTree>
    <p:extLst>
      <p:ext uri="{BB962C8B-B14F-4D97-AF65-F5344CB8AC3E}">
        <p14:creationId xmlns:p14="http://schemas.microsoft.com/office/powerpoint/2010/main" val="1773540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80DB8-4895-257F-92CC-6C066C5F9A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7EE096-902C-24EA-E149-4E7050F437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6476F8-B61F-643C-8A20-63E18E9C6C36}"/>
              </a:ext>
            </a:extLst>
          </p:cNvPr>
          <p:cNvSpPr>
            <a:spLocks noGrp="1"/>
          </p:cNvSpPr>
          <p:nvPr>
            <p:ph type="body" idx="1"/>
          </p:nvPr>
        </p:nvSpPr>
        <p:spPr/>
        <p:txBody>
          <a:bodyPr/>
          <a:lstStyle/>
          <a:p>
            <a:r>
              <a:rPr lang="zh-CN" altLang="en-US" b="1" dirty="0"/>
              <a:t>评估层</a:t>
            </a:r>
            <a:r>
              <a:rPr lang="zh-CN" altLang="en-US" dirty="0"/>
              <a:t>：设计多项任务满足多样化术中分析需求，包含安全关键视图评估、手术难度特征评估、操作熟练度评估与术中不良事件评估。任务涵盖多种分析场景与预测形式，包括二分类与多分类任务。评估层数据取自 </a:t>
            </a:r>
            <a:r>
              <a:rPr lang="en-US" altLang="zh-CN" dirty="0" err="1"/>
              <a:t>Endoscapes</a:t>
            </a:r>
            <a:r>
              <a:rPr lang="zh-CN" altLang="en-US" dirty="0"/>
              <a:t>（</a:t>
            </a:r>
            <a:r>
              <a:rPr lang="en-US" altLang="zh-CN" dirty="0"/>
              <a:t>Mascagni </a:t>
            </a:r>
            <a:r>
              <a:rPr lang="zh-CN" altLang="en-US" dirty="0"/>
              <a:t>等人，</a:t>
            </a:r>
            <a:r>
              <a:rPr lang="en-US" altLang="zh-CN" dirty="0"/>
              <a:t>2025</a:t>
            </a:r>
            <a:r>
              <a:rPr lang="zh-CN" altLang="en-US" dirty="0"/>
              <a:t>）与 </a:t>
            </a:r>
            <a:r>
              <a:rPr lang="en-US" altLang="zh-CN" dirty="0" err="1"/>
              <a:t>CholeScore</a:t>
            </a:r>
            <a:r>
              <a:rPr lang="zh-CN" altLang="en-US" dirty="0"/>
              <a:t>（</a:t>
            </a:r>
            <a:r>
              <a:rPr lang="en-US" altLang="zh-CN" dirty="0"/>
              <a:t>Sharma </a:t>
            </a:r>
            <a:r>
              <a:rPr lang="zh-CN" altLang="en-US" dirty="0"/>
              <a:t>等人，</a:t>
            </a:r>
            <a:r>
              <a:rPr lang="en-US" altLang="zh-CN" dirty="0"/>
              <a:t>2025</a:t>
            </a:r>
            <a:r>
              <a:rPr lang="zh-CN" altLang="en-US" dirty="0"/>
              <a:t>）数据集。</a:t>
            </a:r>
            <a:r>
              <a:rPr lang="en-US" altLang="zh-CN" dirty="0" err="1"/>
              <a:t>Endoscapes</a:t>
            </a:r>
            <a:r>
              <a:rPr lang="en-US" altLang="zh-CN" dirty="0"/>
              <a:t> </a:t>
            </a:r>
            <a:r>
              <a:rPr lang="zh-CN" altLang="en-US" dirty="0"/>
              <a:t>视频按固定 </a:t>
            </a:r>
            <a:r>
              <a:rPr lang="en-US" altLang="zh-CN" dirty="0"/>
              <a:t>5 </a:t>
            </a:r>
            <a:r>
              <a:rPr lang="zh-CN" altLang="en-US" dirty="0"/>
              <a:t>秒间隔切分，</a:t>
            </a:r>
            <a:r>
              <a:rPr lang="en-US" altLang="zh-CN" dirty="0" err="1"/>
              <a:t>CholeScore</a:t>
            </a:r>
            <a:r>
              <a:rPr lang="en-US" altLang="zh-CN" dirty="0"/>
              <a:t> </a:t>
            </a:r>
            <a:r>
              <a:rPr lang="zh-CN" altLang="en-US" dirty="0"/>
              <a:t>视频按手术阶段切分，由此得到两种不同时间尺度：短片段用于细粒度评估，长达数分钟至数十分钟的长片段用于综合评估。研究将原有分类标注转化为附带丰富描述性说明的开放式问答对。</a:t>
            </a:r>
            <a:endParaRPr lang="en-US" altLang="zh-CN" dirty="0"/>
          </a:p>
          <a:p>
            <a:endParaRPr lang="en-US" altLang="zh-CN" dirty="0"/>
          </a:p>
          <a:p>
            <a:r>
              <a:rPr lang="en-US" altLang="zh-CN" dirty="0" err="1"/>
              <a:t>Endoscapes</a:t>
            </a:r>
            <a:r>
              <a:rPr lang="en-US" altLang="zh-CN" dirty="0"/>
              <a:t> </a:t>
            </a:r>
            <a:r>
              <a:rPr lang="zh-CN" altLang="en-US" dirty="0"/>
              <a:t>是腹腔镜胆囊切除术专用数据集，核心面向</a:t>
            </a:r>
            <a:r>
              <a:rPr lang="zh-CN" altLang="en-US" b="1" dirty="0"/>
              <a:t>安全关键视图 </a:t>
            </a:r>
            <a:r>
              <a:rPr lang="en-US" altLang="zh-CN" b="1" dirty="0"/>
              <a:t>CVS </a:t>
            </a:r>
            <a:r>
              <a:rPr lang="zh-CN" altLang="en-US" b="1" dirty="0"/>
              <a:t>评估</a:t>
            </a:r>
            <a:r>
              <a:rPr lang="zh-CN" altLang="en-US" dirty="0"/>
              <a:t>：</a:t>
            </a:r>
          </a:p>
          <a:p>
            <a:r>
              <a:rPr lang="zh-CN" altLang="en-US" dirty="0">
                <a:effectLst/>
              </a:rPr>
              <a:t>包含</a:t>
            </a:r>
            <a:r>
              <a:rPr lang="en-US" altLang="zh-CN" b="1" dirty="0">
                <a:effectLst/>
              </a:rPr>
              <a:t>201 </a:t>
            </a:r>
            <a:r>
              <a:rPr lang="zh-CN" altLang="en-US" b="1" dirty="0">
                <a:effectLst/>
              </a:rPr>
              <a:t>台腹腔镜胆囊切除手术视频</a:t>
            </a:r>
            <a:r>
              <a:rPr lang="zh-CN" altLang="en-US" dirty="0">
                <a:effectLst/>
              </a:rPr>
              <a:t>；</a:t>
            </a:r>
          </a:p>
          <a:p>
            <a:r>
              <a:rPr lang="zh-CN" altLang="en-US" dirty="0">
                <a:effectLst/>
              </a:rPr>
              <a:t>标注：采样帧的解剖 </a:t>
            </a:r>
            <a:r>
              <a:rPr lang="en-US" altLang="zh-CN" dirty="0">
                <a:effectLst/>
              </a:rPr>
              <a:t>/ </a:t>
            </a:r>
            <a:r>
              <a:rPr lang="zh-CN" altLang="en-US" dirty="0">
                <a:effectLst/>
              </a:rPr>
              <a:t>器械分割掩码；由 </a:t>
            </a:r>
            <a:r>
              <a:rPr lang="en-US" altLang="zh-CN" dirty="0">
                <a:effectLst/>
              </a:rPr>
              <a:t>3 </a:t>
            </a:r>
            <a:r>
              <a:rPr lang="zh-CN" altLang="en-US" dirty="0">
                <a:effectLst/>
              </a:rPr>
              <a:t>名外科医生标注</a:t>
            </a:r>
            <a:r>
              <a:rPr lang="en-US" altLang="zh-CN" b="1" dirty="0">
                <a:effectLst/>
              </a:rPr>
              <a:t>CVS </a:t>
            </a:r>
            <a:r>
              <a:rPr lang="zh-CN" altLang="en-US" b="1" dirty="0">
                <a:effectLst/>
              </a:rPr>
              <a:t>三项达标判定标签</a:t>
            </a:r>
            <a:r>
              <a:rPr lang="zh-CN" altLang="en-US" dirty="0">
                <a:effectLst/>
              </a:rPr>
              <a:t>（二分类标签，判断是否满足安全关键视图标准）；</a:t>
            </a:r>
          </a:p>
          <a:p>
            <a:r>
              <a:rPr lang="zh-CN" altLang="en-US" dirty="0">
                <a:effectLst/>
              </a:rPr>
              <a:t>标注类别：胆囊、胆囊管、胆囊动脉、胆囊板、肝胆三角、手术器械等 </a:t>
            </a:r>
            <a:r>
              <a:rPr lang="en-US" altLang="zh-CN" dirty="0">
                <a:effectLst/>
              </a:rPr>
              <a:t>6 </a:t>
            </a:r>
            <a:r>
              <a:rPr lang="zh-CN" altLang="en-US" dirty="0">
                <a:effectLst/>
              </a:rPr>
              <a:t>类解剖与器械目标；</a:t>
            </a:r>
          </a:p>
          <a:p>
            <a:r>
              <a:rPr lang="zh-CN" altLang="en-US" dirty="0">
                <a:effectLst/>
              </a:rPr>
              <a:t>原始任务：手术场景分割、目标检测、</a:t>
            </a:r>
            <a:r>
              <a:rPr lang="en-US" altLang="zh-CN" dirty="0">
                <a:effectLst/>
              </a:rPr>
              <a:t>CVS </a:t>
            </a:r>
            <a:r>
              <a:rPr lang="zh-CN" altLang="en-US" dirty="0">
                <a:effectLst/>
              </a:rPr>
              <a:t>安全视图评估，属于</a:t>
            </a:r>
            <a:r>
              <a:rPr lang="zh-CN" altLang="en-US" b="1" dirty="0">
                <a:effectLst/>
              </a:rPr>
              <a:t>细粒度短时间窗口的术中评估</a:t>
            </a:r>
            <a:r>
              <a:rPr lang="zh-CN" altLang="en-US" dirty="0">
                <a:effectLst/>
              </a:rPr>
              <a:t>。</a:t>
            </a:r>
            <a:endParaRPr lang="en-US" altLang="zh-CN" dirty="0">
              <a:effectLst/>
            </a:endParaRPr>
          </a:p>
          <a:p>
            <a:endParaRPr lang="en-US" altLang="zh-CN" dirty="0">
              <a:effectLst/>
            </a:endParaRPr>
          </a:p>
          <a:p>
            <a:r>
              <a:rPr lang="en-US" altLang="zh-CN" dirty="0" err="1"/>
              <a:t>CholeScore</a:t>
            </a:r>
            <a:r>
              <a:rPr lang="en-US" altLang="zh-CN" dirty="0"/>
              <a:t> </a:t>
            </a:r>
            <a:r>
              <a:rPr lang="zh-CN" altLang="en-US" dirty="0"/>
              <a:t>是长视频手术评估数据集，主打</a:t>
            </a:r>
            <a:r>
              <a:rPr lang="zh-CN" altLang="en-US" b="1" dirty="0"/>
              <a:t>手术难度、术中不良事件、手术技能评估</a:t>
            </a:r>
            <a:r>
              <a:rPr lang="zh-CN" altLang="en-US" dirty="0"/>
              <a:t>：</a:t>
            </a:r>
          </a:p>
          <a:p>
            <a:r>
              <a:rPr lang="zh-CN" altLang="en-US" dirty="0">
                <a:effectLst/>
              </a:rPr>
              <a:t>包含 </a:t>
            </a:r>
            <a:r>
              <a:rPr lang="en-US" altLang="zh-CN" dirty="0">
                <a:effectLst/>
              </a:rPr>
              <a:t>100 </a:t>
            </a:r>
            <a:r>
              <a:rPr lang="zh-CN" altLang="en-US" dirty="0">
                <a:effectLst/>
              </a:rPr>
              <a:t>台腹腔镜胆囊切除完整手术长视频；</a:t>
            </a:r>
          </a:p>
          <a:p>
            <a:r>
              <a:rPr lang="zh-CN" altLang="en-US" dirty="0">
                <a:effectLst/>
              </a:rPr>
              <a:t>标注：视频级别的</a:t>
            </a:r>
            <a:r>
              <a:rPr lang="en-US" altLang="zh-CN" b="1" dirty="0">
                <a:effectLst/>
              </a:rPr>
              <a:t>LCOD </a:t>
            </a:r>
            <a:r>
              <a:rPr lang="zh-CN" altLang="en-US" b="1" dirty="0">
                <a:effectLst/>
              </a:rPr>
              <a:t>腹腔镜胆囊手术难度评分</a:t>
            </a:r>
            <a:r>
              <a:rPr lang="zh-CN" altLang="en-US" dirty="0">
                <a:effectLst/>
              </a:rPr>
              <a:t>（采用 </a:t>
            </a:r>
            <a:r>
              <a:rPr lang="en-US" altLang="zh-CN" dirty="0">
                <a:effectLst/>
              </a:rPr>
              <a:t>3 </a:t>
            </a:r>
            <a:r>
              <a:rPr lang="zh-CN" altLang="en-US" dirty="0">
                <a:effectLst/>
              </a:rPr>
              <a:t>套临床评分量表，划分手术困难等级）、术中不良事件、手术熟练度标签；</a:t>
            </a:r>
          </a:p>
          <a:p>
            <a:r>
              <a:rPr lang="zh-CN" altLang="en-US" dirty="0">
                <a:effectLst/>
              </a:rPr>
              <a:t>特点：</a:t>
            </a:r>
            <a:r>
              <a:rPr lang="zh-CN" altLang="en-US" b="1" dirty="0">
                <a:effectLst/>
              </a:rPr>
              <a:t>以完整手术阶段为单位</a:t>
            </a:r>
            <a:r>
              <a:rPr lang="zh-CN" altLang="en-US" dirty="0">
                <a:effectLst/>
              </a:rPr>
              <a:t>，适合需要长时间时序信息的综合评估任务。</a:t>
            </a:r>
          </a:p>
          <a:p>
            <a:endParaRPr lang="zh-CN" altLang="en-US" dirty="0">
              <a:effectLst/>
            </a:endParaRPr>
          </a:p>
          <a:p>
            <a:endParaRPr lang="zh-CN" altLang="en-US" dirty="0"/>
          </a:p>
        </p:txBody>
      </p:sp>
      <p:sp>
        <p:nvSpPr>
          <p:cNvPr id="4" name="灯片编号占位符 3">
            <a:extLst>
              <a:ext uri="{FF2B5EF4-FFF2-40B4-BE49-F238E27FC236}">
                <a16:creationId xmlns:a16="http://schemas.microsoft.com/office/drawing/2014/main" id="{B7BCA05B-E4E0-1CA7-7203-E780B14F1466}"/>
              </a:ext>
            </a:extLst>
          </p:cNvPr>
          <p:cNvSpPr>
            <a:spLocks noGrp="1"/>
          </p:cNvSpPr>
          <p:nvPr>
            <p:ph type="sldNum" sz="quarter" idx="5"/>
          </p:nvPr>
        </p:nvSpPr>
        <p:spPr/>
        <p:txBody>
          <a:bodyPr/>
          <a:lstStyle/>
          <a:p>
            <a:fld id="{A78175C1-4B1A-4603-A6A8-EDA08D4C4599}" type="slidenum">
              <a:rPr lang="zh-CN" altLang="en-US" smtClean="0"/>
              <a:t>48</a:t>
            </a:fld>
            <a:endParaRPr lang="zh-CN" altLang="en-US"/>
          </a:p>
        </p:txBody>
      </p:sp>
    </p:spTree>
    <p:extLst>
      <p:ext uri="{BB962C8B-B14F-4D97-AF65-F5344CB8AC3E}">
        <p14:creationId xmlns:p14="http://schemas.microsoft.com/office/powerpoint/2010/main" val="14605457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618A1-2AFA-683F-D15E-3A43E284FC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B292EF-4EEF-636F-A00E-147128F316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2FF21DB-0448-CD46-685D-FF909C7B18BE}"/>
              </a:ext>
            </a:extLst>
          </p:cNvPr>
          <p:cNvSpPr>
            <a:spLocks noGrp="1"/>
          </p:cNvSpPr>
          <p:nvPr>
            <p:ph type="body" idx="1"/>
          </p:nvPr>
        </p:nvSpPr>
        <p:spPr/>
        <p:txBody>
          <a:bodyPr/>
          <a:lstStyle/>
          <a:p>
            <a:r>
              <a:rPr lang="zh-CN" altLang="en-US" b="1" dirty="0"/>
              <a:t>推理层</a:t>
            </a:r>
            <a:r>
              <a:rPr lang="zh-CN" altLang="en-US" dirty="0"/>
              <a:t>任务需要结合术野解读与多视频片段的跨段评估，完成复杂临床分析。借助大语言模型（</a:t>
            </a:r>
            <a:r>
              <a:rPr lang="en-US" altLang="zh-CN" dirty="0"/>
              <a:t>LLM</a:t>
            </a:r>
            <a:r>
              <a:rPr lang="zh-CN" altLang="en-US" dirty="0"/>
              <a:t>），作者生成简洁的描述类问答对，包含基础场景理解任务（即手术场景描述）与各类术中评估分析任务（即综合评估）。为进一步激发模型的推理能力，研究基于操作意图（即动作原理推理）和术中变量（即术中规划）构建推理类问题，实现基于具体场景的分析。</a:t>
            </a:r>
            <a:endParaRPr lang="en-US" altLang="zh-CN" dirty="0"/>
          </a:p>
          <a:p>
            <a:endParaRPr lang="en-US" altLang="zh-CN" b="1" dirty="0"/>
          </a:p>
          <a:p>
            <a:r>
              <a:rPr lang="en-US" altLang="zh-CN" dirty="0"/>
              <a:t>Based on these rich textual descriptions, we employ GPT-5.1 to generate three distinct categories of question-answer pairs</a:t>
            </a:r>
            <a:r>
              <a:rPr lang="zh-CN" altLang="en-US" dirty="0"/>
              <a:t>。</a:t>
            </a:r>
            <a:endParaRPr lang="en-US" altLang="zh-CN" b="1" dirty="0"/>
          </a:p>
        </p:txBody>
      </p:sp>
      <p:sp>
        <p:nvSpPr>
          <p:cNvPr id="4" name="灯片编号占位符 3">
            <a:extLst>
              <a:ext uri="{FF2B5EF4-FFF2-40B4-BE49-F238E27FC236}">
                <a16:creationId xmlns:a16="http://schemas.microsoft.com/office/drawing/2014/main" id="{649D9C0A-321B-DEFB-4FA5-3C5CBD76BBDF}"/>
              </a:ext>
            </a:extLst>
          </p:cNvPr>
          <p:cNvSpPr>
            <a:spLocks noGrp="1"/>
          </p:cNvSpPr>
          <p:nvPr>
            <p:ph type="sldNum" sz="quarter" idx="5"/>
          </p:nvPr>
        </p:nvSpPr>
        <p:spPr/>
        <p:txBody>
          <a:bodyPr/>
          <a:lstStyle/>
          <a:p>
            <a:fld id="{A78175C1-4B1A-4603-A6A8-EDA08D4C4599}" type="slidenum">
              <a:rPr lang="zh-CN" altLang="en-US" smtClean="0"/>
              <a:t>49</a:t>
            </a:fld>
            <a:endParaRPr lang="zh-CN" altLang="en-US"/>
          </a:p>
        </p:txBody>
      </p:sp>
    </p:spTree>
    <p:extLst>
      <p:ext uri="{BB962C8B-B14F-4D97-AF65-F5344CB8AC3E}">
        <p14:creationId xmlns:p14="http://schemas.microsoft.com/office/powerpoint/2010/main" val="10114140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376A9-49F8-8279-8770-568D181B59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6BA7EC-DF7B-1E8B-BA7A-3C120BCD4F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12E0FA-F785-F888-BFB3-E263E8089423}"/>
              </a:ext>
            </a:extLst>
          </p:cNvPr>
          <p:cNvSpPr>
            <a:spLocks noGrp="1"/>
          </p:cNvSpPr>
          <p:nvPr>
            <p:ph type="body" idx="1"/>
          </p:nvPr>
        </p:nvSpPr>
        <p:spPr/>
        <p:txBody>
          <a:bodyPr/>
          <a:lstStyle/>
          <a:p>
            <a:r>
              <a:rPr lang="zh-CN" altLang="en-US" dirty="0"/>
              <a:t>本文采用三层指标体系对所提模型开展评估：分类指标用于衡量模型的类别判别能力；文本重叠指标衡量模型输出文本与标准答案的匹配程度；多维度 </a:t>
            </a:r>
            <a:r>
              <a:rPr lang="en-US" altLang="zh-CN" dirty="0"/>
              <a:t>LLM </a:t>
            </a:r>
            <a:r>
              <a:rPr lang="zh-CN" altLang="en-US" dirty="0"/>
              <a:t>打分指标从正确性、相关性、语言质量等多个维度评价回答质量。</a:t>
            </a:r>
          </a:p>
        </p:txBody>
      </p:sp>
      <p:sp>
        <p:nvSpPr>
          <p:cNvPr id="4" name="灯片编号占位符 3">
            <a:extLst>
              <a:ext uri="{FF2B5EF4-FFF2-40B4-BE49-F238E27FC236}">
                <a16:creationId xmlns:a16="http://schemas.microsoft.com/office/drawing/2014/main" id="{1BA9D6FD-4211-642F-0CEC-505B9A7373E0}"/>
              </a:ext>
            </a:extLst>
          </p:cNvPr>
          <p:cNvSpPr>
            <a:spLocks noGrp="1"/>
          </p:cNvSpPr>
          <p:nvPr>
            <p:ph type="sldNum" sz="quarter" idx="5"/>
          </p:nvPr>
        </p:nvSpPr>
        <p:spPr/>
        <p:txBody>
          <a:bodyPr/>
          <a:lstStyle/>
          <a:p>
            <a:fld id="{A78175C1-4B1A-4603-A6A8-EDA08D4C4599}" type="slidenum">
              <a:rPr lang="zh-CN" altLang="en-US" smtClean="0"/>
              <a:t>50</a:t>
            </a:fld>
            <a:endParaRPr lang="zh-CN" altLang="en-US"/>
          </a:p>
        </p:txBody>
      </p:sp>
    </p:spTree>
    <p:extLst>
      <p:ext uri="{BB962C8B-B14F-4D97-AF65-F5344CB8AC3E}">
        <p14:creationId xmlns:p14="http://schemas.microsoft.com/office/powerpoint/2010/main" val="34313519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AD4CE-1233-F846-96CA-307C8D2916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E836C4-A7C8-07D1-690F-99E5F28F8A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5A9C17-F0BF-9C37-FC5D-13728B1BB72B}"/>
              </a:ext>
            </a:extLst>
          </p:cNvPr>
          <p:cNvSpPr>
            <a:spLocks noGrp="1"/>
          </p:cNvSpPr>
          <p:nvPr>
            <p:ph type="body" idx="1"/>
          </p:nvPr>
        </p:nvSpPr>
        <p:spPr/>
        <p:txBody>
          <a:bodyPr/>
          <a:lstStyle/>
          <a:p>
            <a:r>
              <a:rPr lang="zh-CN" altLang="en-US" dirty="0"/>
              <a:t>分层实验结果表明，在本数据集上，无论采用微调还是零样本设置，本文模型均优于性能强劲的通用领域视频问答基线模型；在更长、复杂度更高的任务上，性能提升幅度尤为显著。</a:t>
            </a:r>
          </a:p>
        </p:txBody>
      </p:sp>
      <p:sp>
        <p:nvSpPr>
          <p:cNvPr id="4" name="灯片编号占位符 3">
            <a:extLst>
              <a:ext uri="{FF2B5EF4-FFF2-40B4-BE49-F238E27FC236}">
                <a16:creationId xmlns:a16="http://schemas.microsoft.com/office/drawing/2014/main" id="{E35D9159-BFD5-4B7E-0B65-C3635E9F86AB}"/>
              </a:ext>
            </a:extLst>
          </p:cNvPr>
          <p:cNvSpPr>
            <a:spLocks noGrp="1"/>
          </p:cNvSpPr>
          <p:nvPr>
            <p:ph type="sldNum" sz="quarter" idx="5"/>
          </p:nvPr>
        </p:nvSpPr>
        <p:spPr/>
        <p:txBody>
          <a:bodyPr/>
          <a:lstStyle/>
          <a:p>
            <a:fld id="{A78175C1-4B1A-4603-A6A8-EDA08D4C4599}" type="slidenum">
              <a:rPr lang="zh-CN" altLang="en-US" smtClean="0"/>
              <a:t>51</a:t>
            </a:fld>
            <a:endParaRPr lang="zh-CN" altLang="en-US"/>
          </a:p>
        </p:txBody>
      </p:sp>
    </p:spTree>
    <p:extLst>
      <p:ext uri="{BB962C8B-B14F-4D97-AF65-F5344CB8AC3E}">
        <p14:creationId xmlns:p14="http://schemas.microsoft.com/office/powerpoint/2010/main" val="42515710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CDD43-D4D6-F1D9-68A6-7E6875DCF5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25F58E-D362-8078-6E81-F33910B16A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D893F7-31EA-EDC2-9FED-AA7E9353BBEB}"/>
              </a:ext>
            </a:extLst>
          </p:cNvPr>
          <p:cNvSpPr>
            <a:spLocks noGrp="1"/>
          </p:cNvSpPr>
          <p:nvPr>
            <p:ph type="body" idx="1"/>
          </p:nvPr>
        </p:nvSpPr>
        <p:spPr/>
        <p:txBody>
          <a:bodyPr/>
          <a:lstStyle/>
          <a:p>
            <a:r>
              <a:rPr lang="zh-CN" altLang="en-US" dirty="0"/>
              <a:t>此外，本文构建离线专家验证测试子集：精心筛选部分测试视频与问题，配套由临床医师手动撰写的高质量答案。该子集可额外评估模型输出与临床专家答案的一致性；在各项报告指标下，</a:t>
            </a:r>
            <a:r>
              <a:rPr lang="en-US" altLang="zh-CN" dirty="0" err="1"/>
              <a:t>SurgTEMP</a:t>
            </a:r>
            <a:r>
              <a:rPr lang="en-US" altLang="zh-CN" dirty="0"/>
              <a:t> </a:t>
            </a:r>
            <a:r>
              <a:rPr lang="zh-CN" altLang="en-US" dirty="0"/>
              <a:t>的表现均优于基线模型。</a:t>
            </a:r>
          </a:p>
        </p:txBody>
      </p:sp>
      <p:sp>
        <p:nvSpPr>
          <p:cNvPr id="4" name="灯片编号占位符 3">
            <a:extLst>
              <a:ext uri="{FF2B5EF4-FFF2-40B4-BE49-F238E27FC236}">
                <a16:creationId xmlns:a16="http://schemas.microsoft.com/office/drawing/2014/main" id="{7B23F7F5-D4BF-6B09-3ED5-87B69CC8166E}"/>
              </a:ext>
            </a:extLst>
          </p:cNvPr>
          <p:cNvSpPr>
            <a:spLocks noGrp="1"/>
          </p:cNvSpPr>
          <p:nvPr>
            <p:ph type="sldNum" sz="quarter" idx="5"/>
          </p:nvPr>
        </p:nvSpPr>
        <p:spPr/>
        <p:txBody>
          <a:bodyPr/>
          <a:lstStyle/>
          <a:p>
            <a:fld id="{A78175C1-4B1A-4603-A6A8-EDA08D4C4599}" type="slidenum">
              <a:rPr lang="zh-CN" altLang="en-US" smtClean="0"/>
              <a:t>52</a:t>
            </a:fld>
            <a:endParaRPr lang="zh-CN" altLang="en-US"/>
          </a:p>
        </p:txBody>
      </p:sp>
    </p:spTree>
    <p:extLst>
      <p:ext uri="{BB962C8B-B14F-4D97-AF65-F5344CB8AC3E}">
        <p14:creationId xmlns:p14="http://schemas.microsoft.com/office/powerpoint/2010/main" val="28532141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2AA07-432F-886C-FAC3-E0B5254860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8A1BF5-B603-FEE8-3AAE-DCBC198815A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CEAA8A9-1008-AB6C-13E0-54B858621591}"/>
              </a:ext>
            </a:extLst>
          </p:cNvPr>
          <p:cNvSpPr>
            <a:spLocks noGrp="1"/>
          </p:cNvSpPr>
          <p:nvPr>
            <p:ph type="body" idx="1"/>
          </p:nvPr>
        </p:nvSpPr>
        <p:spPr/>
        <p:txBody>
          <a:bodyPr/>
          <a:lstStyle/>
          <a:p>
            <a:r>
              <a:rPr lang="zh-CN" altLang="en-US" dirty="0"/>
              <a:t>本文贡献总结如下：</a:t>
            </a:r>
          </a:p>
          <a:p>
            <a:r>
              <a:rPr lang="zh-CN" altLang="en-US" dirty="0">
                <a:effectLst/>
              </a:rPr>
              <a:t>提出 </a:t>
            </a:r>
            <a:r>
              <a:rPr lang="en-US" altLang="zh-CN" dirty="0" err="1">
                <a:effectLst/>
              </a:rPr>
              <a:t>SurgTEMP</a:t>
            </a:r>
            <a:r>
              <a:rPr lang="en-US" altLang="zh-CN" dirty="0">
                <a:effectLst/>
              </a:rPr>
              <a:t> </a:t>
            </a:r>
            <a:r>
              <a:rPr lang="zh-CN" altLang="en-US" dirty="0">
                <a:effectLst/>
              </a:rPr>
              <a:t>模型，可处理不同时长的外科视频以及需要不同粒度视觉线索的任务，推动外科视频问答领域技术发展。</a:t>
            </a:r>
          </a:p>
          <a:p>
            <a:r>
              <a:rPr lang="zh-CN" altLang="en-US" dirty="0">
                <a:effectLst/>
              </a:rPr>
              <a:t>构建全新外科视频问答数据集 </a:t>
            </a:r>
            <a:r>
              <a:rPr lang="en-US" altLang="zh-CN" dirty="0">
                <a:effectLst/>
              </a:rPr>
              <a:t>CholeVidQA‑32K</a:t>
            </a:r>
            <a:r>
              <a:rPr lang="zh-CN" altLang="en-US" dirty="0">
                <a:effectLst/>
              </a:rPr>
              <a:t>，具备动态时序上下文、任务覆盖广的特点，可支撑各类下游应用下基于视频的视觉问答研究。</a:t>
            </a:r>
          </a:p>
          <a:p>
            <a:r>
              <a:rPr lang="zh-CN" altLang="en-US" dirty="0">
                <a:effectLst/>
              </a:rPr>
              <a:t>在精心整理的离线专家验证测试子集（答案由临床医师手动撰写）上完成模型评估。结果显示，相比所有基线模型，该模型输出与专家撰写答案的一致性更高；但该评估</a:t>
            </a:r>
            <a:r>
              <a:rPr lang="zh-CN" altLang="en-US" b="1" dirty="0">
                <a:effectLst/>
              </a:rPr>
              <a:t>不等同于前瞻性临床验证</a:t>
            </a:r>
            <a:r>
              <a:rPr lang="zh-CN" altLang="en-US" dirty="0">
                <a:effectLst/>
              </a:rPr>
              <a:t>。</a:t>
            </a:r>
          </a:p>
          <a:p>
            <a:endParaRPr lang="zh-CN" altLang="en-US" dirty="0"/>
          </a:p>
        </p:txBody>
      </p:sp>
      <p:sp>
        <p:nvSpPr>
          <p:cNvPr id="4" name="灯片编号占位符 3">
            <a:extLst>
              <a:ext uri="{FF2B5EF4-FFF2-40B4-BE49-F238E27FC236}">
                <a16:creationId xmlns:a16="http://schemas.microsoft.com/office/drawing/2014/main" id="{CBBFE9AD-9D68-9EEA-FFAD-4FE7A8C0BD5D}"/>
              </a:ext>
            </a:extLst>
          </p:cNvPr>
          <p:cNvSpPr>
            <a:spLocks noGrp="1"/>
          </p:cNvSpPr>
          <p:nvPr>
            <p:ph type="sldNum" sz="quarter" idx="5"/>
          </p:nvPr>
        </p:nvSpPr>
        <p:spPr/>
        <p:txBody>
          <a:bodyPr/>
          <a:lstStyle/>
          <a:p>
            <a:fld id="{A78175C1-4B1A-4603-A6A8-EDA08D4C4599}" type="slidenum">
              <a:rPr lang="zh-CN" altLang="en-US" smtClean="0"/>
              <a:t>53</a:t>
            </a:fld>
            <a:endParaRPr lang="zh-CN" altLang="en-US"/>
          </a:p>
        </p:txBody>
      </p:sp>
    </p:spTree>
    <p:extLst>
      <p:ext uri="{BB962C8B-B14F-4D97-AF65-F5344CB8AC3E}">
        <p14:creationId xmlns:p14="http://schemas.microsoft.com/office/powerpoint/2010/main" val="3334809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40"/>
            <a:ext cx="10789920" cy="292608"/>
          </a:xfrm>
          <a:prstGeom prst="rect">
            <a:avLst/>
          </a:prstGeom>
          <a:noFill/>
        </p:spPr>
        <p:txBody>
          <a:bodyPr wrap="square" lIns="0" tIns="0" rIns="0" bIns="0" anchor="t"/>
          <a:lstStyle/>
          <a:p>
            <a:pPr algn="l">
              <a:spcBef>
                <a:spcPts val="0"/>
              </a:spcBef>
              <a:spcAft>
                <a:spcPts val="0"/>
              </a:spcAft>
            </a:pPr>
            <a:r>
              <a:rPr sz="1400" b="1" i="0" dirty="0" err="1">
                <a:solidFill>
                  <a:srgbClr val="1A6B7A"/>
                </a:solidFill>
                <a:latin typeface="微软雅黑"/>
                <a:ea typeface="微软雅黑"/>
                <a:cs typeface="微软雅黑"/>
              </a:rPr>
              <a:t>论文分享</a:t>
            </a:r>
            <a:r>
              <a:rPr sz="1400" b="1" i="0" dirty="0">
                <a:solidFill>
                  <a:srgbClr val="1A6B7A"/>
                </a:solidFill>
                <a:latin typeface="微软雅黑"/>
                <a:ea typeface="微软雅黑"/>
                <a:cs typeface="微软雅黑"/>
              </a:rPr>
              <a:t>  ·  arXiv:2603.29962</a:t>
            </a:r>
          </a:p>
        </p:txBody>
      </p:sp>
      <p:sp>
        <p:nvSpPr>
          <p:cNvPr id="5" name="TextBox 4"/>
          <p:cNvSpPr txBox="1"/>
          <p:nvPr/>
        </p:nvSpPr>
        <p:spPr>
          <a:xfrm>
            <a:off x="640080" y="1691640"/>
            <a:ext cx="10972800" cy="1371600"/>
          </a:xfrm>
          <a:prstGeom prst="rect">
            <a:avLst/>
          </a:prstGeom>
          <a:noFill/>
        </p:spPr>
        <p:txBody>
          <a:bodyPr wrap="square" lIns="0" tIns="0" rIns="0" bIns="0" anchor="t"/>
          <a:lstStyle/>
          <a:p>
            <a:pPr algn="l">
              <a:spcBef>
                <a:spcPts val="0"/>
              </a:spcBef>
              <a:spcAft>
                <a:spcPts val="0"/>
              </a:spcAft>
            </a:pPr>
            <a:r>
              <a:rPr sz="3200" b="1" i="0">
                <a:solidFill>
                  <a:srgbClr val="1B3A4B"/>
                </a:solidFill>
                <a:latin typeface="微软雅黑"/>
                <a:ea typeface="微软雅黑"/>
                <a:cs typeface="微软雅黑"/>
              </a:rPr>
              <a:t>SurgTEMP: Temporal-Aware Surgical Video
Question Answering</a:t>
            </a:r>
          </a:p>
        </p:txBody>
      </p:sp>
      <p:sp>
        <p:nvSpPr>
          <p:cNvPr id="6" name="TextBox 5"/>
          <p:cNvSpPr txBox="1"/>
          <p:nvPr/>
        </p:nvSpPr>
        <p:spPr>
          <a:xfrm>
            <a:off x="640080" y="3246120"/>
            <a:ext cx="10515600" cy="640080"/>
          </a:xfrm>
          <a:prstGeom prst="rect">
            <a:avLst/>
          </a:prstGeom>
          <a:noFill/>
        </p:spPr>
        <p:txBody>
          <a:bodyPr wrap="square" lIns="0" tIns="0" rIns="0" bIns="0" anchor="t"/>
          <a:lstStyle/>
          <a:p>
            <a:pPr algn="l">
              <a:spcBef>
                <a:spcPts val="0"/>
              </a:spcBef>
              <a:spcAft>
                <a:spcPts val="0"/>
              </a:spcAft>
            </a:pPr>
            <a:r>
              <a:rPr sz="2000" b="0" i="0" dirty="0" err="1">
                <a:solidFill>
                  <a:srgbClr val="1F2A30"/>
                </a:solidFill>
                <a:latin typeface="微软雅黑"/>
                <a:ea typeface="微软雅黑"/>
                <a:cs typeface="微软雅黑"/>
              </a:rPr>
              <a:t>以文本引导的视觉记忆，处理变长腹腔镜胆囊切除视频问答</a:t>
            </a:r>
            <a:endParaRPr sz="2000" b="0" i="0" dirty="0">
              <a:solidFill>
                <a:srgbClr val="1F2A30"/>
              </a:solidFill>
              <a:latin typeface="微软雅黑"/>
              <a:ea typeface="微软雅黑"/>
              <a:cs typeface="微软雅黑"/>
            </a:endParaRPr>
          </a:p>
        </p:txBody>
      </p:sp>
      <p:sp>
        <p:nvSpPr>
          <p:cNvPr id="7" name="TextBox 6"/>
          <p:cNvSpPr txBox="1"/>
          <p:nvPr/>
        </p:nvSpPr>
        <p:spPr>
          <a:xfrm>
            <a:off x="640080" y="3890891"/>
            <a:ext cx="10515600" cy="822960"/>
          </a:xfrm>
          <a:prstGeom prst="rect">
            <a:avLst/>
          </a:prstGeom>
          <a:noFill/>
        </p:spPr>
        <p:txBody>
          <a:bodyPr wrap="square" lIns="0" tIns="0" rIns="0" bIns="0" anchor="t"/>
          <a:lstStyle/>
          <a:p>
            <a:pPr algn="l">
              <a:spcBef>
                <a:spcPts val="0"/>
              </a:spcBef>
              <a:spcAft>
                <a:spcPts val="0"/>
              </a:spcAft>
            </a:pPr>
            <a:r>
              <a:rPr sz="1500" b="0" i="0" dirty="0">
                <a:solidFill>
                  <a:srgbClr val="5C6B73"/>
                </a:solidFill>
                <a:latin typeface="微软雅黑"/>
                <a:ea typeface="微软雅黑"/>
                <a:cs typeface="微软雅黑"/>
              </a:rPr>
              <a:t>Shi Li, Vinkle Srivastav, Nicolas Chanel, Saurav Sharma, </a:t>
            </a:r>
            <a:r>
              <a:rPr sz="1500" b="0" i="0" dirty="0" err="1">
                <a:solidFill>
                  <a:srgbClr val="5C6B73"/>
                </a:solidFill>
                <a:latin typeface="微软雅黑"/>
                <a:ea typeface="微软雅黑"/>
                <a:cs typeface="微软雅黑"/>
              </a:rPr>
              <a:t>Nabani</a:t>
            </a:r>
            <a:r>
              <a:rPr sz="1500" b="0" i="0" dirty="0">
                <a:solidFill>
                  <a:srgbClr val="5C6B73"/>
                </a:solidFill>
                <a:latin typeface="微软雅黑"/>
                <a:ea typeface="微软雅黑"/>
                <a:cs typeface="微软雅黑"/>
              </a:rPr>
              <a:t> Banik,
Lorenzo </a:t>
            </a:r>
            <a:r>
              <a:rPr sz="1500" b="0" i="0" dirty="0" err="1">
                <a:solidFill>
                  <a:srgbClr val="5C6B73"/>
                </a:solidFill>
                <a:latin typeface="微软雅黑"/>
                <a:ea typeface="微软雅黑"/>
                <a:cs typeface="微软雅黑"/>
              </a:rPr>
              <a:t>Arboit</a:t>
            </a:r>
            <a:r>
              <a:rPr sz="1500" b="0" i="0" dirty="0">
                <a:solidFill>
                  <a:srgbClr val="5C6B73"/>
                </a:solidFill>
                <a:latin typeface="微软雅黑"/>
                <a:ea typeface="微软雅黑"/>
                <a:cs typeface="微软雅黑"/>
              </a:rPr>
              <a:t>, Kun Yuan, Pietro Mascagni, Nicolas </a:t>
            </a:r>
            <a:r>
              <a:rPr sz="1500" b="0" i="0" dirty="0" err="1">
                <a:solidFill>
                  <a:srgbClr val="5C6B73"/>
                </a:solidFill>
                <a:latin typeface="微软雅黑"/>
                <a:ea typeface="微软雅黑"/>
                <a:cs typeface="微软雅黑"/>
              </a:rPr>
              <a:t>Padoy</a:t>
            </a:r>
            <a:endParaRPr sz="1500" b="0" i="0" dirty="0">
              <a:solidFill>
                <a:srgbClr val="5C6B73"/>
              </a:solidFill>
              <a:latin typeface="微软雅黑"/>
              <a:ea typeface="微软雅黑"/>
              <a:cs typeface="微软雅黑"/>
            </a:endParaRPr>
          </a:p>
        </p:txBody>
      </p:sp>
      <p:sp>
        <p:nvSpPr>
          <p:cNvPr id="8" name="TextBox 7"/>
          <p:cNvSpPr txBox="1"/>
          <p:nvPr/>
        </p:nvSpPr>
        <p:spPr>
          <a:xfrm>
            <a:off x="640080" y="4658868"/>
            <a:ext cx="10515600" cy="1453896"/>
          </a:xfrm>
          <a:prstGeom prst="rect">
            <a:avLst/>
          </a:prstGeom>
          <a:noFill/>
        </p:spPr>
        <p:txBody>
          <a:bodyPr wrap="square" lIns="0" tIns="0" rIns="0" bIns="0" anchor="t"/>
          <a:lstStyle/>
          <a:p>
            <a:pPr algn="l">
              <a:spcBef>
                <a:spcPts val="0"/>
              </a:spcBef>
              <a:spcAft>
                <a:spcPts val="0"/>
              </a:spcAft>
            </a:pPr>
            <a:r>
              <a:rPr lang="en-US" sz="1500" b="0" i="0" dirty="0">
                <a:solidFill>
                  <a:srgbClr val="0E4C57"/>
                </a:solidFill>
                <a:latin typeface="微软雅黑"/>
                <a:ea typeface="微软雅黑"/>
                <a:cs typeface="微软雅黑"/>
              </a:rPr>
              <a:t>University of Strasbourg, CNRS, INSERM, </a:t>
            </a:r>
            <a:r>
              <a:rPr lang="en-US" sz="1500" b="0" i="0" dirty="0" err="1">
                <a:solidFill>
                  <a:srgbClr val="0E4C57"/>
                </a:solidFill>
                <a:latin typeface="微软雅黑"/>
                <a:ea typeface="微软雅黑"/>
                <a:cs typeface="微软雅黑"/>
              </a:rPr>
              <a:t>ICube</a:t>
            </a:r>
            <a:r>
              <a:rPr lang="en-US" sz="1500" b="0" i="0" dirty="0">
                <a:solidFill>
                  <a:srgbClr val="0E4C57"/>
                </a:solidFill>
                <a:latin typeface="微软雅黑"/>
                <a:ea typeface="微软雅黑"/>
                <a:cs typeface="微软雅黑"/>
              </a:rPr>
              <a:t>, UMR7357, Strasbourg, France</a:t>
            </a:r>
          </a:p>
          <a:p>
            <a:pPr algn="l">
              <a:spcBef>
                <a:spcPts val="0"/>
              </a:spcBef>
              <a:spcAft>
                <a:spcPts val="0"/>
              </a:spcAft>
            </a:pPr>
            <a:r>
              <a:rPr lang="en-US" sz="1500" b="0" i="0" dirty="0">
                <a:solidFill>
                  <a:srgbClr val="0E4C57"/>
                </a:solidFill>
                <a:latin typeface="微软雅黑"/>
                <a:ea typeface="微软雅黑"/>
                <a:cs typeface="微软雅黑"/>
              </a:rPr>
              <a:t>IHU Strasbourg, Strasbourg, France</a:t>
            </a:r>
          </a:p>
          <a:p>
            <a:pPr algn="l">
              <a:spcBef>
                <a:spcPts val="0"/>
              </a:spcBef>
              <a:spcAft>
                <a:spcPts val="0"/>
              </a:spcAft>
            </a:pPr>
            <a:r>
              <a:rPr lang="en-US" sz="1500" b="0" i="0" dirty="0">
                <a:solidFill>
                  <a:srgbClr val="0E4C57"/>
                </a:solidFill>
                <a:latin typeface="微软雅黑"/>
                <a:ea typeface="微软雅黑"/>
                <a:cs typeface="微软雅黑"/>
              </a:rPr>
              <a:t>Fondazione Policlinico Universitario Agostino Gemelli IRCCS, Rome, Italy</a:t>
            </a:r>
          </a:p>
          <a:p>
            <a:pPr algn="l">
              <a:spcBef>
                <a:spcPts val="0"/>
              </a:spcBef>
              <a:spcAft>
                <a:spcPts val="0"/>
              </a:spcAft>
            </a:pPr>
            <a:r>
              <a:rPr lang="en-US" sz="1500" b="0" i="0" dirty="0">
                <a:solidFill>
                  <a:srgbClr val="0E4C57"/>
                </a:solidFill>
                <a:latin typeface="微软雅黑"/>
                <a:ea typeface="微软雅黑"/>
                <a:cs typeface="微软雅黑"/>
              </a:rPr>
              <a:t>Department of General Surgery, Kaohsiung Chang Gung Memorial Hospital, Chang Gung University College of Medicine, Kaohsiung, Taiwan</a:t>
            </a:r>
            <a:endParaRPr sz="1500" b="0" i="0" dirty="0">
              <a:solidFill>
                <a:srgbClr val="0E4C57"/>
              </a:solidFill>
              <a:latin typeface="微软雅黑"/>
              <a:ea typeface="微软雅黑"/>
              <a:cs typeface="微软雅黑"/>
            </a:endParaRPr>
          </a:p>
        </p:txBody>
      </p:sp>
      <p:sp>
        <p:nvSpPr>
          <p:cNvPr id="10" name="Rectangle 9"/>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6583680"/>
            <a:ext cx="2743200" cy="237744"/>
          </a:xfrm>
          <a:prstGeom prst="rect">
            <a:avLst/>
          </a:prstGeom>
          <a:noFill/>
        </p:spPr>
        <p:txBody>
          <a:bodyPr wrap="square" lIns="0" tIns="0" rIns="0" bIns="0" anchor="ctr"/>
          <a:lstStyle/>
          <a:p>
            <a:pPr algn="l">
              <a:spcBef>
                <a:spcPts val="0"/>
              </a:spcBef>
              <a:spcAft>
                <a:spcPts val="0"/>
              </a:spcAft>
            </a:pPr>
            <a:r>
              <a:rPr sz="1200" b="0" i="0">
                <a:solidFill>
                  <a:srgbClr val="FFFFFF"/>
                </a:solidFill>
                <a:latin typeface="微软雅黑"/>
                <a:ea typeface="微软雅黑"/>
                <a:cs typeface="微软雅黑"/>
              </a:rPr>
              <a:t>2026/10/14</a:t>
            </a:r>
          </a:p>
        </p:txBody>
      </p:sp>
      <p:sp>
        <p:nvSpPr>
          <p:cNvPr id="12" name="TextBox 11"/>
          <p:cNvSpPr txBox="1"/>
          <p:nvPr/>
        </p:nvSpPr>
        <p:spPr>
          <a:xfrm>
            <a:off x="4937760" y="6583680"/>
            <a:ext cx="2286000" cy="237744"/>
          </a:xfrm>
          <a:prstGeom prst="rect">
            <a:avLst/>
          </a:prstGeom>
          <a:noFill/>
        </p:spPr>
        <p:txBody>
          <a:bodyPr wrap="square" lIns="0" tIns="0" rIns="0" bIns="0" anchor="ctr"/>
          <a:lstStyle/>
          <a:p>
            <a:pPr algn="ctr">
              <a:spcBef>
                <a:spcPts val="0"/>
              </a:spcBef>
              <a:spcAft>
                <a:spcPts val="0"/>
              </a:spcAft>
            </a:pPr>
            <a:r>
              <a:rPr sz="1200" b="0" i="0">
                <a:solidFill>
                  <a:srgbClr val="FFFFFF"/>
                </a:solidFill>
                <a:latin typeface="微软雅黑"/>
                <a:ea typeface="微软雅黑"/>
                <a:cs typeface="微软雅黑"/>
              </a:rPr>
              <a:t>lqy</a:t>
            </a:r>
          </a:p>
        </p:txBody>
      </p:sp>
      <p:sp>
        <p:nvSpPr>
          <p:cNvPr id="13" name="TextBox 12"/>
          <p:cNvSpPr txBox="1"/>
          <p:nvPr/>
        </p:nvSpPr>
        <p:spPr>
          <a:xfrm>
            <a:off x="9509760" y="6583680"/>
            <a:ext cx="2194560" cy="237744"/>
          </a:xfrm>
          <a:prstGeom prst="rect">
            <a:avLst/>
          </a:prstGeom>
          <a:noFill/>
        </p:spPr>
        <p:txBody>
          <a:bodyPr wrap="square" lIns="0" tIns="0" rIns="0" bIns="0" anchor="ctr"/>
          <a:lstStyle/>
          <a:p>
            <a:pPr algn="r">
              <a:spcBef>
                <a:spcPts val="0"/>
              </a:spcBef>
              <a:spcAft>
                <a:spcPts val="0"/>
              </a:spcAft>
            </a:pPr>
            <a:r>
              <a:rPr sz="1200" b="0" i="0">
                <a:solidFill>
                  <a:srgbClr val="FFFFFF"/>
                </a:solidFill>
                <a:latin typeface="微软雅黑"/>
                <a:ea typeface="微软雅黑"/>
                <a:cs typeface="微软雅黑"/>
              </a:rPr>
              <a:t>1  /  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Background</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43000"/>
            <a:ext cx="11292840" cy="15544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5216" y="1234440"/>
            <a:ext cx="11036808" cy="292608"/>
          </a:xfrm>
          <a:prstGeom prst="rect">
            <a:avLst/>
          </a:prstGeom>
          <a:noFill/>
        </p:spPr>
        <p:txBody>
          <a:bodyPr wrap="square" lIns="0" tIns="0" rIns="0" bIns="0" anchor="t"/>
          <a:lstStyle/>
          <a:p>
            <a:pPr algn="l">
              <a:spcBef>
                <a:spcPts val="0"/>
              </a:spcBef>
              <a:spcAft>
                <a:spcPts val="0"/>
              </a:spcAft>
            </a:pPr>
            <a:r>
              <a:rPr sz="1400" b="1" i="0">
                <a:solidFill>
                  <a:srgbClr val="0E4C57"/>
                </a:solidFill>
                <a:latin typeface="微软雅黑"/>
                <a:ea typeface="微软雅黑"/>
                <a:cs typeface="微软雅黑"/>
              </a:rPr>
              <a:t>现有手术 VQA</a:t>
            </a:r>
          </a:p>
        </p:txBody>
      </p:sp>
      <p:sp>
        <p:nvSpPr>
          <p:cNvPr id="9" name="TextBox 8"/>
          <p:cNvSpPr txBox="1"/>
          <p:nvPr/>
        </p:nvSpPr>
        <p:spPr>
          <a:xfrm>
            <a:off x="585216" y="1527048"/>
            <a:ext cx="11036808" cy="1078992"/>
          </a:xfrm>
          <a:prstGeom prst="rect">
            <a:avLst/>
          </a:prstGeom>
          <a:noFill/>
        </p:spPr>
        <p:txBody>
          <a:bodyPr wrap="square" lIns="0" tIns="0" rIns="0" bIns="0" anchor="t"/>
          <a:lstStyle/>
          <a:p>
            <a:pPr algn="l">
              <a:lnSpc>
                <a:spcPct val="150000"/>
              </a:lnSpc>
              <a:spcBef>
                <a:spcPts val="0"/>
              </a:spcBef>
              <a:spcAft>
                <a:spcPts val="0"/>
              </a:spcAft>
            </a:pPr>
            <a:r>
              <a:rPr b="0" i="0" dirty="0" err="1">
                <a:solidFill>
                  <a:srgbClr val="1F2A30"/>
                </a:solidFill>
                <a:latin typeface="微软雅黑"/>
                <a:ea typeface="微软雅黑"/>
                <a:cs typeface="微软雅黑"/>
              </a:rPr>
              <a:t>多数系统</a:t>
            </a:r>
            <a:r>
              <a:rPr lang="zh-CN" altLang="en-US" b="0" i="0" dirty="0">
                <a:solidFill>
                  <a:srgbClr val="1F2A30"/>
                </a:solidFill>
                <a:latin typeface="微软雅黑"/>
                <a:ea typeface="微软雅黑"/>
                <a:cs typeface="微软雅黑"/>
              </a:rPr>
              <a:t>输入</a:t>
            </a:r>
            <a:r>
              <a:rPr b="0" i="0" dirty="0" err="1">
                <a:solidFill>
                  <a:srgbClr val="1F2A30"/>
                </a:solidFill>
                <a:latin typeface="微软雅黑"/>
                <a:ea typeface="微软雅黑"/>
                <a:cs typeface="微软雅黑"/>
              </a:rPr>
              <a:t>单帧或很短的片段，任务停在器械、组织和动作识别</a:t>
            </a:r>
            <a:endParaRPr lang="en-US" b="0" i="0" dirty="0">
              <a:solidFill>
                <a:srgbClr val="1F2A30"/>
              </a:solidFill>
              <a:latin typeface="微软雅黑"/>
              <a:ea typeface="微软雅黑"/>
              <a:cs typeface="微软雅黑"/>
            </a:endParaRPr>
          </a:p>
          <a:p>
            <a:pPr algn="l">
              <a:lnSpc>
                <a:spcPct val="150000"/>
              </a:lnSpc>
              <a:spcBef>
                <a:spcPts val="0"/>
              </a:spcBef>
              <a:spcAft>
                <a:spcPts val="0"/>
              </a:spcAft>
            </a:pPr>
            <a:r>
              <a:rPr b="0" i="0" dirty="0" err="1">
                <a:solidFill>
                  <a:srgbClr val="1F2A30"/>
                </a:solidFill>
                <a:latin typeface="微软雅黑"/>
                <a:ea typeface="微软雅黑"/>
                <a:cs typeface="微软雅黑"/>
              </a:rPr>
              <a:t>安全评估、技能和不良事件这些需要</a:t>
            </a:r>
            <a:r>
              <a:rPr lang="zh-CN" altLang="en-US" b="0" i="0" dirty="0">
                <a:solidFill>
                  <a:srgbClr val="1F2A30"/>
                </a:solidFill>
                <a:latin typeface="微软雅黑"/>
                <a:ea typeface="微软雅黑"/>
                <a:cs typeface="微软雅黑"/>
              </a:rPr>
              <a:t>时序信息</a:t>
            </a:r>
            <a:r>
              <a:rPr b="0" i="0" dirty="0" err="1">
                <a:solidFill>
                  <a:srgbClr val="1F2A30"/>
                </a:solidFill>
                <a:latin typeface="微软雅黑"/>
                <a:ea typeface="微软雅黑"/>
                <a:cs typeface="微软雅黑"/>
              </a:rPr>
              <a:t>的判断几乎没有被放进同一套视频问答里</a:t>
            </a:r>
            <a:endParaRPr b="0" i="0" dirty="0">
              <a:solidFill>
                <a:srgbClr val="1F2A30"/>
              </a:solidFill>
              <a:latin typeface="微软雅黑"/>
              <a:ea typeface="微软雅黑"/>
              <a:cs typeface="微软雅黑"/>
            </a:endParaRPr>
          </a:p>
        </p:txBody>
      </p:sp>
      <p:sp>
        <p:nvSpPr>
          <p:cNvPr id="10" name="Rounded Rectangle 9"/>
          <p:cNvSpPr/>
          <p:nvPr/>
        </p:nvSpPr>
        <p:spPr>
          <a:xfrm>
            <a:off x="438912" y="2834640"/>
            <a:ext cx="11292840" cy="15544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5216" y="2926080"/>
            <a:ext cx="11036808" cy="292608"/>
          </a:xfrm>
          <a:prstGeom prst="rect">
            <a:avLst/>
          </a:prstGeom>
          <a:noFill/>
        </p:spPr>
        <p:txBody>
          <a:bodyPr wrap="square" lIns="0" tIns="0" rIns="0" bIns="0" anchor="t"/>
          <a:lstStyle/>
          <a:p>
            <a:pPr algn="l">
              <a:spcBef>
                <a:spcPts val="0"/>
              </a:spcBef>
              <a:spcAft>
                <a:spcPts val="0"/>
              </a:spcAft>
            </a:pPr>
            <a:r>
              <a:rPr sz="1400" b="1" i="0">
                <a:solidFill>
                  <a:srgbClr val="0E4C57"/>
                </a:solidFill>
                <a:latin typeface="微软雅黑"/>
                <a:ea typeface="微软雅黑"/>
                <a:cs typeface="微软雅黑"/>
              </a:rPr>
              <a:t>通用视频模型的缺口</a:t>
            </a:r>
          </a:p>
        </p:txBody>
      </p:sp>
      <p:sp>
        <p:nvSpPr>
          <p:cNvPr id="12" name="TextBox 11"/>
          <p:cNvSpPr txBox="1"/>
          <p:nvPr/>
        </p:nvSpPr>
        <p:spPr>
          <a:xfrm>
            <a:off x="585216" y="3218688"/>
            <a:ext cx="11036808" cy="1078992"/>
          </a:xfrm>
          <a:prstGeom prst="rect">
            <a:avLst/>
          </a:prstGeom>
          <a:noFill/>
        </p:spPr>
        <p:txBody>
          <a:bodyPr wrap="square" lIns="0" tIns="0" rIns="0" bIns="0" anchor="t"/>
          <a:lstStyle/>
          <a:p>
            <a:pPr algn="l">
              <a:lnSpc>
                <a:spcPct val="150000"/>
              </a:lnSpc>
              <a:spcBef>
                <a:spcPts val="0"/>
              </a:spcBef>
              <a:spcAft>
                <a:spcPts val="0"/>
              </a:spcAft>
            </a:pPr>
            <a:r>
              <a:rPr dirty="0" err="1">
                <a:solidFill>
                  <a:srgbClr val="1F2A30"/>
                </a:solidFill>
                <a:latin typeface="微软雅黑"/>
                <a:ea typeface="微软雅黑"/>
              </a:rPr>
              <a:t>通用视频大模型能描述画面，但手术对比度低、关键结构往往不显眼</a:t>
            </a:r>
            <a:endParaRPr lang="en-US" dirty="0">
              <a:solidFill>
                <a:srgbClr val="1F2A30"/>
              </a:solidFill>
              <a:latin typeface="微软雅黑"/>
              <a:ea typeface="微软雅黑"/>
            </a:endParaRPr>
          </a:p>
          <a:p>
            <a:pPr algn="l">
              <a:lnSpc>
                <a:spcPct val="150000"/>
              </a:lnSpc>
              <a:spcBef>
                <a:spcPts val="0"/>
              </a:spcBef>
              <a:spcAft>
                <a:spcPts val="0"/>
              </a:spcAft>
            </a:pPr>
            <a:r>
              <a:rPr dirty="0" err="1">
                <a:solidFill>
                  <a:srgbClr val="1F2A30"/>
                </a:solidFill>
                <a:latin typeface="微软雅黑"/>
                <a:ea typeface="微软雅黑"/>
              </a:rPr>
              <a:t>不看临床标准，模型会给出看起来完整、实际上不符合评分规则的答案</a:t>
            </a:r>
            <a:endParaRPr sz="1300" b="0" i="0" dirty="0">
              <a:solidFill>
                <a:srgbClr val="1F2A30"/>
              </a:solidFill>
              <a:latin typeface="微软雅黑"/>
              <a:ea typeface="微软雅黑"/>
              <a:cs typeface="微软雅黑"/>
            </a:endParaRPr>
          </a:p>
        </p:txBody>
      </p:sp>
      <p:sp>
        <p:nvSpPr>
          <p:cNvPr id="13" name="Rounded Rectangle 12"/>
          <p:cNvSpPr/>
          <p:nvPr/>
        </p:nvSpPr>
        <p:spPr>
          <a:xfrm>
            <a:off x="438912" y="4526280"/>
            <a:ext cx="11292840" cy="15544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 y="4617720"/>
            <a:ext cx="11036808" cy="292608"/>
          </a:xfrm>
          <a:prstGeom prst="rect">
            <a:avLst/>
          </a:prstGeom>
          <a:noFill/>
        </p:spPr>
        <p:txBody>
          <a:bodyPr wrap="square" lIns="0" tIns="0" rIns="0" bIns="0" anchor="t"/>
          <a:lstStyle/>
          <a:p>
            <a:pPr algn="l">
              <a:spcBef>
                <a:spcPts val="0"/>
              </a:spcBef>
              <a:spcAft>
                <a:spcPts val="0"/>
              </a:spcAft>
            </a:pPr>
            <a:r>
              <a:rPr sz="1400" b="1" i="0">
                <a:solidFill>
                  <a:srgbClr val="0E4C57"/>
                </a:solidFill>
                <a:latin typeface="微软雅黑"/>
                <a:ea typeface="微软雅黑"/>
                <a:cs typeface="微软雅黑"/>
              </a:rPr>
              <a:t>时间粒度并不统一</a:t>
            </a:r>
          </a:p>
        </p:txBody>
      </p:sp>
      <p:sp>
        <p:nvSpPr>
          <p:cNvPr id="15" name="TextBox 14"/>
          <p:cNvSpPr txBox="1"/>
          <p:nvPr/>
        </p:nvSpPr>
        <p:spPr>
          <a:xfrm>
            <a:off x="585216" y="4910328"/>
            <a:ext cx="11036808" cy="1078992"/>
          </a:xfrm>
          <a:prstGeom prst="rect">
            <a:avLst/>
          </a:prstGeom>
          <a:noFill/>
        </p:spPr>
        <p:txBody>
          <a:bodyPr wrap="square" lIns="0" tIns="0" rIns="0" bIns="0" anchor="t"/>
          <a:lstStyle/>
          <a:p>
            <a:pPr algn="l">
              <a:lnSpc>
                <a:spcPct val="150000"/>
              </a:lnSpc>
              <a:spcBef>
                <a:spcPts val="0"/>
              </a:spcBef>
              <a:spcAft>
                <a:spcPts val="0"/>
              </a:spcAft>
            </a:pPr>
            <a:r>
              <a:rPr dirty="0" err="1">
                <a:solidFill>
                  <a:srgbClr val="1F2A30"/>
                </a:solidFill>
                <a:latin typeface="微软雅黑"/>
                <a:ea typeface="微软雅黑"/>
              </a:rPr>
              <a:t>关键安全视野和突发出血依赖很短的</a:t>
            </a:r>
            <a:r>
              <a:rPr lang="zh-CN" altLang="en-US" dirty="0">
                <a:solidFill>
                  <a:srgbClr val="1F2A30"/>
                </a:solidFill>
                <a:latin typeface="微软雅黑"/>
                <a:ea typeface="微软雅黑"/>
              </a:rPr>
              <a:t>时间</a:t>
            </a:r>
            <a:r>
              <a:rPr dirty="0" err="1">
                <a:solidFill>
                  <a:srgbClr val="1F2A30"/>
                </a:solidFill>
                <a:latin typeface="微软雅黑"/>
                <a:ea typeface="微软雅黑"/>
              </a:rPr>
              <a:t>窗口；技能熟练度要看整个阶段的牵拉、显露和出血控制</a:t>
            </a:r>
            <a:endParaRPr lang="en-US" dirty="0">
              <a:solidFill>
                <a:srgbClr val="1F2A30"/>
              </a:solidFill>
              <a:latin typeface="微软雅黑"/>
              <a:ea typeface="微软雅黑"/>
            </a:endParaRPr>
          </a:p>
          <a:p>
            <a:pPr algn="l">
              <a:lnSpc>
                <a:spcPct val="150000"/>
              </a:lnSpc>
              <a:spcBef>
                <a:spcPts val="0"/>
              </a:spcBef>
              <a:spcAft>
                <a:spcPts val="0"/>
              </a:spcAft>
            </a:pPr>
            <a:r>
              <a:rPr dirty="0" err="1">
                <a:solidFill>
                  <a:srgbClr val="1F2A30"/>
                </a:solidFill>
                <a:latin typeface="微软雅黑"/>
                <a:ea typeface="微软雅黑"/>
              </a:rPr>
              <a:t>同一种均匀抽帧服务不了这两类问题</a:t>
            </a:r>
            <a:r>
              <a:rPr sz="1300" b="0" i="0" dirty="0">
                <a:solidFill>
                  <a:srgbClr val="1F2A30"/>
                </a:solidFill>
                <a:latin typeface="微软雅黑"/>
                <a:ea typeface="微软雅黑"/>
                <a:cs typeface="微软雅黑"/>
              </a:rPr>
              <a:t>。</a:t>
            </a:r>
          </a:p>
        </p:txBody>
      </p:sp>
      <p:sp>
        <p:nvSpPr>
          <p:cNvPr id="16" name="Rectangle 15"/>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dirty="0">
                <a:solidFill>
                  <a:srgbClr val="FFFFFF"/>
                </a:solidFill>
                <a:latin typeface="微软雅黑"/>
                <a:ea typeface="微软雅黑"/>
                <a:cs typeface="微软雅黑"/>
              </a:rPr>
              <a:t>2026/10/14</a:t>
            </a:r>
          </a:p>
        </p:txBody>
      </p:sp>
      <p:sp>
        <p:nvSpPr>
          <p:cNvPr id="18" name="TextBox 17"/>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9" name="TextBox 18"/>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2  /  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dirty="0">
                <a:solidFill>
                  <a:srgbClr val="1B3A4B"/>
                </a:solidFill>
                <a:latin typeface="微软雅黑"/>
                <a:ea typeface="微软雅黑"/>
                <a:cs typeface="微软雅黑"/>
              </a:rPr>
              <a:t>Problem Formulation</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12" y="1097280"/>
            <a:ext cx="11247120" cy="640080"/>
          </a:xfrm>
          <a:prstGeom prst="rect">
            <a:avLst/>
          </a:prstGeom>
          <a:noFill/>
        </p:spPr>
        <p:txBody>
          <a:bodyPr wrap="square" lIns="0" tIns="0" rIns="0" bIns="0" anchor="t"/>
          <a:lstStyle/>
          <a:p>
            <a:pPr algn="l">
              <a:lnSpc>
                <a:spcPct val="150000"/>
              </a:lnSpc>
              <a:spcBef>
                <a:spcPts val="0"/>
              </a:spcBef>
              <a:spcAft>
                <a:spcPts val="0"/>
              </a:spcAft>
            </a:pPr>
            <a:r>
              <a:rPr sz="1600" b="0" i="0" dirty="0" err="1">
                <a:solidFill>
                  <a:srgbClr val="1F2A30"/>
                </a:solidFill>
                <a:latin typeface="微软雅黑"/>
                <a:ea typeface="微软雅黑"/>
                <a:cs typeface="微软雅黑"/>
              </a:rPr>
              <a:t>给定一段变长的腹腔镜胆囊切除视频和一道临床问题，生成开放答案</a:t>
            </a:r>
            <a:endParaRPr lang="en-US" sz="1600" b="0" i="0" dirty="0">
              <a:solidFill>
                <a:srgbClr val="1F2A30"/>
              </a:solidFill>
              <a:latin typeface="微软雅黑"/>
              <a:ea typeface="微软雅黑"/>
              <a:cs typeface="微软雅黑"/>
            </a:endParaRPr>
          </a:p>
          <a:p>
            <a:pPr algn="l">
              <a:lnSpc>
                <a:spcPct val="150000"/>
              </a:lnSpc>
              <a:spcBef>
                <a:spcPts val="0"/>
              </a:spcBef>
              <a:spcAft>
                <a:spcPts val="0"/>
              </a:spcAft>
            </a:pPr>
            <a:r>
              <a:rPr sz="1600" b="0" i="0" dirty="0" err="1">
                <a:solidFill>
                  <a:srgbClr val="1F2A30"/>
                </a:solidFill>
                <a:latin typeface="微软雅黑"/>
                <a:ea typeface="微软雅黑"/>
                <a:cs typeface="微软雅黑"/>
              </a:rPr>
              <a:t>问题来自三个认知层级，证据窗口由问题决定，而不是先把整台手术压成一个分数</a:t>
            </a:r>
            <a:endParaRPr sz="1600" b="0" i="0" dirty="0">
              <a:solidFill>
                <a:srgbClr val="1F2A30"/>
              </a:solidFill>
              <a:latin typeface="微软雅黑"/>
              <a:ea typeface="微软雅黑"/>
              <a:cs typeface="微软雅黑"/>
            </a:endParaRPr>
          </a:p>
        </p:txBody>
      </p:sp>
      <p:sp>
        <p:nvSpPr>
          <p:cNvPr id="8" name="Rounded Rectangle 7"/>
          <p:cNvSpPr/>
          <p:nvPr/>
        </p:nvSpPr>
        <p:spPr>
          <a:xfrm>
            <a:off x="438912" y="1965960"/>
            <a:ext cx="3611880" cy="214884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 y="2084831"/>
            <a:ext cx="3246120" cy="329184"/>
          </a:xfrm>
          <a:prstGeom prst="rect">
            <a:avLst/>
          </a:prstGeom>
          <a:noFill/>
        </p:spPr>
        <p:txBody>
          <a:bodyPr wrap="square" lIns="0" tIns="0" rIns="0" bIns="0" anchor="t"/>
          <a:lstStyle/>
          <a:p>
            <a:pPr algn="l">
              <a:spcBef>
                <a:spcPts val="0"/>
              </a:spcBef>
              <a:spcAft>
                <a:spcPts val="0"/>
              </a:spcAft>
            </a:pPr>
            <a:r>
              <a:rPr sz="1800" b="1" i="0">
                <a:solidFill>
                  <a:srgbClr val="0E4C57"/>
                </a:solidFill>
                <a:latin typeface="微软雅黑"/>
                <a:ea typeface="微软雅黑"/>
                <a:cs typeface="微软雅黑"/>
              </a:rPr>
              <a:t>Perception</a:t>
            </a:r>
          </a:p>
        </p:txBody>
      </p:sp>
      <p:sp>
        <p:nvSpPr>
          <p:cNvPr id="10" name="TextBox 9"/>
          <p:cNvSpPr txBox="1"/>
          <p:nvPr/>
        </p:nvSpPr>
        <p:spPr>
          <a:xfrm>
            <a:off x="621792" y="2468880"/>
            <a:ext cx="3246120" cy="292608"/>
          </a:xfrm>
          <a:prstGeom prst="rect">
            <a:avLst/>
          </a:prstGeom>
          <a:noFill/>
        </p:spPr>
        <p:txBody>
          <a:bodyPr wrap="square" lIns="0" tIns="0" rIns="0" bIns="0" anchor="t"/>
          <a:lstStyle/>
          <a:p>
            <a:pPr algn="l">
              <a:spcBef>
                <a:spcPts val="0"/>
              </a:spcBef>
              <a:spcAft>
                <a:spcPts val="0"/>
              </a:spcAft>
            </a:pPr>
            <a:r>
              <a:rPr sz="1300" b="1" i="0">
                <a:solidFill>
                  <a:srgbClr val="8A5A12"/>
                </a:solidFill>
                <a:latin typeface="微软雅黑"/>
                <a:ea typeface="微软雅黑"/>
                <a:cs typeface="微软雅黑"/>
              </a:rPr>
              <a:t>短片段</a:t>
            </a:r>
          </a:p>
        </p:txBody>
      </p:sp>
      <p:sp>
        <p:nvSpPr>
          <p:cNvPr id="11" name="TextBox 10"/>
          <p:cNvSpPr txBox="1"/>
          <p:nvPr/>
        </p:nvSpPr>
        <p:spPr>
          <a:xfrm>
            <a:off x="621792" y="2834640"/>
            <a:ext cx="3246120" cy="1005840"/>
          </a:xfrm>
          <a:prstGeom prst="rect">
            <a:avLst/>
          </a:prstGeom>
          <a:noFill/>
        </p:spPr>
        <p:txBody>
          <a:bodyPr wrap="square" lIns="0" tIns="0" rIns="0" bIns="0" anchor="t"/>
          <a:lstStyle/>
          <a:p>
            <a:pPr algn="l">
              <a:spcBef>
                <a:spcPts val="0"/>
              </a:spcBef>
              <a:spcAft>
                <a:spcPts val="0"/>
              </a:spcAft>
            </a:pPr>
            <a:r>
              <a:rPr sz="1500" b="0" i="0" dirty="0" err="1">
                <a:solidFill>
                  <a:srgbClr val="1F2A30"/>
                </a:solidFill>
                <a:latin typeface="微软雅黑"/>
                <a:ea typeface="微软雅黑"/>
                <a:cs typeface="微软雅黑"/>
              </a:rPr>
              <a:t>器械、动作、解剖</a:t>
            </a:r>
            <a:r>
              <a:rPr sz="1500" b="0" i="0" dirty="0">
                <a:solidFill>
                  <a:srgbClr val="1F2A30"/>
                </a:solidFill>
                <a:latin typeface="微软雅黑"/>
                <a:ea typeface="微软雅黑"/>
                <a:cs typeface="微软雅黑"/>
              </a:rPr>
              <a:t>
</a:t>
            </a:r>
            <a:r>
              <a:rPr sz="1500" b="0" i="0" dirty="0" err="1">
                <a:solidFill>
                  <a:srgbClr val="1F2A30"/>
                </a:solidFill>
                <a:latin typeface="微软雅黑"/>
                <a:ea typeface="微软雅黑"/>
                <a:cs typeface="微软雅黑"/>
              </a:rPr>
              <a:t>看清当下画面</a:t>
            </a:r>
            <a:endParaRPr sz="1500" b="0" i="0" dirty="0">
              <a:solidFill>
                <a:srgbClr val="1F2A30"/>
              </a:solidFill>
              <a:latin typeface="微软雅黑"/>
              <a:ea typeface="微软雅黑"/>
              <a:cs typeface="微软雅黑"/>
            </a:endParaRPr>
          </a:p>
        </p:txBody>
      </p:sp>
      <p:sp>
        <p:nvSpPr>
          <p:cNvPr id="12" name="Rounded Rectangle 11"/>
          <p:cNvSpPr/>
          <p:nvPr/>
        </p:nvSpPr>
        <p:spPr>
          <a:xfrm>
            <a:off x="4279392" y="1965960"/>
            <a:ext cx="3611880" cy="214884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62272" y="2084831"/>
            <a:ext cx="3246120" cy="329184"/>
          </a:xfrm>
          <a:prstGeom prst="rect">
            <a:avLst/>
          </a:prstGeom>
          <a:noFill/>
        </p:spPr>
        <p:txBody>
          <a:bodyPr wrap="square" lIns="0" tIns="0" rIns="0" bIns="0" anchor="t"/>
          <a:lstStyle/>
          <a:p>
            <a:pPr algn="l">
              <a:spcBef>
                <a:spcPts val="0"/>
              </a:spcBef>
              <a:spcAft>
                <a:spcPts val="0"/>
              </a:spcAft>
            </a:pPr>
            <a:r>
              <a:rPr sz="1800" b="1" i="0">
                <a:solidFill>
                  <a:srgbClr val="0E4C57"/>
                </a:solidFill>
                <a:latin typeface="微软雅黑"/>
                <a:ea typeface="微软雅黑"/>
                <a:cs typeface="微软雅黑"/>
              </a:rPr>
              <a:t>Assessment</a:t>
            </a:r>
          </a:p>
        </p:txBody>
      </p:sp>
      <p:sp>
        <p:nvSpPr>
          <p:cNvPr id="14" name="TextBox 13"/>
          <p:cNvSpPr txBox="1"/>
          <p:nvPr/>
        </p:nvSpPr>
        <p:spPr>
          <a:xfrm>
            <a:off x="4462272" y="2468880"/>
            <a:ext cx="3246120" cy="292608"/>
          </a:xfrm>
          <a:prstGeom prst="rect">
            <a:avLst/>
          </a:prstGeom>
          <a:noFill/>
        </p:spPr>
        <p:txBody>
          <a:bodyPr wrap="square" lIns="0" tIns="0" rIns="0" bIns="0" anchor="t"/>
          <a:lstStyle/>
          <a:p>
            <a:pPr algn="l">
              <a:spcBef>
                <a:spcPts val="0"/>
              </a:spcBef>
              <a:spcAft>
                <a:spcPts val="0"/>
              </a:spcAft>
            </a:pPr>
            <a:r>
              <a:rPr sz="1300" b="1" i="0">
                <a:solidFill>
                  <a:srgbClr val="8A5A12"/>
                </a:solidFill>
                <a:latin typeface="微软雅黑"/>
                <a:ea typeface="微软雅黑"/>
                <a:cs typeface="微软雅黑"/>
              </a:rPr>
              <a:t>数秒到数十分钟</a:t>
            </a:r>
          </a:p>
        </p:txBody>
      </p:sp>
      <p:sp>
        <p:nvSpPr>
          <p:cNvPr id="15" name="TextBox 14"/>
          <p:cNvSpPr txBox="1"/>
          <p:nvPr/>
        </p:nvSpPr>
        <p:spPr>
          <a:xfrm>
            <a:off x="4462272" y="2834640"/>
            <a:ext cx="3246120" cy="1005840"/>
          </a:xfrm>
          <a:prstGeom prst="rect">
            <a:avLst/>
          </a:prstGeom>
          <a:noFill/>
        </p:spPr>
        <p:txBody>
          <a:bodyPr wrap="square" lIns="0" tIns="0" rIns="0" bIns="0" anchor="t"/>
          <a:lstStyle/>
          <a:p>
            <a:pPr algn="l">
              <a:spcBef>
                <a:spcPts val="0"/>
              </a:spcBef>
              <a:spcAft>
                <a:spcPts val="0"/>
              </a:spcAft>
            </a:pPr>
            <a:r>
              <a:rPr sz="1500" b="0" i="0" dirty="0" err="1">
                <a:solidFill>
                  <a:srgbClr val="1F2A30"/>
                </a:solidFill>
                <a:latin typeface="微软雅黑"/>
                <a:ea typeface="微软雅黑"/>
                <a:cs typeface="微软雅黑"/>
              </a:rPr>
              <a:t>CVS、难度、不良事件</a:t>
            </a:r>
            <a:r>
              <a:rPr sz="1500" b="0" i="0" dirty="0">
                <a:solidFill>
                  <a:srgbClr val="1F2A30"/>
                </a:solidFill>
                <a:latin typeface="微软雅黑"/>
                <a:ea typeface="微软雅黑"/>
                <a:cs typeface="微软雅黑"/>
              </a:rPr>
              <a:t>、
</a:t>
            </a:r>
            <a:r>
              <a:rPr sz="1500" b="0" i="0" dirty="0" err="1">
                <a:solidFill>
                  <a:srgbClr val="1F2A30"/>
                </a:solidFill>
                <a:latin typeface="微软雅黑"/>
                <a:ea typeface="微软雅黑"/>
                <a:cs typeface="微软雅黑"/>
              </a:rPr>
              <a:t>技能熟练度</a:t>
            </a:r>
            <a:endParaRPr sz="1500" b="0" i="0" dirty="0">
              <a:solidFill>
                <a:srgbClr val="1F2A30"/>
              </a:solidFill>
              <a:latin typeface="微软雅黑"/>
              <a:ea typeface="微软雅黑"/>
              <a:cs typeface="微软雅黑"/>
            </a:endParaRPr>
          </a:p>
        </p:txBody>
      </p:sp>
      <p:sp>
        <p:nvSpPr>
          <p:cNvPr id="16" name="Rounded Rectangle 15"/>
          <p:cNvSpPr/>
          <p:nvPr/>
        </p:nvSpPr>
        <p:spPr>
          <a:xfrm>
            <a:off x="8119872" y="1965960"/>
            <a:ext cx="3611880" cy="214884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2084831"/>
            <a:ext cx="3246120" cy="329184"/>
          </a:xfrm>
          <a:prstGeom prst="rect">
            <a:avLst/>
          </a:prstGeom>
          <a:noFill/>
        </p:spPr>
        <p:txBody>
          <a:bodyPr wrap="square" lIns="0" tIns="0" rIns="0" bIns="0" anchor="t"/>
          <a:lstStyle/>
          <a:p>
            <a:pPr algn="l">
              <a:spcBef>
                <a:spcPts val="0"/>
              </a:spcBef>
              <a:spcAft>
                <a:spcPts val="0"/>
              </a:spcAft>
            </a:pPr>
            <a:r>
              <a:rPr sz="1800" b="1" i="0">
                <a:solidFill>
                  <a:srgbClr val="0E4C57"/>
                </a:solidFill>
                <a:latin typeface="微软雅黑"/>
                <a:ea typeface="微软雅黑"/>
                <a:cs typeface="微软雅黑"/>
              </a:rPr>
              <a:t>Reasoning</a:t>
            </a:r>
          </a:p>
        </p:txBody>
      </p:sp>
      <p:sp>
        <p:nvSpPr>
          <p:cNvPr id="18" name="TextBox 17"/>
          <p:cNvSpPr txBox="1"/>
          <p:nvPr/>
        </p:nvSpPr>
        <p:spPr>
          <a:xfrm>
            <a:off x="8302752" y="2468880"/>
            <a:ext cx="3246120" cy="292608"/>
          </a:xfrm>
          <a:prstGeom prst="rect">
            <a:avLst/>
          </a:prstGeom>
          <a:noFill/>
        </p:spPr>
        <p:txBody>
          <a:bodyPr wrap="square" lIns="0" tIns="0" rIns="0" bIns="0" anchor="t"/>
          <a:lstStyle/>
          <a:p>
            <a:pPr algn="l">
              <a:spcBef>
                <a:spcPts val="0"/>
              </a:spcBef>
              <a:spcAft>
                <a:spcPts val="0"/>
              </a:spcAft>
            </a:pPr>
            <a:r>
              <a:rPr sz="1300" b="1" i="0" dirty="0" err="1">
                <a:solidFill>
                  <a:srgbClr val="8A5A12"/>
                </a:solidFill>
                <a:latin typeface="微软雅黑"/>
                <a:ea typeface="微软雅黑"/>
                <a:cs typeface="微软雅黑"/>
              </a:rPr>
              <a:t>跨片段综合</a:t>
            </a:r>
            <a:endParaRPr sz="1300" b="1" i="0" dirty="0">
              <a:solidFill>
                <a:srgbClr val="8A5A12"/>
              </a:solidFill>
              <a:latin typeface="微软雅黑"/>
              <a:ea typeface="微软雅黑"/>
              <a:cs typeface="微软雅黑"/>
            </a:endParaRPr>
          </a:p>
        </p:txBody>
      </p:sp>
      <p:sp>
        <p:nvSpPr>
          <p:cNvPr id="19" name="TextBox 18"/>
          <p:cNvSpPr txBox="1"/>
          <p:nvPr/>
        </p:nvSpPr>
        <p:spPr>
          <a:xfrm>
            <a:off x="8302752" y="2834640"/>
            <a:ext cx="3246120" cy="1005840"/>
          </a:xfrm>
          <a:prstGeom prst="rect">
            <a:avLst/>
          </a:prstGeom>
          <a:noFill/>
        </p:spPr>
        <p:txBody>
          <a:bodyPr wrap="square" lIns="0" tIns="0" rIns="0" bIns="0" anchor="t"/>
          <a:lstStyle/>
          <a:p>
            <a:pPr algn="l">
              <a:spcBef>
                <a:spcPts val="0"/>
              </a:spcBef>
              <a:spcAft>
                <a:spcPts val="0"/>
              </a:spcAft>
            </a:pPr>
            <a:r>
              <a:rPr sz="1500" b="0" i="0" dirty="0" err="1">
                <a:solidFill>
                  <a:srgbClr val="1F2A30"/>
                </a:solidFill>
                <a:latin typeface="微软雅黑"/>
                <a:ea typeface="微软雅黑"/>
                <a:cs typeface="微软雅黑"/>
              </a:rPr>
              <a:t>场景描述、动作理由</a:t>
            </a:r>
            <a:r>
              <a:rPr sz="1500" b="0" i="0" dirty="0">
                <a:solidFill>
                  <a:srgbClr val="1F2A30"/>
                </a:solidFill>
                <a:latin typeface="微软雅黑"/>
                <a:ea typeface="微软雅黑"/>
                <a:cs typeface="微软雅黑"/>
              </a:rPr>
              <a:t>、
</a:t>
            </a:r>
            <a:r>
              <a:rPr sz="1500" b="0" i="0" dirty="0" err="1">
                <a:solidFill>
                  <a:srgbClr val="1F2A30"/>
                </a:solidFill>
                <a:latin typeface="微软雅黑"/>
                <a:ea typeface="微软雅黑"/>
                <a:cs typeface="微软雅黑"/>
              </a:rPr>
              <a:t>综合评估、术中规划</a:t>
            </a:r>
            <a:endParaRPr sz="1500" b="0" i="0" dirty="0">
              <a:solidFill>
                <a:srgbClr val="1F2A30"/>
              </a:solidFill>
              <a:latin typeface="微软雅黑"/>
              <a:ea typeface="微软雅黑"/>
              <a:cs typeface="微软雅黑"/>
            </a:endParaRPr>
          </a:p>
        </p:txBody>
      </p:sp>
      <p:sp>
        <p:nvSpPr>
          <p:cNvPr id="20" name="TextBox 19"/>
          <p:cNvSpPr txBox="1"/>
          <p:nvPr/>
        </p:nvSpPr>
        <p:spPr>
          <a:xfrm>
            <a:off x="438912" y="4297680"/>
            <a:ext cx="11247120" cy="320040"/>
          </a:xfrm>
          <a:prstGeom prst="rect">
            <a:avLst/>
          </a:prstGeom>
          <a:noFill/>
        </p:spPr>
        <p:txBody>
          <a:bodyPr wrap="square" lIns="0" tIns="0" rIns="0" bIns="0" anchor="t"/>
          <a:lstStyle/>
          <a:p>
            <a:pPr algn="l">
              <a:spcBef>
                <a:spcPts val="0"/>
              </a:spcBef>
              <a:spcAft>
                <a:spcPts val="0"/>
              </a:spcAft>
            </a:pPr>
            <a:r>
              <a:rPr sz="1600" b="1" i="0">
                <a:solidFill>
                  <a:srgbClr val="1B3A4B"/>
                </a:solidFill>
                <a:latin typeface="微软雅黑"/>
                <a:ea typeface="微软雅黑"/>
                <a:cs typeface="微软雅黑"/>
              </a:rPr>
              <a:t>和“预测一个平均分”的差别</a:t>
            </a:r>
          </a:p>
        </p:txBody>
      </p:sp>
      <p:sp>
        <p:nvSpPr>
          <p:cNvPr id="21" name="Rounded Rectangle 20"/>
          <p:cNvSpPr/>
          <p:nvPr/>
        </p:nvSpPr>
        <p:spPr>
          <a:xfrm>
            <a:off x="438912" y="4709160"/>
            <a:ext cx="11292840" cy="685800"/>
          </a:xfrm>
          <a:prstGeom prst="roundRect">
            <a:avLst>
              <a:gd name="adj" fmla="val 8000"/>
            </a:avLst>
          </a:prstGeom>
          <a:solidFill>
            <a:srgbClr val="FBF3E4"/>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4855464"/>
            <a:ext cx="1828800" cy="384048"/>
          </a:xfrm>
          <a:prstGeom prst="rect">
            <a:avLst/>
          </a:prstGeom>
          <a:noFill/>
        </p:spPr>
        <p:txBody>
          <a:bodyPr wrap="square" lIns="0" tIns="0" rIns="0" bIns="0" anchor="ctr"/>
          <a:lstStyle/>
          <a:p>
            <a:pPr algn="l">
              <a:spcBef>
                <a:spcPts val="0"/>
              </a:spcBef>
              <a:spcAft>
                <a:spcPts val="0"/>
              </a:spcAft>
            </a:pPr>
            <a:r>
              <a:rPr sz="1500" b="1" i="0">
                <a:solidFill>
                  <a:srgbClr val="0E4C57"/>
                </a:solidFill>
                <a:latin typeface="微软雅黑"/>
                <a:ea typeface="微软雅黑"/>
                <a:cs typeface="微软雅黑"/>
              </a:rPr>
              <a:t>以往做法</a:t>
            </a:r>
          </a:p>
        </p:txBody>
      </p:sp>
      <p:sp>
        <p:nvSpPr>
          <p:cNvPr id="23" name="TextBox 22"/>
          <p:cNvSpPr txBox="1"/>
          <p:nvPr/>
        </p:nvSpPr>
        <p:spPr>
          <a:xfrm>
            <a:off x="2468880" y="4800600"/>
            <a:ext cx="8961120" cy="502920"/>
          </a:xfrm>
          <a:prstGeom prst="rect">
            <a:avLst/>
          </a:prstGeom>
          <a:noFill/>
        </p:spPr>
        <p:txBody>
          <a:bodyPr wrap="square" lIns="0" tIns="0" rIns="0" bIns="0" anchor="ctr"/>
          <a:lstStyle/>
          <a:p>
            <a:pPr algn="l">
              <a:spcBef>
                <a:spcPts val="0"/>
              </a:spcBef>
              <a:spcAft>
                <a:spcPts val="0"/>
              </a:spcAft>
            </a:pPr>
            <a:r>
              <a:rPr sz="1400" b="0" i="0" dirty="0" err="1">
                <a:solidFill>
                  <a:srgbClr val="1F2A30"/>
                </a:solidFill>
                <a:latin typeface="微软雅黑"/>
                <a:ea typeface="微软雅黑"/>
                <a:cs typeface="微软雅黑"/>
              </a:rPr>
              <a:t>把多人标注平均成一个标签，模型回归这个标签。不同时间尺度的判断被混在同一次预测里</a:t>
            </a:r>
            <a:r>
              <a:rPr sz="1400" b="0" i="0" dirty="0">
                <a:solidFill>
                  <a:srgbClr val="1F2A30"/>
                </a:solidFill>
                <a:latin typeface="微软雅黑"/>
                <a:ea typeface="微软雅黑"/>
                <a:cs typeface="微软雅黑"/>
              </a:rPr>
              <a:t>。</a:t>
            </a:r>
          </a:p>
        </p:txBody>
      </p:sp>
      <p:sp>
        <p:nvSpPr>
          <p:cNvPr id="24" name="Rounded Rectangle 23"/>
          <p:cNvSpPr/>
          <p:nvPr/>
        </p:nvSpPr>
        <p:spPr>
          <a:xfrm>
            <a:off x="438912" y="5486400"/>
            <a:ext cx="11292840" cy="685800"/>
          </a:xfrm>
          <a:prstGeom prst="roundRect">
            <a:avLst>
              <a:gd name="adj" fmla="val 8000"/>
            </a:avLst>
          </a:prstGeom>
          <a:solidFill>
            <a:srgbClr val="FFFFFF"/>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5632704"/>
            <a:ext cx="1828800" cy="384048"/>
          </a:xfrm>
          <a:prstGeom prst="rect">
            <a:avLst/>
          </a:prstGeom>
          <a:noFill/>
        </p:spPr>
        <p:txBody>
          <a:bodyPr wrap="square" lIns="0" tIns="0" rIns="0" bIns="0" anchor="ctr"/>
          <a:lstStyle/>
          <a:p>
            <a:pPr algn="l">
              <a:spcBef>
                <a:spcPts val="0"/>
              </a:spcBef>
              <a:spcAft>
                <a:spcPts val="0"/>
              </a:spcAft>
            </a:pPr>
            <a:r>
              <a:rPr sz="1500" b="1" i="0">
                <a:solidFill>
                  <a:srgbClr val="0E4C57"/>
                </a:solidFill>
                <a:latin typeface="微软雅黑"/>
                <a:ea typeface="微软雅黑"/>
                <a:cs typeface="微软雅黑"/>
              </a:rPr>
              <a:t>SurgTEMP</a:t>
            </a:r>
          </a:p>
        </p:txBody>
      </p:sp>
      <p:sp>
        <p:nvSpPr>
          <p:cNvPr id="26" name="TextBox 25"/>
          <p:cNvSpPr txBox="1"/>
          <p:nvPr/>
        </p:nvSpPr>
        <p:spPr>
          <a:xfrm>
            <a:off x="2468880" y="5577840"/>
            <a:ext cx="8961120" cy="502920"/>
          </a:xfrm>
          <a:prstGeom prst="rect">
            <a:avLst/>
          </a:prstGeom>
          <a:noFill/>
        </p:spPr>
        <p:txBody>
          <a:bodyPr wrap="square" lIns="0" tIns="0" rIns="0" bIns="0" anchor="ctr"/>
          <a:lstStyle/>
          <a:p>
            <a:pPr algn="l">
              <a:spcBef>
                <a:spcPts val="0"/>
              </a:spcBef>
              <a:spcAft>
                <a:spcPts val="0"/>
              </a:spcAft>
            </a:pPr>
            <a:r>
              <a:rPr sz="1400" b="0" i="0" dirty="0" err="1">
                <a:solidFill>
                  <a:srgbClr val="1F2A30"/>
                </a:solidFill>
                <a:latin typeface="微软雅黑"/>
                <a:ea typeface="微软雅黑"/>
                <a:cs typeface="微软雅黑"/>
              </a:rPr>
              <a:t>保留问题本身。短时问题走空间记忆，长时问题走时间记忆，并按感知</a:t>
            </a:r>
            <a:r>
              <a:rPr sz="1400" b="0" i="0" dirty="0">
                <a:solidFill>
                  <a:srgbClr val="1F2A30"/>
                </a:solidFill>
                <a:latin typeface="微软雅黑"/>
                <a:ea typeface="微软雅黑"/>
                <a:cs typeface="微软雅黑"/>
              </a:rPr>
              <a:t> → </a:t>
            </a:r>
            <a:r>
              <a:rPr sz="1400" b="0" i="0" dirty="0" err="1">
                <a:solidFill>
                  <a:srgbClr val="1F2A30"/>
                </a:solidFill>
                <a:latin typeface="微软雅黑"/>
                <a:ea typeface="微软雅黑"/>
                <a:cs typeface="微软雅黑"/>
              </a:rPr>
              <a:t>评估</a:t>
            </a:r>
            <a:r>
              <a:rPr sz="1400" b="0" i="0" dirty="0">
                <a:solidFill>
                  <a:srgbClr val="1F2A30"/>
                </a:solidFill>
                <a:latin typeface="微软雅黑"/>
                <a:ea typeface="微软雅黑"/>
                <a:cs typeface="微软雅黑"/>
              </a:rPr>
              <a:t> → </a:t>
            </a:r>
            <a:r>
              <a:rPr sz="1400" b="0" i="0" dirty="0" err="1">
                <a:solidFill>
                  <a:srgbClr val="1F2A30"/>
                </a:solidFill>
                <a:latin typeface="微软雅黑"/>
                <a:ea typeface="微软雅黑"/>
                <a:cs typeface="微软雅黑"/>
              </a:rPr>
              <a:t>推理的顺序训练</a:t>
            </a:r>
            <a:r>
              <a:rPr sz="1400" b="0" i="0" dirty="0">
                <a:solidFill>
                  <a:srgbClr val="1F2A30"/>
                </a:solidFill>
                <a:latin typeface="微软雅黑"/>
                <a:ea typeface="微软雅黑"/>
                <a:cs typeface="微软雅黑"/>
              </a:rPr>
              <a:t>。</a:t>
            </a:r>
          </a:p>
        </p:txBody>
      </p:sp>
      <p:sp>
        <p:nvSpPr>
          <p:cNvPr id="27" name="Rectangle 26"/>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9" name="TextBox 28"/>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30" name="TextBox 29"/>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3  /  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Method</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43000"/>
            <a:ext cx="11292840" cy="896112"/>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344168"/>
            <a:ext cx="822960" cy="457200"/>
          </a:xfrm>
          <a:prstGeom prst="rect">
            <a:avLst/>
          </a:prstGeom>
          <a:noFill/>
        </p:spPr>
        <p:txBody>
          <a:bodyPr wrap="square" lIns="0" tIns="0" rIns="0" bIns="0" anchor="ctr"/>
          <a:lstStyle/>
          <a:p>
            <a:pPr algn="l">
              <a:spcBef>
                <a:spcPts val="0"/>
              </a:spcBef>
              <a:spcAft>
                <a:spcPts val="0"/>
              </a:spcAft>
            </a:pPr>
            <a:r>
              <a:rPr sz="2000" b="1" i="0">
                <a:solidFill>
                  <a:srgbClr val="1A6B7A"/>
                </a:solidFill>
                <a:latin typeface="微软雅黑"/>
                <a:ea typeface="微软雅黑"/>
                <a:cs typeface="微软雅黑"/>
              </a:rPr>
              <a:t>01</a:t>
            </a:r>
          </a:p>
        </p:txBody>
      </p:sp>
      <p:sp>
        <p:nvSpPr>
          <p:cNvPr id="9" name="TextBox 8"/>
          <p:cNvSpPr txBox="1"/>
          <p:nvPr/>
        </p:nvSpPr>
        <p:spPr>
          <a:xfrm>
            <a:off x="1554480" y="1252728"/>
            <a:ext cx="2926080" cy="640080"/>
          </a:xfrm>
          <a:prstGeom prst="rect">
            <a:avLst/>
          </a:prstGeom>
          <a:noFill/>
        </p:spPr>
        <p:txBody>
          <a:bodyPr wrap="square" lIns="0" tIns="0" rIns="0" bIns="0" anchor="ctr"/>
          <a:lstStyle/>
          <a:p>
            <a:pPr algn="l">
              <a:spcBef>
                <a:spcPts val="0"/>
              </a:spcBef>
              <a:spcAft>
                <a:spcPts val="0"/>
              </a:spcAft>
            </a:pPr>
            <a:r>
              <a:rPr sz="1800" b="1" i="0" dirty="0">
                <a:solidFill>
                  <a:srgbClr val="1B3A4B"/>
                </a:solidFill>
                <a:latin typeface="微软雅黑"/>
                <a:ea typeface="微软雅黑"/>
                <a:cs typeface="微软雅黑"/>
              </a:rPr>
              <a:t>Overall Flow</a:t>
            </a:r>
          </a:p>
        </p:txBody>
      </p:sp>
      <p:sp>
        <p:nvSpPr>
          <p:cNvPr id="10" name="TextBox 9"/>
          <p:cNvSpPr txBox="1"/>
          <p:nvPr/>
        </p:nvSpPr>
        <p:spPr>
          <a:xfrm>
            <a:off x="4572000" y="1271016"/>
            <a:ext cx="6858000" cy="640080"/>
          </a:xfrm>
          <a:prstGeom prst="rect">
            <a:avLst/>
          </a:prstGeom>
          <a:noFill/>
        </p:spPr>
        <p:txBody>
          <a:bodyPr wrap="square" lIns="0" tIns="0" rIns="0" bIns="0" anchor="ctr"/>
          <a:lstStyle/>
          <a:p>
            <a:pPr algn="l">
              <a:spcBef>
                <a:spcPts val="0"/>
              </a:spcBef>
              <a:spcAft>
                <a:spcPts val="0"/>
              </a:spcAft>
            </a:pPr>
            <a:r>
              <a:rPr sz="1500" b="0" i="0">
                <a:solidFill>
                  <a:srgbClr val="1F2A30"/>
                </a:solidFill>
                <a:latin typeface="微软雅黑"/>
                <a:ea typeface="微软雅黑"/>
                <a:cs typeface="微软雅黑"/>
              </a:rPr>
              <a:t>视频与问题进入同一条多模态主干，TEMP 组织视觉记忆，语言模型生成答案。</a:t>
            </a:r>
          </a:p>
        </p:txBody>
      </p:sp>
      <p:sp>
        <p:nvSpPr>
          <p:cNvPr id="11" name="Rounded Rectangle 10"/>
          <p:cNvSpPr/>
          <p:nvPr/>
        </p:nvSpPr>
        <p:spPr>
          <a:xfrm>
            <a:off x="438912" y="2148840"/>
            <a:ext cx="11292840" cy="896112"/>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350008"/>
            <a:ext cx="822960" cy="457200"/>
          </a:xfrm>
          <a:prstGeom prst="rect">
            <a:avLst/>
          </a:prstGeom>
          <a:noFill/>
        </p:spPr>
        <p:txBody>
          <a:bodyPr wrap="square" lIns="0" tIns="0" rIns="0" bIns="0" anchor="ctr"/>
          <a:lstStyle/>
          <a:p>
            <a:pPr algn="l">
              <a:spcBef>
                <a:spcPts val="0"/>
              </a:spcBef>
              <a:spcAft>
                <a:spcPts val="0"/>
              </a:spcAft>
            </a:pPr>
            <a:r>
              <a:rPr sz="2000" b="1" i="0">
                <a:solidFill>
                  <a:srgbClr val="1A6B7A"/>
                </a:solidFill>
                <a:latin typeface="微软雅黑"/>
                <a:ea typeface="微软雅黑"/>
                <a:cs typeface="微软雅黑"/>
              </a:rPr>
              <a:t>02</a:t>
            </a:r>
          </a:p>
        </p:txBody>
      </p:sp>
      <p:sp>
        <p:nvSpPr>
          <p:cNvPr id="13" name="TextBox 12"/>
          <p:cNvSpPr txBox="1"/>
          <p:nvPr/>
        </p:nvSpPr>
        <p:spPr>
          <a:xfrm>
            <a:off x="1554480" y="2258568"/>
            <a:ext cx="2926080" cy="640080"/>
          </a:xfrm>
          <a:prstGeom prst="rect">
            <a:avLst/>
          </a:prstGeom>
          <a:noFill/>
        </p:spPr>
        <p:txBody>
          <a:bodyPr wrap="square" lIns="0" tIns="0" rIns="0" bIns="0" anchor="ctr"/>
          <a:lstStyle/>
          <a:p>
            <a:pPr algn="l">
              <a:spcBef>
                <a:spcPts val="0"/>
              </a:spcBef>
              <a:spcAft>
                <a:spcPts val="0"/>
              </a:spcAft>
            </a:pPr>
            <a:r>
              <a:rPr sz="1800" b="1" i="0" dirty="0">
                <a:solidFill>
                  <a:srgbClr val="1B3A4B"/>
                </a:solidFill>
                <a:latin typeface="微软雅黑"/>
                <a:ea typeface="微软雅黑"/>
                <a:cs typeface="微软雅黑"/>
              </a:rPr>
              <a:t>Backbone</a:t>
            </a:r>
          </a:p>
        </p:txBody>
      </p:sp>
      <p:sp>
        <p:nvSpPr>
          <p:cNvPr id="14" name="TextBox 13"/>
          <p:cNvSpPr txBox="1"/>
          <p:nvPr/>
        </p:nvSpPr>
        <p:spPr>
          <a:xfrm>
            <a:off x="4572000" y="2276856"/>
            <a:ext cx="6858000" cy="640080"/>
          </a:xfrm>
          <a:prstGeom prst="rect">
            <a:avLst/>
          </a:prstGeom>
          <a:noFill/>
        </p:spPr>
        <p:txBody>
          <a:bodyPr wrap="square" lIns="0" tIns="0" rIns="0" bIns="0" anchor="ctr"/>
          <a:lstStyle/>
          <a:p>
            <a:pPr algn="l">
              <a:spcBef>
                <a:spcPts val="0"/>
              </a:spcBef>
              <a:spcAft>
                <a:spcPts val="0"/>
              </a:spcAft>
            </a:pPr>
            <a:r>
              <a:rPr sz="1500" b="0" i="0">
                <a:solidFill>
                  <a:srgbClr val="1F2A30"/>
                </a:solidFill>
                <a:latin typeface="微软雅黑"/>
                <a:ea typeface="微软雅黑"/>
                <a:cs typeface="微软雅黑"/>
              </a:rPr>
              <a:t>从 LLaVA-Video 初始化：SigLIP、投影层、Qwen2-7B。不另起一个语言模型。</a:t>
            </a:r>
          </a:p>
        </p:txBody>
      </p:sp>
      <p:sp>
        <p:nvSpPr>
          <p:cNvPr id="15" name="Rounded Rectangle 14"/>
          <p:cNvSpPr/>
          <p:nvPr/>
        </p:nvSpPr>
        <p:spPr>
          <a:xfrm>
            <a:off x="438912" y="3154680"/>
            <a:ext cx="11292840" cy="896112"/>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355848"/>
            <a:ext cx="822960" cy="457200"/>
          </a:xfrm>
          <a:prstGeom prst="rect">
            <a:avLst/>
          </a:prstGeom>
          <a:noFill/>
        </p:spPr>
        <p:txBody>
          <a:bodyPr wrap="square" lIns="0" tIns="0" rIns="0" bIns="0" anchor="ctr"/>
          <a:lstStyle/>
          <a:p>
            <a:pPr algn="l">
              <a:spcBef>
                <a:spcPts val="0"/>
              </a:spcBef>
              <a:spcAft>
                <a:spcPts val="0"/>
              </a:spcAft>
            </a:pPr>
            <a:r>
              <a:rPr sz="2000" b="1" i="0">
                <a:solidFill>
                  <a:srgbClr val="1A6B7A"/>
                </a:solidFill>
                <a:latin typeface="微软雅黑"/>
                <a:ea typeface="微软雅黑"/>
                <a:cs typeface="微软雅黑"/>
              </a:rPr>
              <a:t>03</a:t>
            </a:r>
          </a:p>
        </p:txBody>
      </p:sp>
      <p:sp>
        <p:nvSpPr>
          <p:cNvPr id="17" name="TextBox 16"/>
          <p:cNvSpPr txBox="1"/>
          <p:nvPr/>
        </p:nvSpPr>
        <p:spPr>
          <a:xfrm>
            <a:off x="1554480" y="3264408"/>
            <a:ext cx="2926080" cy="640080"/>
          </a:xfrm>
          <a:prstGeom prst="rect">
            <a:avLst/>
          </a:prstGeom>
          <a:noFill/>
        </p:spPr>
        <p:txBody>
          <a:bodyPr wrap="square" lIns="0" tIns="0" rIns="0" bIns="0" anchor="ctr"/>
          <a:lstStyle/>
          <a:p>
            <a:pPr algn="l">
              <a:spcBef>
                <a:spcPts val="0"/>
              </a:spcBef>
              <a:spcAft>
                <a:spcPts val="0"/>
              </a:spcAft>
            </a:pPr>
            <a:r>
              <a:rPr sz="1800" b="1" i="0">
                <a:solidFill>
                  <a:srgbClr val="1B3A4B"/>
                </a:solidFill>
                <a:latin typeface="微软雅黑"/>
                <a:ea typeface="微软雅黑"/>
                <a:cs typeface="微软雅黑"/>
              </a:rPr>
              <a:t>TEMP</a:t>
            </a:r>
          </a:p>
        </p:txBody>
      </p:sp>
      <p:sp>
        <p:nvSpPr>
          <p:cNvPr id="18" name="TextBox 17"/>
          <p:cNvSpPr txBox="1"/>
          <p:nvPr/>
        </p:nvSpPr>
        <p:spPr>
          <a:xfrm>
            <a:off x="4572000" y="3282696"/>
            <a:ext cx="6858000" cy="640080"/>
          </a:xfrm>
          <a:prstGeom prst="rect">
            <a:avLst/>
          </a:prstGeom>
          <a:noFill/>
        </p:spPr>
        <p:txBody>
          <a:bodyPr wrap="square" lIns="0" tIns="0" rIns="0" bIns="0" anchor="ctr"/>
          <a:lstStyle/>
          <a:p>
            <a:pPr algn="l">
              <a:spcBef>
                <a:spcPts val="0"/>
              </a:spcBef>
              <a:spcAft>
                <a:spcPts val="0"/>
              </a:spcAft>
            </a:pPr>
            <a:r>
              <a:rPr sz="1500" b="0" i="0">
                <a:solidFill>
                  <a:srgbClr val="1F2A30"/>
                </a:solidFill>
                <a:latin typeface="微软雅黑"/>
                <a:ea typeface="微软雅黑"/>
                <a:cs typeface="微软雅黑"/>
              </a:rPr>
              <a:t>问题引导的交叉注意力、可微选帧、空间记忆库、时间记忆库。</a:t>
            </a:r>
          </a:p>
        </p:txBody>
      </p:sp>
      <p:sp>
        <p:nvSpPr>
          <p:cNvPr id="19" name="Rounded Rectangle 18"/>
          <p:cNvSpPr/>
          <p:nvPr/>
        </p:nvSpPr>
        <p:spPr>
          <a:xfrm>
            <a:off x="438912" y="4160520"/>
            <a:ext cx="11292840" cy="896112"/>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361688"/>
            <a:ext cx="822960" cy="457200"/>
          </a:xfrm>
          <a:prstGeom prst="rect">
            <a:avLst/>
          </a:prstGeom>
          <a:noFill/>
        </p:spPr>
        <p:txBody>
          <a:bodyPr wrap="square" lIns="0" tIns="0" rIns="0" bIns="0" anchor="ctr"/>
          <a:lstStyle/>
          <a:p>
            <a:pPr algn="l">
              <a:spcBef>
                <a:spcPts val="0"/>
              </a:spcBef>
              <a:spcAft>
                <a:spcPts val="0"/>
              </a:spcAft>
            </a:pPr>
            <a:r>
              <a:rPr sz="2000" b="1" i="0">
                <a:solidFill>
                  <a:srgbClr val="1A6B7A"/>
                </a:solidFill>
                <a:latin typeface="微软雅黑"/>
                <a:ea typeface="微软雅黑"/>
                <a:cs typeface="微软雅黑"/>
              </a:rPr>
              <a:t>04</a:t>
            </a:r>
          </a:p>
        </p:txBody>
      </p:sp>
      <p:sp>
        <p:nvSpPr>
          <p:cNvPr id="21" name="TextBox 20"/>
          <p:cNvSpPr txBox="1"/>
          <p:nvPr/>
        </p:nvSpPr>
        <p:spPr>
          <a:xfrm>
            <a:off x="1554480" y="4270248"/>
            <a:ext cx="2926080" cy="640080"/>
          </a:xfrm>
          <a:prstGeom prst="rect">
            <a:avLst/>
          </a:prstGeom>
          <a:noFill/>
        </p:spPr>
        <p:txBody>
          <a:bodyPr wrap="square" lIns="0" tIns="0" rIns="0" bIns="0" anchor="ctr"/>
          <a:lstStyle/>
          <a:p>
            <a:pPr algn="l">
              <a:spcBef>
                <a:spcPts val="0"/>
              </a:spcBef>
              <a:spcAft>
                <a:spcPts val="0"/>
              </a:spcAft>
            </a:pPr>
            <a:r>
              <a:rPr sz="1800" b="1" i="0">
                <a:solidFill>
                  <a:srgbClr val="1B3A4B"/>
                </a:solidFill>
                <a:latin typeface="微软雅黑"/>
                <a:ea typeface="微软雅黑"/>
                <a:cs typeface="微软雅黑"/>
              </a:rPr>
              <a:t>Training</a:t>
            </a:r>
          </a:p>
        </p:txBody>
      </p:sp>
      <p:sp>
        <p:nvSpPr>
          <p:cNvPr id="22" name="TextBox 21"/>
          <p:cNvSpPr txBox="1"/>
          <p:nvPr/>
        </p:nvSpPr>
        <p:spPr>
          <a:xfrm>
            <a:off x="4572000" y="4288536"/>
            <a:ext cx="6858000" cy="640080"/>
          </a:xfrm>
          <a:prstGeom prst="rect">
            <a:avLst/>
          </a:prstGeom>
          <a:noFill/>
        </p:spPr>
        <p:txBody>
          <a:bodyPr wrap="square" lIns="0" tIns="0" rIns="0" bIns="0" anchor="ctr"/>
          <a:lstStyle/>
          <a:p>
            <a:pPr algn="l">
              <a:spcBef>
                <a:spcPts val="0"/>
              </a:spcBef>
              <a:spcAft>
                <a:spcPts val="0"/>
              </a:spcAft>
            </a:pPr>
            <a:r>
              <a:rPr sz="1500" b="0" i="0">
                <a:solidFill>
                  <a:srgbClr val="1F2A30"/>
                </a:solidFill>
                <a:latin typeface="微软雅黑"/>
                <a:ea typeface="微软雅黑"/>
                <a:cs typeface="微软雅黑"/>
              </a:rPr>
              <a:t>视觉编码器与语言模型用 LoRA；TEMP 与分隔符全量训练。SCP 分三阶段。</a:t>
            </a:r>
          </a:p>
        </p:txBody>
      </p:sp>
      <p:sp>
        <p:nvSpPr>
          <p:cNvPr id="23" name="Rounded Rectangle 22"/>
          <p:cNvSpPr/>
          <p:nvPr/>
        </p:nvSpPr>
        <p:spPr>
          <a:xfrm>
            <a:off x="438912" y="5166360"/>
            <a:ext cx="11292840" cy="896112"/>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367528"/>
            <a:ext cx="822960" cy="457200"/>
          </a:xfrm>
          <a:prstGeom prst="rect">
            <a:avLst/>
          </a:prstGeom>
          <a:noFill/>
        </p:spPr>
        <p:txBody>
          <a:bodyPr wrap="square" lIns="0" tIns="0" rIns="0" bIns="0" anchor="ctr"/>
          <a:lstStyle/>
          <a:p>
            <a:pPr algn="l">
              <a:spcBef>
                <a:spcPts val="0"/>
              </a:spcBef>
              <a:spcAft>
                <a:spcPts val="0"/>
              </a:spcAft>
            </a:pPr>
            <a:r>
              <a:rPr sz="2000" b="1" i="0">
                <a:solidFill>
                  <a:srgbClr val="1A6B7A"/>
                </a:solidFill>
                <a:latin typeface="微软雅黑"/>
                <a:ea typeface="微软雅黑"/>
                <a:cs typeface="微软雅黑"/>
              </a:rPr>
              <a:t>05</a:t>
            </a:r>
          </a:p>
        </p:txBody>
      </p:sp>
      <p:sp>
        <p:nvSpPr>
          <p:cNvPr id="25" name="TextBox 24"/>
          <p:cNvSpPr txBox="1"/>
          <p:nvPr/>
        </p:nvSpPr>
        <p:spPr>
          <a:xfrm>
            <a:off x="1554480" y="5276088"/>
            <a:ext cx="2926080" cy="640080"/>
          </a:xfrm>
          <a:prstGeom prst="rect">
            <a:avLst/>
          </a:prstGeom>
          <a:noFill/>
        </p:spPr>
        <p:txBody>
          <a:bodyPr wrap="square" lIns="0" tIns="0" rIns="0" bIns="0" anchor="ctr"/>
          <a:lstStyle/>
          <a:p>
            <a:pPr algn="l">
              <a:spcBef>
                <a:spcPts val="0"/>
              </a:spcBef>
              <a:spcAft>
                <a:spcPts val="0"/>
              </a:spcAft>
            </a:pPr>
            <a:r>
              <a:rPr sz="1800" b="1" i="0" dirty="0">
                <a:solidFill>
                  <a:srgbClr val="1B3A4B"/>
                </a:solidFill>
                <a:latin typeface="微软雅黑"/>
                <a:ea typeface="微软雅黑"/>
                <a:cs typeface="微软雅黑"/>
              </a:rPr>
              <a:t>Inference</a:t>
            </a:r>
          </a:p>
        </p:txBody>
      </p:sp>
      <p:sp>
        <p:nvSpPr>
          <p:cNvPr id="26" name="TextBox 25"/>
          <p:cNvSpPr txBox="1"/>
          <p:nvPr/>
        </p:nvSpPr>
        <p:spPr>
          <a:xfrm>
            <a:off x="4572000" y="5294376"/>
            <a:ext cx="6858000" cy="640080"/>
          </a:xfrm>
          <a:prstGeom prst="rect">
            <a:avLst/>
          </a:prstGeom>
          <a:noFill/>
        </p:spPr>
        <p:txBody>
          <a:bodyPr wrap="square" lIns="0" tIns="0" rIns="0" bIns="0" anchor="ctr"/>
          <a:lstStyle/>
          <a:p>
            <a:pPr algn="l">
              <a:spcBef>
                <a:spcPts val="0"/>
              </a:spcBef>
              <a:spcAft>
                <a:spcPts val="0"/>
              </a:spcAft>
            </a:pPr>
            <a:r>
              <a:rPr sz="1500" b="0" i="0">
                <a:solidFill>
                  <a:srgbClr val="1F2A30"/>
                </a:solidFill>
                <a:latin typeface="微软雅黑"/>
                <a:ea typeface="微软雅黑"/>
                <a:cs typeface="微软雅黑"/>
              </a:rPr>
              <a:t>64 帧候选，只把最相关的 10 帧送进语言模型。答案 token 不参与选帧。</a:t>
            </a:r>
          </a:p>
        </p:txBody>
      </p:sp>
      <p:sp>
        <p:nvSpPr>
          <p:cNvPr id="27" name="Rectangle 26"/>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9" name="TextBox 28"/>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30" name="TextBox 29"/>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4  /  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Overall Flow</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65760" y="1325880"/>
            <a:ext cx="1965960" cy="14173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417320"/>
            <a:ext cx="1783080" cy="365760"/>
          </a:xfrm>
          <a:prstGeom prst="rect">
            <a:avLst/>
          </a:prstGeom>
          <a:noFill/>
        </p:spPr>
        <p:txBody>
          <a:bodyPr wrap="square" lIns="0" tIns="0" rIns="0" bIns="0" anchor="t"/>
          <a:lstStyle/>
          <a:p>
            <a:pPr algn="ctr">
              <a:spcBef>
                <a:spcPts val="0"/>
              </a:spcBef>
              <a:spcAft>
                <a:spcPts val="0"/>
              </a:spcAft>
            </a:pPr>
            <a:r>
              <a:rPr sz="1400" b="1" i="0">
                <a:solidFill>
                  <a:srgbClr val="0E4C57"/>
                </a:solidFill>
                <a:latin typeface="微软雅黑"/>
                <a:ea typeface="微软雅黑"/>
                <a:cs typeface="微软雅黑"/>
              </a:rPr>
              <a:t>视频帧</a:t>
            </a:r>
          </a:p>
        </p:txBody>
      </p:sp>
      <p:sp>
        <p:nvSpPr>
          <p:cNvPr id="9" name="TextBox 8"/>
          <p:cNvSpPr txBox="1"/>
          <p:nvPr/>
        </p:nvSpPr>
        <p:spPr>
          <a:xfrm>
            <a:off x="457200" y="1828800"/>
            <a:ext cx="1783080" cy="731520"/>
          </a:xfrm>
          <a:prstGeom prst="rect">
            <a:avLst/>
          </a:prstGeom>
          <a:noFill/>
        </p:spPr>
        <p:txBody>
          <a:bodyPr wrap="square" lIns="0" tIns="0" rIns="0" bIns="0" anchor="t"/>
          <a:lstStyle/>
          <a:p>
            <a:pPr algn="ctr">
              <a:spcBef>
                <a:spcPts val="0"/>
              </a:spcBef>
              <a:spcAft>
                <a:spcPts val="0"/>
              </a:spcAft>
            </a:pPr>
            <a:r>
              <a:rPr sz="1300" b="0" i="0">
                <a:solidFill>
                  <a:srgbClr val="1F2A30"/>
                </a:solidFill>
                <a:latin typeface="微软雅黑"/>
                <a:ea typeface="微软雅黑"/>
                <a:cs typeface="微软雅黑"/>
              </a:rPr>
              <a:t>SigLIP ViT
384×384</a:t>
            </a:r>
          </a:p>
        </p:txBody>
      </p:sp>
      <p:sp>
        <p:nvSpPr>
          <p:cNvPr id="10" name="Rounded Rectangle 9"/>
          <p:cNvSpPr/>
          <p:nvPr/>
        </p:nvSpPr>
        <p:spPr>
          <a:xfrm>
            <a:off x="2788920" y="1325880"/>
            <a:ext cx="1965960" cy="14173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80360" y="1417320"/>
            <a:ext cx="1783080" cy="365760"/>
          </a:xfrm>
          <a:prstGeom prst="rect">
            <a:avLst/>
          </a:prstGeom>
          <a:noFill/>
        </p:spPr>
        <p:txBody>
          <a:bodyPr wrap="square" lIns="0" tIns="0" rIns="0" bIns="0" anchor="t"/>
          <a:lstStyle/>
          <a:p>
            <a:pPr algn="ctr">
              <a:spcBef>
                <a:spcPts val="0"/>
              </a:spcBef>
              <a:spcAft>
                <a:spcPts val="0"/>
              </a:spcAft>
            </a:pPr>
            <a:r>
              <a:rPr sz="1400" b="1" i="0">
                <a:solidFill>
                  <a:srgbClr val="0E4C57"/>
                </a:solidFill>
                <a:latin typeface="微软雅黑"/>
                <a:ea typeface="微软雅黑"/>
                <a:cs typeface="微软雅黑"/>
              </a:rPr>
              <a:t>投影与池化</a:t>
            </a:r>
          </a:p>
        </p:txBody>
      </p:sp>
      <p:sp>
        <p:nvSpPr>
          <p:cNvPr id="12" name="TextBox 11"/>
          <p:cNvSpPr txBox="1"/>
          <p:nvPr/>
        </p:nvSpPr>
        <p:spPr>
          <a:xfrm>
            <a:off x="2880360" y="1828800"/>
            <a:ext cx="1783080" cy="731520"/>
          </a:xfrm>
          <a:prstGeom prst="rect">
            <a:avLst/>
          </a:prstGeom>
          <a:noFill/>
        </p:spPr>
        <p:txBody>
          <a:bodyPr wrap="square" lIns="0" tIns="0" rIns="0" bIns="0" anchor="t"/>
          <a:lstStyle/>
          <a:p>
            <a:pPr algn="ctr">
              <a:spcBef>
                <a:spcPts val="0"/>
              </a:spcBef>
              <a:spcAft>
                <a:spcPts val="0"/>
              </a:spcAft>
            </a:pPr>
            <a:r>
              <a:rPr sz="1300" b="0" i="0">
                <a:solidFill>
                  <a:srgbClr val="1F2A30"/>
                </a:solidFill>
                <a:latin typeface="微软雅黑"/>
                <a:ea typeface="微软雅黑"/>
                <a:cs typeface="微软雅黑"/>
              </a:rPr>
              <a:t>双线性池化
27×27 → 13×13</a:t>
            </a:r>
          </a:p>
        </p:txBody>
      </p:sp>
      <p:sp>
        <p:nvSpPr>
          <p:cNvPr id="13" name="Rounded Rectangle 12"/>
          <p:cNvSpPr/>
          <p:nvPr/>
        </p:nvSpPr>
        <p:spPr>
          <a:xfrm>
            <a:off x="5212080" y="1325880"/>
            <a:ext cx="1965960" cy="1417320"/>
          </a:xfrm>
          <a:prstGeom prst="roundRect">
            <a:avLst>
              <a:gd name="adj" fmla="val 8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03520" y="1417320"/>
            <a:ext cx="1783080" cy="365760"/>
          </a:xfrm>
          <a:prstGeom prst="rect">
            <a:avLst/>
          </a:prstGeom>
          <a:noFill/>
        </p:spPr>
        <p:txBody>
          <a:bodyPr wrap="square" lIns="0" tIns="0" rIns="0" bIns="0" anchor="t"/>
          <a:lstStyle/>
          <a:p>
            <a:pPr algn="ctr">
              <a:spcBef>
                <a:spcPts val="0"/>
              </a:spcBef>
              <a:spcAft>
                <a:spcPts val="0"/>
              </a:spcAft>
            </a:pPr>
            <a:r>
              <a:rPr sz="1400" b="1" i="0">
                <a:solidFill>
                  <a:srgbClr val="FFFFFF"/>
                </a:solidFill>
                <a:latin typeface="微软雅黑"/>
                <a:ea typeface="微软雅黑"/>
                <a:cs typeface="微软雅黑"/>
              </a:rPr>
              <a:t>TEMP</a:t>
            </a:r>
          </a:p>
        </p:txBody>
      </p:sp>
      <p:sp>
        <p:nvSpPr>
          <p:cNvPr id="15" name="TextBox 14"/>
          <p:cNvSpPr txBox="1"/>
          <p:nvPr/>
        </p:nvSpPr>
        <p:spPr>
          <a:xfrm>
            <a:off x="5303520" y="1828800"/>
            <a:ext cx="1783080" cy="731520"/>
          </a:xfrm>
          <a:prstGeom prst="rect">
            <a:avLst/>
          </a:prstGeom>
          <a:noFill/>
        </p:spPr>
        <p:txBody>
          <a:bodyPr wrap="square" lIns="0" tIns="0" rIns="0" bIns="0" anchor="t"/>
          <a:lstStyle/>
          <a:p>
            <a:pPr algn="ctr">
              <a:spcBef>
                <a:spcPts val="0"/>
              </a:spcBef>
              <a:spcAft>
                <a:spcPts val="0"/>
              </a:spcAft>
            </a:pPr>
            <a:r>
              <a:rPr sz="1300" b="0" i="0">
                <a:solidFill>
                  <a:srgbClr val="FFFFFF"/>
                </a:solidFill>
                <a:latin typeface="微软雅黑"/>
                <a:ea typeface="微软雅黑"/>
                <a:cs typeface="微软雅黑"/>
              </a:rPr>
              <a:t>按问题选帧
空间 + 时间记忆</a:t>
            </a:r>
          </a:p>
        </p:txBody>
      </p:sp>
      <p:sp>
        <p:nvSpPr>
          <p:cNvPr id="16" name="Rounded Rectangle 15"/>
          <p:cNvSpPr/>
          <p:nvPr/>
        </p:nvSpPr>
        <p:spPr>
          <a:xfrm>
            <a:off x="7635240" y="1325880"/>
            <a:ext cx="1965960" cy="14173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26679" y="1417320"/>
            <a:ext cx="1783080" cy="365760"/>
          </a:xfrm>
          <a:prstGeom prst="rect">
            <a:avLst/>
          </a:prstGeom>
          <a:noFill/>
        </p:spPr>
        <p:txBody>
          <a:bodyPr wrap="square" lIns="0" tIns="0" rIns="0" bIns="0" anchor="t"/>
          <a:lstStyle/>
          <a:p>
            <a:pPr algn="ctr">
              <a:spcBef>
                <a:spcPts val="0"/>
              </a:spcBef>
              <a:spcAft>
                <a:spcPts val="0"/>
              </a:spcAft>
            </a:pPr>
            <a:r>
              <a:rPr sz="1400" b="1" i="0">
                <a:solidFill>
                  <a:srgbClr val="0E4C57"/>
                </a:solidFill>
                <a:latin typeface="微软雅黑"/>
                <a:ea typeface="微软雅黑"/>
                <a:cs typeface="微软雅黑"/>
              </a:rPr>
              <a:t>Qwen2-7B</a:t>
            </a:r>
          </a:p>
        </p:txBody>
      </p:sp>
      <p:sp>
        <p:nvSpPr>
          <p:cNvPr id="18" name="TextBox 17"/>
          <p:cNvSpPr txBox="1"/>
          <p:nvPr/>
        </p:nvSpPr>
        <p:spPr>
          <a:xfrm>
            <a:off x="7726679" y="1828800"/>
            <a:ext cx="1783080" cy="731520"/>
          </a:xfrm>
          <a:prstGeom prst="rect">
            <a:avLst/>
          </a:prstGeom>
          <a:noFill/>
        </p:spPr>
        <p:txBody>
          <a:bodyPr wrap="square" lIns="0" tIns="0" rIns="0" bIns="0" anchor="t"/>
          <a:lstStyle/>
          <a:p>
            <a:pPr algn="ctr">
              <a:spcBef>
                <a:spcPts val="0"/>
              </a:spcBef>
              <a:spcAft>
                <a:spcPts val="0"/>
              </a:spcAft>
            </a:pPr>
            <a:r>
              <a:rPr sz="1300" b="0" i="0">
                <a:solidFill>
                  <a:srgbClr val="1F2A30"/>
                </a:solidFill>
                <a:latin typeface="微软雅黑"/>
                <a:ea typeface="微软雅黑"/>
                <a:cs typeface="微软雅黑"/>
              </a:rPr>
              <a:t>只看被选中的
视觉记忆</a:t>
            </a:r>
          </a:p>
        </p:txBody>
      </p:sp>
      <p:sp>
        <p:nvSpPr>
          <p:cNvPr id="19" name="Rounded Rectangle 18"/>
          <p:cNvSpPr/>
          <p:nvPr/>
        </p:nvSpPr>
        <p:spPr>
          <a:xfrm>
            <a:off x="10058400" y="1325880"/>
            <a:ext cx="1965960" cy="14173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149840" y="1417320"/>
            <a:ext cx="1783080" cy="365760"/>
          </a:xfrm>
          <a:prstGeom prst="rect">
            <a:avLst/>
          </a:prstGeom>
          <a:noFill/>
        </p:spPr>
        <p:txBody>
          <a:bodyPr wrap="square" lIns="0" tIns="0" rIns="0" bIns="0" anchor="t"/>
          <a:lstStyle/>
          <a:p>
            <a:pPr algn="ctr">
              <a:spcBef>
                <a:spcPts val="0"/>
              </a:spcBef>
              <a:spcAft>
                <a:spcPts val="0"/>
              </a:spcAft>
            </a:pPr>
            <a:r>
              <a:rPr sz="1400" b="1" i="0">
                <a:solidFill>
                  <a:srgbClr val="0E4C57"/>
                </a:solidFill>
                <a:latin typeface="微软雅黑"/>
                <a:ea typeface="微软雅黑"/>
                <a:cs typeface="微软雅黑"/>
              </a:rPr>
              <a:t>答案</a:t>
            </a:r>
          </a:p>
        </p:txBody>
      </p:sp>
      <p:sp>
        <p:nvSpPr>
          <p:cNvPr id="21" name="TextBox 20"/>
          <p:cNvSpPr txBox="1"/>
          <p:nvPr/>
        </p:nvSpPr>
        <p:spPr>
          <a:xfrm>
            <a:off x="10149840" y="1828800"/>
            <a:ext cx="1783080" cy="731520"/>
          </a:xfrm>
          <a:prstGeom prst="rect">
            <a:avLst/>
          </a:prstGeom>
          <a:noFill/>
        </p:spPr>
        <p:txBody>
          <a:bodyPr wrap="square" lIns="0" tIns="0" rIns="0" bIns="0" anchor="t"/>
          <a:lstStyle/>
          <a:p>
            <a:pPr algn="ctr">
              <a:spcBef>
                <a:spcPts val="0"/>
              </a:spcBef>
              <a:spcAft>
                <a:spcPts val="0"/>
              </a:spcAft>
            </a:pPr>
            <a:r>
              <a:rPr sz="1300" b="0" i="0">
                <a:solidFill>
                  <a:srgbClr val="1F2A30"/>
                </a:solidFill>
                <a:latin typeface="微软雅黑"/>
                <a:ea typeface="微软雅黑"/>
                <a:cs typeface="微软雅黑"/>
              </a:rPr>
              <a:t>开放文本</a:t>
            </a:r>
          </a:p>
        </p:txBody>
      </p:sp>
      <p:sp>
        <p:nvSpPr>
          <p:cNvPr id="22" name="TextBox 21"/>
          <p:cNvSpPr txBox="1"/>
          <p:nvPr/>
        </p:nvSpPr>
        <p:spPr>
          <a:xfrm>
            <a:off x="438912" y="2926080"/>
            <a:ext cx="11247120" cy="274320"/>
          </a:xfrm>
          <a:prstGeom prst="rect">
            <a:avLst/>
          </a:prstGeom>
          <a:noFill/>
        </p:spPr>
        <p:txBody>
          <a:bodyPr wrap="square" lIns="0" tIns="0" rIns="0" bIns="0" anchor="t"/>
          <a:lstStyle/>
          <a:p>
            <a:pPr algn="l">
              <a:spcBef>
                <a:spcPts val="0"/>
              </a:spcBef>
              <a:spcAft>
                <a:spcPts val="0"/>
              </a:spcAft>
            </a:pPr>
            <a:r>
              <a:rPr sz="1600" b="1" i="0">
                <a:solidFill>
                  <a:srgbClr val="1B3A4B"/>
                </a:solidFill>
                <a:latin typeface="微软雅黑"/>
                <a:ea typeface="微软雅黑"/>
                <a:cs typeface="微软雅黑"/>
              </a:rPr>
              <a:t>问题从另一路进入，而且只让问题影响选帧</a:t>
            </a:r>
          </a:p>
        </p:txBody>
      </p:sp>
      <p:sp>
        <p:nvSpPr>
          <p:cNvPr id="23" name="Rounded Rectangle 22"/>
          <p:cNvSpPr/>
          <p:nvPr/>
        </p:nvSpPr>
        <p:spPr>
          <a:xfrm>
            <a:off x="438912" y="3337560"/>
            <a:ext cx="3657600" cy="2651760"/>
          </a:xfrm>
          <a:prstGeom prst="roundRect">
            <a:avLst>
              <a:gd name="adj" fmla="val 8000"/>
            </a:avLst>
          </a:prstGeom>
          <a:solidFill>
            <a:srgbClr val="FFFFFF"/>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38912" y="3337560"/>
            <a:ext cx="73152" cy="2651760"/>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 y="3474720"/>
            <a:ext cx="3291840" cy="36576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训练</a:t>
            </a:r>
          </a:p>
        </p:txBody>
      </p:sp>
      <p:sp>
        <p:nvSpPr>
          <p:cNvPr id="26" name="TextBox 25"/>
          <p:cNvSpPr txBox="1"/>
          <p:nvPr/>
        </p:nvSpPr>
        <p:spPr>
          <a:xfrm>
            <a:off x="658368" y="3931920"/>
            <a:ext cx="3291840" cy="1828800"/>
          </a:xfrm>
          <a:prstGeom prst="rect">
            <a:avLst/>
          </a:prstGeom>
          <a:noFill/>
        </p:spPr>
        <p:txBody>
          <a:bodyPr wrap="square" lIns="0" tIns="0" rIns="0" bIns="0" anchor="t"/>
          <a:lstStyle/>
          <a:p>
            <a:pPr algn="l">
              <a:spcBef>
                <a:spcPts val="0"/>
              </a:spcBef>
              <a:spcAft>
                <a:spcPts val="0"/>
              </a:spcAft>
            </a:pPr>
            <a:r>
              <a:rPr sz="1400" b="0" i="0" dirty="0" err="1">
                <a:solidFill>
                  <a:srgbClr val="1F2A30"/>
                </a:solidFill>
                <a:latin typeface="微软雅黑"/>
                <a:ea typeface="微软雅黑"/>
                <a:cs typeface="微软雅黑"/>
              </a:rPr>
              <a:t>输入是「问题</a:t>
            </a:r>
            <a:r>
              <a:rPr sz="1400" b="0" i="0" dirty="0">
                <a:solidFill>
                  <a:srgbClr val="1F2A30"/>
                </a:solidFill>
                <a:latin typeface="微软雅黑"/>
                <a:ea typeface="微软雅黑"/>
                <a:cs typeface="微软雅黑"/>
              </a:rPr>
              <a:t> + </a:t>
            </a:r>
            <a:r>
              <a:rPr sz="1400" b="0" i="0" dirty="0" err="1">
                <a:solidFill>
                  <a:srgbClr val="1F2A30"/>
                </a:solidFill>
                <a:latin typeface="微软雅黑"/>
                <a:ea typeface="微软雅黑"/>
                <a:cs typeface="微软雅黑"/>
              </a:rPr>
              <a:t>答案</a:t>
            </a:r>
            <a:r>
              <a:rPr sz="1400" b="0" i="0" dirty="0">
                <a:solidFill>
                  <a:srgbClr val="1F2A30"/>
                </a:solidFill>
                <a:latin typeface="微软雅黑"/>
                <a:ea typeface="微软雅黑"/>
                <a:cs typeface="微软雅黑"/>
              </a:rPr>
              <a:t>」。</a:t>
            </a:r>
            <a:r>
              <a:rPr sz="1400" b="0" i="0" dirty="0" err="1">
                <a:solidFill>
                  <a:srgbClr val="1F2A30"/>
                </a:solidFill>
                <a:latin typeface="微软雅黑"/>
                <a:ea typeface="微软雅黑"/>
                <a:cs typeface="微软雅黑"/>
              </a:rPr>
              <a:t>构造记忆时把答案</a:t>
            </a:r>
            <a:r>
              <a:rPr sz="1400" b="0" i="0" dirty="0">
                <a:solidFill>
                  <a:srgbClr val="1F2A30"/>
                </a:solidFill>
                <a:latin typeface="微软雅黑"/>
                <a:ea typeface="微软雅黑"/>
                <a:cs typeface="微软雅黑"/>
              </a:rPr>
              <a:t> token </a:t>
            </a:r>
            <a:r>
              <a:rPr sz="1400" b="0" i="0" dirty="0" err="1">
                <a:solidFill>
                  <a:srgbClr val="1F2A30"/>
                </a:solidFill>
                <a:latin typeface="微软雅黑"/>
                <a:ea typeface="微软雅黑"/>
                <a:cs typeface="微软雅黑"/>
              </a:rPr>
              <a:t>遮住，避免用未来答案决定看哪一帧</a:t>
            </a:r>
            <a:r>
              <a:rPr sz="1400" b="0" i="0" dirty="0">
                <a:solidFill>
                  <a:srgbClr val="1F2A30"/>
                </a:solidFill>
                <a:latin typeface="微软雅黑"/>
                <a:ea typeface="微软雅黑"/>
                <a:cs typeface="微软雅黑"/>
              </a:rPr>
              <a:t>。</a:t>
            </a:r>
          </a:p>
        </p:txBody>
      </p:sp>
      <p:sp>
        <p:nvSpPr>
          <p:cNvPr id="27" name="Rounded Rectangle 26"/>
          <p:cNvSpPr/>
          <p:nvPr/>
        </p:nvSpPr>
        <p:spPr>
          <a:xfrm>
            <a:off x="4279392" y="3337560"/>
            <a:ext cx="3657600" cy="2651760"/>
          </a:xfrm>
          <a:prstGeom prst="roundRect">
            <a:avLst>
              <a:gd name="adj" fmla="val 8000"/>
            </a:avLst>
          </a:prstGeom>
          <a:solidFill>
            <a:srgbClr val="FFFFFF"/>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279392" y="3337560"/>
            <a:ext cx="73152" cy="2651760"/>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98848" y="3474720"/>
            <a:ext cx="3291840" cy="36576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推理</a:t>
            </a:r>
          </a:p>
        </p:txBody>
      </p:sp>
      <p:sp>
        <p:nvSpPr>
          <p:cNvPr id="30" name="TextBox 29"/>
          <p:cNvSpPr txBox="1"/>
          <p:nvPr/>
        </p:nvSpPr>
        <p:spPr>
          <a:xfrm>
            <a:off x="4498848" y="3931920"/>
            <a:ext cx="3291840" cy="1828800"/>
          </a:xfrm>
          <a:prstGeom prst="rect">
            <a:avLst/>
          </a:prstGeom>
          <a:noFill/>
        </p:spPr>
        <p:txBody>
          <a:bodyPr wrap="square" lIns="0" tIns="0" rIns="0" bIns="0" anchor="t"/>
          <a:lstStyle/>
          <a:p>
            <a:pPr algn="l">
              <a:spcBef>
                <a:spcPts val="0"/>
              </a:spcBef>
              <a:spcAft>
                <a:spcPts val="0"/>
              </a:spcAft>
            </a:pPr>
            <a:r>
              <a:rPr sz="1400" b="0" i="0" dirty="0" err="1">
                <a:solidFill>
                  <a:srgbClr val="1F2A30"/>
                </a:solidFill>
                <a:latin typeface="微软雅黑"/>
                <a:ea typeface="微软雅黑"/>
                <a:cs typeface="微软雅黑"/>
              </a:rPr>
              <a:t>只输入问题。语言模型自回归生成。送入语言模型的视觉</a:t>
            </a:r>
            <a:r>
              <a:rPr sz="1400" b="0" i="0" dirty="0">
                <a:solidFill>
                  <a:srgbClr val="1F2A30"/>
                </a:solidFill>
                <a:latin typeface="微软雅黑"/>
                <a:ea typeface="微软雅黑"/>
                <a:cs typeface="微软雅黑"/>
              </a:rPr>
              <a:t> token </a:t>
            </a:r>
            <a:r>
              <a:rPr sz="1400" b="0" i="0" dirty="0" err="1">
                <a:solidFill>
                  <a:srgbClr val="1F2A30"/>
                </a:solidFill>
                <a:latin typeface="微软雅黑"/>
                <a:ea typeface="微软雅黑"/>
                <a:cs typeface="微软雅黑"/>
              </a:rPr>
              <a:t>少于直接</a:t>
            </a:r>
            <a:r>
              <a:rPr lang="zh-CN" altLang="en-US" sz="1400" b="0" i="0" dirty="0">
                <a:solidFill>
                  <a:srgbClr val="1F2A30"/>
                </a:solidFill>
                <a:latin typeface="微软雅黑"/>
                <a:ea typeface="微软雅黑"/>
                <a:cs typeface="微软雅黑"/>
              </a:rPr>
              <a:t>用满</a:t>
            </a:r>
            <a:r>
              <a:rPr sz="1400" b="0" i="0" dirty="0">
                <a:solidFill>
                  <a:srgbClr val="1F2A30"/>
                </a:solidFill>
                <a:latin typeface="微软雅黑"/>
                <a:ea typeface="微软雅黑"/>
                <a:cs typeface="微软雅黑"/>
              </a:rPr>
              <a:t> 64 </a:t>
            </a:r>
            <a:r>
              <a:rPr sz="1400" b="0" i="0" dirty="0" err="1">
                <a:solidFill>
                  <a:srgbClr val="1F2A30"/>
                </a:solidFill>
                <a:latin typeface="微软雅黑"/>
                <a:ea typeface="微软雅黑"/>
                <a:cs typeface="微软雅黑"/>
              </a:rPr>
              <a:t>帧的</a:t>
            </a:r>
            <a:r>
              <a:rPr lang="en-US" altLang="zh-CN" sz="1400" dirty="0" err="1">
                <a:solidFill>
                  <a:srgbClr val="1F2A30"/>
                </a:solidFill>
                <a:latin typeface="微软雅黑"/>
                <a:ea typeface="微软雅黑"/>
                <a:cs typeface="微软雅黑"/>
              </a:rPr>
              <a:t>baseline</a:t>
            </a:r>
            <a:r>
              <a:rPr sz="1400" b="0" i="0" dirty="0">
                <a:solidFill>
                  <a:srgbClr val="1F2A30"/>
                </a:solidFill>
                <a:latin typeface="微软雅黑"/>
                <a:ea typeface="微软雅黑"/>
                <a:cs typeface="微软雅黑"/>
              </a:rPr>
              <a:t>。</a:t>
            </a:r>
          </a:p>
        </p:txBody>
      </p:sp>
      <p:sp>
        <p:nvSpPr>
          <p:cNvPr id="31" name="Rounded Rectangle 30"/>
          <p:cNvSpPr/>
          <p:nvPr/>
        </p:nvSpPr>
        <p:spPr>
          <a:xfrm>
            <a:off x="8119872" y="3337560"/>
            <a:ext cx="3657600" cy="2651760"/>
          </a:xfrm>
          <a:prstGeom prst="roundRect">
            <a:avLst>
              <a:gd name="adj" fmla="val 8000"/>
            </a:avLst>
          </a:prstGeom>
          <a:solidFill>
            <a:srgbClr val="FFFFFF"/>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19872" y="3337560"/>
            <a:ext cx="73152" cy="2651760"/>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39328" y="3474720"/>
            <a:ext cx="3291840" cy="36576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初始化</a:t>
            </a:r>
          </a:p>
        </p:txBody>
      </p:sp>
      <p:sp>
        <p:nvSpPr>
          <p:cNvPr id="34" name="TextBox 33"/>
          <p:cNvSpPr txBox="1"/>
          <p:nvPr/>
        </p:nvSpPr>
        <p:spPr>
          <a:xfrm>
            <a:off x="8339328" y="3931920"/>
            <a:ext cx="3291840" cy="1828800"/>
          </a:xfrm>
          <a:prstGeom prst="rect">
            <a:avLst/>
          </a:prstGeom>
          <a:noFill/>
        </p:spPr>
        <p:txBody>
          <a:bodyPr wrap="square" lIns="0" tIns="0" rIns="0" bIns="0" anchor="t"/>
          <a:lstStyle/>
          <a:p>
            <a:pPr algn="l">
              <a:spcBef>
                <a:spcPts val="0"/>
              </a:spcBef>
              <a:spcAft>
                <a:spcPts val="0"/>
              </a:spcAft>
            </a:pPr>
            <a:r>
              <a:rPr sz="1400" b="0" i="0" dirty="0" err="1">
                <a:solidFill>
                  <a:srgbClr val="1F2A30"/>
                </a:solidFill>
                <a:latin typeface="微软雅黑"/>
                <a:ea typeface="微软雅黑"/>
                <a:cs typeface="微软雅黑"/>
              </a:rPr>
              <a:t>权重来自</a:t>
            </a:r>
            <a:r>
              <a:rPr sz="1400" b="0" i="0" dirty="0">
                <a:solidFill>
                  <a:srgbClr val="1F2A30"/>
                </a:solidFill>
                <a:latin typeface="微软雅黑"/>
                <a:ea typeface="微软雅黑"/>
                <a:cs typeface="微软雅黑"/>
              </a:rPr>
              <a:t> </a:t>
            </a:r>
            <a:r>
              <a:rPr sz="1400" b="0" i="0" dirty="0" err="1">
                <a:solidFill>
                  <a:srgbClr val="1F2A30"/>
                </a:solidFill>
                <a:latin typeface="微软雅黑"/>
                <a:ea typeface="微软雅黑"/>
                <a:cs typeface="微软雅黑"/>
              </a:rPr>
              <a:t>LLaVA</a:t>
            </a:r>
            <a:r>
              <a:rPr sz="1400" b="0" i="0" dirty="0">
                <a:solidFill>
                  <a:srgbClr val="1F2A30"/>
                </a:solidFill>
                <a:latin typeface="微软雅黑"/>
                <a:ea typeface="微软雅黑"/>
                <a:cs typeface="微软雅黑"/>
              </a:rPr>
              <a:t>-Video </a:t>
            </a:r>
            <a:r>
              <a:rPr lang="en-US" altLang="zh-CN" sz="1400" dirty="0" err="1">
                <a:solidFill>
                  <a:srgbClr val="1F2A30"/>
                </a:solidFill>
                <a:latin typeface="微软雅黑"/>
                <a:ea typeface="微软雅黑"/>
                <a:cs typeface="微软雅黑"/>
              </a:rPr>
              <a:t>checkpoint</a:t>
            </a:r>
            <a:r>
              <a:rPr sz="1400" b="0" i="0" dirty="0" err="1">
                <a:solidFill>
                  <a:srgbClr val="1F2A30"/>
                </a:solidFill>
                <a:latin typeface="微软雅黑"/>
                <a:ea typeface="微软雅黑"/>
                <a:cs typeface="微软雅黑"/>
              </a:rPr>
              <a:t>。换一个更新的语言模型就要重做视觉对齐，所以没有换成更新的</a:t>
            </a:r>
            <a:r>
              <a:rPr sz="1400" b="0" i="0" dirty="0">
                <a:solidFill>
                  <a:srgbClr val="1F2A30"/>
                </a:solidFill>
                <a:latin typeface="微软雅黑"/>
                <a:ea typeface="微软雅黑"/>
                <a:cs typeface="微软雅黑"/>
              </a:rPr>
              <a:t> Qwen。</a:t>
            </a:r>
          </a:p>
        </p:txBody>
      </p:sp>
      <p:sp>
        <p:nvSpPr>
          <p:cNvPr id="35" name="Rectangle 34"/>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37" name="TextBox 36"/>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38" name="TextBox 37"/>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5  /  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5BB9F-7D5F-6191-2531-7D9F401F974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4F115E3-6D67-3B47-E131-5B4A7D2DE656}"/>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E8B27D6-714C-11D8-E9EA-5724ECF69E8A}"/>
              </a:ext>
            </a:extLst>
          </p:cNvPr>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4179DF46-29D0-DFA9-3267-9EE0D20B6755}"/>
              </a:ext>
            </a:extLst>
          </p:cNvPr>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Overall Flow</a:t>
            </a:r>
          </a:p>
        </p:txBody>
      </p:sp>
      <p:sp>
        <p:nvSpPr>
          <p:cNvPr id="6" name="Rectangle 5">
            <a:extLst>
              <a:ext uri="{FF2B5EF4-FFF2-40B4-BE49-F238E27FC236}">
                <a16:creationId xmlns:a16="http://schemas.microsoft.com/office/drawing/2014/main" id="{24F02185-DAF1-B392-1486-58E1F4883255}"/>
              </a:ext>
            </a:extLst>
          </p:cNvPr>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BC920208-9ACE-17DA-1AAC-B30EFE65EC25}"/>
              </a:ext>
            </a:extLst>
          </p:cNvPr>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0D00F84E-17EA-D737-6800-2B883524FDB8}"/>
              </a:ext>
            </a:extLst>
          </p:cNvPr>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37" name="TextBox 36">
            <a:extLst>
              <a:ext uri="{FF2B5EF4-FFF2-40B4-BE49-F238E27FC236}">
                <a16:creationId xmlns:a16="http://schemas.microsoft.com/office/drawing/2014/main" id="{1888DD10-B5C4-1237-8D14-2B16D969D0EF}"/>
              </a:ext>
            </a:extLst>
          </p:cNvPr>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38" name="TextBox 37">
            <a:extLst>
              <a:ext uri="{FF2B5EF4-FFF2-40B4-BE49-F238E27FC236}">
                <a16:creationId xmlns:a16="http://schemas.microsoft.com/office/drawing/2014/main" id="{5C362DF7-7E84-94F8-3A75-AEE1AD9DE5B7}"/>
              </a:ext>
            </a:extLst>
          </p:cNvPr>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5  /  26</a:t>
            </a:r>
          </a:p>
        </p:txBody>
      </p:sp>
      <p:pic>
        <p:nvPicPr>
          <p:cNvPr id="39" name="图片 38">
            <a:extLst>
              <a:ext uri="{FF2B5EF4-FFF2-40B4-BE49-F238E27FC236}">
                <a16:creationId xmlns:a16="http://schemas.microsoft.com/office/drawing/2014/main" id="{E13F4845-122D-1838-BA02-8EE41CACD1D2}"/>
              </a:ext>
            </a:extLst>
          </p:cNvPr>
          <p:cNvPicPr>
            <a:picLocks noChangeAspect="1"/>
          </p:cNvPicPr>
          <p:nvPr/>
        </p:nvPicPr>
        <p:blipFill>
          <a:blip r:embed="rId2"/>
          <a:stretch>
            <a:fillRect/>
          </a:stretch>
        </p:blipFill>
        <p:spPr>
          <a:xfrm>
            <a:off x="1460447" y="1078992"/>
            <a:ext cx="9240626" cy="4976902"/>
          </a:xfrm>
          <a:prstGeom prst="rect">
            <a:avLst/>
          </a:prstGeom>
        </p:spPr>
      </p:pic>
    </p:spTree>
    <p:extLst>
      <p:ext uri="{BB962C8B-B14F-4D97-AF65-F5344CB8AC3E}">
        <p14:creationId xmlns:p14="http://schemas.microsoft.com/office/powerpoint/2010/main" val="3383235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Backbone</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38912" y="1188720"/>
          <a:ext cx="11292840" cy="24688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493776">
                <a:tc>
                  <a:txBody>
                    <a:bodyPr/>
                    <a:lstStyle/>
                    <a:p>
                      <a:pPr algn="ctr"/>
                      <a:r>
                        <a:rPr sz="1300" b="1" i="0">
                          <a:solidFill>
                            <a:srgbClr val="FFFFFF"/>
                          </a:solidFill>
                          <a:latin typeface="微软雅黑"/>
                          <a:ea typeface="微软雅黑"/>
                          <a:cs typeface="微软雅黑"/>
                        </a:rPr>
                        <a:t>模块</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来源</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更新方式</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学习率</a:t>
                      </a:r>
                    </a:p>
                  </a:txBody>
                  <a:tcPr marL="54864" marR="54864" marT="36576" marB="36576" anchor="ctr">
                    <a:solidFill>
                      <a:srgbClr val="1B3A4B"/>
                    </a:solidFill>
                  </a:tcPr>
                </a:tc>
                <a:extLst>
                  <a:ext uri="{0D108BD9-81ED-4DB2-BD59-A6C34878D82A}">
                    <a16:rowId xmlns:a16="http://schemas.microsoft.com/office/drawing/2014/main" val="10000"/>
                  </a:ext>
                </a:extLst>
              </a:tr>
              <a:tr h="493776">
                <a:tc>
                  <a:txBody>
                    <a:bodyPr/>
                    <a:lstStyle/>
                    <a:p>
                      <a:pPr algn="ctr"/>
                      <a:r>
                        <a:rPr sz="1300" b="1" i="0">
                          <a:solidFill>
                            <a:srgbClr val="1F2A30"/>
                          </a:solidFill>
                          <a:latin typeface="微软雅黑"/>
                          <a:ea typeface="微软雅黑"/>
                          <a:cs typeface="微软雅黑"/>
                        </a:rPr>
                        <a:t>视觉编码器</a:t>
                      </a:r>
                    </a:p>
                  </a:txBody>
                  <a:tcPr marL="54864" marR="54864" marT="36576" marB="36576" anchor="ctr">
                    <a:solidFill>
                      <a:srgbClr val="FFFFFF"/>
                    </a:solidFill>
                  </a:tcPr>
                </a:tc>
                <a:tc>
                  <a:txBody>
                    <a:bodyPr/>
                    <a:lstStyle/>
                    <a:p>
                      <a:pPr algn="ctr"/>
                      <a:r>
                        <a:rPr sz="1300" b="0" i="0" dirty="0" err="1">
                          <a:solidFill>
                            <a:srgbClr val="1F2A30"/>
                          </a:solidFill>
                          <a:latin typeface="微软雅黑"/>
                          <a:ea typeface="微软雅黑"/>
                          <a:cs typeface="微软雅黑"/>
                        </a:rPr>
                        <a:t>SigLIP</a:t>
                      </a:r>
                      <a:r>
                        <a:rPr sz="1300" b="0" i="0" dirty="0">
                          <a:solidFill>
                            <a:srgbClr val="1F2A30"/>
                          </a:solidFill>
                          <a:latin typeface="微软雅黑"/>
                          <a:ea typeface="微软雅黑"/>
                          <a:cs typeface="微软雅黑"/>
                        </a:rPr>
                        <a:t> ViT-SO400M/14-384</a:t>
                      </a:r>
                    </a:p>
                  </a:txBody>
                  <a:tcPr marL="54864" marR="54864" marT="36576" marB="36576" anchor="ctr">
                    <a:solidFill>
                      <a:srgbClr val="FFFFFF"/>
                    </a:solidFill>
                  </a:tcPr>
                </a:tc>
                <a:tc>
                  <a:txBody>
                    <a:bodyPr/>
                    <a:lstStyle/>
                    <a:p>
                      <a:pPr algn="ctr"/>
                      <a:r>
                        <a:rPr sz="1300" b="0" i="0" dirty="0" err="1">
                          <a:solidFill>
                            <a:srgbClr val="1F2A30"/>
                          </a:solidFill>
                          <a:latin typeface="微软雅黑"/>
                          <a:ea typeface="微软雅黑"/>
                          <a:cs typeface="微软雅黑"/>
                        </a:rPr>
                        <a:t>LoRA</a:t>
                      </a:r>
                      <a:endParaRPr sz="1300" b="0" i="0" dirty="0">
                        <a:solidFill>
                          <a:srgbClr val="1F2A30"/>
                        </a:solidFill>
                        <a:latin typeface="微软雅黑"/>
                        <a:ea typeface="微软雅黑"/>
                        <a:cs typeface="微软雅黑"/>
                      </a:endParaRP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学习率 2e-6</a:t>
                      </a:r>
                    </a:p>
                  </a:txBody>
                  <a:tcPr marL="54864" marR="54864" marT="36576" marB="36576" anchor="ctr">
                    <a:solidFill>
                      <a:srgbClr val="FFFFFF"/>
                    </a:solidFill>
                  </a:tcPr>
                </a:tc>
                <a:extLst>
                  <a:ext uri="{0D108BD9-81ED-4DB2-BD59-A6C34878D82A}">
                    <a16:rowId xmlns:a16="http://schemas.microsoft.com/office/drawing/2014/main" val="10001"/>
                  </a:ext>
                </a:extLst>
              </a:tr>
              <a:tr h="493776">
                <a:tc>
                  <a:txBody>
                    <a:bodyPr/>
                    <a:lstStyle/>
                    <a:p>
                      <a:pPr algn="ctr"/>
                      <a:r>
                        <a:rPr sz="1300" b="1" i="0">
                          <a:solidFill>
                            <a:srgbClr val="1F2A30"/>
                          </a:solidFill>
                          <a:latin typeface="微软雅黑"/>
                          <a:ea typeface="微软雅黑"/>
                          <a:cs typeface="微软雅黑"/>
                        </a:rPr>
                        <a:t>多模态投影</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LLaVA-Video 预训练投影 + stride-2 池化</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全量</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学习率 1e-5</a:t>
                      </a:r>
                    </a:p>
                  </a:txBody>
                  <a:tcPr marL="54864" marR="54864" marT="36576" marB="36576" anchor="ctr">
                    <a:solidFill>
                      <a:srgbClr val="F4F8F8"/>
                    </a:solidFill>
                  </a:tcPr>
                </a:tc>
                <a:extLst>
                  <a:ext uri="{0D108BD9-81ED-4DB2-BD59-A6C34878D82A}">
                    <a16:rowId xmlns:a16="http://schemas.microsoft.com/office/drawing/2014/main" val="10002"/>
                  </a:ext>
                </a:extLst>
              </a:tr>
              <a:tr h="493776">
                <a:tc>
                  <a:txBody>
                    <a:bodyPr/>
                    <a:lstStyle/>
                    <a:p>
                      <a:pPr algn="ctr"/>
                      <a:r>
                        <a:rPr sz="1300" b="1" i="0">
                          <a:solidFill>
                            <a:srgbClr val="1F2A30"/>
                          </a:solidFill>
                          <a:latin typeface="微软雅黑"/>
                          <a:ea typeface="微软雅黑"/>
                          <a:cs typeface="微软雅黑"/>
                        </a:rPr>
                        <a:t>TEMP 与分隔符</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随机初始化，没有预训练对应物</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全量</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学习率 1e-5</a:t>
                      </a:r>
                    </a:p>
                  </a:txBody>
                  <a:tcPr marL="54864" marR="54864" marT="36576" marB="36576" anchor="ctr">
                    <a:solidFill>
                      <a:srgbClr val="FFFFFF"/>
                    </a:solidFill>
                  </a:tcPr>
                </a:tc>
                <a:extLst>
                  <a:ext uri="{0D108BD9-81ED-4DB2-BD59-A6C34878D82A}">
                    <a16:rowId xmlns:a16="http://schemas.microsoft.com/office/drawing/2014/main" val="10003"/>
                  </a:ext>
                </a:extLst>
              </a:tr>
              <a:tr h="493776">
                <a:tc>
                  <a:txBody>
                    <a:bodyPr/>
                    <a:lstStyle/>
                    <a:p>
                      <a:pPr algn="ctr"/>
                      <a:r>
                        <a:rPr sz="1300" b="1" i="0">
                          <a:solidFill>
                            <a:srgbClr val="1B3A4B"/>
                          </a:solidFill>
                          <a:latin typeface="微软雅黑"/>
                          <a:ea typeface="微软雅黑"/>
                          <a:cs typeface="微软雅黑"/>
                        </a:rPr>
                        <a:t>语言模型</a:t>
                      </a:r>
                    </a:p>
                  </a:txBody>
                  <a:tcPr marL="54864" marR="54864" marT="36576" marB="36576" anchor="ctr">
                    <a:solidFill>
                      <a:srgbClr val="F4F8F8"/>
                    </a:solidFill>
                  </a:tcPr>
                </a:tc>
                <a:tc>
                  <a:txBody>
                    <a:bodyPr/>
                    <a:lstStyle/>
                    <a:p>
                      <a:pPr algn="ctr"/>
                      <a:r>
                        <a:rPr sz="1300" b="1" i="0">
                          <a:solidFill>
                            <a:srgbClr val="1B3A4B"/>
                          </a:solidFill>
                          <a:latin typeface="微软雅黑"/>
                          <a:ea typeface="微软雅黑"/>
                          <a:cs typeface="微软雅黑"/>
                        </a:rPr>
                        <a:t>Qwen2-7B，来自同一 LLaVA-Video 检查点</a:t>
                      </a:r>
                    </a:p>
                  </a:txBody>
                  <a:tcPr marL="54864" marR="54864" marT="36576" marB="36576" anchor="ctr">
                    <a:solidFill>
                      <a:srgbClr val="F4F8F8"/>
                    </a:solidFill>
                  </a:tcPr>
                </a:tc>
                <a:tc>
                  <a:txBody>
                    <a:bodyPr/>
                    <a:lstStyle/>
                    <a:p>
                      <a:pPr algn="ctr"/>
                      <a:r>
                        <a:rPr sz="1300" b="1" i="0">
                          <a:solidFill>
                            <a:srgbClr val="1B3A4B"/>
                          </a:solidFill>
                          <a:latin typeface="微软雅黑"/>
                          <a:ea typeface="微软雅黑"/>
                          <a:cs typeface="微软雅黑"/>
                        </a:rPr>
                        <a:t>LoRA</a:t>
                      </a:r>
                    </a:p>
                  </a:txBody>
                  <a:tcPr marL="54864" marR="54864" marT="36576" marB="36576" anchor="ctr">
                    <a:solidFill>
                      <a:srgbClr val="F4F8F8"/>
                    </a:solidFill>
                  </a:tcPr>
                </a:tc>
                <a:tc>
                  <a:txBody>
                    <a:bodyPr/>
                    <a:lstStyle/>
                    <a:p>
                      <a:pPr algn="ctr"/>
                      <a:r>
                        <a:rPr sz="1300" b="1" i="0" dirty="0" err="1">
                          <a:solidFill>
                            <a:srgbClr val="1B3A4B"/>
                          </a:solidFill>
                          <a:latin typeface="微软雅黑"/>
                          <a:ea typeface="微软雅黑"/>
                          <a:cs typeface="微软雅黑"/>
                        </a:rPr>
                        <a:t>学习率</a:t>
                      </a:r>
                      <a:r>
                        <a:rPr sz="1300" b="1" i="0" dirty="0">
                          <a:solidFill>
                            <a:srgbClr val="1B3A4B"/>
                          </a:solidFill>
                          <a:latin typeface="微软雅黑"/>
                          <a:ea typeface="微软雅黑"/>
                          <a:cs typeface="微软雅黑"/>
                        </a:rPr>
                        <a:t> 1e-5</a:t>
                      </a:r>
                    </a:p>
                  </a:txBody>
                  <a:tcPr marL="54864" marR="54864" marT="36576" marB="36576" anchor="ctr">
                    <a:solidFill>
                      <a:srgbClr val="F4F8F8"/>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38912" y="3886200"/>
            <a:ext cx="11247120" cy="320040"/>
          </a:xfrm>
          <a:prstGeom prst="rect">
            <a:avLst/>
          </a:prstGeom>
          <a:noFill/>
        </p:spPr>
        <p:txBody>
          <a:bodyPr wrap="square" lIns="0" tIns="0" rIns="0" bIns="0" anchor="t"/>
          <a:lstStyle/>
          <a:p>
            <a:pPr algn="l">
              <a:spcBef>
                <a:spcPts val="0"/>
              </a:spcBef>
              <a:spcAft>
                <a:spcPts val="0"/>
              </a:spcAft>
            </a:pPr>
            <a:r>
              <a:rPr sz="1600" b="1" i="0">
                <a:solidFill>
                  <a:srgbClr val="1B3A4B"/>
                </a:solidFill>
                <a:latin typeface="微软雅黑"/>
                <a:ea typeface="微软雅黑"/>
                <a:cs typeface="微软雅黑"/>
              </a:rPr>
              <a:t>训练预算</a:t>
            </a:r>
          </a:p>
        </p:txBody>
      </p:sp>
      <p:sp>
        <p:nvSpPr>
          <p:cNvPr id="9" name="Rounded Rectangle 8"/>
          <p:cNvSpPr/>
          <p:nvPr/>
        </p:nvSpPr>
        <p:spPr>
          <a:xfrm>
            <a:off x="438912" y="4297680"/>
            <a:ext cx="2788920" cy="19659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5216" y="4407408"/>
            <a:ext cx="2514600" cy="292608"/>
          </a:xfrm>
          <a:prstGeom prst="rect">
            <a:avLst/>
          </a:prstGeom>
          <a:noFill/>
        </p:spPr>
        <p:txBody>
          <a:bodyPr wrap="square" lIns="0" tIns="0" rIns="0" bIns="0" anchor="t"/>
          <a:lstStyle/>
          <a:p>
            <a:pPr algn="l">
              <a:spcBef>
                <a:spcPts val="0"/>
              </a:spcBef>
              <a:spcAft>
                <a:spcPts val="0"/>
              </a:spcAft>
            </a:pPr>
            <a:r>
              <a:rPr sz="1400" b="1" i="0">
                <a:solidFill>
                  <a:srgbClr val="0E4C57"/>
                </a:solidFill>
                <a:latin typeface="微软雅黑"/>
                <a:ea typeface="微软雅黑"/>
                <a:cs typeface="微软雅黑"/>
              </a:rPr>
              <a:t>LoRA</a:t>
            </a:r>
          </a:p>
        </p:txBody>
      </p:sp>
      <p:sp>
        <p:nvSpPr>
          <p:cNvPr id="11" name="TextBox 10"/>
          <p:cNvSpPr txBox="1"/>
          <p:nvPr/>
        </p:nvSpPr>
        <p:spPr>
          <a:xfrm>
            <a:off x="585216" y="4754880"/>
            <a:ext cx="2514600" cy="132588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r = 64，α = 16
dropout 0.05
加在注意力和 MLP</a:t>
            </a:r>
          </a:p>
        </p:txBody>
      </p:sp>
      <p:sp>
        <p:nvSpPr>
          <p:cNvPr id="12" name="Rounded Rectangle 11"/>
          <p:cNvSpPr/>
          <p:nvPr/>
        </p:nvSpPr>
        <p:spPr>
          <a:xfrm>
            <a:off x="3364992" y="4297680"/>
            <a:ext cx="2788920" cy="19659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11296" y="4407408"/>
            <a:ext cx="2514600" cy="292608"/>
          </a:xfrm>
          <a:prstGeom prst="rect">
            <a:avLst/>
          </a:prstGeom>
          <a:noFill/>
        </p:spPr>
        <p:txBody>
          <a:bodyPr wrap="square" lIns="0" tIns="0" rIns="0" bIns="0" anchor="t"/>
          <a:lstStyle/>
          <a:p>
            <a:pPr algn="l">
              <a:spcBef>
                <a:spcPts val="0"/>
              </a:spcBef>
              <a:spcAft>
                <a:spcPts val="0"/>
              </a:spcAft>
            </a:pPr>
            <a:r>
              <a:rPr sz="1400" b="1" i="0">
                <a:solidFill>
                  <a:srgbClr val="0E4C57"/>
                </a:solidFill>
                <a:latin typeface="微软雅黑"/>
                <a:ea typeface="微软雅黑"/>
                <a:cs typeface="微软雅黑"/>
              </a:rPr>
              <a:t>优化</a:t>
            </a:r>
          </a:p>
        </p:txBody>
      </p:sp>
      <p:sp>
        <p:nvSpPr>
          <p:cNvPr id="14" name="TextBox 13"/>
          <p:cNvSpPr txBox="1"/>
          <p:nvPr/>
        </p:nvSpPr>
        <p:spPr>
          <a:xfrm>
            <a:off x="3511296" y="4754880"/>
            <a:ext cx="2514600" cy="132588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AdamW，1 个 epoch
有效 batch size 4
约 20 小时</a:t>
            </a:r>
          </a:p>
        </p:txBody>
      </p:sp>
      <p:sp>
        <p:nvSpPr>
          <p:cNvPr id="15" name="Rounded Rectangle 14"/>
          <p:cNvSpPr/>
          <p:nvPr/>
        </p:nvSpPr>
        <p:spPr>
          <a:xfrm>
            <a:off x="6291072" y="4297680"/>
            <a:ext cx="2788920" cy="19659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37376" y="4407408"/>
            <a:ext cx="2514600" cy="292608"/>
          </a:xfrm>
          <a:prstGeom prst="rect">
            <a:avLst/>
          </a:prstGeom>
          <a:noFill/>
        </p:spPr>
        <p:txBody>
          <a:bodyPr wrap="square" lIns="0" tIns="0" rIns="0" bIns="0" anchor="t"/>
          <a:lstStyle/>
          <a:p>
            <a:pPr algn="l">
              <a:spcBef>
                <a:spcPts val="0"/>
              </a:spcBef>
              <a:spcAft>
                <a:spcPts val="0"/>
              </a:spcAft>
            </a:pPr>
            <a:r>
              <a:rPr sz="1400" b="1" i="0">
                <a:solidFill>
                  <a:srgbClr val="0E4C57"/>
                </a:solidFill>
                <a:latin typeface="微软雅黑"/>
                <a:ea typeface="微软雅黑"/>
                <a:cs typeface="微软雅黑"/>
              </a:rPr>
              <a:t>硬件</a:t>
            </a:r>
          </a:p>
        </p:txBody>
      </p:sp>
      <p:sp>
        <p:nvSpPr>
          <p:cNvPr id="17" name="TextBox 16"/>
          <p:cNvSpPr txBox="1"/>
          <p:nvPr/>
        </p:nvSpPr>
        <p:spPr>
          <a:xfrm>
            <a:off x="6437376" y="4754880"/>
            <a:ext cx="2514600" cy="132588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双节点 A100 80GB
bf16 权重，tf32 矩阵乘
梯度裁剪 1.0</a:t>
            </a:r>
          </a:p>
        </p:txBody>
      </p:sp>
      <p:sp>
        <p:nvSpPr>
          <p:cNvPr id="18" name="Rounded Rectangle 17"/>
          <p:cNvSpPr/>
          <p:nvPr/>
        </p:nvSpPr>
        <p:spPr>
          <a:xfrm>
            <a:off x="9217152" y="4297680"/>
            <a:ext cx="2788920" cy="19659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6" y="4407408"/>
            <a:ext cx="2514600" cy="292608"/>
          </a:xfrm>
          <a:prstGeom prst="rect">
            <a:avLst/>
          </a:prstGeom>
          <a:noFill/>
        </p:spPr>
        <p:txBody>
          <a:bodyPr wrap="square" lIns="0" tIns="0" rIns="0" bIns="0" anchor="t"/>
          <a:lstStyle/>
          <a:p>
            <a:pPr algn="l">
              <a:spcBef>
                <a:spcPts val="0"/>
              </a:spcBef>
              <a:spcAft>
                <a:spcPts val="0"/>
              </a:spcAft>
            </a:pPr>
            <a:r>
              <a:rPr sz="1400" b="1" i="0">
                <a:solidFill>
                  <a:srgbClr val="0E4C57"/>
                </a:solidFill>
                <a:latin typeface="微软雅黑"/>
                <a:ea typeface="微软雅黑"/>
                <a:cs typeface="微软雅黑"/>
              </a:rPr>
              <a:t>公平比较</a:t>
            </a:r>
          </a:p>
        </p:txBody>
      </p:sp>
      <p:sp>
        <p:nvSpPr>
          <p:cNvPr id="20" name="TextBox 19"/>
          <p:cNvSpPr txBox="1"/>
          <p:nvPr/>
        </p:nvSpPr>
        <p:spPr>
          <a:xfrm>
            <a:off x="9363456" y="4754880"/>
            <a:ext cx="2514600" cy="132588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微调基线用同一套
LoRA、数据划分
和指令模板</a:t>
            </a:r>
          </a:p>
        </p:txBody>
      </p:sp>
      <p:sp>
        <p:nvSpPr>
          <p:cNvPr id="21" name="Rectangle 20"/>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3" name="TextBox 22"/>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4" name="TextBox 23"/>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6  /  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TEMP · 问题如何选帧</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6" name="TextBox 25"/>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7" name="TextBox 26"/>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7  /  26</a:t>
            </a:r>
          </a:p>
        </p:txBody>
      </p:sp>
      <p:pic>
        <p:nvPicPr>
          <p:cNvPr id="29" name="图片 28">
            <a:extLst>
              <a:ext uri="{FF2B5EF4-FFF2-40B4-BE49-F238E27FC236}">
                <a16:creationId xmlns:a16="http://schemas.microsoft.com/office/drawing/2014/main" id="{5EFB0608-D6D1-4CF0-097A-328097D84C42}"/>
              </a:ext>
            </a:extLst>
          </p:cNvPr>
          <p:cNvPicPr>
            <a:picLocks noChangeAspect="1"/>
          </p:cNvPicPr>
          <p:nvPr/>
        </p:nvPicPr>
        <p:blipFill>
          <a:blip r:embed="rId3"/>
          <a:stretch>
            <a:fillRect/>
          </a:stretch>
        </p:blipFill>
        <p:spPr>
          <a:xfrm>
            <a:off x="0" y="1329690"/>
            <a:ext cx="12192000" cy="41986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EF931-AE57-43BC-317D-1048DE9527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CF6B0A-495E-C76A-E6CB-42B569F8D5CA}"/>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6ECA24A-ED62-56BF-7468-F77EE5CFDE10}"/>
              </a:ext>
            </a:extLst>
          </p:cNvPr>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4149C602-D75D-B3C3-14AF-1531F76F8921}"/>
              </a:ext>
            </a:extLst>
          </p:cNvPr>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dirty="0">
                <a:solidFill>
                  <a:srgbClr val="1B3A4B"/>
                </a:solidFill>
                <a:latin typeface="微软雅黑"/>
                <a:ea typeface="微软雅黑"/>
                <a:cs typeface="微软雅黑"/>
              </a:rPr>
              <a:t>TEMP · </a:t>
            </a:r>
            <a:r>
              <a:rPr sz="2600" b="1" i="0" dirty="0" err="1">
                <a:solidFill>
                  <a:srgbClr val="1B3A4B"/>
                </a:solidFill>
                <a:latin typeface="微软雅黑"/>
                <a:ea typeface="微软雅黑"/>
                <a:cs typeface="微软雅黑"/>
              </a:rPr>
              <a:t>问题如何选帧</a:t>
            </a:r>
            <a:endParaRPr sz="2600" b="1" i="0" dirty="0">
              <a:solidFill>
                <a:srgbClr val="1B3A4B"/>
              </a:solidFill>
              <a:latin typeface="微软雅黑"/>
              <a:ea typeface="微软雅黑"/>
              <a:cs typeface="微软雅黑"/>
            </a:endParaRPr>
          </a:p>
        </p:txBody>
      </p:sp>
      <p:sp>
        <p:nvSpPr>
          <p:cNvPr id="6" name="Rectangle 5">
            <a:extLst>
              <a:ext uri="{FF2B5EF4-FFF2-40B4-BE49-F238E27FC236}">
                <a16:creationId xmlns:a16="http://schemas.microsoft.com/office/drawing/2014/main" id="{F7E90C43-6C21-D3C5-667B-8B7ACAFCA1C5}"/>
              </a:ext>
            </a:extLst>
          </p:cNvPr>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255B4629-B20D-BBB5-05BB-C5246B475D43}"/>
              </a:ext>
            </a:extLst>
          </p:cNvPr>
          <p:cNvSpPr/>
          <p:nvPr/>
        </p:nvSpPr>
        <p:spPr>
          <a:xfrm>
            <a:off x="502920" y="1344168"/>
            <a:ext cx="502920" cy="502920"/>
          </a:xfrm>
          <a:prstGeom prst="ellipse">
            <a:avLst/>
          </a:prstGeom>
          <a:solidFill>
            <a:srgbClr val="1A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58F6C0F-8E23-1B27-09C4-607FECE5E52F}"/>
              </a:ext>
            </a:extLst>
          </p:cNvPr>
          <p:cNvSpPr txBox="1"/>
          <p:nvPr/>
        </p:nvSpPr>
        <p:spPr>
          <a:xfrm>
            <a:off x="502920" y="1417320"/>
            <a:ext cx="502920" cy="365760"/>
          </a:xfrm>
          <a:prstGeom prst="rect">
            <a:avLst/>
          </a:prstGeom>
          <a:noFill/>
        </p:spPr>
        <p:txBody>
          <a:bodyPr wrap="square" lIns="0" tIns="0" rIns="0" bIns="0" anchor="t"/>
          <a:lstStyle/>
          <a:p>
            <a:pPr algn="ctr">
              <a:spcBef>
                <a:spcPts val="0"/>
              </a:spcBef>
              <a:spcAft>
                <a:spcPts val="0"/>
              </a:spcAft>
            </a:pPr>
            <a:r>
              <a:rPr sz="1600" b="1" i="0">
                <a:solidFill>
                  <a:srgbClr val="FFFFFF"/>
                </a:solidFill>
                <a:latin typeface="微软雅黑"/>
                <a:ea typeface="微软雅黑"/>
                <a:cs typeface="微软雅黑"/>
              </a:rPr>
              <a:t>1</a:t>
            </a:r>
          </a:p>
        </p:txBody>
      </p:sp>
      <p:sp>
        <p:nvSpPr>
          <p:cNvPr id="9" name="TextBox 8">
            <a:extLst>
              <a:ext uri="{FF2B5EF4-FFF2-40B4-BE49-F238E27FC236}">
                <a16:creationId xmlns:a16="http://schemas.microsoft.com/office/drawing/2014/main" id="{576F90E6-6CEA-0865-8217-1E2CC2FA101C}"/>
              </a:ext>
            </a:extLst>
          </p:cNvPr>
          <p:cNvSpPr txBox="1"/>
          <p:nvPr/>
        </p:nvSpPr>
        <p:spPr>
          <a:xfrm>
            <a:off x="1234440" y="1216152"/>
            <a:ext cx="3840480" cy="365760"/>
          </a:xfrm>
          <a:prstGeom prst="rect">
            <a:avLst/>
          </a:prstGeom>
          <a:noFill/>
        </p:spPr>
        <p:txBody>
          <a:bodyPr wrap="square" lIns="0" tIns="0" rIns="0" bIns="0" anchor="t"/>
          <a:lstStyle/>
          <a:p>
            <a:pPr algn="l">
              <a:spcBef>
                <a:spcPts val="0"/>
              </a:spcBef>
              <a:spcAft>
                <a:spcPts val="0"/>
              </a:spcAft>
            </a:pPr>
            <a:r>
              <a:rPr sz="1800" b="1" i="0">
                <a:solidFill>
                  <a:srgbClr val="1B3A4B"/>
                </a:solidFill>
                <a:latin typeface="微软雅黑"/>
                <a:ea typeface="微软雅黑"/>
                <a:cs typeface="微软雅黑"/>
              </a:rPr>
              <a:t>块–文本相似度</a:t>
            </a:r>
          </a:p>
        </p:txBody>
      </p:sp>
      <p:sp>
        <p:nvSpPr>
          <p:cNvPr id="10" name="TextBox 9">
            <a:extLst>
              <a:ext uri="{FF2B5EF4-FFF2-40B4-BE49-F238E27FC236}">
                <a16:creationId xmlns:a16="http://schemas.microsoft.com/office/drawing/2014/main" id="{D4CFCF9B-7412-2CDC-EB79-C1EA59798D73}"/>
              </a:ext>
            </a:extLst>
          </p:cNvPr>
          <p:cNvSpPr txBox="1"/>
          <p:nvPr/>
        </p:nvSpPr>
        <p:spPr>
          <a:xfrm>
            <a:off x="1234440" y="1618488"/>
            <a:ext cx="10332720" cy="54864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每个图像块和每个问题 token 算余弦相似度。答案 token 已被遮住。</a:t>
            </a:r>
          </a:p>
        </p:txBody>
      </p:sp>
      <p:sp>
        <p:nvSpPr>
          <p:cNvPr id="11" name="Oval 10">
            <a:extLst>
              <a:ext uri="{FF2B5EF4-FFF2-40B4-BE49-F238E27FC236}">
                <a16:creationId xmlns:a16="http://schemas.microsoft.com/office/drawing/2014/main" id="{47859AB7-DBA0-2461-534E-9465098C4A50}"/>
              </a:ext>
            </a:extLst>
          </p:cNvPr>
          <p:cNvSpPr/>
          <p:nvPr/>
        </p:nvSpPr>
        <p:spPr>
          <a:xfrm>
            <a:off x="502920" y="2578608"/>
            <a:ext cx="502920" cy="502920"/>
          </a:xfrm>
          <a:prstGeom prst="ellipse">
            <a:avLst/>
          </a:prstGeom>
          <a:solidFill>
            <a:srgbClr val="1A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E1445F63-C16C-1AC9-2B68-D0017D5E1EB5}"/>
              </a:ext>
            </a:extLst>
          </p:cNvPr>
          <p:cNvSpPr txBox="1"/>
          <p:nvPr/>
        </p:nvSpPr>
        <p:spPr>
          <a:xfrm>
            <a:off x="502920" y="2651760"/>
            <a:ext cx="502920" cy="365760"/>
          </a:xfrm>
          <a:prstGeom prst="rect">
            <a:avLst/>
          </a:prstGeom>
          <a:noFill/>
        </p:spPr>
        <p:txBody>
          <a:bodyPr wrap="square" lIns="0" tIns="0" rIns="0" bIns="0" anchor="t"/>
          <a:lstStyle/>
          <a:p>
            <a:pPr algn="ctr">
              <a:spcBef>
                <a:spcPts val="0"/>
              </a:spcBef>
              <a:spcAft>
                <a:spcPts val="0"/>
              </a:spcAft>
            </a:pPr>
            <a:r>
              <a:rPr sz="1600" b="1" i="0">
                <a:solidFill>
                  <a:srgbClr val="FFFFFF"/>
                </a:solidFill>
                <a:latin typeface="微软雅黑"/>
                <a:ea typeface="微软雅黑"/>
                <a:cs typeface="微软雅黑"/>
              </a:rPr>
              <a:t>2</a:t>
            </a:r>
          </a:p>
        </p:txBody>
      </p:sp>
      <p:sp>
        <p:nvSpPr>
          <p:cNvPr id="13" name="TextBox 12">
            <a:extLst>
              <a:ext uri="{FF2B5EF4-FFF2-40B4-BE49-F238E27FC236}">
                <a16:creationId xmlns:a16="http://schemas.microsoft.com/office/drawing/2014/main" id="{2226313D-2ACA-4F1F-BD07-C36D88B99D02}"/>
              </a:ext>
            </a:extLst>
          </p:cNvPr>
          <p:cNvSpPr txBox="1"/>
          <p:nvPr/>
        </p:nvSpPr>
        <p:spPr>
          <a:xfrm>
            <a:off x="1234440" y="2450592"/>
            <a:ext cx="3840480" cy="365760"/>
          </a:xfrm>
          <a:prstGeom prst="rect">
            <a:avLst/>
          </a:prstGeom>
          <a:noFill/>
        </p:spPr>
        <p:txBody>
          <a:bodyPr wrap="square" lIns="0" tIns="0" rIns="0" bIns="0" anchor="t"/>
          <a:lstStyle/>
          <a:p>
            <a:pPr algn="l">
              <a:spcBef>
                <a:spcPts val="0"/>
              </a:spcBef>
              <a:spcAft>
                <a:spcPts val="0"/>
              </a:spcAft>
            </a:pPr>
            <a:r>
              <a:rPr sz="1800" b="1" i="0">
                <a:solidFill>
                  <a:srgbClr val="1B3A4B"/>
                </a:solidFill>
                <a:latin typeface="微软雅黑"/>
                <a:ea typeface="微软雅黑"/>
                <a:cs typeface="微软雅黑"/>
              </a:rPr>
              <a:t>块级注意力</a:t>
            </a:r>
          </a:p>
        </p:txBody>
      </p:sp>
      <p:sp>
        <p:nvSpPr>
          <p:cNvPr id="14" name="TextBox 13">
            <a:extLst>
              <a:ext uri="{FF2B5EF4-FFF2-40B4-BE49-F238E27FC236}">
                <a16:creationId xmlns:a16="http://schemas.microsoft.com/office/drawing/2014/main" id="{4FA22859-F2B4-A0F8-B6D0-81CF1930C18F}"/>
              </a:ext>
            </a:extLst>
          </p:cNvPr>
          <p:cNvSpPr txBox="1"/>
          <p:nvPr/>
        </p:nvSpPr>
        <p:spPr>
          <a:xfrm>
            <a:off x="1234440" y="2852928"/>
            <a:ext cx="10332720" cy="548640"/>
          </a:xfrm>
          <a:prstGeom prst="rect">
            <a:avLst/>
          </a:prstGeom>
          <a:noFill/>
        </p:spPr>
        <p:txBody>
          <a:bodyPr wrap="square" lIns="0" tIns="0" rIns="0" bIns="0" anchor="t"/>
          <a:lstStyle/>
          <a:p>
            <a:pPr algn="l">
              <a:spcBef>
                <a:spcPts val="0"/>
              </a:spcBef>
              <a:spcAft>
                <a:spcPts val="0"/>
              </a:spcAft>
            </a:pPr>
            <a:r>
              <a:rPr sz="1500" b="0" i="0" dirty="0" err="1">
                <a:solidFill>
                  <a:srgbClr val="1F2A30"/>
                </a:solidFill>
                <a:latin typeface="微软雅黑"/>
                <a:ea typeface="微软雅黑"/>
                <a:cs typeface="微软雅黑"/>
              </a:rPr>
              <a:t>对文本维取平均，得到这一帧里哪些区域和问题有关</a:t>
            </a:r>
            <a:r>
              <a:rPr sz="1500" b="0" i="0" dirty="0">
                <a:solidFill>
                  <a:srgbClr val="1F2A30"/>
                </a:solidFill>
                <a:latin typeface="微软雅黑"/>
                <a:ea typeface="微软雅黑"/>
                <a:cs typeface="微软雅黑"/>
              </a:rPr>
              <a:t>。</a:t>
            </a:r>
          </a:p>
        </p:txBody>
      </p:sp>
      <p:sp>
        <p:nvSpPr>
          <p:cNvPr id="15" name="Oval 14">
            <a:extLst>
              <a:ext uri="{FF2B5EF4-FFF2-40B4-BE49-F238E27FC236}">
                <a16:creationId xmlns:a16="http://schemas.microsoft.com/office/drawing/2014/main" id="{A4D674F4-05E2-031E-690F-7E59A7EEBECA}"/>
              </a:ext>
            </a:extLst>
          </p:cNvPr>
          <p:cNvSpPr/>
          <p:nvPr/>
        </p:nvSpPr>
        <p:spPr>
          <a:xfrm>
            <a:off x="502920" y="3813048"/>
            <a:ext cx="502920" cy="502920"/>
          </a:xfrm>
          <a:prstGeom prst="ellipse">
            <a:avLst/>
          </a:prstGeom>
          <a:solidFill>
            <a:srgbClr val="1A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9156E774-7D20-A024-B3EA-8D6EDE22433E}"/>
              </a:ext>
            </a:extLst>
          </p:cNvPr>
          <p:cNvSpPr txBox="1"/>
          <p:nvPr/>
        </p:nvSpPr>
        <p:spPr>
          <a:xfrm>
            <a:off x="502920" y="3886200"/>
            <a:ext cx="502920" cy="365760"/>
          </a:xfrm>
          <a:prstGeom prst="rect">
            <a:avLst/>
          </a:prstGeom>
          <a:noFill/>
        </p:spPr>
        <p:txBody>
          <a:bodyPr wrap="square" lIns="0" tIns="0" rIns="0" bIns="0" anchor="t"/>
          <a:lstStyle/>
          <a:p>
            <a:pPr algn="ctr">
              <a:spcBef>
                <a:spcPts val="0"/>
              </a:spcBef>
              <a:spcAft>
                <a:spcPts val="0"/>
              </a:spcAft>
            </a:pPr>
            <a:r>
              <a:rPr sz="1600" b="1" i="0">
                <a:solidFill>
                  <a:srgbClr val="FFFFFF"/>
                </a:solidFill>
                <a:latin typeface="微软雅黑"/>
                <a:ea typeface="微软雅黑"/>
                <a:cs typeface="微软雅黑"/>
              </a:rPr>
              <a:t>3</a:t>
            </a:r>
          </a:p>
        </p:txBody>
      </p:sp>
      <p:sp>
        <p:nvSpPr>
          <p:cNvPr id="17" name="TextBox 16">
            <a:extLst>
              <a:ext uri="{FF2B5EF4-FFF2-40B4-BE49-F238E27FC236}">
                <a16:creationId xmlns:a16="http://schemas.microsoft.com/office/drawing/2014/main" id="{165492A2-5FB1-2583-9D95-99364B400F61}"/>
              </a:ext>
            </a:extLst>
          </p:cNvPr>
          <p:cNvSpPr txBox="1"/>
          <p:nvPr/>
        </p:nvSpPr>
        <p:spPr>
          <a:xfrm>
            <a:off x="1234440" y="3685032"/>
            <a:ext cx="3840480" cy="365760"/>
          </a:xfrm>
          <a:prstGeom prst="rect">
            <a:avLst/>
          </a:prstGeom>
          <a:noFill/>
        </p:spPr>
        <p:txBody>
          <a:bodyPr wrap="square" lIns="0" tIns="0" rIns="0" bIns="0" anchor="t"/>
          <a:lstStyle/>
          <a:p>
            <a:pPr algn="l">
              <a:spcBef>
                <a:spcPts val="0"/>
              </a:spcBef>
              <a:spcAft>
                <a:spcPts val="0"/>
              </a:spcAft>
            </a:pPr>
            <a:r>
              <a:rPr sz="1800" b="1" i="0">
                <a:solidFill>
                  <a:srgbClr val="1B3A4B"/>
                </a:solidFill>
                <a:latin typeface="微软雅黑"/>
                <a:ea typeface="微软雅黑"/>
                <a:cs typeface="微软雅黑"/>
              </a:rPr>
              <a:t>帧级注意力</a:t>
            </a:r>
          </a:p>
        </p:txBody>
      </p:sp>
      <p:sp>
        <p:nvSpPr>
          <p:cNvPr id="18" name="TextBox 17">
            <a:extLst>
              <a:ext uri="{FF2B5EF4-FFF2-40B4-BE49-F238E27FC236}">
                <a16:creationId xmlns:a16="http://schemas.microsoft.com/office/drawing/2014/main" id="{80C9E86A-8254-47F9-799E-0DBB59FCF53C}"/>
              </a:ext>
            </a:extLst>
          </p:cNvPr>
          <p:cNvSpPr txBox="1"/>
          <p:nvPr/>
        </p:nvSpPr>
        <p:spPr>
          <a:xfrm>
            <a:off x="1234440" y="4087368"/>
            <a:ext cx="10332720" cy="548640"/>
          </a:xfrm>
          <a:prstGeom prst="rect">
            <a:avLst/>
          </a:prstGeom>
          <a:noFill/>
        </p:spPr>
        <p:txBody>
          <a:bodyPr wrap="square" lIns="0" tIns="0" rIns="0" bIns="0" anchor="t"/>
          <a:lstStyle/>
          <a:p>
            <a:pPr algn="l">
              <a:spcBef>
                <a:spcPts val="0"/>
              </a:spcBef>
              <a:spcAft>
                <a:spcPts val="0"/>
              </a:spcAft>
            </a:pPr>
            <a:r>
              <a:rPr sz="1500" b="0" i="0" dirty="0" err="1">
                <a:solidFill>
                  <a:srgbClr val="1F2A30"/>
                </a:solidFill>
                <a:latin typeface="微软雅黑"/>
                <a:ea typeface="微软雅黑"/>
                <a:cs typeface="微软雅黑"/>
              </a:rPr>
              <a:t>再对空间维取平均，得到这一帧整体和问题有多相关</a:t>
            </a:r>
            <a:r>
              <a:rPr sz="1500" b="0" i="0" dirty="0">
                <a:solidFill>
                  <a:srgbClr val="1F2A30"/>
                </a:solidFill>
                <a:latin typeface="微软雅黑"/>
                <a:ea typeface="微软雅黑"/>
                <a:cs typeface="微软雅黑"/>
              </a:rPr>
              <a:t>。</a:t>
            </a:r>
          </a:p>
        </p:txBody>
      </p:sp>
      <p:sp>
        <p:nvSpPr>
          <p:cNvPr id="19" name="Oval 18">
            <a:extLst>
              <a:ext uri="{FF2B5EF4-FFF2-40B4-BE49-F238E27FC236}">
                <a16:creationId xmlns:a16="http://schemas.microsoft.com/office/drawing/2014/main" id="{21A519E0-CADC-E35E-EAEC-F5027D9685C0}"/>
              </a:ext>
            </a:extLst>
          </p:cNvPr>
          <p:cNvSpPr/>
          <p:nvPr/>
        </p:nvSpPr>
        <p:spPr>
          <a:xfrm>
            <a:off x="502920" y="5047488"/>
            <a:ext cx="502920" cy="502920"/>
          </a:xfrm>
          <a:prstGeom prst="ellipse">
            <a:avLst/>
          </a:prstGeom>
          <a:solidFill>
            <a:srgbClr val="1A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AEE299C3-D267-614C-89D1-6C41CE3F1137}"/>
              </a:ext>
            </a:extLst>
          </p:cNvPr>
          <p:cNvSpPr txBox="1"/>
          <p:nvPr/>
        </p:nvSpPr>
        <p:spPr>
          <a:xfrm>
            <a:off x="502920" y="5120640"/>
            <a:ext cx="502920" cy="365760"/>
          </a:xfrm>
          <a:prstGeom prst="rect">
            <a:avLst/>
          </a:prstGeom>
          <a:noFill/>
        </p:spPr>
        <p:txBody>
          <a:bodyPr wrap="square" lIns="0" tIns="0" rIns="0" bIns="0" anchor="t"/>
          <a:lstStyle/>
          <a:p>
            <a:pPr algn="ctr">
              <a:spcBef>
                <a:spcPts val="0"/>
              </a:spcBef>
              <a:spcAft>
                <a:spcPts val="0"/>
              </a:spcAft>
            </a:pPr>
            <a:r>
              <a:rPr sz="1600" b="1" i="0">
                <a:solidFill>
                  <a:srgbClr val="FFFFFF"/>
                </a:solidFill>
                <a:latin typeface="微软雅黑"/>
                <a:ea typeface="微软雅黑"/>
                <a:cs typeface="微软雅黑"/>
              </a:rPr>
              <a:t>4</a:t>
            </a:r>
          </a:p>
        </p:txBody>
      </p:sp>
      <p:sp>
        <p:nvSpPr>
          <p:cNvPr id="21" name="TextBox 20">
            <a:extLst>
              <a:ext uri="{FF2B5EF4-FFF2-40B4-BE49-F238E27FC236}">
                <a16:creationId xmlns:a16="http://schemas.microsoft.com/office/drawing/2014/main" id="{A51EAC9B-38D9-D007-163A-A834EC3251D4}"/>
              </a:ext>
            </a:extLst>
          </p:cNvPr>
          <p:cNvSpPr txBox="1"/>
          <p:nvPr/>
        </p:nvSpPr>
        <p:spPr>
          <a:xfrm>
            <a:off x="1234440" y="4919472"/>
            <a:ext cx="3840480" cy="365760"/>
          </a:xfrm>
          <a:prstGeom prst="rect">
            <a:avLst/>
          </a:prstGeom>
          <a:noFill/>
        </p:spPr>
        <p:txBody>
          <a:bodyPr wrap="square" lIns="0" tIns="0" rIns="0" bIns="0" anchor="t"/>
          <a:lstStyle/>
          <a:p>
            <a:pPr algn="l">
              <a:spcBef>
                <a:spcPts val="0"/>
              </a:spcBef>
              <a:spcAft>
                <a:spcPts val="0"/>
              </a:spcAft>
            </a:pPr>
            <a:r>
              <a:rPr sz="1800" b="1" i="0">
                <a:solidFill>
                  <a:srgbClr val="1B3A4B"/>
                </a:solidFill>
                <a:latin typeface="微软雅黑"/>
                <a:ea typeface="微软雅黑"/>
                <a:cs typeface="微软雅黑"/>
              </a:rPr>
              <a:t>Gumbel-Softmax</a:t>
            </a:r>
          </a:p>
        </p:txBody>
      </p:sp>
      <p:sp>
        <p:nvSpPr>
          <p:cNvPr id="22" name="TextBox 21">
            <a:extLst>
              <a:ext uri="{FF2B5EF4-FFF2-40B4-BE49-F238E27FC236}">
                <a16:creationId xmlns:a16="http://schemas.microsoft.com/office/drawing/2014/main" id="{DFD5BD2B-1D33-AE9F-6826-F2712A5E5325}"/>
              </a:ext>
            </a:extLst>
          </p:cNvPr>
          <p:cNvSpPr txBox="1"/>
          <p:nvPr/>
        </p:nvSpPr>
        <p:spPr>
          <a:xfrm>
            <a:off x="1234440" y="5321808"/>
            <a:ext cx="10332720" cy="548640"/>
          </a:xfrm>
          <a:prstGeom prst="rect">
            <a:avLst/>
          </a:prstGeom>
          <a:noFill/>
        </p:spPr>
        <p:txBody>
          <a:bodyPr wrap="square" lIns="0" tIns="0" rIns="0" bIns="0" anchor="t"/>
          <a:lstStyle/>
          <a:p>
            <a:pPr algn="l">
              <a:spcBef>
                <a:spcPts val="0"/>
              </a:spcBef>
              <a:spcAft>
                <a:spcPts val="0"/>
              </a:spcAft>
            </a:pPr>
            <a:r>
              <a:rPr sz="1500" b="0" i="0" dirty="0" err="1">
                <a:solidFill>
                  <a:srgbClr val="1F2A30"/>
                </a:solidFill>
                <a:latin typeface="微软雅黑"/>
                <a:ea typeface="微软雅黑"/>
                <a:cs typeface="微软雅黑"/>
              </a:rPr>
              <a:t>在帧级分数上加</a:t>
            </a:r>
            <a:r>
              <a:rPr sz="1500" b="0" i="0" dirty="0">
                <a:solidFill>
                  <a:srgbClr val="1F2A30"/>
                </a:solidFill>
                <a:latin typeface="微软雅黑"/>
                <a:ea typeface="微软雅黑"/>
                <a:cs typeface="微软雅黑"/>
              </a:rPr>
              <a:t> Gumbel </a:t>
            </a:r>
            <a:r>
              <a:rPr sz="1500" b="0" i="0" dirty="0" err="1">
                <a:solidFill>
                  <a:srgbClr val="1F2A30"/>
                </a:solidFill>
                <a:latin typeface="微软雅黑"/>
                <a:ea typeface="微软雅黑"/>
                <a:cs typeface="微软雅黑"/>
              </a:rPr>
              <a:t>噪声，做</a:t>
            </a:r>
            <a:r>
              <a:rPr sz="1500" b="0" i="0" dirty="0">
                <a:solidFill>
                  <a:srgbClr val="1F2A30"/>
                </a:solidFill>
                <a:latin typeface="微软雅黑"/>
                <a:ea typeface="微软雅黑"/>
                <a:cs typeface="微软雅黑"/>
              </a:rPr>
              <a:t> top-k </a:t>
            </a:r>
            <a:r>
              <a:rPr sz="1500" b="0" i="0" dirty="0" err="1">
                <a:solidFill>
                  <a:srgbClr val="1F2A30"/>
                </a:solidFill>
                <a:latin typeface="微软雅黑"/>
                <a:ea typeface="微软雅黑"/>
                <a:cs typeface="微软雅黑"/>
              </a:rPr>
              <a:t>选择</a:t>
            </a:r>
            <a:r>
              <a:rPr sz="1500" b="0" i="0" dirty="0">
                <a:solidFill>
                  <a:srgbClr val="1F2A30"/>
                </a:solidFill>
                <a:latin typeface="微软雅黑"/>
                <a:ea typeface="微软雅黑"/>
                <a:cs typeface="微软雅黑"/>
              </a:rPr>
              <a:t>。</a:t>
            </a:r>
          </a:p>
        </p:txBody>
      </p:sp>
      <p:sp>
        <p:nvSpPr>
          <p:cNvPr id="23" name="TextBox 22">
            <a:extLst>
              <a:ext uri="{FF2B5EF4-FFF2-40B4-BE49-F238E27FC236}">
                <a16:creationId xmlns:a16="http://schemas.microsoft.com/office/drawing/2014/main" id="{F0F446D4-0F20-03D4-F1BF-70B84E1C85D3}"/>
              </a:ext>
            </a:extLst>
          </p:cNvPr>
          <p:cNvSpPr txBox="1"/>
          <p:nvPr/>
        </p:nvSpPr>
        <p:spPr>
          <a:xfrm>
            <a:off x="438912" y="6080760"/>
            <a:ext cx="11247120" cy="365760"/>
          </a:xfrm>
          <a:prstGeom prst="rect">
            <a:avLst/>
          </a:prstGeom>
          <a:noFill/>
        </p:spPr>
        <p:txBody>
          <a:bodyPr wrap="square" lIns="0" tIns="0" rIns="0" bIns="0" anchor="t"/>
          <a:lstStyle/>
          <a:p>
            <a:pPr algn="l">
              <a:spcBef>
                <a:spcPts val="0"/>
              </a:spcBef>
              <a:spcAft>
                <a:spcPts val="0"/>
              </a:spcAft>
            </a:pPr>
            <a:r>
              <a:rPr sz="1400" b="0" i="0">
                <a:solidFill>
                  <a:srgbClr val="5C6B73"/>
                </a:solidFill>
                <a:latin typeface="微软雅黑"/>
                <a:ea typeface="微软雅黑"/>
                <a:cs typeface="微软雅黑"/>
              </a:rPr>
              <a:t>默认保留 top-10 / 64 帧。送进语言模型的视觉 token 比基线更少，增益不能解释成“看了更多帧”。</a:t>
            </a:r>
          </a:p>
        </p:txBody>
      </p:sp>
      <p:sp>
        <p:nvSpPr>
          <p:cNvPr id="24" name="Rectangle 23">
            <a:extLst>
              <a:ext uri="{FF2B5EF4-FFF2-40B4-BE49-F238E27FC236}">
                <a16:creationId xmlns:a16="http://schemas.microsoft.com/office/drawing/2014/main" id="{DA61D5C1-7163-394D-A960-41F00603EF80}"/>
              </a:ext>
            </a:extLst>
          </p:cNvPr>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82F3B6FB-C8B2-5A3C-A784-E5236D7AF81F}"/>
              </a:ext>
            </a:extLst>
          </p:cNvPr>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6" name="TextBox 25">
            <a:extLst>
              <a:ext uri="{FF2B5EF4-FFF2-40B4-BE49-F238E27FC236}">
                <a16:creationId xmlns:a16="http://schemas.microsoft.com/office/drawing/2014/main" id="{CB0F8561-4062-D305-C048-870CEE2D6A0A}"/>
              </a:ext>
            </a:extLst>
          </p:cNvPr>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7" name="TextBox 26">
            <a:extLst>
              <a:ext uri="{FF2B5EF4-FFF2-40B4-BE49-F238E27FC236}">
                <a16:creationId xmlns:a16="http://schemas.microsoft.com/office/drawing/2014/main" id="{9501EFE3-DF72-A888-3752-04D0F1795995}"/>
              </a:ext>
            </a:extLst>
          </p:cNvPr>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7  /  26</a:t>
            </a:r>
          </a:p>
        </p:txBody>
      </p:sp>
    </p:spTree>
    <p:extLst>
      <p:ext uri="{BB962C8B-B14F-4D97-AF65-F5344CB8AC3E}">
        <p14:creationId xmlns:p14="http://schemas.microsoft.com/office/powerpoint/2010/main" val="2056553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TEMP · 两层记忆</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43000"/>
            <a:ext cx="5532120" cy="41605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80160"/>
            <a:ext cx="5120640" cy="365760"/>
          </a:xfrm>
          <a:prstGeom prst="rect">
            <a:avLst/>
          </a:prstGeom>
          <a:noFill/>
        </p:spPr>
        <p:txBody>
          <a:bodyPr wrap="square" lIns="0" tIns="0" rIns="0" bIns="0" anchor="t"/>
          <a:lstStyle/>
          <a:p>
            <a:pPr algn="l">
              <a:spcBef>
                <a:spcPts val="0"/>
              </a:spcBef>
              <a:spcAft>
                <a:spcPts val="0"/>
              </a:spcAft>
            </a:pPr>
            <a:r>
              <a:rPr sz="2000" b="1" i="0">
                <a:solidFill>
                  <a:srgbClr val="0E4C57"/>
                </a:solidFill>
                <a:latin typeface="微软雅黑"/>
                <a:ea typeface="微软雅黑"/>
                <a:cs typeface="微软雅黑"/>
              </a:rPr>
              <a:t>Spatial Memory Bank</a:t>
            </a:r>
          </a:p>
        </p:txBody>
      </p:sp>
      <p:sp>
        <p:nvSpPr>
          <p:cNvPr id="9" name="TextBox 8"/>
          <p:cNvSpPr txBox="1"/>
          <p:nvPr/>
        </p:nvSpPr>
        <p:spPr>
          <a:xfrm>
            <a:off x="640080" y="1783080"/>
            <a:ext cx="5120640" cy="320040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从 top-k 帧取出图像块，用块级注意力重加权。
块按原图的行排好，每行末尾插入可学习的网格分隔符，让模型知道空间边界还在。
服务短时、局部的判断：解剖标志是否显露、某一帧上的组织状态。</a:t>
            </a:r>
          </a:p>
        </p:txBody>
      </p:sp>
      <p:sp>
        <p:nvSpPr>
          <p:cNvPr id="10" name="Rounded Rectangle 9"/>
          <p:cNvSpPr/>
          <p:nvPr/>
        </p:nvSpPr>
        <p:spPr>
          <a:xfrm>
            <a:off x="6217920" y="1143000"/>
            <a:ext cx="5532120" cy="41605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1280160"/>
            <a:ext cx="5120640" cy="365760"/>
          </a:xfrm>
          <a:prstGeom prst="rect">
            <a:avLst/>
          </a:prstGeom>
          <a:noFill/>
        </p:spPr>
        <p:txBody>
          <a:bodyPr wrap="square" lIns="0" tIns="0" rIns="0" bIns="0" anchor="t"/>
          <a:lstStyle/>
          <a:p>
            <a:pPr algn="l">
              <a:spcBef>
                <a:spcPts val="0"/>
              </a:spcBef>
              <a:spcAft>
                <a:spcPts val="0"/>
              </a:spcAft>
            </a:pPr>
            <a:r>
              <a:rPr sz="2000" b="1" i="0">
                <a:solidFill>
                  <a:srgbClr val="0E4C57"/>
                </a:solidFill>
                <a:latin typeface="微软雅黑"/>
                <a:ea typeface="微软雅黑"/>
                <a:cs typeface="微软雅黑"/>
              </a:rPr>
              <a:t>Temporal Memory Bank</a:t>
            </a:r>
          </a:p>
        </p:txBody>
      </p:sp>
      <p:sp>
        <p:nvSpPr>
          <p:cNvPr id="12" name="TextBox 11"/>
          <p:cNvSpPr txBox="1"/>
          <p:nvPr/>
        </p:nvSpPr>
        <p:spPr>
          <a:xfrm>
            <a:off x="6419088" y="1783080"/>
            <a:ext cx="5120640" cy="320040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每帧先做空间池化，再用帧级注意力重加权，得到一条粗的时间序列。
帧与帧之间插入可学习的时间分隔符，用来表示阶段转换。
服务需要累积证据的判断：一个阶段里的操作是否流畅、技能是否稳定。</a:t>
            </a:r>
          </a:p>
        </p:txBody>
      </p:sp>
      <p:sp>
        <p:nvSpPr>
          <p:cNvPr id="13" name="TextBox 12"/>
          <p:cNvSpPr txBox="1"/>
          <p:nvPr/>
        </p:nvSpPr>
        <p:spPr>
          <a:xfrm>
            <a:off x="438912" y="5486400"/>
            <a:ext cx="11247120" cy="82296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两层记忆和分隔符拼在一起，作为语言模型看到的视觉输入。消融里，把可学习分隔符换成全零向量，正确性下降 4.7 个点。</a:t>
            </a:r>
          </a:p>
        </p:txBody>
      </p:sp>
      <p:sp>
        <p:nvSpPr>
          <p:cNvPr id="14" name="Rectangle 13"/>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6" name="TextBox 15"/>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7" name="TextBox 16"/>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8  /  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dirty="0">
                <a:solidFill>
                  <a:srgbClr val="1B3A4B"/>
                </a:solidFill>
                <a:latin typeface="微软雅黑"/>
                <a:ea typeface="微软雅黑"/>
                <a:cs typeface="微软雅黑"/>
              </a:rPr>
              <a:t>Training · Surgical Competency Progression</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88720"/>
            <a:ext cx="3611880" cy="24688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325880"/>
            <a:ext cx="3200400" cy="274320"/>
          </a:xfrm>
          <a:prstGeom prst="rect">
            <a:avLst/>
          </a:prstGeom>
          <a:noFill/>
        </p:spPr>
        <p:txBody>
          <a:bodyPr wrap="square" lIns="0" tIns="0" rIns="0" bIns="0" anchor="t"/>
          <a:lstStyle/>
          <a:p>
            <a:pPr algn="l">
              <a:spcBef>
                <a:spcPts val="0"/>
              </a:spcBef>
              <a:spcAft>
                <a:spcPts val="0"/>
              </a:spcAft>
            </a:pPr>
            <a:r>
              <a:rPr sz="1300" b="1" i="0">
                <a:solidFill>
                  <a:srgbClr val="1A6B7A"/>
                </a:solidFill>
                <a:latin typeface="微软雅黑"/>
                <a:ea typeface="微软雅黑"/>
                <a:cs typeface="微软雅黑"/>
              </a:rPr>
              <a:t>Stage 1</a:t>
            </a:r>
          </a:p>
        </p:txBody>
      </p:sp>
      <p:sp>
        <p:nvSpPr>
          <p:cNvPr id="9" name="TextBox 8"/>
          <p:cNvSpPr txBox="1"/>
          <p:nvPr/>
        </p:nvSpPr>
        <p:spPr>
          <a:xfrm>
            <a:off x="621792" y="1691640"/>
            <a:ext cx="3200400" cy="411480"/>
          </a:xfrm>
          <a:prstGeom prst="rect">
            <a:avLst/>
          </a:prstGeom>
          <a:noFill/>
        </p:spPr>
        <p:txBody>
          <a:bodyPr wrap="square" lIns="0" tIns="0" rIns="0" bIns="0" anchor="t"/>
          <a:lstStyle/>
          <a:p>
            <a:pPr algn="l">
              <a:spcBef>
                <a:spcPts val="0"/>
              </a:spcBef>
              <a:spcAft>
                <a:spcPts val="0"/>
              </a:spcAft>
            </a:pPr>
            <a:r>
              <a:rPr sz="2200" b="1" i="0">
                <a:solidFill>
                  <a:srgbClr val="1B3A4B"/>
                </a:solidFill>
                <a:latin typeface="微软雅黑"/>
                <a:ea typeface="微软雅黑"/>
                <a:cs typeface="微软雅黑"/>
              </a:rPr>
              <a:t>Perception</a:t>
            </a:r>
          </a:p>
        </p:txBody>
      </p:sp>
      <p:sp>
        <p:nvSpPr>
          <p:cNvPr id="10" name="TextBox 9"/>
          <p:cNvSpPr txBox="1"/>
          <p:nvPr/>
        </p:nvSpPr>
        <p:spPr>
          <a:xfrm>
            <a:off x="621792" y="2240280"/>
            <a:ext cx="3200400" cy="64008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器械、动作、解剖</a:t>
            </a:r>
          </a:p>
        </p:txBody>
      </p:sp>
      <p:sp>
        <p:nvSpPr>
          <p:cNvPr id="11" name="TextBox 10"/>
          <p:cNvSpPr txBox="1"/>
          <p:nvPr/>
        </p:nvSpPr>
        <p:spPr>
          <a:xfrm>
            <a:off x="621792" y="2971800"/>
            <a:ext cx="3200400" cy="45720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采样率 1.0</a:t>
            </a:r>
          </a:p>
        </p:txBody>
      </p:sp>
      <p:sp>
        <p:nvSpPr>
          <p:cNvPr id="12" name="Rounded Rectangle 11"/>
          <p:cNvSpPr/>
          <p:nvPr/>
        </p:nvSpPr>
        <p:spPr>
          <a:xfrm>
            <a:off x="4279392" y="1188720"/>
            <a:ext cx="3611880" cy="24688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62272" y="1325880"/>
            <a:ext cx="3200400" cy="274320"/>
          </a:xfrm>
          <a:prstGeom prst="rect">
            <a:avLst/>
          </a:prstGeom>
          <a:noFill/>
        </p:spPr>
        <p:txBody>
          <a:bodyPr wrap="square" lIns="0" tIns="0" rIns="0" bIns="0" anchor="t"/>
          <a:lstStyle/>
          <a:p>
            <a:pPr algn="l">
              <a:spcBef>
                <a:spcPts val="0"/>
              </a:spcBef>
              <a:spcAft>
                <a:spcPts val="0"/>
              </a:spcAft>
            </a:pPr>
            <a:r>
              <a:rPr sz="1300" b="1" i="0">
                <a:solidFill>
                  <a:srgbClr val="1A6B7A"/>
                </a:solidFill>
                <a:latin typeface="微软雅黑"/>
                <a:ea typeface="微软雅黑"/>
                <a:cs typeface="微软雅黑"/>
              </a:rPr>
              <a:t>Stage 2</a:t>
            </a:r>
          </a:p>
        </p:txBody>
      </p:sp>
      <p:sp>
        <p:nvSpPr>
          <p:cNvPr id="14" name="TextBox 13"/>
          <p:cNvSpPr txBox="1"/>
          <p:nvPr/>
        </p:nvSpPr>
        <p:spPr>
          <a:xfrm>
            <a:off x="4462272" y="1691640"/>
            <a:ext cx="3200400" cy="411480"/>
          </a:xfrm>
          <a:prstGeom prst="rect">
            <a:avLst/>
          </a:prstGeom>
          <a:noFill/>
        </p:spPr>
        <p:txBody>
          <a:bodyPr wrap="square" lIns="0" tIns="0" rIns="0" bIns="0" anchor="t"/>
          <a:lstStyle/>
          <a:p>
            <a:pPr algn="l">
              <a:spcBef>
                <a:spcPts val="0"/>
              </a:spcBef>
              <a:spcAft>
                <a:spcPts val="0"/>
              </a:spcAft>
            </a:pPr>
            <a:r>
              <a:rPr sz="2200" b="1" i="0">
                <a:solidFill>
                  <a:srgbClr val="1B3A4B"/>
                </a:solidFill>
                <a:latin typeface="微软雅黑"/>
                <a:ea typeface="微软雅黑"/>
                <a:cs typeface="微软雅黑"/>
              </a:rPr>
              <a:t>Assessment</a:t>
            </a:r>
          </a:p>
        </p:txBody>
      </p:sp>
      <p:sp>
        <p:nvSpPr>
          <p:cNvPr id="15" name="TextBox 14"/>
          <p:cNvSpPr txBox="1"/>
          <p:nvPr/>
        </p:nvSpPr>
        <p:spPr>
          <a:xfrm>
            <a:off x="4462272" y="2240280"/>
            <a:ext cx="3200400" cy="64008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CVS、难度、不良事件、技能</a:t>
            </a:r>
          </a:p>
        </p:txBody>
      </p:sp>
      <p:sp>
        <p:nvSpPr>
          <p:cNvPr id="16" name="TextBox 15"/>
          <p:cNvSpPr txBox="1"/>
          <p:nvPr/>
        </p:nvSpPr>
        <p:spPr>
          <a:xfrm>
            <a:off x="4462272" y="2971800"/>
            <a:ext cx="3200400" cy="45720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本阶段 1.0，上一阶段降采样</a:t>
            </a:r>
          </a:p>
        </p:txBody>
      </p:sp>
      <p:sp>
        <p:nvSpPr>
          <p:cNvPr id="17" name="Rounded Rectangle 16"/>
          <p:cNvSpPr/>
          <p:nvPr/>
        </p:nvSpPr>
        <p:spPr>
          <a:xfrm>
            <a:off x="8119872" y="1188720"/>
            <a:ext cx="3611880" cy="2468880"/>
          </a:xfrm>
          <a:prstGeom prst="roundRect">
            <a:avLst>
              <a:gd name="adj" fmla="val 8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02752" y="1325880"/>
            <a:ext cx="3200400" cy="274320"/>
          </a:xfrm>
          <a:prstGeom prst="rect">
            <a:avLst/>
          </a:prstGeom>
          <a:noFill/>
        </p:spPr>
        <p:txBody>
          <a:bodyPr wrap="square" lIns="0" tIns="0" rIns="0" bIns="0" anchor="t"/>
          <a:lstStyle/>
          <a:p>
            <a:pPr algn="l">
              <a:spcBef>
                <a:spcPts val="0"/>
              </a:spcBef>
              <a:spcAft>
                <a:spcPts val="0"/>
              </a:spcAft>
            </a:pPr>
            <a:r>
              <a:rPr sz="1300" b="1" i="0">
                <a:solidFill>
                  <a:srgbClr val="FFFFFF"/>
                </a:solidFill>
                <a:latin typeface="微软雅黑"/>
                <a:ea typeface="微软雅黑"/>
                <a:cs typeface="微软雅黑"/>
              </a:rPr>
              <a:t>Stage 3</a:t>
            </a:r>
          </a:p>
        </p:txBody>
      </p:sp>
      <p:sp>
        <p:nvSpPr>
          <p:cNvPr id="19" name="TextBox 18"/>
          <p:cNvSpPr txBox="1"/>
          <p:nvPr/>
        </p:nvSpPr>
        <p:spPr>
          <a:xfrm>
            <a:off x="8302752" y="1691640"/>
            <a:ext cx="3200400" cy="411480"/>
          </a:xfrm>
          <a:prstGeom prst="rect">
            <a:avLst/>
          </a:prstGeom>
          <a:noFill/>
        </p:spPr>
        <p:txBody>
          <a:bodyPr wrap="square" lIns="0" tIns="0" rIns="0" bIns="0" anchor="t"/>
          <a:lstStyle/>
          <a:p>
            <a:pPr algn="l">
              <a:spcBef>
                <a:spcPts val="0"/>
              </a:spcBef>
              <a:spcAft>
                <a:spcPts val="0"/>
              </a:spcAft>
            </a:pPr>
            <a:r>
              <a:rPr sz="2200" b="1" i="0">
                <a:solidFill>
                  <a:srgbClr val="FFFFFF"/>
                </a:solidFill>
                <a:latin typeface="微软雅黑"/>
                <a:ea typeface="微软雅黑"/>
                <a:cs typeface="微软雅黑"/>
              </a:rPr>
              <a:t>Reasoning</a:t>
            </a:r>
          </a:p>
        </p:txBody>
      </p:sp>
      <p:sp>
        <p:nvSpPr>
          <p:cNvPr id="20" name="TextBox 19"/>
          <p:cNvSpPr txBox="1"/>
          <p:nvPr/>
        </p:nvSpPr>
        <p:spPr>
          <a:xfrm>
            <a:off x="8302752" y="2240280"/>
            <a:ext cx="3200400" cy="640080"/>
          </a:xfrm>
          <a:prstGeom prst="rect">
            <a:avLst/>
          </a:prstGeom>
          <a:noFill/>
        </p:spPr>
        <p:txBody>
          <a:bodyPr wrap="square" lIns="0" tIns="0" rIns="0" bIns="0" anchor="t"/>
          <a:lstStyle/>
          <a:p>
            <a:pPr algn="l">
              <a:spcBef>
                <a:spcPts val="0"/>
              </a:spcBef>
              <a:spcAft>
                <a:spcPts val="0"/>
              </a:spcAft>
            </a:pPr>
            <a:r>
              <a:rPr sz="1500" b="0" i="0">
                <a:solidFill>
                  <a:srgbClr val="D5E6E8"/>
                </a:solidFill>
                <a:latin typeface="微软雅黑"/>
                <a:ea typeface="微软雅黑"/>
                <a:cs typeface="微软雅黑"/>
              </a:rPr>
              <a:t>描述、理由、综合评估、规划</a:t>
            </a:r>
          </a:p>
        </p:txBody>
      </p:sp>
      <p:sp>
        <p:nvSpPr>
          <p:cNvPr id="21" name="TextBox 20"/>
          <p:cNvSpPr txBox="1"/>
          <p:nvPr/>
        </p:nvSpPr>
        <p:spPr>
          <a:xfrm>
            <a:off x="8302752" y="2971800"/>
            <a:ext cx="3200400" cy="457200"/>
          </a:xfrm>
          <a:prstGeom prst="rect">
            <a:avLst/>
          </a:prstGeom>
          <a:noFill/>
        </p:spPr>
        <p:txBody>
          <a:bodyPr wrap="square" lIns="0" tIns="0" rIns="0" bIns="0" anchor="t"/>
          <a:lstStyle/>
          <a:p>
            <a:pPr algn="l">
              <a:spcBef>
                <a:spcPts val="0"/>
              </a:spcBef>
              <a:spcAft>
                <a:spcPts val="0"/>
              </a:spcAft>
            </a:pPr>
            <a:r>
              <a:rPr sz="1300" b="0" i="0">
                <a:solidFill>
                  <a:srgbClr val="D5E6E8"/>
                </a:solidFill>
                <a:latin typeface="微软雅黑"/>
                <a:ea typeface="微软雅黑"/>
                <a:cs typeface="微软雅黑"/>
              </a:rPr>
              <a:t>更早的数据继续降采样保留</a:t>
            </a:r>
          </a:p>
        </p:txBody>
      </p:sp>
      <p:sp>
        <p:nvSpPr>
          <p:cNvPr id="22" name="TextBox 21"/>
          <p:cNvSpPr txBox="1"/>
          <p:nvPr/>
        </p:nvSpPr>
        <p:spPr>
          <a:xfrm>
            <a:off x="438912" y="3886200"/>
            <a:ext cx="11247120" cy="365760"/>
          </a:xfrm>
          <a:prstGeom prst="rect">
            <a:avLst/>
          </a:prstGeom>
          <a:noFill/>
        </p:spPr>
        <p:txBody>
          <a:bodyPr wrap="square" lIns="0" tIns="0" rIns="0" bIns="0" anchor="t"/>
          <a:lstStyle/>
          <a:p>
            <a:pPr algn="l">
              <a:spcBef>
                <a:spcPts val="0"/>
              </a:spcBef>
              <a:spcAft>
                <a:spcPts val="0"/>
              </a:spcAft>
            </a:pPr>
            <a:r>
              <a:rPr sz="1600" b="1" i="0">
                <a:solidFill>
                  <a:srgbClr val="1B3A4B"/>
                </a:solidFill>
                <a:latin typeface="微软雅黑"/>
                <a:ea typeface="微软雅黑"/>
                <a:cs typeface="微软雅黑"/>
              </a:rPr>
              <a:t>为什么要分阶段，而不是把 11 项混在一个 epoch 里</a:t>
            </a:r>
          </a:p>
        </p:txBody>
      </p:sp>
      <p:sp>
        <p:nvSpPr>
          <p:cNvPr id="23" name="TextBox 22"/>
          <p:cNvSpPr txBox="1"/>
          <p:nvPr/>
        </p:nvSpPr>
        <p:spPr>
          <a:xfrm>
            <a:off x="438912" y="4343400"/>
            <a:ext cx="11247120" cy="897682"/>
          </a:xfrm>
          <a:prstGeom prst="rect">
            <a:avLst/>
          </a:prstGeom>
          <a:noFill/>
        </p:spPr>
        <p:txBody>
          <a:bodyPr wrap="square" lIns="0" tIns="0" rIns="0" bIns="0">
            <a:spAutoFit/>
          </a:bodyPr>
          <a:lstStyle/>
          <a:p>
            <a:pPr algn="l">
              <a:spcBef>
                <a:spcPts val="0"/>
              </a:spcBef>
              <a:spcAft>
                <a:spcPts val="800"/>
              </a:spcAft>
            </a:pPr>
            <a:r>
              <a:rPr sz="1500" b="0" i="0" dirty="0" err="1">
                <a:solidFill>
                  <a:srgbClr val="1F2A30"/>
                </a:solidFill>
                <a:latin typeface="微软雅黑"/>
                <a:ea typeface="微软雅黑"/>
                <a:cs typeface="微软雅黑"/>
              </a:rPr>
              <a:t>评估依赖感知：没看清胆囊管和胆囊动脉，CVS</a:t>
            </a:r>
            <a:r>
              <a:rPr sz="1500" b="0" i="0" dirty="0">
                <a:solidFill>
                  <a:srgbClr val="1F2A30"/>
                </a:solidFill>
                <a:latin typeface="微软雅黑"/>
                <a:ea typeface="微软雅黑"/>
                <a:cs typeface="微软雅黑"/>
              </a:rPr>
              <a:t> </a:t>
            </a:r>
            <a:r>
              <a:rPr sz="1500" b="0" i="0" dirty="0" err="1">
                <a:solidFill>
                  <a:srgbClr val="1F2A30"/>
                </a:solidFill>
                <a:latin typeface="微软雅黑"/>
                <a:ea typeface="微软雅黑"/>
                <a:cs typeface="微软雅黑"/>
              </a:rPr>
              <a:t>的判断没有依据。推理又依赖评估</a:t>
            </a:r>
            <a:r>
              <a:rPr sz="1500" b="0" i="0" dirty="0">
                <a:solidFill>
                  <a:srgbClr val="1F2A30"/>
                </a:solidFill>
                <a:latin typeface="微软雅黑"/>
                <a:ea typeface="微软雅黑"/>
                <a:cs typeface="微软雅黑"/>
              </a:rPr>
              <a:t>。</a:t>
            </a:r>
          </a:p>
          <a:p>
            <a:pPr algn="l">
              <a:spcBef>
                <a:spcPts val="0"/>
              </a:spcBef>
              <a:spcAft>
                <a:spcPts val="800"/>
              </a:spcAft>
            </a:pPr>
            <a:r>
              <a:rPr sz="1500" b="0" i="0" dirty="0" err="1">
                <a:solidFill>
                  <a:srgbClr val="1F2A30"/>
                </a:solidFill>
                <a:latin typeface="微软雅黑"/>
                <a:ea typeface="微软雅黑"/>
                <a:cs typeface="微软雅黑"/>
              </a:rPr>
              <a:t>后续阶段仍保留前一阶段的数据，但降低采样率，避免基础能力被冲掉，也不让简单题占满批次</a:t>
            </a:r>
            <a:r>
              <a:rPr sz="1500" b="0" i="0" dirty="0">
                <a:solidFill>
                  <a:srgbClr val="1F2A30"/>
                </a:solidFill>
                <a:latin typeface="微软雅黑"/>
                <a:ea typeface="微软雅黑"/>
                <a:cs typeface="微软雅黑"/>
              </a:rPr>
              <a:t>。</a:t>
            </a:r>
          </a:p>
          <a:p>
            <a:pPr algn="l">
              <a:spcBef>
                <a:spcPts val="0"/>
              </a:spcBef>
              <a:spcAft>
                <a:spcPts val="800"/>
              </a:spcAft>
            </a:pPr>
            <a:r>
              <a:rPr sz="1500" b="0" i="0" dirty="0" err="1">
                <a:solidFill>
                  <a:srgbClr val="1F2A30"/>
                </a:solidFill>
                <a:latin typeface="微软雅黑"/>
                <a:ea typeface="微软雅黑"/>
                <a:cs typeface="微软雅黑"/>
              </a:rPr>
              <a:t>去掉</a:t>
            </a:r>
            <a:r>
              <a:rPr sz="1500" b="0" i="0" dirty="0">
                <a:solidFill>
                  <a:srgbClr val="1F2A30"/>
                </a:solidFill>
                <a:latin typeface="微软雅黑"/>
                <a:ea typeface="微软雅黑"/>
                <a:cs typeface="微软雅黑"/>
              </a:rPr>
              <a:t> SCP </a:t>
            </a:r>
            <a:r>
              <a:rPr sz="1500" b="0" i="0" dirty="0" err="1">
                <a:solidFill>
                  <a:srgbClr val="1F2A30"/>
                </a:solidFill>
                <a:latin typeface="微软雅黑"/>
                <a:ea typeface="微软雅黑"/>
                <a:cs typeface="微软雅黑"/>
              </a:rPr>
              <a:t>后，正确性只</a:t>
            </a:r>
            <a:r>
              <a:rPr lang="zh-CN" altLang="en-US" sz="1500" b="0" i="0" dirty="0">
                <a:solidFill>
                  <a:srgbClr val="1F2A30"/>
                </a:solidFill>
                <a:latin typeface="微软雅黑"/>
                <a:ea typeface="微软雅黑"/>
                <a:cs typeface="微软雅黑"/>
              </a:rPr>
              <a:t>稍微下</a:t>
            </a:r>
            <a:r>
              <a:rPr sz="1500" b="0" i="0" dirty="0" err="1">
                <a:solidFill>
                  <a:srgbClr val="1F2A30"/>
                </a:solidFill>
                <a:latin typeface="微软雅黑"/>
                <a:ea typeface="微软雅黑"/>
                <a:cs typeface="微软雅黑"/>
              </a:rPr>
              <a:t>降，小于去掉选帧或时间记忆</a:t>
            </a:r>
            <a:r>
              <a:rPr sz="1500" b="0" i="0" dirty="0">
                <a:solidFill>
                  <a:srgbClr val="1F2A30"/>
                </a:solidFill>
                <a:latin typeface="微软雅黑"/>
                <a:ea typeface="微软雅黑"/>
                <a:cs typeface="微软雅黑"/>
              </a:rPr>
              <a:t>。</a:t>
            </a:r>
            <a:r>
              <a:rPr lang="zh-CN" altLang="en-US" sz="1500" b="0" i="0" dirty="0">
                <a:solidFill>
                  <a:srgbClr val="1F2A30"/>
                </a:solidFill>
                <a:latin typeface="微软雅黑"/>
                <a:ea typeface="微软雅黑"/>
                <a:cs typeface="微软雅黑"/>
              </a:rPr>
              <a:t>它是“课程”</a:t>
            </a:r>
            <a:r>
              <a:rPr sz="1500" b="0" i="0" dirty="0">
                <a:solidFill>
                  <a:srgbClr val="1F2A30"/>
                </a:solidFill>
                <a:latin typeface="微软雅黑"/>
                <a:ea typeface="微软雅黑"/>
                <a:cs typeface="微软雅黑"/>
              </a:rPr>
              <a:t>，</a:t>
            </a:r>
            <a:r>
              <a:rPr sz="1500" b="0" i="0" dirty="0" err="1">
                <a:solidFill>
                  <a:srgbClr val="1F2A30"/>
                </a:solidFill>
                <a:latin typeface="微软雅黑"/>
                <a:ea typeface="微软雅黑"/>
                <a:cs typeface="微软雅黑"/>
              </a:rPr>
              <a:t>不是主要的性能来源</a:t>
            </a:r>
            <a:r>
              <a:rPr sz="1500" b="0" i="0" dirty="0">
                <a:solidFill>
                  <a:srgbClr val="1F2A30"/>
                </a:solidFill>
                <a:latin typeface="微软雅黑"/>
                <a:ea typeface="微软雅黑"/>
                <a:cs typeface="微软雅黑"/>
              </a:rPr>
              <a:t>。</a:t>
            </a:r>
          </a:p>
        </p:txBody>
      </p:sp>
      <p:sp>
        <p:nvSpPr>
          <p:cNvPr id="24" name="Rectangle 23"/>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6" name="TextBox 25"/>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7" name="TextBox 26"/>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9  /  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Dataset · CholeVidQA-32K</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12" y="1024128"/>
            <a:ext cx="11247120" cy="502920"/>
          </a:xfrm>
          <a:prstGeom prst="rect">
            <a:avLst/>
          </a:prstGeom>
          <a:noFill/>
        </p:spPr>
        <p:txBody>
          <a:bodyPr wrap="square" lIns="0" tIns="0" rIns="0" bIns="0" anchor="t"/>
          <a:lstStyle/>
          <a:p>
            <a:pPr algn="l">
              <a:lnSpc>
                <a:spcPct val="150000"/>
              </a:lnSpc>
              <a:spcBef>
                <a:spcPts val="0"/>
              </a:spcBef>
              <a:spcAft>
                <a:spcPts val="0"/>
              </a:spcAft>
            </a:pPr>
            <a:r>
              <a:rPr sz="1500" b="0" i="0" dirty="0">
                <a:solidFill>
                  <a:srgbClr val="1F2A30"/>
                </a:solidFill>
                <a:latin typeface="微软雅黑"/>
                <a:ea typeface="微软雅黑"/>
                <a:cs typeface="微软雅黑"/>
              </a:rPr>
              <a:t>约 3,855 段、128 小时、3.2 </a:t>
            </a:r>
            <a:r>
              <a:rPr sz="1500" b="0" i="0" dirty="0" err="1">
                <a:solidFill>
                  <a:srgbClr val="1F2A30"/>
                </a:solidFill>
                <a:latin typeface="微软雅黑"/>
                <a:ea typeface="微软雅黑"/>
                <a:cs typeface="微软雅黑"/>
              </a:rPr>
              <a:t>万个开放问答，全部来自腹腔镜胆囊切除</a:t>
            </a:r>
            <a:endParaRPr lang="en-US" sz="1500" b="0" i="0" dirty="0">
              <a:solidFill>
                <a:srgbClr val="1F2A30"/>
              </a:solidFill>
              <a:latin typeface="微软雅黑"/>
              <a:ea typeface="微软雅黑"/>
              <a:cs typeface="微软雅黑"/>
            </a:endParaRPr>
          </a:p>
          <a:p>
            <a:pPr algn="l">
              <a:lnSpc>
                <a:spcPct val="150000"/>
              </a:lnSpc>
              <a:spcBef>
                <a:spcPts val="0"/>
              </a:spcBef>
              <a:spcAft>
                <a:spcPts val="0"/>
              </a:spcAft>
            </a:pPr>
            <a:r>
              <a:rPr sz="1500" b="0" i="0" dirty="0" err="1">
                <a:solidFill>
                  <a:srgbClr val="1F2A30"/>
                </a:solidFill>
                <a:latin typeface="微软雅黑"/>
                <a:ea typeface="微软雅黑"/>
                <a:cs typeface="微软雅黑"/>
              </a:rPr>
              <a:t>标注先变成结构化信息，再用</a:t>
            </a:r>
            <a:r>
              <a:rPr sz="1500" b="0" i="0" dirty="0">
                <a:solidFill>
                  <a:srgbClr val="1F2A30"/>
                </a:solidFill>
                <a:latin typeface="微软雅黑"/>
                <a:ea typeface="微软雅黑"/>
                <a:cs typeface="微软雅黑"/>
              </a:rPr>
              <a:t> GPT-5.1 </a:t>
            </a:r>
            <a:r>
              <a:rPr sz="1500" b="0" i="0" dirty="0" err="1">
                <a:solidFill>
                  <a:srgbClr val="1F2A30"/>
                </a:solidFill>
                <a:latin typeface="微软雅黑"/>
                <a:ea typeface="微软雅黑"/>
                <a:cs typeface="微软雅黑"/>
              </a:rPr>
              <a:t>写成问答，并做抽样质检</a:t>
            </a:r>
            <a:r>
              <a:rPr sz="1500" b="0" i="0" dirty="0">
                <a:solidFill>
                  <a:srgbClr val="1F2A30"/>
                </a:solidFill>
                <a:latin typeface="微软雅黑"/>
                <a:ea typeface="微软雅黑"/>
                <a:cs typeface="微软雅黑"/>
              </a:rPr>
              <a:t>。</a:t>
            </a:r>
          </a:p>
        </p:txBody>
      </p:sp>
      <p:graphicFrame>
        <p:nvGraphicFramePr>
          <p:cNvPr id="8" name="Table 7"/>
          <p:cNvGraphicFramePr>
            <a:graphicFrameLocks noGrp="1"/>
          </p:cNvGraphicFramePr>
          <p:nvPr/>
        </p:nvGraphicFramePr>
        <p:xfrm>
          <a:off x="438912" y="1737360"/>
          <a:ext cx="11292840" cy="214884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537210">
                <a:tc>
                  <a:txBody>
                    <a:bodyPr/>
                    <a:lstStyle/>
                    <a:p>
                      <a:pPr algn="ctr"/>
                      <a:r>
                        <a:rPr sz="1300" b="1" i="0" dirty="0" err="1">
                          <a:solidFill>
                            <a:srgbClr val="FFFFFF"/>
                          </a:solidFill>
                          <a:latin typeface="微软雅黑"/>
                          <a:ea typeface="微软雅黑"/>
                          <a:cs typeface="微软雅黑"/>
                        </a:rPr>
                        <a:t>子集</a:t>
                      </a:r>
                      <a:endParaRPr sz="1300" b="1" i="0" dirty="0">
                        <a:solidFill>
                          <a:srgbClr val="FFFFFF"/>
                        </a:solidFill>
                        <a:latin typeface="微软雅黑"/>
                        <a:ea typeface="微软雅黑"/>
                        <a:cs typeface="微软雅黑"/>
                      </a:endParaRP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来源与切分</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时间尺度</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覆盖任务</a:t>
                      </a:r>
                    </a:p>
                  </a:txBody>
                  <a:tcPr marL="54864" marR="54864" marT="36576" marB="36576" anchor="ctr">
                    <a:solidFill>
                      <a:srgbClr val="1B3A4B"/>
                    </a:solidFill>
                  </a:tcPr>
                </a:tc>
                <a:extLst>
                  <a:ext uri="{0D108BD9-81ED-4DB2-BD59-A6C34878D82A}">
                    <a16:rowId xmlns:a16="http://schemas.microsoft.com/office/drawing/2014/main" val="10000"/>
                  </a:ext>
                </a:extLst>
              </a:tr>
              <a:tr h="537210">
                <a:tc>
                  <a:txBody>
                    <a:bodyPr/>
                    <a:lstStyle/>
                    <a:p>
                      <a:pPr algn="ctr"/>
                      <a:r>
                        <a:rPr sz="1200" b="1" i="0" dirty="0">
                          <a:solidFill>
                            <a:srgbClr val="1F2A30"/>
                          </a:solidFill>
                          <a:latin typeface="微软雅黑"/>
                          <a:ea typeface="微软雅黑"/>
                          <a:cs typeface="微软雅黑"/>
                        </a:rPr>
                        <a:t>CholecT50-Caption</a:t>
                      </a:r>
                    </a:p>
                  </a:txBody>
                  <a:tcPr marL="54864" marR="54864" marT="36576" marB="36576" anchor="ctr">
                    <a:solidFill>
                      <a:srgbClr val="FFFFFF"/>
                    </a:solidFill>
                  </a:tcPr>
                </a:tc>
                <a:tc>
                  <a:txBody>
                    <a:bodyPr/>
                    <a:lstStyle/>
                    <a:p>
                      <a:pPr algn="ctr"/>
                      <a:r>
                        <a:rPr sz="1200" b="0" i="0" dirty="0" err="1">
                          <a:solidFill>
                            <a:srgbClr val="1F2A30"/>
                          </a:solidFill>
                          <a:latin typeface="微软雅黑"/>
                          <a:ea typeface="微软雅黑"/>
                          <a:cs typeface="微软雅黑"/>
                        </a:rPr>
                        <a:t>按动作是否连续切段</a:t>
                      </a:r>
                      <a:endParaRPr sz="1200" b="0" i="0" dirty="0">
                        <a:solidFill>
                          <a:srgbClr val="1F2A30"/>
                        </a:solidFill>
                        <a:latin typeface="微软雅黑"/>
                        <a:ea typeface="微软雅黑"/>
                        <a:cs typeface="微软雅黑"/>
                      </a:endParaRPr>
                    </a:p>
                    <a:p>
                      <a:pPr algn="ctr"/>
                      <a:r>
                        <a:rPr sz="1200" b="0" i="0" dirty="0">
                          <a:solidFill>
                            <a:srgbClr val="1F2A30"/>
                          </a:solidFill>
                          <a:latin typeface="微软雅黑"/>
                          <a:ea typeface="微软雅黑"/>
                          <a:cs typeface="微软雅黑"/>
                        </a:rPr>
                        <a:t>7 : 1 : 2</a:t>
                      </a:r>
                    </a:p>
                  </a:txBody>
                  <a:tcPr marL="54864" marR="54864" marT="36576" marB="36576" anchor="ctr">
                    <a:solidFill>
                      <a:srgbClr val="FFFFFF"/>
                    </a:solidFill>
                  </a:tcPr>
                </a:tc>
                <a:tc>
                  <a:txBody>
                    <a:bodyPr/>
                    <a:lstStyle/>
                    <a:p>
                      <a:pPr algn="ctr"/>
                      <a:r>
                        <a:rPr sz="1200" b="0" i="0">
                          <a:solidFill>
                            <a:srgbClr val="1F2A30"/>
                          </a:solidFill>
                          <a:latin typeface="微软雅黑"/>
                          <a:ea typeface="微软雅黑"/>
                          <a:cs typeface="微软雅黑"/>
                        </a:rPr>
                        <a:t>短片段</a:t>
                      </a:r>
                    </a:p>
                  </a:txBody>
                  <a:tcPr marL="54864" marR="54864" marT="36576" marB="36576" anchor="ctr">
                    <a:solidFill>
                      <a:srgbClr val="FFFFFF"/>
                    </a:solidFill>
                  </a:tcPr>
                </a:tc>
                <a:tc>
                  <a:txBody>
                    <a:bodyPr/>
                    <a:lstStyle/>
                    <a:p>
                      <a:pPr algn="ctr"/>
                      <a:r>
                        <a:rPr sz="1200" b="0" i="0">
                          <a:solidFill>
                            <a:srgbClr val="1F2A30"/>
                          </a:solidFill>
                          <a:latin typeface="微软雅黑"/>
                          <a:ea typeface="微软雅黑"/>
                          <a:cs typeface="微软雅黑"/>
                        </a:rPr>
                        <a:t>感知，以及部分推理</a:t>
                      </a:r>
                    </a:p>
                  </a:txBody>
                  <a:tcPr marL="54864" marR="54864" marT="36576" marB="36576" anchor="ctr">
                    <a:solidFill>
                      <a:srgbClr val="FFFFFF"/>
                    </a:solidFill>
                  </a:tcPr>
                </a:tc>
                <a:extLst>
                  <a:ext uri="{0D108BD9-81ED-4DB2-BD59-A6C34878D82A}">
                    <a16:rowId xmlns:a16="http://schemas.microsoft.com/office/drawing/2014/main" val="10001"/>
                  </a:ext>
                </a:extLst>
              </a:tr>
              <a:tr h="537210">
                <a:tc>
                  <a:txBody>
                    <a:bodyPr/>
                    <a:lstStyle/>
                    <a:p>
                      <a:pPr algn="ctr"/>
                      <a:r>
                        <a:rPr sz="1200" b="1" i="0">
                          <a:solidFill>
                            <a:srgbClr val="1F2A30"/>
                          </a:solidFill>
                          <a:latin typeface="微软雅黑"/>
                          <a:ea typeface="微软雅黑"/>
                          <a:cs typeface="微软雅黑"/>
                        </a:rPr>
                        <a:t>Endoscapes</a:t>
                      </a:r>
                    </a:p>
                  </a:txBody>
                  <a:tcPr marL="54864" marR="54864" marT="36576" marB="36576" anchor="ctr">
                    <a:solidFill>
                      <a:srgbClr val="F4F8F8"/>
                    </a:solidFill>
                  </a:tcPr>
                </a:tc>
                <a:tc>
                  <a:txBody>
                    <a:bodyPr/>
                    <a:lstStyle/>
                    <a:p>
                      <a:pPr algn="ctr"/>
                      <a:r>
                        <a:rPr sz="1200" b="0" i="0" dirty="0" err="1">
                          <a:solidFill>
                            <a:srgbClr val="1F2A30"/>
                          </a:solidFill>
                          <a:latin typeface="微软雅黑"/>
                          <a:ea typeface="微软雅黑"/>
                          <a:cs typeface="微软雅黑"/>
                        </a:rPr>
                        <a:t>沿用原划分</a:t>
                      </a:r>
                      <a:endParaRPr sz="1200" b="0" i="0" dirty="0">
                        <a:solidFill>
                          <a:srgbClr val="1F2A30"/>
                        </a:solidFill>
                        <a:latin typeface="微软雅黑"/>
                        <a:ea typeface="微软雅黑"/>
                        <a:cs typeface="微软雅黑"/>
                      </a:endParaRPr>
                    </a:p>
                    <a:p>
                      <a:pPr algn="ctr"/>
                      <a:r>
                        <a:rPr sz="1200" b="0" i="0" dirty="0">
                          <a:solidFill>
                            <a:srgbClr val="1F2A30"/>
                          </a:solidFill>
                          <a:latin typeface="微软雅黑"/>
                          <a:ea typeface="微软雅黑"/>
                          <a:cs typeface="微软雅黑"/>
                        </a:rPr>
                        <a:t>每 5 </a:t>
                      </a:r>
                      <a:r>
                        <a:rPr sz="1200" b="0" i="0" dirty="0" err="1">
                          <a:solidFill>
                            <a:srgbClr val="1F2A30"/>
                          </a:solidFill>
                          <a:latin typeface="微软雅黑"/>
                          <a:ea typeface="微软雅黑"/>
                          <a:cs typeface="微软雅黑"/>
                        </a:rPr>
                        <a:t>秒一个</a:t>
                      </a:r>
                      <a:r>
                        <a:rPr sz="1200" b="0" i="0" dirty="0">
                          <a:solidFill>
                            <a:srgbClr val="1F2A30"/>
                          </a:solidFill>
                          <a:latin typeface="微软雅黑"/>
                          <a:ea typeface="微软雅黑"/>
                          <a:cs typeface="微软雅黑"/>
                        </a:rPr>
                        <a:t> CVS </a:t>
                      </a:r>
                      <a:r>
                        <a:rPr sz="1200" b="0" i="0" dirty="0" err="1">
                          <a:solidFill>
                            <a:srgbClr val="1F2A30"/>
                          </a:solidFill>
                          <a:latin typeface="微软雅黑"/>
                          <a:ea typeface="微软雅黑"/>
                          <a:cs typeface="微软雅黑"/>
                        </a:rPr>
                        <a:t>标注</a:t>
                      </a:r>
                      <a:endParaRPr sz="1200" b="0" i="0" dirty="0">
                        <a:solidFill>
                          <a:srgbClr val="1F2A30"/>
                        </a:solidFill>
                        <a:latin typeface="微软雅黑"/>
                        <a:ea typeface="微软雅黑"/>
                        <a:cs typeface="微软雅黑"/>
                      </a:endParaRPr>
                    </a:p>
                  </a:txBody>
                  <a:tcPr marL="54864" marR="54864" marT="36576" marB="36576" anchor="ctr">
                    <a:solidFill>
                      <a:srgbClr val="F4F8F8"/>
                    </a:solidFill>
                  </a:tcPr>
                </a:tc>
                <a:tc>
                  <a:txBody>
                    <a:bodyPr/>
                    <a:lstStyle/>
                    <a:p>
                      <a:pPr algn="ctr"/>
                      <a:r>
                        <a:rPr sz="1200" b="0" i="0">
                          <a:solidFill>
                            <a:srgbClr val="1F2A30"/>
                          </a:solidFill>
                          <a:latin typeface="微软雅黑"/>
                          <a:ea typeface="微软雅黑"/>
                          <a:cs typeface="微软雅黑"/>
                        </a:rPr>
                        <a:t>约 5 秒</a:t>
                      </a:r>
                    </a:p>
                  </a:txBody>
                  <a:tcPr marL="54864" marR="54864" marT="36576" marB="36576" anchor="ctr">
                    <a:solidFill>
                      <a:srgbClr val="F4F8F8"/>
                    </a:solidFill>
                  </a:tcPr>
                </a:tc>
                <a:tc>
                  <a:txBody>
                    <a:bodyPr/>
                    <a:lstStyle/>
                    <a:p>
                      <a:pPr algn="ctr"/>
                      <a:r>
                        <a:rPr sz="1200" b="0" i="0">
                          <a:solidFill>
                            <a:srgbClr val="1F2A30"/>
                          </a:solidFill>
                          <a:latin typeface="微软雅黑"/>
                          <a:ea typeface="微软雅黑"/>
                          <a:cs typeface="微软雅黑"/>
                        </a:rPr>
                        <a:t>关键安全视野</a:t>
                      </a:r>
                    </a:p>
                  </a:txBody>
                  <a:tcPr marL="54864" marR="54864" marT="36576" marB="36576" anchor="ctr">
                    <a:solidFill>
                      <a:srgbClr val="F4F8F8"/>
                    </a:solidFill>
                  </a:tcPr>
                </a:tc>
                <a:extLst>
                  <a:ext uri="{0D108BD9-81ED-4DB2-BD59-A6C34878D82A}">
                    <a16:rowId xmlns:a16="http://schemas.microsoft.com/office/drawing/2014/main" val="10002"/>
                  </a:ext>
                </a:extLst>
              </a:tr>
              <a:tr h="537210">
                <a:tc>
                  <a:txBody>
                    <a:bodyPr/>
                    <a:lstStyle/>
                    <a:p>
                      <a:pPr algn="ctr"/>
                      <a:r>
                        <a:rPr sz="1200" b="1" i="0">
                          <a:solidFill>
                            <a:srgbClr val="1B3A4B"/>
                          </a:solidFill>
                          <a:latin typeface="微软雅黑"/>
                          <a:ea typeface="微软雅黑"/>
                          <a:cs typeface="微软雅黑"/>
                        </a:rPr>
                        <a:t>CholeScore</a:t>
                      </a:r>
                    </a:p>
                  </a:txBody>
                  <a:tcPr marL="54864" marR="54864" marT="36576" marB="36576" anchor="ctr">
                    <a:solidFill>
                      <a:srgbClr val="FFFFFF"/>
                    </a:solidFill>
                  </a:tcPr>
                </a:tc>
                <a:tc>
                  <a:txBody>
                    <a:bodyPr/>
                    <a:lstStyle/>
                    <a:p>
                      <a:pPr algn="ctr"/>
                      <a:r>
                        <a:rPr sz="1200" b="1" i="0">
                          <a:solidFill>
                            <a:srgbClr val="1B3A4B"/>
                          </a:solidFill>
                          <a:latin typeface="微软雅黑"/>
                          <a:ea typeface="微软雅黑"/>
                          <a:cs typeface="微软雅黑"/>
                        </a:rPr>
                        <a:t>100 例，按 6 个阶段切</a:t>
                      </a:r>
                    </a:p>
                    <a:p>
                      <a:pPr algn="ctr"/>
                      <a:r>
                        <a:rPr sz="1200" b="1" i="0">
                          <a:solidFill>
                            <a:srgbClr val="1B3A4B"/>
                          </a:solidFill>
                          <a:latin typeface="微软雅黑"/>
                          <a:ea typeface="微软雅黑"/>
                          <a:cs typeface="微软雅黑"/>
                        </a:rPr>
                        <a:t>原划分</a:t>
                      </a:r>
                    </a:p>
                  </a:txBody>
                  <a:tcPr marL="54864" marR="54864" marT="36576" marB="36576" anchor="ctr">
                    <a:solidFill>
                      <a:srgbClr val="FFFFFF"/>
                    </a:solidFill>
                  </a:tcPr>
                </a:tc>
                <a:tc>
                  <a:txBody>
                    <a:bodyPr/>
                    <a:lstStyle/>
                    <a:p>
                      <a:pPr algn="ctr"/>
                      <a:r>
                        <a:rPr sz="1200" b="1" i="0">
                          <a:solidFill>
                            <a:srgbClr val="1B3A4B"/>
                          </a:solidFill>
                          <a:latin typeface="微软雅黑"/>
                          <a:ea typeface="微软雅黑"/>
                          <a:cs typeface="微软雅黑"/>
                        </a:rPr>
                        <a:t>数分钟到数十分钟</a:t>
                      </a:r>
                    </a:p>
                    <a:p>
                      <a:pPr algn="ctr"/>
                      <a:r>
                        <a:rPr sz="1200" b="1" i="0">
                          <a:solidFill>
                            <a:srgbClr val="1B3A4B"/>
                          </a:solidFill>
                          <a:latin typeface="微软雅黑"/>
                          <a:ea typeface="微软雅黑"/>
                          <a:cs typeface="微软雅黑"/>
                        </a:rPr>
                        <a:t>阶段均值约 710 秒</a:t>
                      </a:r>
                    </a:p>
                  </a:txBody>
                  <a:tcPr marL="54864" marR="54864" marT="36576" marB="36576" anchor="ctr">
                    <a:solidFill>
                      <a:srgbClr val="FFFFFF"/>
                    </a:solidFill>
                  </a:tcPr>
                </a:tc>
                <a:tc>
                  <a:txBody>
                    <a:bodyPr/>
                    <a:lstStyle/>
                    <a:p>
                      <a:pPr algn="ctr"/>
                      <a:r>
                        <a:rPr sz="1200" b="1" i="0" dirty="0" err="1">
                          <a:solidFill>
                            <a:srgbClr val="1B3A4B"/>
                          </a:solidFill>
                          <a:latin typeface="微软雅黑"/>
                          <a:ea typeface="微软雅黑"/>
                          <a:cs typeface="微软雅黑"/>
                        </a:rPr>
                        <a:t>难度、技能、不良事件</a:t>
                      </a:r>
                      <a:r>
                        <a:rPr sz="1200" b="1" i="0" dirty="0">
                          <a:solidFill>
                            <a:srgbClr val="1B3A4B"/>
                          </a:solidFill>
                          <a:latin typeface="微软雅黑"/>
                          <a:ea typeface="微软雅黑"/>
                          <a:cs typeface="微软雅黑"/>
                        </a:rPr>
                        <a:t>、</a:t>
                      </a:r>
                    </a:p>
                    <a:p>
                      <a:pPr algn="ctr"/>
                      <a:r>
                        <a:rPr sz="1200" b="1" i="0" dirty="0" err="1">
                          <a:solidFill>
                            <a:srgbClr val="1B3A4B"/>
                          </a:solidFill>
                          <a:latin typeface="微软雅黑"/>
                          <a:ea typeface="微软雅黑"/>
                          <a:cs typeface="微软雅黑"/>
                        </a:rPr>
                        <a:t>综合评估与规划</a:t>
                      </a:r>
                      <a:endParaRPr sz="1200" b="1" i="0" dirty="0">
                        <a:solidFill>
                          <a:srgbClr val="1B3A4B"/>
                        </a:solidFill>
                        <a:latin typeface="微软雅黑"/>
                        <a:ea typeface="微软雅黑"/>
                        <a:cs typeface="微软雅黑"/>
                      </a:endParaRPr>
                    </a:p>
                  </a:txBody>
                  <a:tcPr marL="54864" marR="54864"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438912" y="4114800"/>
            <a:ext cx="11247120" cy="320040"/>
          </a:xfrm>
          <a:prstGeom prst="rect">
            <a:avLst/>
          </a:prstGeom>
          <a:noFill/>
        </p:spPr>
        <p:txBody>
          <a:bodyPr wrap="square" lIns="0" tIns="0" rIns="0" bIns="0" anchor="t"/>
          <a:lstStyle/>
          <a:p>
            <a:pPr algn="l">
              <a:spcBef>
                <a:spcPts val="0"/>
              </a:spcBef>
              <a:spcAft>
                <a:spcPts val="0"/>
              </a:spcAft>
            </a:pPr>
            <a:r>
              <a:rPr sz="1600" b="1" i="0" dirty="0" err="1">
                <a:solidFill>
                  <a:srgbClr val="1B3A4B"/>
                </a:solidFill>
                <a:latin typeface="微软雅黑"/>
                <a:ea typeface="微软雅黑"/>
                <a:cs typeface="微软雅黑"/>
              </a:rPr>
              <a:t>另外</a:t>
            </a:r>
            <a:r>
              <a:rPr lang="zh-CN" altLang="en-US" sz="1600" b="1" i="0" dirty="0">
                <a:solidFill>
                  <a:srgbClr val="1B3A4B"/>
                </a:solidFill>
                <a:latin typeface="微软雅黑"/>
                <a:ea typeface="微软雅黑"/>
                <a:cs typeface="微软雅黑"/>
              </a:rPr>
              <a:t>的</a:t>
            </a:r>
            <a:r>
              <a:rPr sz="1600" b="1" i="0" dirty="0" err="1">
                <a:solidFill>
                  <a:srgbClr val="1B3A4B"/>
                </a:solidFill>
                <a:latin typeface="微软雅黑"/>
                <a:ea typeface="微软雅黑"/>
                <a:cs typeface="微软雅黑"/>
              </a:rPr>
              <a:t>专家手写答案</a:t>
            </a:r>
            <a:r>
              <a:rPr lang="zh-CN" altLang="en-US" sz="1600" b="1" i="0" dirty="0">
                <a:solidFill>
                  <a:srgbClr val="1B3A4B"/>
                </a:solidFill>
                <a:latin typeface="微软雅黑"/>
                <a:ea typeface="微软雅黑"/>
                <a:cs typeface="微软雅黑"/>
              </a:rPr>
              <a:t>测试集</a:t>
            </a:r>
            <a:endParaRPr sz="1600" b="1" i="0" dirty="0">
              <a:solidFill>
                <a:srgbClr val="1B3A4B"/>
              </a:solidFill>
              <a:latin typeface="微软雅黑"/>
              <a:ea typeface="微软雅黑"/>
              <a:cs typeface="微软雅黑"/>
            </a:endParaRPr>
          </a:p>
        </p:txBody>
      </p:sp>
      <p:sp>
        <p:nvSpPr>
          <p:cNvPr id="10" name="TextBox 9"/>
          <p:cNvSpPr txBox="1"/>
          <p:nvPr/>
        </p:nvSpPr>
        <p:spPr>
          <a:xfrm>
            <a:off x="438912" y="4526280"/>
            <a:ext cx="11247120" cy="164592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从评估层抽出 300 问、62 段视频，由临床专家按视频重写答案。作者明确说这不是金标准，也不足以验证整个数据生成流程。技能和不良事件各只有 37 问，单项差距只能看作趋势。</a:t>
            </a:r>
          </a:p>
        </p:txBody>
      </p:sp>
      <p:sp>
        <p:nvSpPr>
          <p:cNvPr id="11" name="Rectangle 10"/>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3" name="TextBox 12"/>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4" name="TextBox 13"/>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11  /  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Dataset · 11 个任务</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43000"/>
            <a:ext cx="3657600" cy="37947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8912" y="1143000"/>
            <a:ext cx="3657600" cy="50292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207008"/>
            <a:ext cx="3383280" cy="365760"/>
          </a:xfrm>
          <a:prstGeom prst="rect">
            <a:avLst/>
          </a:prstGeom>
          <a:noFill/>
        </p:spPr>
        <p:txBody>
          <a:bodyPr wrap="square" lIns="0" tIns="0" rIns="0" bIns="0" anchor="ctr"/>
          <a:lstStyle/>
          <a:p>
            <a:pPr algn="l">
              <a:spcBef>
                <a:spcPts val="0"/>
              </a:spcBef>
              <a:spcAft>
                <a:spcPts val="0"/>
              </a:spcAft>
            </a:pPr>
            <a:r>
              <a:rPr sz="1600" b="1" i="0">
                <a:solidFill>
                  <a:srgbClr val="FFFFFF"/>
                </a:solidFill>
                <a:latin typeface="微软雅黑"/>
                <a:ea typeface="微软雅黑"/>
                <a:cs typeface="微软雅黑"/>
              </a:rPr>
              <a:t>Perception</a:t>
            </a:r>
          </a:p>
        </p:txBody>
      </p:sp>
      <p:sp>
        <p:nvSpPr>
          <p:cNvPr id="10" name="TextBox 9"/>
          <p:cNvSpPr txBox="1"/>
          <p:nvPr/>
        </p:nvSpPr>
        <p:spPr>
          <a:xfrm>
            <a:off x="603504" y="1828800"/>
            <a:ext cx="3337560" cy="283464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Tool  器械的位置与运动
Action  动作及临床理由
Anatomy  标志的状态与形态</a:t>
            </a:r>
          </a:p>
        </p:txBody>
      </p:sp>
      <p:sp>
        <p:nvSpPr>
          <p:cNvPr id="11" name="Rounded Rectangle 10"/>
          <p:cNvSpPr/>
          <p:nvPr/>
        </p:nvSpPr>
        <p:spPr>
          <a:xfrm>
            <a:off x="4279392" y="1143000"/>
            <a:ext cx="3657600" cy="37947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79392" y="1143000"/>
            <a:ext cx="3657600" cy="502920"/>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16552" y="1207008"/>
            <a:ext cx="3383280" cy="365760"/>
          </a:xfrm>
          <a:prstGeom prst="rect">
            <a:avLst/>
          </a:prstGeom>
          <a:noFill/>
        </p:spPr>
        <p:txBody>
          <a:bodyPr wrap="square" lIns="0" tIns="0" rIns="0" bIns="0" anchor="ctr"/>
          <a:lstStyle/>
          <a:p>
            <a:pPr algn="l">
              <a:spcBef>
                <a:spcPts val="0"/>
              </a:spcBef>
              <a:spcAft>
                <a:spcPts val="0"/>
              </a:spcAft>
            </a:pPr>
            <a:r>
              <a:rPr sz="1600" b="1" i="0">
                <a:solidFill>
                  <a:srgbClr val="FFFFFF"/>
                </a:solidFill>
                <a:latin typeface="微软雅黑"/>
                <a:ea typeface="微软雅黑"/>
                <a:cs typeface="微软雅黑"/>
              </a:rPr>
              <a:t>Assessment</a:t>
            </a:r>
          </a:p>
        </p:txBody>
      </p:sp>
      <p:sp>
        <p:nvSpPr>
          <p:cNvPr id="14" name="TextBox 13"/>
          <p:cNvSpPr txBox="1"/>
          <p:nvPr/>
        </p:nvSpPr>
        <p:spPr>
          <a:xfrm>
            <a:off x="4443984" y="1828800"/>
            <a:ext cx="3337560" cy="283464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CVS  双管、三角、胆囊板
Difficulty  粘连与脂肪
Adverse Event  出血与损伤
Skill  阶段内的操作质量</a:t>
            </a:r>
          </a:p>
        </p:txBody>
      </p:sp>
      <p:sp>
        <p:nvSpPr>
          <p:cNvPr id="15" name="Rounded Rectangle 14"/>
          <p:cNvSpPr/>
          <p:nvPr/>
        </p:nvSpPr>
        <p:spPr>
          <a:xfrm>
            <a:off x="8119872" y="1143000"/>
            <a:ext cx="3657600" cy="37947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19872" y="1143000"/>
            <a:ext cx="3657600" cy="502920"/>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2" y="1207008"/>
            <a:ext cx="3383280" cy="365760"/>
          </a:xfrm>
          <a:prstGeom prst="rect">
            <a:avLst/>
          </a:prstGeom>
          <a:noFill/>
        </p:spPr>
        <p:txBody>
          <a:bodyPr wrap="square" lIns="0" tIns="0" rIns="0" bIns="0" anchor="ctr"/>
          <a:lstStyle/>
          <a:p>
            <a:pPr algn="l">
              <a:spcBef>
                <a:spcPts val="0"/>
              </a:spcBef>
              <a:spcAft>
                <a:spcPts val="0"/>
              </a:spcAft>
            </a:pPr>
            <a:r>
              <a:rPr sz="1600" b="1" i="0">
                <a:solidFill>
                  <a:srgbClr val="FFFFFF"/>
                </a:solidFill>
                <a:latin typeface="微软雅黑"/>
                <a:ea typeface="微软雅黑"/>
                <a:cs typeface="微软雅黑"/>
              </a:rPr>
              <a:t>Reasoning</a:t>
            </a:r>
          </a:p>
        </p:txBody>
      </p:sp>
      <p:sp>
        <p:nvSpPr>
          <p:cNvPr id="18" name="TextBox 17"/>
          <p:cNvSpPr txBox="1"/>
          <p:nvPr/>
        </p:nvSpPr>
        <p:spPr>
          <a:xfrm>
            <a:off x="8284464" y="1828800"/>
            <a:ext cx="3337560" cy="283464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Description  场景描述
Rationale  动作为什么这样做
Assessment  综合评估
Planning  风险与下一步</a:t>
            </a:r>
          </a:p>
        </p:txBody>
      </p:sp>
      <p:sp>
        <p:nvSpPr>
          <p:cNvPr id="19" name="Rectangle 18"/>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1" name="TextBox 20"/>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2" name="TextBox 21"/>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12  /  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9395A-4F04-1032-80CE-CDA50B7EE3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AC1823B-0D9B-33CE-A45D-08DC05354DB9}"/>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9D071FDE-476E-8635-0225-C93F4D27BE10}"/>
              </a:ext>
            </a:extLst>
          </p:cNvPr>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5719DE7-1A47-FFD4-194A-7B29B89C2276}"/>
              </a:ext>
            </a:extLst>
          </p:cNvPr>
          <p:cNvSpPr txBox="1"/>
          <p:nvPr/>
        </p:nvSpPr>
        <p:spPr>
          <a:xfrm>
            <a:off x="438912" y="164592"/>
            <a:ext cx="11247120" cy="237744"/>
          </a:xfrm>
          <a:prstGeom prst="rect">
            <a:avLst/>
          </a:prstGeom>
          <a:noFill/>
        </p:spPr>
        <p:txBody>
          <a:bodyPr wrap="square" lIns="0" tIns="0" rIns="0" bIns="0" anchor="t"/>
          <a:lstStyle/>
          <a:p>
            <a:pPr algn="l">
              <a:spcBef>
                <a:spcPts val="0"/>
              </a:spcBef>
              <a:spcAft>
                <a:spcPts val="0"/>
              </a:spcAft>
            </a:pPr>
            <a:r>
              <a:rPr sz="1200" b="1" i="0">
                <a:solidFill>
                  <a:srgbClr val="1A6B7A"/>
                </a:solidFill>
                <a:latin typeface="微软雅黑"/>
                <a:ea typeface="微软雅黑"/>
                <a:cs typeface="微软雅黑"/>
              </a:rPr>
              <a:t>三层各自在问什么</a:t>
            </a:r>
          </a:p>
        </p:txBody>
      </p:sp>
      <p:sp>
        <p:nvSpPr>
          <p:cNvPr id="5" name="TextBox 4">
            <a:extLst>
              <a:ext uri="{FF2B5EF4-FFF2-40B4-BE49-F238E27FC236}">
                <a16:creationId xmlns:a16="http://schemas.microsoft.com/office/drawing/2014/main" id="{B2457FBA-C9BA-DDA1-7ADD-5B1DF1D6484C}"/>
              </a:ext>
            </a:extLst>
          </p:cNvPr>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Dataset · 11 个任务</a:t>
            </a:r>
          </a:p>
        </p:txBody>
      </p:sp>
      <p:sp>
        <p:nvSpPr>
          <p:cNvPr id="6" name="Rectangle 5">
            <a:extLst>
              <a:ext uri="{FF2B5EF4-FFF2-40B4-BE49-F238E27FC236}">
                <a16:creationId xmlns:a16="http://schemas.microsoft.com/office/drawing/2014/main" id="{ED6BB729-1DC9-35ED-7142-66D1ED004D4F}"/>
              </a:ext>
            </a:extLst>
          </p:cNvPr>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2F91860A-C75D-0A20-CF02-2533268EAF20}"/>
              </a:ext>
            </a:extLst>
          </p:cNvPr>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A6A7ECFB-647F-1083-345E-2576565160F8}"/>
              </a:ext>
            </a:extLst>
          </p:cNvPr>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1" name="TextBox 20">
            <a:extLst>
              <a:ext uri="{FF2B5EF4-FFF2-40B4-BE49-F238E27FC236}">
                <a16:creationId xmlns:a16="http://schemas.microsoft.com/office/drawing/2014/main" id="{F216240D-C23B-70A8-594E-84D88550E8AB}"/>
              </a:ext>
            </a:extLst>
          </p:cNvPr>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2" name="TextBox 21">
            <a:extLst>
              <a:ext uri="{FF2B5EF4-FFF2-40B4-BE49-F238E27FC236}">
                <a16:creationId xmlns:a16="http://schemas.microsoft.com/office/drawing/2014/main" id="{4B8EECD1-9422-22A1-245B-477F2A01CA27}"/>
              </a:ext>
            </a:extLst>
          </p:cNvPr>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12  /  26</a:t>
            </a:r>
          </a:p>
        </p:txBody>
      </p:sp>
      <p:pic>
        <p:nvPicPr>
          <p:cNvPr id="24" name="图片 23">
            <a:extLst>
              <a:ext uri="{FF2B5EF4-FFF2-40B4-BE49-F238E27FC236}">
                <a16:creationId xmlns:a16="http://schemas.microsoft.com/office/drawing/2014/main" id="{656466AC-72C8-BC83-57EC-56AAE78CD789}"/>
              </a:ext>
            </a:extLst>
          </p:cNvPr>
          <p:cNvPicPr>
            <a:picLocks noChangeAspect="1"/>
          </p:cNvPicPr>
          <p:nvPr/>
        </p:nvPicPr>
        <p:blipFill>
          <a:blip r:embed="rId3"/>
          <a:stretch>
            <a:fillRect/>
          </a:stretch>
        </p:blipFill>
        <p:spPr>
          <a:xfrm>
            <a:off x="8773" y="0"/>
            <a:ext cx="12174454" cy="6858000"/>
          </a:xfrm>
          <a:prstGeom prst="rect">
            <a:avLst/>
          </a:prstGeom>
        </p:spPr>
      </p:pic>
    </p:spTree>
    <p:extLst>
      <p:ext uri="{BB962C8B-B14F-4D97-AF65-F5344CB8AC3E}">
        <p14:creationId xmlns:p14="http://schemas.microsoft.com/office/powerpoint/2010/main" val="1022546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Inference</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43000"/>
            <a:ext cx="11292840" cy="1207008"/>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52728"/>
            <a:ext cx="10881360" cy="292608"/>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零样本基线</a:t>
            </a:r>
          </a:p>
        </p:txBody>
      </p:sp>
      <p:sp>
        <p:nvSpPr>
          <p:cNvPr id="9" name="TextBox 8"/>
          <p:cNvSpPr txBox="1"/>
          <p:nvPr/>
        </p:nvSpPr>
        <p:spPr>
          <a:xfrm>
            <a:off x="640080" y="1581912"/>
            <a:ext cx="10881360" cy="64008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mPLUG-Owl3、InternVideo2.5、LongVA、LLaVA-Video、VideoGPT+、Qwen3-VL，以及 Gemini-3.1-Pro。统一均匀抽 64 帧。</a:t>
            </a:r>
          </a:p>
        </p:txBody>
      </p:sp>
      <p:sp>
        <p:nvSpPr>
          <p:cNvPr id="10" name="Rounded Rectangle 9"/>
          <p:cNvSpPr/>
          <p:nvPr/>
        </p:nvSpPr>
        <p:spPr>
          <a:xfrm>
            <a:off x="438912" y="2468880"/>
            <a:ext cx="11292840" cy="1207008"/>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578608"/>
            <a:ext cx="10881360" cy="292608"/>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微调基线</a:t>
            </a:r>
          </a:p>
        </p:txBody>
      </p:sp>
      <p:sp>
        <p:nvSpPr>
          <p:cNvPr id="12" name="TextBox 11"/>
          <p:cNvSpPr txBox="1"/>
          <p:nvPr/>
        </p:nvSpPr>
        <p:spPr>
          <a:xfrm>
            <a:off x="640080" y="2907792"/>
            <a:ext cx="10881360" cy="640080"/>
          </a:xfrm>
          <a:prstGeom prst="rect">
            <a:avLst/>
          </a:prstGeom>
          <a:noFill/>
        </p:spPr>
        <p:txBody>
          <a:bodyPr wrap="square" lIns="0" tIns="0" rIns="0" bIns="0" anchor="t"/>
          <a:lstStyle/>
          <a:p>
            <a:pPr algn="l">
              <a:spcBef>
                <a:spcPts val="0"/>
              </a:spcBef>
              <a:spcAft>
                <a:spcPts val="0"/>
              </a:spcAft>
            </a:pPr>
            <a:r>
              <a:rPr sz="1400" b="0" i="0" dirty="0" err="1">
                <a:solidFill>
                  <a:srgbClr val="1F2A30"/>
                </a:solidFill>
                <a:latin typeface="微软雅黑"/>
                <a:ea typeface="微软雅黑"/>
                <a:cs typeface="微软雅黑"/>
              </a:rPr>
              <a:t>LLaVA-Video、VideoGPT</a:t>
            </a:r>
            <a:r>
              <a:rPr sz="1400" b="0" i="0" dirty="0">
                <a:solidFill>
                  <a:srgbClr val="1F2A30"/>
                </a:solidFill>
                <a:latin typeface="微软雅黑"/>
                <a:ea typeface="微软雅黑"/>
                <a:cs typeface="微软雅黑"/>
              </a:rPr>
              <a:t>+、Qwen3-VL </a:t>
            </a:r>
            <a:r>
              <a:rPr sz="1400" b="0" i="0" dirty="0" err="1">
                <a:solidFill>
                  <a:srgbClr val="1F2A30"/>
                </a:solidFill>
                <a:latin typeface="微软雅黑"/>
                <a:ea typeface="微软雅黑"/>
                <a:cs typeface="微软雅黑"/>
              </a:rPr>
              <a:t>在同一份</a:t>
            </a:r>
            <a:r>
              <a:rPr sz="1400" b="0" i="0" dirty="0">
                <a:solidFill>
                  <a:srgbClr val="1F2A30"/>
                </a:solidFill>
                <a:latin typeface="微软雅黑"/>
                <a:ea typeface="微软雅黑"/>
                <a:cs typeface="微软雅黑"/>
              </a:rPr>
              <a:t> CholeVidQA-32K </a:t>
            </a:r>
            <a:r>
              <a:rPr sz="1400" b="0" i="0" dirty="0" err="1">
                <a:solidFill>
                  <a:srgbClr val="1F2A30"/>
                </a:solidFill>
                <a:latin typeface="微软雅黑"/>
                <a:ea typeface="微软雅黑"/>
                <a:cs typeface="微软雅黑"/>
              </a:rPr>
              <a:t>上微调。训练时受显存限制只看</a:t>
            </a:r>
            <a:r>
              <a:rPr sz="1400" b="0" i="0" dirty="0">
                <a:solidFill>
                  <a:srgbClr val="1F2A30"/>
                </a:solidFill>
                <a:latin typeface="微软雅黑"/>
                <a:ea typeface="微软雅黑"/>
                <a:cs typeface="微软雅黑"/>
              </a:rPr>
              <a:t> 10 </a:t>
            </a:r>
            <a:r>
              <a:rPr sz="1400" b="0" i="0" dirty="0" err="1">
                <a:solidFill>
                  <a:srgbClr val="1F2A30"/>
                </a:solidFill>
                <a:latin typeface="微软雅黑"/>
                <a:ea typeface="微软雅黑"/>
                <a:cs typeface="微软雅黑"/>
              </a:rPr>
              <a:t>帧，推理看满</a:t>
            </a:r>
            <a:r>
              <a:rPr sz="1400" b="0" i="0" dirty="0">
                <a:solidFill>
                  <a:srgbClr val="1F2A30"/>
                </a:solidFill>
                <a:latin typeface="微软雅黑"/>
                <a:ea typeface="微软雅黑"/>
                <a:cs typeface="微软雅黑"/>
              </a:rPr>
              <a:t> 64 帧。</a:t>
            </a:r>
          </a:p>
        </p:txBody>
      </p:sp>
      <p:sp>
        <p:nvSpPr>
          <p:cNvPr id="13" name="Rounded Rectangle 12"/>
          <p:cNvSpPr/>
          <p:nvPr/>
        </p:nvSpPr>
        <p:spPr>
          <a:xfrm>
            <a:off x="438912" y="3794760"/>
            <a:ext cx="11292840" cy="1207008"/>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904488"/>
            <a:ext cx="10881360" cy="292608"/>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SurgTEMP</a:t>
            </a:r>
          </a:p>
        </p:txBody>
      </p:sp>
      <p:sp>
        <p:nvSpPr>
          <p:cNvPr id="15" name="TextBox 14"/>
          <p:cNvSpPr txBox="1"/>
          <p:nvPr/>
        </p:nvSpPr>
        <p:spPr>
          <a:xfrm>
            <a:off x="640080" y="4233672"/>
            <a:ext cx="10881360" cy="640080"/>
          </a:xfrm>
          <a:prstGeom prst="rect">
            <a:avLst/>
          </a:prstGeom>
          <a:noFill/>
        </p:spPr>
        <p:txBody>
          <a:bodyPr wrap="square" lIns="0" tIns="0" rIns="0" bIns="0" anchor="t"/>
          <a:lstStyle/>
          <a:p>
            <a:pPr algn="l">
              <a:spcBef>
                <a:spcPts val="0"/>
              </a:spcBef>
              <a:spcAft>
                <a:spcPts val="0"/>
              </a:spcAft>
            </a:pPr>
            <a:r>
              <a:rPr sz="1400" b="0" i="0" dirty="0" err="1">
                <a:solidFill>
                  <a:srgbClr val="1F2A30"/>
                </a:solidFill>
                <a:latin typeface="微软雅黑"/>
                <a:ea typeface="微软雅黑"/>
                <a:cs typeface="微软雅黑"/>
              </a:rPr>
              <a:t>训练和推理都从</a:t>
            </a:r>
            <a:r>
              <a:rPr sz="1400" b="0" i="0" dirty="0">
                <a:solidFill>
                  <a:srgbClr val="1F2A30"/>
                </a:solidFill>
                <a:latin typeface="微软雅黑"/>
                <a:ea typeface="微软雅黑"/>
                <a:cs typeface="微软雅黑"/>
              </a:rPr>
              <a:t> 64 </a:t>
            </a:r>
            <a:r>
              <a:rPr sz="1400" b="0" i="0" dirty="0" err="1">
                <a:solidFill>
                  <a:srgbClr val="1F2A30"/>
                </a:solidFill>
                <a:latin typeface="微软雅黑"/>
                <a:ea typeface="微软雅黑"/>
                <a:cs typeface="微软雅黑"/>
              </a:rPr>
              <a:t>帧里选</a:t>
            </a:r>
            <a:r>
              <a:rPr sz="1400" b="0" i="0" dirty="0">
                <a:solidFill>
                  <a:srgbClr val="1F2A30"/>
                </a:solidFill>
                <a:latin typeface="微软雅黑"/>
                <a:ea typeface="微软雅黑"/>
                <a:cs typeface="微软雅黑"/>
              </a:rPr>
              <a:t> top-10。推理时视觉预算更小。作者据此认为增益来自“先密采样、再按问题筛选”。</a:t>
            </a:r>
          </a:p>
        </p:txBody>
      </p:sp>
      <p:sp>
        <p:nvSpPr>
          <p:cNvPr id="16" name="TextBox 15"/>
          <p:cNvSpPr txBox="1"/>
          <p:nvPr/>
        </p:nvSpPr>
        <p:spPr>
          <a:xfrm>
            <a:off x="438912" y="5212080"/>
            <a:ext cx="11247120" cy="1097280"/>
          </a:xfrm>
          <a:prstGeom prst="rect">
            <a:avLst/>
          </a:prstGeom>
          <a:noFill/>
        </p:spPr>
        <p:txBody>
          <a:bodyPr wrap="square" lIns="0" tIns="0" rIns="0" bIns="0" anchor="t"/>
          <a:lstStyle/>
          <a:p>
            <a:pPr algn="l">
              <a:spcBef>
                <a:spcPts val="0"/>
              </a:spcBef>
              <a:spcAft>
                <a:spcPts val="0"/>
              </a:spcAft>
            </a:pPr>
            <a:r>
              <a:rPr sz="1400" b="0" i="0" dirty="0" err="1">
                <a:solidFill>
                  <a:srgbClr val="5C6B73"/>
                </a:solidFill>
                <a:latin typeface="微软雅黑"/>
                <a:ea typeface="微软雅黑"/>
                <a:cs typeface="微软雅黑"/>
              </a:rPr>
              <a:t>三次运行取均值，并报告标准差。微调模型用三个随机种子重训、贪心解码；零样本模型只改变推理采样种子</a:t>
            </a:r>
            <a:endParaRPr lang="en-US" sz="1400" b="0" i="0" dirty="0">
              <a:solidFill>
                <a:srgbClr val="5C6B73"/>
              </a:solidFill>
              <a:latin typeface="微软雅黑"/>
              <a:ea typeface="微软雅黑"/>
              <a:cs typeface="微软雅黑"/>
            </a:endParaRPr>
          </a:p>
          <a:p>
            <a:pPr algn="l">
              <a:spcBef>
                <a:spcPts val="0"/>
              </a:spcBef>
              <a:spcAft>
                <a:spcPts val="0"/>
              </a:spcAft>
            </a:pPr>
            <a:r>
              <a:rPr sz="1400" b="0" i="0" dirty="0" err="1">
                <a:solidFill>
                  <a:srgbClr val="5C6B73"/>
                </a:solidFill>
                <a:latin typeface="微软雅黑"/>
                <a:ea typeface="微软雅黑"/>
                <a:cs typeface="微软雅黑"/>
              </a:rPr>
              <a:t>评判模型为</a:t>
            </a:r>
            <a:r>
              <a:rPr sz="1400" b="0" i="0" dirty="0">
                <a:solidFill>
                  <a:srgbClr val="5C6B73"/>
                </a:solidFill>
                <a:latin typeface="微软雅黑"/>
                <a:ea typeface="微软雅黑"/>
                <a:cs typeface="微软雅黑"/>
              </a:rPr>
              <a:t> gpt-oss-120b，并与 GPT-5.1、Gemini-2.5-Pro、Mixtral、DeepSeek-V3 </a:t>
            </a:r>
            <a:r>
              <a:rPr sz="1400" b="0" i="0" dirty="0" err="1">
                <a:solidFill>
                  <a:srgbClr val="5C6B73"/>
                </a:solidFill>
                <a:latin typeface="微软雅黑"/>
                <a:ea typeface="微软雅黑"/>
                <a:cs typeface="微软雅黑"/>
              </a:rPr>
              <a:t>核对排序，总体</a:t>
            </a:r>
            <a:r>
              <a:rPr sz="1400" b="0" i="0" dirty="0">
                <a:solidFill>
                  <a:srgbClr val="5C6B73"/>
                </a:solidFill>
                <a:latin typeface="微软雅黑"/>
                <a:ea typeface="微软雅黑"/>
                <a:cs typeface="微软雅黑"/>
              </a:rPr>
              <a:t> Kendall’s W = 0.852。</a:t>
            </a:r>
          </a:p>
        </p:txBody>
      </p:sp>
      <p:sp>
        <p:nvSpPr>
          <p:cNvPr id="17" name="Rectangle 16"/>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9" name="TextBox 18"/>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0" name="TextBox 19"/>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10  /  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Evaluation Metrics</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43000"/>
            <a:ext cx="3657600" cy="2345436"/>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3504" y="1298448"/>
            <a:ext cx="3337560" cy="365760"/>
          </a:xfrm>
          <a:prstGeom prst="rect">
            <a:avLst/>
          </a:prstGeom>
          <a:noFill/>
        </p:spPr>
        <p:txBody>
          <a:bodyPr wrap="square" lIns="0" tIns="0" rIns="0" bIns="0" anchor="t"/>
          <a:lstStyle/>
          <a:p>
            <a:pPr algn="l">
              <a:spcBef>
                <a:spcPts val="0"/>
              </a:spcBef>
              <a:spcAft>
                <a:spcPts val="0"/>
              </a:spcAft>
            </a:pPr>
            <a:r>
              <a:rPr sz="1800" b="1" i="0">
                <a:solidFill>
                  <a:srgbClr val="0E4C57"/>
                </a:solidFill>
                <a:latin typeface="微软雅黑"/>
                <a:ea typeface="微软雅黑"/>
                <a:cs typeface="微软雅黑"/>
              </a:rPr>
              <a:t>GPT 分数</a:t>
            </a:r>
          </a:p>
        </p:txBody>
      </p:sp>
      <p:sp>
        <p:nvSpPr>
          <p:cNvPr id="9" name="TextBox 8"/>
          <p:cNvSpPr txBox="1"/>
          <p:nvPr/>
        </p:nvSpPr>
        <p:spPr>
          <a:xfrm>
            <a:off x="603504" y="1737360"/>
            <a:ext cx="3337560" cy="640080"/>
          </a:xfrm>
          <a:prstGeom prst="rect">
            <a:avLst/>
          </a:prstGeom>
          <a:noFill/>
        </p:spPr>
        <p:txBody>
          <a:bodyPr wrap="square" lIns="0" tIns="0" rIns="0" bIns="0" anchor="t"/>
          <a:lstStyle/>
          <a:p>
            <a:pPr algn="l">
              <a:spcBef>
                <a:spcPts val="0"/>
              </a:spcBef>
              <a:spcAft>
                <a:spcPts val="0"/>
              </a:spcAft>
            </a:pPr>
            <a:r>
              <a:rPr sz="1400" b="1" i="0">
                <a:solidFill>
                  <a:srgbClr val="8A5A12"/>
                </a:solidFill>
                <a:latin typeface="微软雅黑"/>
                <a:ea typeface="微软雅黑"/>
                <a:cs typeface="微软雅黑"/>
              </a:rPr>
              <a:t>正确性、相关性、语言质量</a:t>
            </a:r>
          </a:p>
        </p:txBody>
      </p:sp>
      <p:sp>
        <p:nvSpPr>
          <p:cNvPr id="10" name="TextBox 9"/>
          <p:cNvSpPr txBox="1"/>
          <p:nvPr/>
        </p:nvSpPr>
        <p:spPr>
          <a:xfrm>
            <a:off x="603504" y="2252063"/>
            <a:ext cx="3337560" cy="201168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由 LLM 评判开放答案是否符合临床内容，而不只是字面重叠。多个评判模型的排序一致性用 Kendall’s W 检查。</a:t>
            </a:r>
          </a:p>
        </p:txBody>
      </p:sp>
      <p:sp>
        <p:nvSpPr>
          <p:cNvPr id="11" name="Rounded Rectangle 10"/>
          <p:cNvSpPr/>
          <p:nvPr/>
        </p:nvSpPr>
        <p:spPr>
          <a:xfrm>
            <a:off x="4279392" y="1143000"/>
            <a:ext cx="3657600" cy="2336292"/>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43984" y="1298448"/>
            <a:ext cx="3337560" cy="365760"/>
          </a:xfrm>
          <a:prstGeom prst="rect">
            <a:avLst/>
          </a:prstGeom>
          <a:noFill/>
        </p:spPr>
        <p:txBody>
          <a:bodyPr wrap="square" lIns="0" tIns="0" rIns="0" bIns="0" anchor="t"/>
          <a:lstStyle/>
          <a:p>
            <a:pPr algn="l">
              <a:spcBef>
                <a:spcPts val="0"/>
              </a:spcBef>
              <a:spcAft>
                <a:spcPts val="0"/>
              </a:spcAft>
            </a:pPr>
            <a:r>
              <a:rPr sz="1800" b="1" i="0">
                <a:solidFill>
                  <a:srgbClr val="0E4C57"/>
                </a:solidFill>
                <a:latin typeface="微软雅黑"/>
                <a:ea typeface="微软雅黑"/>
                <a:cs typeface="微软雅黑"/>
              </a:rPr>
              <a:t>重叠指标</a:t>
            </a:r>
          </a:p>
        </p:txBody>
      </p:sp>
      <p:sp>
        <p:nvSpPr>
          <p:cNvPr id="13" name="TextBox 12"/>
          <p:cNvSpPr txBox="1"/>
          <p:nvPr/>
        </p:nvSpPr>
        <p:spPr>
          <a:xfrm>
            <a:off x="4443984" y="1737360"/>
            <a:ext cx="3337560" cy="640080"/>
          </a:xfrm>
          <a:prstGeom prst="rect">
            <a:avLst/>
          </a:prstGeom>
          <a:noFill/>
        </p:spPr>
        <p:txBody>
          <a:bodyPr wrap="square" lIns="0" tIns="0" rIns="0" bIns="0" anchor="t"/>
          <a:lstStyle/>
          <a:p>
            <a:pPr algn="l">
              <a:spcBef>
                <a:spcPts val="0"/>
              </a:spcBef>
              <a:spcAft>
                <a:spcPts val="0"/>
              </a:spcAft>
            </a:pPr>
            <a:r>
              <a:rPr sz="1400" b="1" i="0">
                <a:solidFill>
                  <a:srgbClr val="8A5A12"/>
                </a:solidFill>
                <a:latin typeface="微软雅黑"/>
                <a:ea typeface="微软雅黑"/>
                <a:cs typeface="微软雅黑"/>
              </a:rPr>
              <a:t>BLEU、METEOR、ROUGE-L、CIDEr</a:t>
            </a:r>
          </a:p>
        </p:txBody>
      </p:sp>
      <p:sp>
        <p:nvSpPr>
          <p:cNvPr id="14" name="TextBox 13"/>
          <p:cNvSpPr txBox="1"/>
          <p:nvPr/>
        </p:nvSpPr>
        <p:spPr>
          <a:xfrm>
            <a:off x="4443984" y="2252063"/>
            <a:ext cx="3337560" cy="201168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衡量生成句和参考答案的字面与语义重叠。长答案、开放评估上，这些分数通常偏低，要和 GPT 分数一起看。</a:t>
            </a:r>
          </a:p>
        </p:txBody>
      </p:sp>
      <p:sp>
        <p:nvSpPr>
          <p:cNvPr id="15" name="Rounded Rectangle 14"/>
          <p:cNvSpPr/>
          <p:nvPr/>
        </p:nvSpPr>
        <p:spPr>
          <a:xfrm>
            <a:off x="8119872" y="1143000"/>
            <a:ext cx="3657600" cy="2345436"/>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84464" y="1298448"/>
            <a:ext cx="3337560" cy="365760"/>
          </a:xfrm>
          <a:prstGeom prst="rect">
            <a:avLst/>
          </a:prstGeom>
          <a:noFill/>
        </p:spPr>
        <p:txBody>
          <a:bodyPr wrap="square" lIns="0" tIns="0" rIns="0" bIns="0" anchor="t"/>
          <a:lstStyle/>
          <a:p>
            <a:pPr algn="l">
              <a:spcBef>
                <a:spcPts val="0"/>
              </a:spcBef>
              <a:spcAft>
                <a:spcPts val="0"/>
              </a:spcAft>
            </a:pPr>
            <a:r>
              <a:rPr sz="1800" b="1" i="0">
                <a:solidFill>
                  <a:srgbClr val="0E4C57"/>
                </a:solidFill>
                <a:latin typeface="微软雅黑"/>
                <a:ea typeface="微软雅黑"/>
                <a:cs typeface="微软雅黑"/>
              </a:rPr>
              <a:t>分类指标</a:t>
            </a:r>
          </a:p>
        </p:txBody>
      </p:sp>
      <p:sp>
        <p:nvSpPr>
          <p:cNvPr id="17" name="TextBox 16"/>
          <p:cNvSpPr txBox="1"/>
          <p:nvPr/>
        </p:nvSpPr>
        <p:spPr>
          <a:xfrm>
            <a:off x="8284464" y="1737360"/>
            <a:ext cx="3337560" cy="640080"/>
          </a:xfrm>
          <a:prstGeom prst="rect">
            <a:avLst/>
          </a:prstGeom>
          <a:noFill/>
        </p:spPr>
        <p:txBody>
          <a:bodyPr wrap="square" lIns="0" tIns="0" rIns="0" bIns="0" anchor="t"/>
          <a:lstStyle/>
          <a:p>
            <a:pPr algn="l">
              <a:spcBef>
                <a:spcPts val="0"/>
              </a:spcBef>
              <a:spcAft>
                <a:spcPts val="0"/>
              </a:spcAft>
            </a:pPr>
            <a:r>
              <a:rPr sz="1400" b="1" i="0" dirty="0">
                <a:solidFill>
                  <a:srgbClr val="8A5A12"/>
                </a:solidFill>
                <a:latin typeface="微软雅黑"/>
                <a:ea typeface="微软雅黑"/>
                <a:cs typeface="微软雅黑"/>
              </a:rPr>
              <a:t>balanced Accuracy、F1，以及作答率</a:t>
            </a:r>
          </a:p>
        </p:txBody>
      </p:sp>
      <p:sp>
        <p:nvSpPr>
          <p:cNvPr id="18" name="TextBox 17"/>
          <p:cNvSpPr txBox="1"/>
          <p:nvPr/>
        </p:nvSpPr>
        <p:spPr>
          <a:xfrm>
            <a:off x="8284464" y="2252063"/>
            <a:ext cx="3337560" cy="2011680"/>
          </a:xfrm>
          <a:prstGeom prst="rect">
            <a:avLst/>
          </a:prstGeom>
          <a:noFill/>
        </p:spPr>
        <p:txBody>
          <a:bodyPr wrap="square" lIns="0" tIns="0" rIns="0" bIns="0" anchor="t"/>
          <a:lstStyle/>
          <a:p>
            <a:pPr algn="l">
              <a:spcBef>
                <a:spcPts val="0"/>
              </a:spcBef>
              <a:spcAft>
                <a:spcPts val="0"/>
              </a:spcAft>
            </a:pPr>
            <a:r>
              <a:rPr sz="1400" b="0" i="0" dirty="0" err="1">
                <a:solidFill>
                  <a:srgbClr val="1F2A30"/>
                </a:solidFill>
                <a:latin typeface="微软雅黑"/>
                <a:ea typeface="微软雅黑"/>
                <a:cs typeface="微软雅黑"/>
              </a:rPr>
              <a:t>能落成类别的题，先由</a:t>
            </a:r>
            <a:r>
              <a:rPr sz="1400" b="0" i="0" dirty="0">
                <a:solidFill>
                  <a:srgbClr val="1F2A30"/>
                </a:solidFill>
                <a:latin typeface="微软雅黑"/>
                <a:ea typeface="微软雅黑"/>
                <a:cs typeface="微软雅黑"/>
              </a:rPr>
              <a:t> LLM </a:t>
            </a:r>
            <a:r>
              <a:rPr sz="1400" b="0" i="0" dirty="0" err="1">
                <a:solidFill>
                  <a:srgbClr val="1F2A30"/>
                </a:solidFill>
                <a:latin typeface="微软雅黑"/>
                <a:ea typeface="微软雅黑"/>
                <a:cs typeface="微软雅黑"/>
              </a:rPr>
              <a:t>把自由文本转成标签再算。作答率单独报告：答得很满不等于答得对</a:t>
            </a:r>
            <a:r>
              <a:rPr sz="1400" b="0" i="0" dirty="0">
                <a:solidFill>
                  <a:srgbClr val="1F2A30"/>
                </a:solidFill>
                <a:latin typeface="微软雅黑"/>
                <a:ea typeface="微软雅黑"/>
                <a:cs typeface="微软雅黑"/>
              </a:rPr>
              <a:t>。</a:t>
            </a:r>
          </a:p>
        </p:txBody>
      </p:sp>
      <p:sp>
        <p:nvSpPr>
          <p:cNvPr id="19" name="TextBox 18"/>
          <p:cNvSpPr txBox="1"/>
          <p:nvPr/>
        </p:nvSpPr>
        <p:spPr>
          <a:xfrm>
            <a:off x="913410" y="3883419"/>
            <a:ext cx="4746396" cy="2135548"/>
          </a:xfrm>
          <a:prstGeom prst="rect">
            <a:avLst/>
          </a:prstGeom>
          <a:noFill/>
        </p:spPr>
        <p:txBody>
          <a:bodyPr wrap="square" lIns="0" tIns="0" rIns="0" bIns="0" anchor="t"/>
          <a:lstStyle/>
          <a:p>
            <a:pPr algn="l">
              <a:lnSpc>
                <a:spcPct val="150000"/>
              </a:lnSpc>
              <a:spcBef>
                <a:spcPts val="0"/>
              </a:spcBef>
              <a:spcAft>
                <a:spcPts val="0"/>
              </a:spcAft>
            </a:pPr>
            <a:r>
              <a:rPr lang="zh-CN" altLang="en-US" b="0" i="0" dirty="0">
                <a:solidFill>
                  <a:srgbClr val="5C6B73"/>
                </a:solidFill>
                <a:latin typeface="微软雅黑"/>
                <a:ea typeface="微软雅黑"/>
                <a:cs typeface="微软雅黑"/>
              </a:rPr>
              <a:t>用不同大模型当 </a:t>
            </a:r>
            <a:r>
              <a:rPr lang="en-US" b="0" i="0" dirty="0">
                <a:solidFill>
                  <a:srgbClr val="5C6B73"/>
                </a:solidFill>
                <a:latin typeface="微软雅黑"/>
                <a:ea typeface="微软雅黑"/>
                <a:cs typeface="微软雅黑"/>
              </a:rPr>
              <a:t>Judge（</a:t>
            </a:r>
            <a:r>
              <a:rPr lang="zh-CN" altLang="en-US" b="0" i="0" dirty="0">
                <a:solidFill>
                  <a:srgbClr val="5C6B73"/>
                </a:solidFill>
                <a:latin typeface="微软雅黑"/>
                <a:ea typeface="微软雅黑"/>
                <a:cs typeface="微软雅黑"/>
              </a:rPr>
              <a:t>裁判）</a:t>
            </a:r>
            <a:endParaRPr lang="en-US" altLang="zh-CN" b="0" i="0" dirty="0">
              <a:solidFill>
                <a:srgbClr val="5C6B73"/>
              </a:solidFill>
              <a:latin typeface="微软雅黑"/>
              <a:ea typeface="微软雅黑"/>
              <a:cs typeface="微软雅黑"/>
            </a:endParaRPr>
          </a:p>
          <a:p>
            <a:pPr algn="l">
              <a:lnSpc>
                <a:spcPct val="150000"/>
              </a:lnSpc>
              <a:spcBef>
                <a:spcPts val="0"/>
              </a:spcBef>
              <a:spcAft>
                <a:spcPts val="0"/>
              </a:spcAft>
            </a:pPr>
            <a:r>
              <a:rPr lang="zh-CN" altLang="en-US" b="0" i="0" dirty="0">
                <a:solidFill>
                  <a:srgbClr val="5C6B73"/>
                </a:solidFill>
                <a:latin typeface="微软雅黑"/>
                <a:ea typeface="微软雅黑"/>
                <a:cs typeface="微软雅黑"/>
              </a:rPr>
              <a:t>得到的模型性能排名是不是稳定一致</a:t>
            </a:r>
            <a:endParaRPr lang="en-US" altLang="zh-CN" b="0" i="0" dirty="0">
              <a:solidFill>
                <a:srgbClr val="5C6B73"/>
              </a:solidFill>
              <a:latin typeface="微软雅黑"/>
              <a:ea typeface="微软雅黑"/>
              <a:cs typeface="微软雅黑"/>
            </a:endParaRPr>
          </a:p>
          <a:p>
            <a:pPr>
              <a:lnSpc>
                <a:spcPct val="150000"/>
              </a:lnSpc>
            </a:pPr>
            <a:r>
              <a:rPr lang="zh-CN" altLang="en-US" dirty="0">
                <a:solidFill>
                  <a:srgbClr val="5C6B73"/>
                </a:solidFill>
                <a:latin typeface="微软雅黑"/>
                <a:ea typeface="微软雅黑"/>
                <a:cs typeface="微软雅黑"/>
              </a:rPr>
              <a:t>主 </a:t>
            </a:r>
            <a:r>
              <a:rPr lang="en-US" altLang="zh-CN" dirty="0">
                <a:solidFill>
                  <a:srgbClr val="5C6B73"/>
                </a:solidFill>
                <a:latin typeface="微软雅黑"/>
                <a:ea typeface="微软雅黑"/>
                <a:cs typeface="微软雅黑"/>
              </a:rPr>
              <a:t>judge : </a:t>
            </a:r>
            <a:r>
              <a:rPr lang="en-US" b="0" i="0" dirty="0">
                <a:solidFill>
                  <a:srgbClr val="5C6B73"/>
                </a:solidFill>
                <a:latin typeface="微软雅黑"/>
                <a:ea typeface="微软雅黑"/>
                <a:cs typeface="微软雅黑"/>
              </a:rPr>
              <a:t>gpt-oss-120b</a:t>
            </a:r>
          </a:p>
          <a:p>
            <a:pPr>
              <a:lnSpc>
                <a:spcPct val="150000"/>
              </a:lnSpc>
            </a:pPr>
            <a:r>
              <a:rPr lang="zh-CN" altLang="en-US" b="0" i="0" dirty="0">
                <a:solidFill>
                  <a:srgbClr val="5C6B73"/>
                </a:solidFill>
                <a:latin typeface="微软雅黑"/>
                <a:ea typeface="微软雅黑"/>
                <a:cs typeface="微软雅黑"/>
              </a:rPr>
              <a:t>其它</a:t>
            </a:r>
            <a:r>
              <a:rPr lang="en-US" altLang="zh-CN" b="0" i="0" dirty="0">
                <a:solidFill>
                  <a:srgbClr val="5C6B73"/>
                </a:solidFill>
                <a:latin typeface="微软雅黑"/>
                <a:ea typeface="微软雅黑"/>
                <a:cs typeface="微软雅黑"/>
              </a:rPr>
              <a:t>judge</a:t>
            </a:r>
            <a:r>
              <a:rPr lang="zh-CN" altLang="en-US" b="0" i="0" dirty="0">
                <a:solidFill>
                  <a:srgbClr val="5C6B73"/>
                </a:solidFill>
                <a:latin typeface="微软雅黑"/>
                <a:ea typeface="微软雅黑"/>
                <a:cs typeface="微软雅黑"/>
              </a:rPr>
              <a:t>：</a:t>
            </a:r>
            <a:r>
              <a:rPr lang="en-US" altLang="zh-CN" b="0" i="0" dirty="0">
                <a:solidFill>
                  <a:srgbClr val="5C6B73"/>
                </a:solidFill>
                <a:latin typeface="微软雅黑"/>
                <a:ea typeface="微软雅黑"/>
                <a:cs typeface="微软雅黑"/>
              </a:rPr>
              <a:t>GPT5.1</a:t>
            </a:r>
            <a:r>
              <a:rPr lang="zh-CN" altLang="en-US" b="0" i="0" dirty="0">
                <a:solidFill>
                  <a:srgbClr val="5C6B73"/>
                </a:solidFill>
                <a:latin typeface="微软雅黑"/>
                <a:ea typeface="微软雅黑"/>
                <a:cs typeface="微软雅黑"/>
              </a:rPr>
              <a:t>、</a:t>
            </a:r>
            <a:r>
              <a:rPr lang="en-US" altLang="zh-CN" b="0" i="0" dirty="0">
                <a:solidFill>
                  <a:srgbClr val="5C6B73"/>
                </a:solidFill>
                <a:latin typeface="微软雅黑"/>
                <a:ea typeface="微软雅黑"/>
                <a:cs typeface="微软雅黑"/>
              </a:rPr>
              <a:t>Gemini2.5-Pro</a:t>
            </a:r>
            <a:r>
              <a:rPr lang="zh-CN" altLang="en-US" b="0" i="0" dirty="0">
                <a:solidFill>
                  <a:srgbClr val="5C6B73"/>
                </a:solidFill>
                <a:latin typeface="微软雅黑"/>
                <a:ea typeface="微软雅黑"/>
                <a:cs typeface="微软雅黑"/>
              </a:rPr>
              <a:t>、</a:t>
            </a:r>
            <a:r>
              <a:rPr lang="en-US" altLang="zh-CN" b="0" i="0" dirty="0" err="1">
                <a:solidFill>
                  <a:srgbClr val="5C6B73"/>
                </a:solidFill>
                <a:latin typeface="微软雅黑"/>
                <a:ea typeface="微软雅黑"/>
                <a:cs typeface="微软雅黑"/>
              </a:rPr>
              <a:t>Mixtral</a:t>
            </a:r>
            <a:r>
              <a:rPr lang="zh-CN" altLang="en-US" b="0" i="0" dirty="0">
                <a:solidFill>
                  <a:srgbClr val="5C6B73"/>
                </a:solidFill>
                <a:latin typeface="微软雅黑"/>
                <a:ea typeface="微软雅黑"/>
                <a:cs typeface="微软雅黑"/>
              </a:rPr>
              <a:t>、</a:t>
            </a:r>
            <a:r>
              <a:rPr lang="en-US" altLang="zh-CN" b="0" i="0" dirty="0">
                <a:solidFill>
                  <a:srgbClr val="5C6B73"/>
                </a:solidFill>
                <a:latin typeface="微软雅黑"/>
                <a:ea typeface="微软雅黑"/>
                <a:cs typeface="微软雅黑"/>
              </a:rPr>
              <a:t>DeepSeek-V3</a:t>
            </a:r>
            <a:endParaRPr lang="en-US" b="0" i="0" dirty="0">
              <a:solidFill>
                <a:srgbClr val="5C6B73"/>
              </a:solidFill>
              <a:latin typeface="微软雅黑"/>
              <a:ea typeface="微软雅黑"/>
              <a:cs typeface="微软雅黑"/>
            </a:endParaRPr>
          </a:p>
        </p:txBody>
      </p:sp>
      <p:sp>
        <p:nvSpPr>
          <p:cNvPr id="20" name="Rectangle 19"/>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2" name="TextBox 21"/>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3" name="TextBox 22"/>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13  /  26</a:t>
            </a:r>
          </a:p>
        </p:txBody>
      </p:sp>
      <p:pic>
        <p:nvPicPr>
          <p:cNvPr id="25" name="图片 24">
            <a:extLst>
              <a:ext uri="{FF2B5EF4-FFF2-40B4-BE49-F238E27FC236}">
                <a16:creationId xmlns:a16="http://schemas.microsoft.com/office/drawing/2014/main" id="{4DFF76A1-3576-48F3-012F-1F322F55B35E}"/>
              </a:ext>
            </a:extLst>
          </p:cNvPr>
          <p:cNvPicPr>
            <a:picLocks noChangeAspect="1"/>
          </p:cNvPicPr>
          <p:nvPr/>
        </p:nvPicPr>
        <p:blipFill>
          <a:blip r:embed="rId2"/>
          <a:stretch>
            <a:fillRect/>
          </a:stretch>
        </p:blipFill>
        <p:spPr>
          <a:xfrm>
            <a:off x="5486051" y="3993995"/>
            <a:ext cx="5951377" cy="17311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dirty="0">
                <a:solidFill>
                  <a:srgbClr val="1B3A4B"/>
                </a:solidFill>
                <a:latin typeface="微软雅黑"/>
                <a:ea typeface="微软雅黑"/>
                <a:cs typeface="微软雅黑"/>
              </a:rPr>
              <a:t>Results</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38912" y="1143000"/>
          <a:ext cx="7589520" cy="320040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533400">
                <a:tc>
                  <a:txBody>
                    <a:bodyPr/>
                    <a:lstStyle/>
                    <a:p>
                      <a:pPr algn="ctr"/>
                      <a:r>
                        <a:rPr sz="1300" b="1" i="0">
                          <a:solidFill>
                            <a:srgbClr val="FFFFFF"/>
                          </a:solidFill>
                          <a:latin typeface="微软雅黑"/>
                          <a:ea typeface="微软雅黑"/>
                          <a:cs typeface="微软雅黑"/>
                        </a:rPr>
                        <a:t>模型</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正确性</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相关性</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语言质量</a:t>
                      </a:r>
                    </a:p>
                  </a:txBody>
                  <a:tcPr marL="54864" marR="54864" marT="36576" marB="36576" anchor="ctr">
                    <a:solidFill>
                      <a:srgbClr val="1B3A4B"/>
                    </a:solidFill>
                  </a:tcPr>
                </a:tc>
                <a:extLst>
                  <a:ext uri="{0D108BD9-81ED-4DB2-BD59-A6C34878D82A}">
                    <a16:rowId xmlns:a16="http://schemas.microsoft.com/office/drawing/2014/main" val="10000"/>
                  </a:ext>
                </a:extLst>
              </a:tr>
              <a:tr h="533400">
                <a:tc>
                  <a:txBody>
                    <a:bodyPr/>
                    <a:lstStyle/>
                    <a:p>
                      <a:pPr algn="ctr"/>
                      <a:r>
                        <a:rPr sz="1300" b="1" i="0">
                          <a:solidFill>
                            <a:srgbClr val="1F2A30"/>
                          </a:solidFill>
                          <a:latin typeface="微软雅黑"/>
                          <a:ea typeface="微软雅黑"/>
                          <a:cs typeface="微软雅黑"/>
                        </a:rPr>
                        <a:t>VideoGPT+  零样本</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36.7</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48.2</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46.6</a:t>
                      </a:r>
                    </a:p>
                  </a:txBody>
                  <a:tcPr marL="54864" marR="54864" marT="36576" marB="36576" anchor="ctr">
                    <a:solidFill>
                      <a:srgbClr val="FFFFFF"/>
                    </a:solidFill>
                  </a:tcPr>
                </a:tc>
                <a:extLst>
                  <a:ext uri="{0D108BD9-81ED-4DB2-BD59-A6C34878D82A}">
                    <a16:rowId xmlns:a16="http://schemas.microsoft.com/office/drawing/2014/main" val="10001"/>
                  </a:ext>
                </a:extLst>
              </a:tr>
              <a:tr h="533400">
                <a:tc>
                  <a:txBody>
                    <a:bodyPr/>
                    <a:lstStyle/>
                    <a:p>
                      <a:pPr algn="ctr"/>
                      <a:r>
                        <a:rPr sz="1300" b="1" i="0">
                          <a:solidFill>
                            <a:srgbClr val="1F2A30"/>
                          </a:solidFill>
                          <a:latin typeface="微软雅黑"/>
                          <a:ea typeface="微软雅黑"/>
                          <a:cs typeface="微软雅黑"/>
                        </a:rPr>
                        <a:t>Gemini-3.1-Pro  零样本</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33.6</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51.6</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51.9</a:t>
                      </a:r>
                    </a:p>
                  </a:txBody>
                  <a:tcPr marL="54864" marR="54864" marT="36576" marB="36576" anchor="ctr">
                    <a:solidFill>
                      <a:srgbClr val="F4F8F8"/>
                    </a:solidFill>
                  </a:tcPr>
                </a:tc>
                <a:extLst>
                  <a:ext uri="{0D108BD9-81ED-4DB2-BD59-A6C34878D82A}">
                    <a16:rowId xmlns:a16="http://schemas.microsoft.com/office/drawing/2014/main" val="10002"/>
                  </a:ext>
                </a:extLst>
              </a:tr>
              <a:tr h="533400">
                <a:tc>
                  <a:txBody>
                    <a:bodyPr/>
                    <a:lstStyle/>
                    <a:p>
                      <a:pPr algn="ctr"/>
                      <a:r>
                        <a:rPr sz="1300" b="1" i="0">
                          <a:solidFill>
                            <a:srgbClr val="1F2A30"/>
                          </a:solidFill>
                          <a:latin typeface="微软雅黑"/>
                          <a:ea typeface="微软雅黑"/>
                          <a:cs typeface="微软雅黑"/>
                        </a:rPr>
                        <a:t>Qwen3-VL-ft</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61.8</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70.5</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69.1</a:t>
                      </a:r>
                    </a:p>
                  </a:txBody>
                  <a:tcPr marL="54864" marR="54864" marT="36576" marB="36576" anchor="ctr">
                    <a:solidFill>
                      <a:srgbClr val="FFFFFF"/>
                    </a:solidFill>
                  </a:tcPr>
                </a:tc>
                <a:extLst>
                  <a:ext uri="{0D108BD9-81ED-4DB2-BD59-A6C34878D82A}">
                    <a16:rowId xmlns:a16="http://schemas.microsoft.com/office/drawing/2014/main" val="10003"/>
                  </a:ext>
                </a:extLst>
              </a:tr>
              <a:tr h="533400">
                <a:tc>
                  <a:txBody>
                    <a:bodyPr/>
                    <a:lstStyle/>
                    <a:p>
                      <a:pPr algn="ctr"/>
                      <a:r>
                        <a:rPr sz="1300" b="1" i="0">
                          <a:solidFill>
                            <a:srgbClr val="1F2A30"/>
                          </a:solidFill>
                          <a:latin typeface="微软雅黑"/>
                          <a:ea typeface="微软雅黑"/>
                          <a:cs typeface="微软雅黑"/>
                        </a:rPr>
                        <a:t>VideoGPT+-ft</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64.0</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73.6</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71.7</a:t>
                      </a:r>
                    </a:p>
                  </a:txBody>
                  <a:tcPr marL="54864" marR="54864" marT="36576" marB="36576" anchor="ctr">
                    <a:solidFill>
                      <a:srgbClr val="F4F8F8"/>
                    </a:solidFill>
                  </a:tcPr>
                </a:tc>
                <a:extLst>
                  <a:ext uri="{0D108BD9-81ED-4DB2-BD59-A6C34878D82A}">
                    <a16:rowId xmlns:a16="http://schemas.microsoft.com/office/drawing/2014/main" val="10004"/>
                  </a:ext>
                </a:extLst>
              </a:tr>
              <a:tr h="533400">
                <a:tc>
                  <a:txBody>
                    <a:bodyPr/>
                    <a:lstStyle/>
                    <a:p>
                      <a:pPr algn="ctr"/>
                      <a:r>
                        <a:rPr sz="1300" b="1" i="0">
                          <a:solidFill>
                            <a:srgbClr val="1B3A4B"/>
                          </a:solidFill>
                          <a:latin typeface="微软雅黑"/>
                          <a:ea typeface="微软雅黑"/>
                          <a:cs typeface="微软雅黑"/>
                        </a:rPr>
                        <a:t>SurgTEMP</a:t>
                      </a:r>
                    </a:p>
                  </a:txBody>
                  <a:tcPr marL="54864" marR="54864" marT="36576" marB="36576" anchor="ctr">
                    <a:solidFill>
                      <a:srgbClr val="FFFFFF"/>
                    </a:solidFill>
                  </a:tcPr>
                </a:tc>
                <a:tc>
                  <a:txBody>
                    <a:bodyPr/>
                    <a:lstStyle/>
                    <a:p>
                      <a:pPr algn="ctr"/>
                      <a:r>
                        <a:rPr sz="1300" b="1" i="0">
                          <a:solidFill>
                            <a:srgbClr val="1B3A4B"/>
                          </a:solidFill>
                          <a:latin typeface="微软雅黑"/>
                          <a:ea typeface="微软雅黑"/>
                          <a:cs typeface="微软雅黑"/>
                        </a:rPr>
                        <a:t>71.6</a:t>
                      </a:r>
                    </a:p>
                  </a:txBody>
                  <a:tcPr marL="54864" marR="54864" marT="36576" marB="36576" anchor="ctr">
                    <a:solidFill>
                      <a:srgbClr val="FFFFFF"/>
                    </a:solidFill>
                  </a:tcPr>
                </a:tc>
                <a:tc>
                  <a:txBody>
                    <a:bodyPr/>
                    <a:lstStyle/>
                    <a:p>
                      <a:pPr algn="ctr"/>
                      <a:r>
                        <a:rPr sz="1300" b="1" i="0">
                          <a:solidFill>
                            <a:srgbClr val="1B3A4B"/>
                          </a:solidFill>
                          <a:latin typeface="微软雅黑"/>
                          <a:ea typeface="微软雅黑"/>
                          <a:cs typeface="微软雅黑"/>
                        </a:rPr>
                        <a:t>81.8</a:t>
                      </a:r>
                    </a:p>
                  </a:txBody>
                  <a:tcPr marL="54864" marR="54864" marT="36576" marB="36576" anchor="ctr">
                    <a:solidFill>
                      <a:srgbClr val="FFFFFF"/>
                    </a:solidFill>
                  </a:tcPr>
                </a:tc>
                <a:tc>
                  <a:txBody>
                    <a:bodyPr/>
                    <a:lstStyle/>
                    <a:p>
                      <a:pPr algn="ctr"/>
                      <a:r>
                        <a:rPr sz="1300" b="1" i="0">
                          <a:solidFill>
                            <a:srgbClr val="1B3A4B"/>
                          </a:solidFill>
                          <a:latin typeface="微软雅黑"/>
                          <a:ea typeface="微软雅黑"/>
                          <a:cs typeface="微软雅黑"/>
                        </a:rPr>
                        <a:t>79.0</a:t>
                      </a:r>
                    </a:p>
                  </a:txBody>
                  <a:tcPr marL="54864" marR="54864"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8229600" y="1143000"/>
            <a:ext cx="3520440" cy="3200400"/>
          </a:xfrm>
          <a:prstGeom prst="roundRect">
            <a:avLst>
              <a:gd name="adj" fmla="val 8000"/>
            </a:avLst>
          </a:prstGeom>
          <a:solidFill>
            <a:srgbClr val="FBF3E4"/>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1472184"/>
            <a:ext cx="3200400" cy="2596896"/>
          </a:xfrm>
          <a:prstGeom prst="rect">
            <a:avLst/>
          </a:prstGeom>
          <a:noFill/>
        </p:spPr>
        <p:txBody>
          <a:bodyPr wrap="square" lIns="0" tIns="0" rIns="0" bIns="0" anchor="t"/>
          <a:lstStyle/>
          <a:p>
            <a:pPr algn="l">
              <a:lnSpc>
                <a:spcPct val="150000"/>
              </a:lnSpc>
              <a:spcBef>
                <a:spcPts val="0"/>
              </a:spcBef>
              <a:spcAft>
                <a:spcPts val="0"/>
              </a:spcAft>
            </a:pPr>
            <a:r>
              <a:rPr b="0" i="0" dirty="0" err="1">
                <a:solidFill>
                  <a:srgbClr val="1F2A30"/>
                </a:solidFill>
                <a:latin typeface="微软雅黑"/>
                <a:ea typeface="微软雅黑"/>
                <a:cs typeface="微软雅黑"/>
              </a:rPr>
              <a:t>零样本正确性约</a:t>
            </a:r>
            <a:r>
              <a:rPr b="0" i="0" dirty="0">
                <a:solidFill>
                  <a:srgbClr val="1F2A30"/>
                </a:solidFill>
                <a:latin typeface="微软雅黑"/>
                <a:ea typeface="微软雅黑"/>
                <a:cs typeface="微软雅黑"/>
              </a:rPr>
              <a:t> 30 分。
</a:t>
            </a:r>
            <a:r>
              <a:rPr b="0" i="0" dirty="0" err="1">
                <a:solidFill>
                  <a:srgbClr val="1F2A30"/>
                </a:solidFill>
                <a:latin typeface="微软雅黑"/>
                <a:ea typeface="微软雅黑"/>
                <a:cs typeface="微软雅黑"/>
              </a:rPr>
              <a:t>同一数据微调后到</a:t>
            </a:r>
            <a:r>
              <a:rPr b="0" i="0" dirty="0">
                <a:solidFill>
                  <a:srgbClr val="1F2A30"/>
                </a:solidFill>
                <a:latin typeface="微软雅黑"/>
                <a:ea typeface="微软雅黑"/>
                <a:cs typeface="微软雅黑"/>
              </a:rPr>
              <a:t> 60 </a:t>
            </a:r>
            <a:r>
              <a:rPr b="0" i="0" dirty="0" err="1">
                <a:solidFill>
                  <a:srgbClr val="1F2A30"/>
                </a:solidFill>
                <a:latin typeface="微软雅黑"/>
                <a:ea typeface="微软雅黑"/>
                <a:cs typeface="微软雅黑"/>
              </a:rPr>
              <a:t>分出头。领域适应是第一</a:t>
            </a:r>
            <a:r>
              <a:rPr lang="zh-CN" altLang="en-US" dirty="0">
                <a:solidFill>
                  <a:srgbClr val="1F2A30"/>
                </a:solidFill>
                <a:latin typeface="微软雅黑"/>
                <a:ea typeface="微软雅黑"/>
                <a:cs typeface="微软雅黑"/>
              </a:rPr>
              <a:t>转折点</a:t>
            </a:r>
            <a:r>
              <a:rPr b="0" i="0" dirty="0">
                <a:solidFill>
                  <a:srgbClr val="1F2A30"/>
                </a:solidFill>
                <a:latin typeface="微软雅黑"/>
                <a:ea typeface="微软雅黑"/>
                <a:cs typeface="微软雅黑"/>
              </a:rPr>
              <a:t>。
</a:t>
            </a:r>
            <a:r>
              <a:rPr b="0" i="0" dirty="0" err="1">
                <a:solidFill>
                  <a:srgbClr val="1F2A30"/>
                </a:solidFill>
                <a:latin typeface="微软雅黑"/>
                <a:ea typeface="微软雅黑"/>
                <a:cs typeface="微软雅黑"/>
              </a:rPr>
              <a:t>SurgTEMP</a:t>
            </a:r>
            <a:r>
              <a:rPr b="0" i="0" dirty="0">
                <a:solidFill>
                  <a:srgbClr val="1F2A30"/>
                </a:solidFill>
                <a:latin typeface="微软雅黑"/>
                <a:ea typeface="微软雅黑"/>
                <a:cs typeface="微软雅黑"/>
              </a:rPr>
              <a:t> </a:t>
            </a:r>
            <a:r>
              <a:rPr b="0" i="0" dirty="0" err="1">
                <a:solidFill>
                  <a:srgbClr val="1F2A30"/>
                </a:solidFill>
                <a:latin typeface="微软雅黑"/>
                <a:ea typeface="微软雅黑"/>
                <a:cs typeface="微软雅黑"/>
              </a:rPr>
              <a:t>再高约</a:t>
            </a:r>
            <a:r>
              <a:rPr b="0" i="0" dirty="0">
                <a:solidFill>
                  <a:srgbClr val="1F2A30"/>
                </a:solidFill>
                <a:latin typeface="微软雅黑"/>
                <a:ea typeface="微软雅黑"/>
                <a:cs typeface="微软雅黑"/>
              </a:rPr>
              <a:t> 7.6 分，
</a:t>
            </a:r>
            <a:r>
              <a:rPr b="0" i="0" dirty="0" err="1">
                <a:solidFill>
                  <a:srgbClr val="1F2A30"/>
                </a:solidFill>
                <a:latin typeface="微软雅黑"/>
                <a:ea typeface="微软雅黑"/>
                <a:cs typeface="微软雅黑"/>
              </a:rPr>
              <a:t>实际送入模型的帧更少</a:t>
            </a:r>
            <a:r>
              <a:rPr b="0" i="0" dirty="0">
                <a:solidFill>
                  <a:srgbClr val="1F2A30"/>
                </a:solidFill>
                <a:latin typeface="微软雅黑"/>
                <a:ea typeface="微软雅黑"/>
                <a:cs typeface="微软雅黑"/>
              </a:rPr>
              <a:t>。</a:t>
            </a:r>
          </a:p>
        </p:txBody>
      </p:sp>
      <p:sp>
        <p:nvSpPr>
          <p:cNvPr id="11" name="TextBox 10"/>
          <p:cNvSpPr txBox="1"/>
          <p:nvPr/>
        </p:nvSpPr>
        <p:spPr>
          <a:xfrm>
            <a:off x="438912" y="4572000"/>
            <a:ext cx="11247120" cy="1645920"/>
          </a:xfrm>
          <a:prstGeom prst="rect">
            <a:avLst/>
          </a:prstGeom>
          <a:noFill/>
        </p:spPr>
        <p:txBody>
          <a:bodyPr wrap="square" lIns="0" tIns="0" rIns="0" bIns="0" anchor="t"/>
          <a:lstStyle/>
          <a:p>
            <a:pPr algn="l">
              <a:lnSpc>
                <a:spcPct val="150000"/>
              </a:lnSpc>
              <a:spcBef>
                <a:spcPts val="0"/>
              </a:spcBef>
              <a:spcAft>
                <a:spcPts val="0"/>
              </a:spcAft>
            </a:pPr>
            <a:r>
              <a:rPr b="0" i="0" dirty="0" err="1">
                <a:solidFill>
                  <a:srgbClr val="1F2A30"/>
                </a:solidFill>
                <a:latin typeface="微软雅黑"/>
                <a:ea typeface="微软雅黑"/>
                <a:cs typeface="微软雅黑"/>
              </a:rPr>
              <a:t>零样本里作答率和准确率可以分离</a:t>
            </a:r>
            <a:r>
              <a:rPr b="0" i="0" dirty="0">
                <a:solidFill>
                  <a:srgbClr val="1F2A30"/>
                </a:solidFill>
                <a:latin typeface="微软雅黑"/>
                <a:ea typeface="微软雅黑"/>
                <a:cs typeface="微软雅黑"/>
              </a:rPr>
              <a:t>：</a:t>
            </a:r>
            <a:endParaRPr lang="en-US" b="0" i="0" dirty="0">
              <a:solidFill>
                <a:srgbClr val="1F2A30"/>
              </a:solidFill>
              <a:latin typeface="微软雅黑"/>
              <a:ea typeface="微软雅黑"/>
              <a:cs typeface="微软雅黑"/>
            </a:endParaRPr>
          </a:p>
          <a:p>
            <a:pPr algn="l">
              <a:lnSpc>
                <a:spcPct val="150000"/>
              </a:lnSpc>
              <a:spcBef>
                <a:spcPts val="0"/>
              </a:spcBef>
              <a:spcAft>
                <a:spcPts val="0"/>
              </a:spcAft>
            </a:pPr>
            <a:r>
              <a:rPr b="0" i="0" dirty="0">
                <a:solidFill>
                  <a:srgbClr val="1F2A30"/>
                </a:solidFill>
                <a:latin typeface="微软雅黑"/>
                <a:ea typeface="微软雅黑"/>
                <a:cs typeface="微软雅黑"/>
              </a:rPr>
              <a:t>mPLUG-Owl3 的 balanced Accuracy </a:t>
            </a:r>
            <a:r>
              <a:rPr b="0" i="0" dirty="0" err="1">
                <a:solidFill>
                  <a:srgbClr val="1F2A30"/>
                </a:solidFill>
                <a:latin typeface="微软雅黑"/>
                <a:ea typeface="微软雅黑"/>
                <a:cs typeface="微软雅黑"/>
              </a:rPr>
              <a:t>作答率约</a:t>
            </a:r>
            <a:r>
              <a:rPr b="0" i="0" dirty="0">
                <a:solidFill>
                  <a:srgbClr val="1F2A30"/>
                </a:solidFill>
                <a:latin typeface="微软雅黑"/>
                <a:ea typeface="微软雅黑"/>
                <a:cs typeface="微软雅黑"/>
              </a:rPr>
              <a:t> 95%，</a:t>
            </a:r>
            <a:r>
              <a:rPr b="0" i="0" dirty="0" err="1">
                <a:solidFill>
                  <a:srgbClr val="1F2A30"/>
                </a:solidFill>
                <a:latin typeface="微软雅黑"/>
                <a:ea typeface="微软雅黑"/>
                <a:cs typeface="微软雅黑"/>
              </a:rPr>
              <a:t>分数仍然只有</a:t>
            </a:r>
            <a:r>
              <a:rPr b="0" i="0" dirty="0">
                <a:solidFill>
                  <a:srgbClr val="1F2A30"/>
                </a:solidFill>
                <a:latin typeface="微软雅黑"/>
                <a:ea typeface="微软雅黑"/>
                <a:cs typeface="微软雅黑"/>
              </a:rPr>
              <a:t> 32。模型会答，但不会用临床标准。</a:t>
            </a:r>
            <a:endParaRPr lang="en-US" b="0" i="0" dirty="0">
              <a:solidFill>
                <a:srgbClr val="1F2A30"/>
              </a:solidFill>
              <a:latin typeface="微软雅黑"/>
              <a:ea typeface="微软雅黑"/>
              <a:cs typeface="微软雅黑"/>
            </a:endParaRPr>
          </a:p>
          <a:p>
            <a:pPr algn="l">
              <a:lnSpc>
                <a:spcPct val="150000"/>
              </a:lnSpc>
              <a:spcBef>
                <a:spcPts val="0"/>
              </a:spcBef>
              <a:spcAft>
                <a:spcPts val="0"/>
              </a:spcAft>
            </a:pPr>
            <a:r>
              <a:rPr b="0" i="0" dirty="0" err="1">
                <a:solidFill>
                  <a:srgbClr val="1F2A30"/>
                </a:solidFill>
                <a:latin typeface="微软雅黑"/>
                <a:ea typeface="微软雅黑"/>
                <a:cs typeface="微软雅黑"/>
              </a:rPr>
              <a:t>SurgTEMP</a:t>
            </a:r>
            <a:r>
              <a:rPr b="0" i="0" dirty="0">
                <a:solidFill>
                  <a:srgbClr val="1F2A30"/>
                </a:solidFill>
                <a:latin typeface="微软雅黑"/>
                <a:ea typeface="微软雅黑"/>
                <a:cs typeface="微软雅黑"/>
              </a:rPr>
              <a:t> </a:t>
            </a:r>
            <a:r>
              <a:rPr b="0" i="0" dirty="0" err="1">
                <a:solidFill>
                  <a:srgbClr val="1F2A30"/>
                </a:solidFill>
                <a:latin typeface="微软雅黑"/>
                <a:ea typeface="微软雅黑"/>
                <a:cs typeface="微软雅黑"/>
              </a:rPr>
              <a:t>的分类作答率到</a:t>
            </a:r>
            <a:r>
              <a:rPr b="0" i="0" dirty="0">
                <a:solidFill>
                  <a:srgbClr val="1F2A30"/>
                </a:solidFill>
                <a:latin typeface="微软雅黑"/>
                <a:ea typeface="微软雅黑"/>
                <a:cs typeface="微软雅黑"/>
              </a:rPr>
              <a:t> 100%，</a:t>
            </a:r>
            <a:r>
              <a:rPr b="0" i="0" dirty="0" err="1">
                <a:solidFill>
                  <a:srgbClr val="1F2A30"/>
                </a:solidFill>
                <a:latin typeface="微软雅黑"/>
                <a:ea typeface="微软雅黑"/>
                <a:cs typeface="微软雅黑"/>
              </a:rPr>
              <a:t>作者把“不会拒答”列为后续安全问题</a:t>
            </a:r>
            <a:r>
              <a:rPr b="0" i="0" dirty="0">
                <a:solidFill>
                  <a:srgbClr val="1F2A30"/>
                </a:solidFill>
                <a:latin typeface="微软雅黑"/>
                <a:ea typeface="微软雅黑"/>
                <a:cs typeface="微软雅黑"/>
              </a:rPr>
              <a:t>。</a:t>
            </a:r>
          </a:p>
        </p:txBody>
      </p:sp>
      <p:sp>
        <p:nvSpPr>
          <p:cNvPr id="12" name="Rectangle 11"/>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4" name="TextBox 13"/>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5" name="TextBox 14"/>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14  /  26</a:t>
            </a:r>
          </a:p>
        </p:txBody>
      </p:sp>
      <p:pic>
        <p:nvPicPr>
          <p:cNvPr id="17" name="图片 16">
            <a:extLst>
              <a:ext uri="{FF2B5EF4-FFF2-40B4-BE49-F238E27FC236}">
                <a16:creationId xmlns:a16="http://schemas.microsoft.com/office/drawing/2014/main" id="{46A21FEA-499A-23FB-133F-C624AD5E983E}"/>
              </a:ext>
            </a:extLst>
          </p:cNvPr>
          <p:cNvPicPr>
            <a:picLocks noChangeAspect="1"/>
          </p:cNvPicPr>
          <p:nvPr/>
        </p:nvPicPr>
        <p:blipFill>
          <a:blip r:embed="rId3"/>
          <a:stretch>
            <a:fillRect/>
          </a:stretch>
        </p:blipFill>
        <p:spPr>
          <a:xfrm>
            <a:off x="0" y="66871"/>
            <a:ext cx="12192000" cy="672425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64A5A-B762-F7B8-E833-265C86C6701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5126161-9359-3994-35A4-B3986A9A9C8E}"/>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822B861-79FA-15F3-8C2E-0AFC2DC243FD}"/>
              </a:ext>
            </a:extLst>
          </p:cNvPr>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715F606-9EB7-C56B-46C7-5336539E693F}"/>
              </a:ext>
            </a:extLst>
          </p:cNvPr>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dirty="0">
                <a:solidFill>
                  <a:srgbClr val="1B3A4B"/>
                </a:solidFill>
                <a:latin typeface="微软雅黑"/>
                <a:ea typeface="微软雅黑"/>
                <a:cs typeface="微软雅黑"/>
              </a:rPr>
              <a:t>Results</a:t>
            </a:r>
          </a:p>
        </p:txBody>
      </p:sp>
      <p:sp>
        <p:nvSpPr>
          <p:cNvPr id="6" name="Rectangle 5">
            <a:extLst>
              <a:ext uri="{FF2B5EF4-FFF2-40B4-BE49-F238E27FC236}">
                <a16:creationId xmlns:a16="http://schemas.microsoft.com/office/drawing/2014/main" id="{73DE99E6-84E2-49A0-396F-C68645A0D52F}"/>
              </a:ext>
            </a:extLst>
          </p:cNvPr>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a:extLst>
              <a:ext uri="{FF2B5EF4-FFF2-40B4-BE49-F238E27FC236}">
                <a16:creationId xmlns:a16="http://schemas.microsoft.com/office/drawing/2014/main" id="{9E3AAC7B-9BD3-2DC5-959C-DB5C26F3DECC}"/>
              </a:ext>
            </a:extLst>
          </p:cNvPr>
          <p:cNvGraphicFramePr>
            <a:graphicFrameLocks noGrp="1"/>
          </p:cNvGraphicFramePr>
          <p:nvPr/>
        </p:nvGraphicFramePr>
        <p:xfrm>
          <a:off x="438912" y="1143000"/>
          <a:ext cx="7589520" cy="320040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533400">
                <a:tc>
                  <a:txBody>
                    <a:bodyPr/>
                    <a:lstStyle/>
                    <a:p>
                      <a:pPr algn="ctr"/>
                      <a:r>
                        <a:rPr sz="1300" b="1" i="0">
                          <a:solidFill>
                            <a:srgbClr val="FFFFFF"/>
                          </a:solidFill>
                          <a:latin typeface="微软雅黑"/>
                          <a:ea typeface="微软雅黑"/>
                          <a:cs typeface="微软雅黑"/>
                        </a:rPr>
                        <a:t>模型</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正确性</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相关性</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语言质量</a:t>
                      </a:r>
                    </a:p>
                  </a:txBody>
                  <a:tcPr marL="54864" marR="54864" marT="36576" marB="36576" anchor="ctr">
                    <a:solidFill>
                      <a:srgbClr val="1B3A4B"/>
                    </a:solidFill>
                  </a:tcPr>
                </a:tc>
                <a:extLst>
                  <a:ext uri="{0D108BD9-81ED-4DB2-BD59-A6C34878D82A}">
                    <a16:rowId xmlns:a16="http://schemas.microsoft.com/office/drawing/2014/main" val="10000"/>
                  </a:ext>
                </a:extLst>
              </a:tr>
              <a:tr h="533400">
                <a:tc>
                  <a:txBody>
                    <a:bodyPr/>
                    <a:lstStyle/>
                    <a:p>
                      <a:pPr algn="ctr"/>
                      <a:r>
                        <a:rPr sz="1300" b="1" i="0">
                          <a:solidFill>
                            <a:srgbClr val="1F2A30"/>
                          </a:solidFill>
                          <a:latin typeface="微软雅黑"/>
                          <a:ea typeface="微软雅黑"/>
                          <a:cs typeface="微软雅黑"/>
                        </a:rPr>
                        <a:t>VideoGPT+  零样本</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36.7</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48.2</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46.6</a:t>
                      </a:r>
                    </a:p>
                  </a:txBody>
                  <a:tcPr marL="54864" marR="54864" marT="36576" marB="36576" anchor="ctr">
                    <a:solidFill>
                      <a:srgbClr val="FFFFFF"/>
                    </a:solidFill>
                  </a:tcPr>
                </a:tc>
                <a:extLst>
                  <a:ext uri="{0D108BD9-81ED-4DB2-BD59-A6C34878D82A}">
                    <a16:rowId xmlns:a16="http://schemas.microsoft.com/office/drawing/2014/main" val="10001"/>
                  </a:ext>
                </a:extLst>
              </a:tr>
              <a:tr h="533400">
                <a:tc>
                  <a:txBody>
                    <a:bodyPr/>
                    <a:lstStyle/>
                    <a:p>
                      <a:pPr algn="ctr"/>
                      <a:r>
                        <a:rPr sz="1300" b="1" i="0">
                          <a:solidFill>
                            <a:srgbClr val="1F2A30"/>
                          </a:solidFill>
                          <a:latin typeface="微软雅黑"/>
                          <a:ea typeface="微软雅黑"/>
                          <a:cs typeface="微软雅黑"/>
                        </a:rPr>
                        <a:t>Gemini-3.1-Pro  零样本</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33.6</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51.6</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51.9</a:t>
                      </a:r>
                    </a:p>
                  </a:txBody>
                  <a:tcPr marL="54864" marR="54864" marT="36576" marB="36576" anchor="ctr">
                    <a:solidFill>
                      <a:srgbClr val="F4F8F8"/>
                    </a:solidFill>
                  </a:tcPr>
                </a:tc>
                <a:extLst>
                  <a:ext uri="{0D108BD9-81ED-4DB2-BD59-A6C34878D82A}">
                    <a16:rowId xmlns:a16="http://schemas.microsoft.com/office/drawing/2014/main" val="10002"/>
                  </a:ext>
                </a:extLst>
              </a:tr>
              <a:tr h="533400">
                <a:tc>
                  <a:txBody>
                    <a:bodyPr/>
                    <a:lstStyle/>
                    <a:p>
                      <a:pPr algn="ctr"/>
                      <a:r>
                        <a:rPr sz="1300" b="1" i="0">
                          <a:solidFill>
                            <a:srgbClr val="1F2A30"/>
                          </a:solidFill>
                          <a:latin typeface="微软雅黑"/>
                          <a:ea typeface="微软雅黑"/>
                          <a:cs typeface="微软雅黑"/>
                        </a:rPr>
                        <a:t>Qwen3-VL-ft</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61.8</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70.5</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69.1</a:t>
                      </a:r>
                    </a:p>
                  </a:txBody>
                  <a:tcPr marL="54864" marR="54864" marT="36576" marB="36576" anchor="ctr">
                    <a:solidFill>
                      <a:srgbClr val="FFFFFF"/>
                    </a:solidFill>
                  </a:tcPr>
                </a:tc>
                <a:extLst>
                  <a:ext uri="{0D108BD9-81ED-4DB2-BD59-A6C34878D82A}">
                    <a16:rowId xmlns:a16="http://schemas.microsoft.com/office/drawing/2014/main" val="10003"/>
                  </a:ext>
                </a:extLst>
              </a:tr>
              <a:tr h="533400">
                <a:tc>
                  <a:txBody>
                    <a:bodyPr/>
                    <a:lstStyle/>
                    <a:p>
                      <a:pPr algn="ctr"/>
                      <a:r>
                        <a:rPr sz="1300" b="1" i="0">
                          <a:solidFill>
                            <a:srgbClr val="1F2A30"/>
                          </a:solidFill>
                          <a:latin typeface="微软雅黑"/>
                          <a:ea typeface="微软雅黑"/>
                          <a:cs typeface="微软雅黑"/>
                        </a:rPr>
                        <a:t>VideoGPT+-ft</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64.0</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73.6</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71.7</a:t>
                      </a:r>
                    </a:p>
                  </a:txBody>
                  <a:tcPr marL="54864" marR="54864" marT="36576" marB="36576" anchor="ctr">
                    <a:solidFill>
                      <a:srgbClr val="F4F8F8"/>
                    </a:solidFill>
                  </a:tcPr>
                </a:tc>
                <a:extLst>
                  <a:ext uri="{0D108BD9-81ED-4DB2-BD59-A6C34878D82A}">
                    <a16:rowId xmlns:a16="http://schemas.microsoft.com/office/drawing/2014/main" val="10004"/>
                  </a:ext>
                </a:extLst>
              </a:tr>
              <a:tr h="533400">
                <a:tc>
                  <a:txBody>
                    <a:bodyPr/>
                    <a:lstStyle/>
                    <a:p>
                      <a:pPr algn="ctr"/>
                      <a:r>
                        <a:rPr sz="1300" b="1" i="0">
                          <a:solidFill>
                            <a:srgbClr val="1B3A4B"/>
                          </a:solidFill>
                          <a:latin typeface="微软雅黑"/>
                          <a:ea typeface="微软雅黑"/>
                          <a:cs typeface="微软雅黑"/>
                        </a:rPr>
                        <a:t>SurgTEMP</a:t>
                      </a:r>
                    </a:p>
                  </a:txBody>
                  <a:tcPr marL="54864" marR="54864" marT="36576" marB="36576" anchor="ctr">
                    <a:solidFill>
                      <a:srgbClr val="FFFFFF"/>
                    </a:solidFill>
                  </a:tcPr>
                </a:tc>
                <a:tc>
                  <a:txBody>
                    <a:bodyPr/>
                    <a:lstStyle/>
                    <a:p>
                      <a:pPr algn="ctr"/>
                      <a:r>
                        <a:rPr sz="1300" b="1" i="0">
                          <a:solidFill>
                            <a:srgbClr val="1B3A4B"/>
                          </a:solidFill>
                          <a:latin typeface="微软雅黑"/>
                          <a:ea typeface="微软雅黑"/>
                          <a:cs typeface="微软雅黑"/>
                        </a:rPr>
                        <a:t>71.6</a:t>
                      </a:r>
                    </a:p>
                  </a:txBody>
                  <a:tcPr marL="54864" marR="54864" marT="36576" marB="36576" anchor="ctr">
                    <a:solidFill>
                      <a:srgbClr val="FFFFFF"/>
                    </a:solidFill>
                  </a:tcPr>
                </a:tc>
                <a:tc>
                  <a:txBody>
                    <a:bodyPr/>
                    <a:lstStyle/>
                    <a:p>
                      <a:pPr algn="ctr"/>
                      <a:r>
                        <a:rPr sz="1300" b="1" i="0">
                          <a:solidFill>
                            <a:srgbClr val="1B3A4B"/>
                          </a:solidFill>
                          <a:latin typeface="微软雅黑"/>
                          <a:ea typeface="微软雅黑"/>
                          <a:cs typeface="微软雅黑"/>
                        </a:rPr>
                        <a:t>81.8</a:t>
                      </a:r>
                    </a:p>
                  </a:txBody>
                  <a:tcPr marL="54864" marR="54864" marT="36576" marB="36576" anchor="ctr">
                    <a:solidFill>
                      <a:srgbClr val="FFFFFF"/>
                    </a:solidFill>
                  </a:tcPr>
                </a:tc>
                <a:tc>
                  <a:txBody>
                    <a:bodyPr/>
                    <a:lstStyle/>
                    <a:p>
                      <a:pPr algn="ctr"/>
                      <a:r>
                        <a:rPr sz="1300" b="1" i="0">
                          <a:solidFill>
                            <a:srgbClr val="1B3A4B"/>
                          </a:solidFill>
                          <a:latin typeface="微软雅黑"/>
                          <a:ea typeface="微软雅黑"/>
                          <a:cs typeface="微软雅黑"/>
                        </a:rPr>
                        <a:t>79.0</a:t>
                      </a:r>
                    </a:p>
                  </a:txBody>
                  <a:tcPr marL="54864" marR="54864"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8" name="Rounded Rectangle 7">
            <a:extLst>
              <a:ext uri="{FF2B5EF4-FFF2-40B4-BE49-F238E27FC236}">
                <a16:creationId xmlns:a16="http://schemas.microsoft.com/office/drawing/2014/main" id="{1A345D5C-7767-C8B6-936D-845D8E05612A}"/>
              </a:ext>
            </a:extLst>
          </p:cNvPr>
          <p:cNvSpPr/>
          <p:nvPr/>
        </p:nvSpPr>
        <p:spPr>
          <a:xfrm>
            <a:off x="8229600" y="1143000"/>
            <a:ext cx="3520440" cy="3200400"/>
          </a:xfrm>
          <a:prstGeom prst="roundRect">
            <a:avLst>
              <a:gd name="adj" fmla="val 8000"/>
            </a:avLst>
          </a:prstGeom>
          <a:solidFill>
            <a:srgbClr val="FBF3E4"/>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A83B54FE-AA51-B2CD-02D2-6709BDADEF21}"/>
              </a:ext>
            </a:extLst>
          </p:cNvPr>
          <p:cNvSpPr txBox="1"/>
          <p:nvPr/>
        </p:nvSpPr>
        <p:spPr>
          <a:xfrm>
            <a:off x="8412480" y="1472184"/>
            <a:ext cx="3200400" cy="2596896"/>
          </a:xfrm>
          <a:prstGeom prst="rect">
            <a:avLst/>
          </a:prstGeom>
          <a:noFill/>
        </p:spPr>
        <p:txBody>
          <a:bodyPr wrap="square" lIns="0" tIns="0" rIns="0" bIns="0" anchor="t"/>
          <a:lstStyle/>
          <a:p>
            <a:pPr algn="l">
              <a:lnSpc>
                <a:spcPct val="150000"/>
              </a:lnSpc>
              <a:spcBef>
                <a:spcPts val="0"/>
              </a:spcBef>
              <a:spcAft>
                <a:spcPts val="0"/>
              </a:spcAft>
            </a:pPr>
            <a:r>
              <a:rPr b="0" i="0" dirty="0" err="1">
                <a:solidFill>
                  <a:srgbClr val="1F2A30"/>
                </a:solidFill>
                <a:latin typeface="微软雅黑"/>
                <a:ea typeface="微软雅黑"/>
                <a:cs typeface="微软雅黑"/>
              </a:rPr>
              <a:t>零样本正确性约</a:t>
            </a:r>
            <a:r>
              <a:rPr b="0" i="0" dirty="0">
                <a:solidFill>
                  <a:srgbClr val="1F2A30"/>
                </a:solidFill>
                <a:latin typeface="微软雅黑"/>
                <a:ea typeface="微软雅黑"/>
                <a:cs typeface="微软雅黑"/>
              </a:rPr>
              <a:t> 30 分。
</a:t>
            </a:r>
            <a:r>
              <a:rPr b="0" i="0" dirty="0" err="1">
                <a:solidFill>
                  <a:srgbClr val="1F2A30"/>
                </a:solidFill>
                <a:latin typeface="微软雅黑"/>
                <a:ea typeface="微软雅黑"/>
                <a:cs typeface="微软雅黑"/>
              </a:rPr>
              <a:t>同一数据微调后到</a:t>
            </a:r>
            <a:r>
              <a:rPr b="0" i="0" dirty="0">
                <a:solidFill>
                  <a:srgbClr val="1F2A30"/>
                </a:solidFill>
                <a:latin typeface="微软雅黑"/>
                <a:ea typeface="微软雅黑"/>
                <a:cs typeface="微软雅黑"/>
              </a:rPr>
              <a:t> 60 </a:t>
            </a:r>
            <a:r>
              <a:rPr b="0" i="0" dirty="0" err="1">
                <a:solidFill>
                  <a:srgbClr val="1F2A30"/>
                </a:solidFill>
                <a:latin typeface="微软雅黑"/>
                <a:ea typeface="微软雅黑"/>
                <a:cs typeface="微软雅黑"/>
              </a:rPr>
              <a:t>分出头。领域适应是第一</a:t>
            </a:r>
            <a:r>
              <a:rPr lang="zh-CN" altLang="en-US" dirty="0">
                <a:solidFill>
                  <a:srgbClr val="1F2A30"/>
                </a:solidFill>
                <a:latin typeface="微软雅黑"/>
                <a:ea typeface="微软雅黑"/>
                <a:cs typeface="微软雅黑"/>
              </a:rPr>
              <a:t>转折点</a:t>
            </a:r>
            <a:r>
              <a:rPr b="0" i="0" dirty="0">
                <a:solidFill>
                  <a:srgbClr val="1F2A30"/>
                </a:solidFill>
                <a:latin typeface="微软雅黑"/>
                <a:ea typeface="微软雅黑"/>
                <a:cs typeface="微软雅黑"/>
              </a:rPr>
              <a:t>。
</a:t>
            </a:r>
            <a:r>
              <a:rPr b="0" i="0" dirty="0" err="1">
                <a:solidFill>
                  <a:srgbClr val="1F2A30"/>
                </a:solidFill>
                <a:latin typeface="微软雅黑"/>
                <a:ea typeface="微软雅黑"/>
                <a:cs typeface="微软雅黑"/>
              </a:rPr>
              <a:t>SurgTEMP</a:t>
            </a:r>
            <a:r>
              <a:rPr b="0" i="0" dirty="0">
                <a:solidFill>
                  <a:srgbClr val="1F2A30"/>
                </a:solidFill>
                <a:latin typeface="微软雅黑"/>
                <a:ea typeface="微软雅黑"/>
                <a:cs typeface="微软雅黑"/>
              </a:rPr>
              <a:t> </a:t>
            </a:r>
            <a:r>
              <a:rPr b="0" i="0" dirty="0" err="1">
                <a:solidFill>
                  <a:srgbClr val="1F2A30"/>
                </a:solidFill>
                <a:latin typeface="微软雅黑"/>
                <a:ea typeface="微软雅黑"/>
                <a:cs typeface="微软雅黑"/>
              </a:rPr>
              <a:t>再高约</a:t>
            </a:r>
            <a:r>
              <a:rPr b="0" i="0" dirty="0">
                <a:solidFill>
                  <a:srgbClr val="1F2A30"/>
                </a:solidFill>
                <a:latin typeface="微软雅黑"/>
                <a:ea typeface="微软雅黑"/>
                <a:cs typeface="微软雅黑"/>
              </a:rPr>
              <a:t> 7.6 分，
</a:t>
            </a:r>
            <a:r>
              <a:rPr b="0" i="0" dirty="0" err="1">
                <a:solidFill>
                  <a:srgbClr val="1F2A30"/>
                </a:solidFill>
                <a:latin typeface="微软雅黑"/>
                <a:ea typeface="微软雅黑"/>
                <a:cs typeface="微软雅黑"/>
              </a:rPr>
              <a:t>实际送入模型的帧更少</a:t>
            </a:r>
            <a:r>
              <a:rPr b="0" i="0" dirty="0">
                <a:solidFill>
                  <a:srgbClr val="1F2A30"/>
                </a:solidFill>
                <a:latin typeface="微软雅黑"/>
                <a:ea typeface="微软雅黑"/>
                <a:cs typeface="微软雅黑"/>
              </a:rPr>
              <a:t>。</a:t>
            </a:r>
          </a:p>
        </p:txBody>
      </p:sp>
      <p:sp>
        <p:nvSpPr>
          <p:cNvPr id="11" name="TextBox 10">
            <a:extLst>
              <a:ext uri="{FF2B5EF4-FFF2-40B4-BE49-F238E27FC236}">
                <a16:creationId xmlns:a16="http://schemas.microsoft.com/office/drawing/2014/main" id="{18BA9092-EE4A-DCDD-0E3B-5353996B9C77}"/>
              </a:ext>
            </a:extLst>
          </p:cNvPr>
          <p:cNvSpPr txBox="1"/>
          <p:nvPr/>
        </p:nvSpPr>
        <p:spPr>
          <a:xfrm>
            <a:off x="438912" y="4572000"/>
            <a:ext cx="11247120" cy="1645920"/>
          </a:xfrm>
          <a:prstGeom prst="rect">
            <a:avLst/>
          </a:prstGeom>
          <a:noFill/>
        </p:spPr>
        <p:txBody>
          <a:bodyPr wrap="square" lIns="0" tIns="0" rIns="0" bIns="0" anchor="t"/>
          <a:lstStyle/>
          <a:p>
            <a:pPr algn="l">
              <a:lnSpc>
                <a:spcPct val="150000"/>
              </a:lnSpc>
              <a:spcBef>
                <a:spcPts val="0"/>
              </a:spcBef>
              <a:spcAft>
                <a:spcPts val="0"/>
              </a:spcAft>
            </a:pPr>
            <a:r>
              <a:rPr b="0" i="0" dirty="0" err="1">
                <a:solidFill>
                  <a:srgbClr val="1F2A30"/>
                </a:solidFill>
                <a:latin typeface="微软雅黑"/>
                <a:ea typeface="微软雅黑"/>
                <a:cs typeface="微软雅黑"/>
              </a:rPr>
              <a:t>零样本里作答率和准确率可以分离</a:t>
            </a:r>
            <a:r>
              <a:rPr b="0" i="0" dirty="0">
                <a:solidFill>
                  <a:srgbClr val="1F2A30"/>
                </a:solidFill>
                <a:latin typeface="微软雅黑"/>
                <a:ea typeface="微软雅黑"/>
                <a:cs typeface="微软雅黑"/>
              </a:rPr>
              <a:t>：</a:t>
            </a:r>
            <a:endParaRPr lang="en-US" b="0" i="0" dirty="0">
              <a:solidFill>
                <a:srgbClr val="1F2A30"/>
              </a:solidFill>
              <a:latin typeface="微软雅黑"/>
              <a:ea typeface="微软雅黑"/>
              <a:cs typeface="微软雅黑"/>
            </a:endParaRPr>
          </a:p>
          <a:p>
            <a:pPr algn="l">
              <a:lnSpc>
                <a:spcPct val="150000"/>
              </a:lnSpc>
              <a:spcBef>
                <a:spcPts val="0"/>
              </a:spcBef>
              <a:spcAft>
                <a:spcPts val="0"/>
              </a:spcAft>
            </a:pPr>
            <a:r>
              <a:rPr b="0" i="0" dirty="0">
                <a:solidFill>
                  <a:srgbClr val="1F2A30"/>
                </a:solidFill>
                <a:latin typeface="微软雅黑"/>
                <a:ea typeface="微软雅黑"/>
                <a:cs typeface="微软雅黑"/>
              </a:rPr>
              <a:t>mPLUG-Owl3 的 balanced Accuracy </a:t>
            </a:r>
            <a:r>
              <a:rPr b="0" i="0" dirty="0" err="1">
                <a:solidFill>
                  <a:srgbClr val="1F2A30"/>
                </a:solidFill>
                <a:latin typeface="微软雅黑"/>
                <a:ea typeface="微软雅黑"/>
                <a:cs typeface="微软雅黑"/>
              </a:rPr>
              <a:t>作答率约</a:t>
            </a:r>
            <a:r>
              <a:rPr b="0" i="0" dirty="0">
                <a:solidFill>
                  <a:srgbClr val="1F2A30"/>
                </a:solidFill>
                <a:latin typeface="微软雅黑"/>
                <a:ea typeface="微软雅黑"/>
                <a:cs typeface="微软雅黑"/>
              </a:rPr>
              <a:t> 95%，</a:t>
            </a:r>
            <a:r>
              <a:rPr b="0" i="0" dirty="0" err="1">
                <a:solidFill>
                  <a:srgbClr val="1F2A30"/>
                </a:solidFill>
                <a:latin typeface="微软雅黑"/>
                <a:ea typeface="微软雅黑"/>
                <a:cs typeface="微软雅黑"/>
              </a:rPr>
              <a:t>分数仍然只有</a:t>
            </a:r>
            <a:r>
              <a:rPr b="0" i="0" dirty="0">
                <a:solidFill>
                  <a:srgbClr val="1F2A30"/>
                </a:solidFill>
                <a:latin typeface="微软雅黑"/>
                <a:ea typeface="微软雅黑"/>
                <a:cs typeface="微软雅黑"/>
              </a:rPr>
              <a:t> 32。模型会答，但不会用临床标准。</a:t>
            </a:r>
            <a:endParaRPr lang="en-US" b="0" i="0" dirty="0">
              <a:solidFill>
                <a:srgbClr val="1F2A30"/>
              </a:solidFill>
              <a:latin typeface="微软雅黑"/>
              <a:ea typeface="微软雅黑"/>
              <a:cs typeface="微软雅黑"/>
            </a:endParaRPr>
          </a:p>
          <a:p>
            <a:pPr algn="l">
              <a:lnSpc>
                <a:spcPct val="150000"/>
              </a:lnSpc>
              <a:spcBef>
                <a:spcPts val="0"/>
              </a:spcBef>
              <a:spcAft>
                <a:spcPts val="0"/>
              </a:spcAft>
            </a:pPr>
            <a:r>
              <a:rPr b="0" i="0" dirty="0" err="1">
                <a:solidFill>
                  <a:srgbClr val="1F2A30"/>
                </a:solidFill>
                <a:latin typeface="微软雅黑"/>
                <a:ea typeface="微软雅黑"/>
                <a:cs typeface="微软雅黑"/>
              </a:rPr>
              <a:t>SurgTEMP</a:t>
            </a:r>
            <a:r>
              <a:rPr b="0" i="0" dirty="0">
                <a:solidFill>
                  <a:srgbClr val="1F2A30"/>
                </a:solidFill>
                <a:latin typeface="微软雅黑"/>
                <a:ea typeface="微软雅黑"/>
                <a:cs typeface="微软雅黑"/>
              </a:rPr>
              <a:t> </a:t>
            </a:r>
            <a:r>
              <a:rPr b="0" i="0" dirty="0" err="1">
                <a:solidFill>
                  <a:srgbClr val="1F2A30"/>
                </a:solidFill>
                <a:latin typeface="微软雅黑"/>
                <a:ea typeface="微软雅黑"/>
                <a:cs typeface="微软雅黑"/>
              </a:rPr>
              <a:t>的分类作答率到</a:t>
            </a:r>
            <a:r>
              <a:rPr b="0" i="0" dirty="0">
                <a:solidFill>
                  <a:srgbClr val="1F2A30"/>
                </a:solidFill>
                <a:latin typeface="微软雅黑"/>
                <a:ea typeface="微软雅黑"/>
                <a:cs typeface="微软雅黑"/>
              </a:rPr>
              <a:t> 100%，</a:t>
            </a:r>
            <a:r>
              <a:rPr b="0" i="0" dirty="0" err="1">
                <a:solidFill>
                  <a:srgbClr val="1F2A30"/>
                </a:solidFill>
                <a:latin typeface="微软雅黑"/>
                <a:ea typeface="微软雅黑"/>
                <a:cs typeface="微软雅黑"/>
              </a:rPr>
              <a:t>作者把“不会拒答”列为后续安全问题</a:t>
            </a:r>
            <a:r>
              <a:rPr b="0" i="0" dirty="0">
                <a:solidFill>
                  <a:srgbClr val="1F2A30"/>
                </a:solidFill>
                <a:latin typeface="微软雅黑"/>
                <a:ea typeface="微软雅黑"/>
                <a:cs typeface="微软雅黑"/>
              </a:rPr>
              <a:t>。</a:t>
            </a:r>
          </a:p>
        </p:txBody>
      </p:sp>
      <p:sp>
        <p:nvSpPr>
          <p:cNvPr id="12" name="Rectangle 11">
            <a:extLst>
              <a:ext uri="{FF2B5EF4-FFF2-40B4-BE49-F238E27FC236}">
                <a16:creationId xmlns:a16="http://schemas.microsoft.com/office/drawing/2014/main" id="{B2AFCAE6-F984-FD26-1E04-833F8412A07F}"/>
              </a:ext>
            </a:extLst>
          </p:cNvPr>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E65E22E-7311-BA9B-3D7D-37B9D5032066}"/>
              </a:ext>
            </a:extLst>
          </p:cNvPr>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4" name="TextBox 13">
            <a:extLst>
              <a:ext uri="{FF2B5EF4-FFF2-40B4-BE49-F238E27FC236}">
                <a16:creationId xmlns:a16="http://schemas.microsoft.com/office/drawing/2014/main" id="{10433158-372B-93CB-8ED4-8FE435DB777C}"/>
              </a:ext>
            </a:extLst>
          </p:cNvPr>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5" name="TextBox 14">
            <a:extLst>
              <a:ext uri="{FF2B5EF4-FFF2-40B4-BE49-F238E27FC236}">
                <a16:creationId xmlns:a16="http://schemas.microsoft.com/office/drawing/2014/main" id="{855EA4B4-C5D4-04DD-6209-BE26C67ECCE3}"/>
              </a:ext>
            </a:extLst>
          </p:cNvPr>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14  /  26</a:t>
            </a:r>
          </a:p>
        </p:txBody>
      </p:sp>
    </p:spTree>
    <p:extLst>
      <p:ext uri="{BB962C8B-B14F-4D97-AF65-F5344CB8AC3E}">
        <p14:creationId xmlns:p14="http://schemas.microsoft.com/office/powerpoint/2010/main" val="1028307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Results · 三个子集</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38912" y="1143000"/>
          <a:ext cx="11292840" cy="2103120"/>
        </p:xfrm>
        <a:graphic>
          <a:graphicData uri="http://schemas.openxmlformats.org/drawingml/2006/table">
            <a:tbl>
              <a:tblPr firstRow="1" bandRow="1">
                <a:tableStyleId>{5C22544A-7EE6-4342-B048-85BDC9FD1C3A}</a:tableStyleId>
              </a:tblPr>
              <a:tblGrid>
                <a:gridCol w="2823210">
                  <a:extLst>
                    <a:ext uri="{9D8B030D-6E8A-4147-A177-3AD203B41FA5}">
                      <a16:colId xmlns:a16="http://schemas.microsoft.com/office/drawing/2014/main" val="20000"/>
                    </a:ext>
                  </a:extLst>
                </a:gridCol>
                <a:gridCol w="2823210">
                  <a:extLst>
                    <a:ext uri="{9D8B030D-6E8A-4147-A177-3AD203B41FA5}">
                      <a16:colId xmlns:a16="http://schemas.microsoft.com/office/drawing/2014/main" val="20001"/>
                    </a:ext>
                  </a:extLst>
                </a:gridCol>
                <a:gridCol w="2823210">
                  <a:extLst>
                    <a:ext uri="{9D8B030D-6E8A-4147-A177-3AD203B41FA5}">
                      <a16:colId xmlns:a16="http://schemas.microsoft.com/office/drawing/2014/main" val="20002"/>
                    </a:ext>
                  </a:extLst>
                </a:gridCol>
                <a:gridCol w="2823210">
                  <a:extLst>
                    <a:ext uri="{9D8B030D-6E8A-4147-A177-3AD203B41FA5}">
                      <a16:colId xmlns:a16="http://schemas.microsoft.com/office/drawing/2014/main" val="20003"/>
                    </a:ext>
                  </a:extLst>
                </a:gridCol>
              </a:tblGrid>
              <a:tr h="525780">
                <a:tc>
                  <a:txBody>
                    <a:bodyPr/>
                    <a:lstStyle/>
                    <a:p>
                      <a:pPr algn="ctr"/>
                      <a:r>
                        <a:rPr sz="1200" b="1" i="0" dirty="0" err="1">
                          <a:solidFill>
                            <a:srgbClr val="FFFFFF"/>
                          </a:solidFill>
                          <a:latin typeface="微软雅黑"/>
                          <a:ea typeface="微软雅黑"/>
                          <a:cs typeface="微软雅黑"/>
                        </a:rPr>
                        <a:t>正确性</a:t>
                      </a:r>
                      <a:endParaRPr sz="1200" b="1" i="0" dirty="0">
                        <a:solidFill>
                          <a:srgbClr val="FFFFFF"/>
                        </a:solidFill>
                        <a:latin typeface="微软雅黑"/>
                        <a:ea typeface="微软雅黑"/>
                        <a:cs typeface="微软雅黑"/>
                      </a:endParaRPr>
                    </a:p>
                  </a:txBody>
                  <a:tcPr marL="54864" marR="54864" marT="36576" marB="36576" anchor="ctr">
                    <a:solidFill>
                      <a:srgbClr val="1B3A4B"/>
                    </a:solidFill>
                  </a:tcPr>
                </a:tc>
                <a:tc>
                  <a:txBody>
                    <a:bodyPr/>
                    <a:lstStyle/>
                    <a:p>
                      <a:pPr algn="ctr"/>
                      <a:r>
                        <a:rPr sz="1200" b="1" i="0" dirty="0" err="1">
                          <a:solidFill>
                            <a:srgbClr val="FFFFFF"/>
                          </a:solidFill>
                          <a:latin typeface="微软雅黑"/>
                          <a:ea typeface="微软雅黑"/>
                          <a:cs typeface="微软雅黑"/>
                        </a:rPr>
                        <a:t>短片段感知</a:t>
                      </a:r>
                      <a:endParaRPr sz="1200" b="1" i="0" dirty="0">
                        <a:solidFill>
                          <a:srgbClr val="FFFFFF"/>
                        </a:solidFill>
                        <a:latin typeface="微软雅黑"/>
                        <a:ea typeface="微软雅黑"/>
                        <a:cs typeface="微软雅黑"/>
                      </a:endParaRPr>
                    </a:p>
                    <a:p>
                      <a:pPr algn="ctr"/>
                      <a:r>
                        <a:rPr sz="1200" b="1" i="0" dirty="0">
                          <a:solidFill>
                            <a:srgbClr val="FFFFFF"/>
                          </a:solidFill>
                          <a:latin typeface="微软雅黑"/>
                          <a:ea typeface="微软雅黑"/>
                          <a:cs typeface="微软雅黑"/>
                        </a:rPr>
                        <a:t>CholecT50</a:t>
                      </a:r>
                    </a:p>
                  </a:txBody>
                  <a:tcPr marL="54864" marR="54864" marT="36576" marB="36576" anchor="ctr">
                    <a:solidFill>
                      <a:srgbClr val="1B3A4B"/>
                    </a:solidFill>
                  </a:tcPr>
                </a:tc>
                <a:tc>
                  <a:txBody>
                    <a:bodyPr/>
                    <a:lstStyle/>
                    <a:p>
                      <a:pPr algn="ctr"/>
                      <a:r>
                        <a:rPr sz="1200" b="1" i="0" dirty="0">
                          <a:solidFill>
                            <a:srgbClr val="FFFFFF"/>
                          </a:solidFill>
                          <a:latin typeface="微软雅黑"/>
                          <a:ea typeface="微软雅黑"/>
                          <a:cs typeface="微软雅黑"/>
                        </a:rPr>
                        <a:t>5 秒 CVS</a:t>
                      </a:r>
                    </a:p>
                    <a:p>
                      <a:pPr algn="ctr"/>
                      <a:r>
                        <a:rPr sz="1200" b="1" i="0" dirty="0" err="1">
                          <a:solidFill>
                            <a:srgbClr val="FFFFFF"/>
                          </a:solidFill>
                          <a:latin typeface="微软雅黑"/>
                          <a:ea typeface="微软雅黑"/>
                          <a:cs typeface="微软雅黑"/>
                        </a:rPr>
                        <a:t>Endoscapes</a:t>
                      </a:r>
                      <a:endParaRPr sz="1200" b="1" i="0" dirty="0">
                        <a:solidFill>
                          <a:srgbClr val="FFFFFF"/>
                        </a:solidFill>
                        <a:latin typeface="微软雅黑"/>
                        <a:ea typeface="微软雅黑"/>
                        <a:cs typeface="微软雅黑"/>
                      </a:endParaRPr>
                    </a:p>
                  </a:txBody>
                  <a:tcPr marL="54864" marR="54864" marT="36576" marB="36576" anchor="ctr">
                    <a:solidFill>
                      <a:srgbClr val="1B3A4B"/>
                    </a:solidFill>
                  </a:tcPr>
                </a:tc>
                <a:tc>
                  <a:txBody>
                    <a:bodyPr/>
                    <a:lstStyle/>
                    <a:p>
                      <a:pPr algn="ctr"/>
                      <a:r>
                        <a:rPr sz="1200" b="1" i="0" dirty="0" err="1">
                          <a:solidFill>
                            <a:srgbClr val="FFFFFF"/>
                          </a:solidFill>
                          <a:latin typeface="微软雅黑"/>
                          <a:ea typeface="微软雅黑"/>
                          <a:cs typeface="微软雅黑"/>
                        </a:rPr>
                        <a:t>阶段级评估</a:t>
                      </a:r>
                      <a:endParaRPr sz="1200" b="1" i="0" dirty="0">
                        <a:solidFill>
                          <a:srgbClr val="FFFFFF"/>
                        </a:solidFill>
                        <a:latin typeface="微软雅黑"/>
                        <a:ea typeface="微软雅黑"/>
                        <a:cs typeface="微软雅黑"/>
                      </a:endParaRPr>
                    </a:p>
                    <a:p>
                      <a:pPr algn="ctr"/>
                      <a:r>
                        <a:rPr sz="1200" b="1" i="0" dirty="0" err="1">
                          <a:solidFill>
                            <a:srgbClr val="FFFFFF"/>
                          </a:solidFill>
                          <a:latin typeface="微软雅黑"/>
                          <a:ea typeface="微软雅黑"/>
                          <a:cs typeface="微软雅黑"/>
                        </a:rPr>
                        <a:t>CholeScore</a:t>
                      </a:r>
                      <a:endParaRPr sz="1200" b="1" i="0" dirty="0">
                        <a:solidFill>
                          <a:srgbClr val="FFFFFF"/>
                        </a:solidFill>
                        <a:latin typeface="微软雅黑"/>
                        <a:ea typeface="微软雅黑"/>
                        <a:cs typeface="微软雅黑"/>
                      </a:endParaRPr>
                    </a:p>
                  </a:txBody>
                  <a:tcPr marL="54864" marR="54864" marT="36576" marB="36576" anchor="ctr">
                    <a:solidFill>
                      <a:srgbClr val="1B3A4B"/>
                    </a:solidFill>
                  </a:tcPr>
                </a:tc>
                <a:extLst>
                  <a:ext uri="{0D108BD9-81ED-4DB2-BD59-A6C34878D82A}">
                    <a16:rowId xmlns:a16="http://schemas.microsoft.com/office/drawing/2014/main" val="10000"/>
                  </a:ext>
                </a:extLst>
              </a:tr>
              <a:tr h="525780">
                <a:tc>
                  <a:txBody>
                    <a:bodyPr/>
                    <a:lstStyle/>
                    <a:p>
                      <a:pPr algn="ctr"/>
                      <a:r>
                        <a:rPr sz="1300" b="1" i="0">
                          <a:solidFill>
                            <a:srgbClr val="1F2A30"/>
                          </a:solidFill>
                          <a:latin typeface="微软雅黑"/>
                          <a:ea typeface="微软雅黑"/>
                          <a:cs typeface="微软雅黑"/>
                        </a:rPr>
                        <a:t>最强零样本</a:t>
                      </a:r>
                    </a:p>
                  </a:txBody>
                  <a:tcPr marL="54864" marR="54864" marT="36576" marB="36576" anchor="ctr">
                    <a:solidFill>
                      <a:srgbClr val="FFFFFF"/>
                    </a:solidFill>
                  </a:tcPr>
                </a:tc>
                <a:tc>
                  <a:txBody>
                    <a:bodyPr/>
                    <a:lstStyle/>
                    <a:p>
                      <a:pPr algn="ctr"/>
                      <a:r>
                        <a:rPr sz="1300" b="0" i="0" dirty="0">
                          <a:solidFill>
                            <a:srgbClr val="1F2A30"/>
                          </a:solidFill>
                          <a:latin typeface="微软雅黑"/>
                          <a:ea typeface="微软雅黑"/>
                          <a:cs typeface="微软雅黑"/>
                        </a:rPr>
                        <a:t>50.8  </a:t>
                      </a:r>
                      <a:r>
                        <a:rPr sz="1300" b="0" i="0" dirty="0" err="1">
                          <a:solidFill>
                            <a:srgbClr val="1F2A30"/>
                          </a:solidFill>
                          <a:latin typeface="微软雅黑"/>
                          <a:ea typeface="微软雅黑"/>
                          <a:cs typeface="微软雅黑"/>
                        </a:rPr>
                        <a:t>LLaVA</a:t>
                      </a:r>
                      <a:r>
                        <a:rPr sz="1300" b="0" i="0" dirty="0">
                          <a:solidFill>
                            <a:srgbClr val="1F2A30"/>
                          </a:solidFill>
                          <a:latin typeface="微软雅黑"/>
                          <a:ea typeface="微软雅黑"/>
                          <a:cs typeface="微软雅黑"/>
                        </a:rPr>
                        <a:t>-Video</a:t>
                      </a:r>
                    </a:p>
                  </a:txBody>
                  <a:tcPr marL="54864" marR="54864" marT="36576" marB="36576" anchor="ctr">
                    <a:solidFill>
                      <a:srgbClr val="FFFFFF"/>
                    </a:solidFill>
                  </a:tcPr>
                </a:tc>
                <a:tc>
                  <a:txBody>
                    <a:bodyPr/>
                    <a:lstStyle/>
                    <a:p>
                      <a:pPr algn="ctr"/>
                      <a:r>
                        <a:rPr sz="1300" b="0" i="0" dirty="0">
                          <a:solidFill>
                            <a:srgbClr val="1F2A30"/>
                          </a:solidFill>
                          <a:latin typeface="微软雅黑"/>
                          <a:ea typeface="微软雅黑"/>
                          <a:cs typeface="微软雅黑"/>
                        </a:rPr>
                        <a:t>38.8  </a:t>
                      </a:r>
                      <a:r>
                        <a:rPr sz="1300" b="0" i="0" dirty="0" err="1">
                          <a:solidFill>
                            <a:srgbClr val="1F2A30"/>
                          </a:solidFill>
                          <a:latin typeface="微软雅黑"/>
                          <a:ea typeface="微软雅黑"/>
                          <a:cs typeface="微软雅黑"/>
                        </a:rPr>
                        <a:t>VideoGPT</a:t>
                      </a:r>
                      <a:r>
                        <a:rPr sz="1300" b="0" i="0" dirty="0">
                          <a:solidFill>
                            <a:srgbClr val="1F2A30"/>
                          </a:solidFill>
                          <a:latin typeface="微软雅黑"/>
                          <a:ea typeface="微软雅黑"/>
                          <a:cs typeface="微软雅黑"/>
                        </a:rPr>
                        <a:t>+</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25.3  VideoGPT+</a:t>
                      </a:r>
                    </a:p>
                  </a:txBody>
                  <a:tcPr marL="54864" marR="54864" marT="36576" marB="36576" anchor="ctr">
                    <a:solidFill>
                      <a:srgbClr val="FFFFFF"/>
                    </a:solidFill>
                  </a:tcPr>
                </a:tc>
                <a:extLst>
                  <a:ext uri="{0D108BD9-81ED-4DB2-BD59-A6C34878D82A}">
                    <a16:rowId xmlns:a16="http://schemas.microsoft.com/office/drawing/2014/main" val="10001"/>
                  </a:ext>
                </a:extLst>
              </a:tr>
              <a:tr h="525780">
                <a:tc>
                  <a:txBody>
                    <a:bodyPr/>
                    <a:lstStyle/>
                    <a:p>
                      <a:pPr algn="ctr"/>
                      <a:r>
                        <a:rPr sz="1300" b="1" i="0">
                          <a:solidFill>
                            <a:srgbClr val="1F2A30"/>
                          </a:solidFill>
                          <a:latin typeface="微软雅黑"/>
                          <a:ea typeface="微软雅黑"/>
                          <a:cs typeface="微软雅黑"/>
                        </a:rPr>
                        <a:t>最强微调基线</a:t>
                      </a:r>
                    </a:p>
                  </a:txBody>
                  <a:tcPr marL="54864" marR="54864" marT="36576" marB="36576" anchor="ctr">
                    <a:solidFill>
                      <a:srgbClr val="F4F8F8"/>
                    </a:solidFill>
                  </a:tcPr>
                </a:tc>
                <a:tc>
                  <a:txBody>
                    <a:bodyPr/>
                    <a:lstStyle/>
                    <a:p>
                      <a:pPr algn="ctr"/>
                      <a:r>
                        <a:rPr sz="1300" b="0" i="0" dirty="0">
                          <a:solidFill>
                            <a:srgbClr val="1F2A30"/>
                          </a:solidFill>
                          <a:latin typeface="微软雅黑"/>
                          <a:ea typeface="微软雅黑"/>
                          <a:cs typeface="微软雅黑"/>
                        </a:rPr>
                        <a:t>72.3  </a:t>
                      </a:r>
                      <a:r>
                        <a:rPr sz="1300" b="0" i="0" dirty="0" err="1">
                          <a:solidFill>
                            <a:srgbClr val="1F2A30"/>
                          </a:solidFill>
                          <a:latin typeface="微软雅黑"/>
                          <a:ea typeface="微软雅黑"/>
                          <a:cs typeface="微软雅黑"/>
                        </a:rPr>
                        <a:t>VideoGPT</a:t>
                      </a:r>
                      <a:r>
                        <a:rPr sz="1300" b="0" i="0" dirty="0">
                          <a:solidFill>
                            <a:srgbClr val="1F2A30"/>
                          </a:solidFill>
                          <a:latin typeface="微软雅黑"/>
                          <a:ea typeface="微软雅黑"/>
                          <a:cs typeface="微软雅黑"/>
                        </a:rPr>
                        <a:t>+-ft</a:t>
                      </a:r>
                    </a:p>
                  </a:txBody>
                  <a:tcPr marL="54864" marR="54864" marT="36576" marB="36576" anchor="ctr">
                    <a:solidFill>
                      <a:srgbClr val="F4F8F8"/>
                    </a:solidFill>
                  </a:tcPr>
                </a:tc>
                <a:tc>
                  <a:txBody>
                    <a:bodyPr/>
                    <a:lstStyle/>
                    <a:p>
                      <a:pPr algn="ctr"/>
                      <a:r>
                        <a:rPr sz="1300" b="0" i="0" dirty="0">
                          <a:solidFill>
                            <a:srgbClr val="1F2A30"/>
                          </a:solidFill>
                          <a:latin typeface="微软雅黑"/>
                          <a:ea typeface="微软雅黑"/>
                          <a:cs typeface="微软雅黑"/>
                        </a:rPr>
                        <a:t>71.4  </a:t>
                      </a:r>
                      <a:r>
                        <a:rPr sz="1300" b="0" i="0" dirty="0" err="1">
                          <a:solidFill>
                            <a:srgbClr val="1F2A30"/>
                          </a:solidFill>
                          <a:latin typeface="微软雅黑"/>
                          <a:ea typeface="微软雅黑"/>
                          <a:cs typeface="微软雅黑"/>
                        </a:rPr>
                        <a:t>VideoGPT</a:t>
                      </a:r>
                      <a:r>
                        <a:rPr sz="1300" b="0" i="0" dirty="0">
                          <a:solidFill>
                            <a:srgbClr val="1F2A30"/>
                          </a:solidFill>
                          <a:latin typeface="微软雅黑"/>
                          <a:ea typeface="微软雅黑"/>
                          <a:cs typeface="微软雅黑"/>
                        </a:rPr>
                        <a:t>+-ft</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49.4  Qwen3-VL-ft</a:t>
                      </a:r>
                    </a:p>
                  </a:txBody>
                  <a:tcPr marL="54864" marR="54864" marT="36576" marB="36576" anchor="ctr">
                    <a:solidFill>
                      <a:srgbClr val="F4F8F8"/>
                    </a:solidFill>
                  </a:tcPr>
                </a:tc>
                <a:extLst>
                  <a:ext uri="{0D108BD9-81ED-4DB2-BD59-A6C34878D82A}">
                    <a16:rowId xmlns:a16="http://schemas.microsoft.com/office/drawing/2014/main" val="10002"/>
                  </a:ext>
                </a:extLst>
              </a:tr>
              <a:tr h="525780">
                <a:tc>
                  <a:txBody>
                    <a:bodyPr/>
                    <a:lstStyle/>
                    <a:p>
                      <a:pPr algn="ctr"/>
                      <a:r>
                        <a:rPr sz="1300" b="1" i="0">
                          <a:solidFill>
                            <a:srgbClr val="1B3A4B"/>
                          </a:solidFill>
                          <a:latin typeface="微软雅黑"/>
                          <a:ea typeface="微软雅黑"/>
                          <a:cs typeface="微软雅黑"/>
                        </a:rPr>
                        <a:t>SurgTEMP</a:t>
                      </a:r>
                    </a:p>
                  </a:txBody>
                  <a:tcPr marL="54864" marR="54864" marT="36576" marB="36576" anchor="ctr">
                    <a:solidFill>
                      <a:srgbClr val="FFFFFF"/>
                    </a:solidFill>
                  </a:tcPr>
                </a:tc>
                <a:tc>
                  <a:txBody>
                    <a:bodyPr/>
                    <a:lstStyle/>
                    <a:p>
                      <a:pPr algn="ctr"/>
                      <a:r>
                        <a:rPr sz="1300" b="1" i="0">
                          <a:solidFill>
                            <a:srgbClr val="1B3A4B"/>
                          </a:solidFill>
                          <a:latin typeface="微软雅黑"/>
                          <a:ea typeface="微软雅黑"/>
                          <a:cs typeface="微软雅黑"/>
                        </a:rPr>
                        <a:t>74.9</a:t>
                      </a:r>
                    </a:p>
                  </a:txBody>
                  <a:tcPr marL="54864" marR="54864" marT="36576" marB="36576" anchor="ctr">
                    <a:solidFill>
                      <a:srgbClr val="FFFFFF"/>
                    </a:solidFill>
                  </a:tcPr>
                </a:tc>
                <a:tc>
                  <a:txBody>
                    <a:bodyPr/>
                    <a:lstStyle/>
                    <a:p>
                      <a:pPr algn="ctr"/>
                      <a:r>
                        <a:rPr sz="1300" b="1" i="0">
                          <a:solidFill>
                            <a:srgbClr val="1B3A4B"/>
                          </a:solidFill>
                          <a:latin typeface="微软雅黑"/>
                          <a:ea typeface="微软雅黑"/>
                          <a:cs typeface="微软雅黑"/>
                        </a:rPr>
                        <a:t>73.7</a:t>
                      </a:r>
                    </a:p>
                  </a:txBody>
                  <a:tcPr marL="54864" marR="54864" marT="36576" marB="36576" anchor="ctr">
                    <a:solidFill>
                      <a:srgbClr val="FFFFFF"/>
                    </a:solidFill>
                  </a:tcPr>
                </a:tc>
                <a:tc>
                  <a:txBody>
                    <a:bodyPr/>
                    <a:lstStyle/>
                    <a:p>
                      <a:pPr algn="ctr"/>
                      <a:r>
                        <a:rPr sz="1300" b="1" i="0" dirty="0">
                          <a:solidFill>
                            <a:srgbClr val="1B3A4B"/>
                          </a:solidFill>
                          <a:latin typeface="微软雅黑"/>
                          <a:ea typeface="微软雅黑"/>
                          <a:cs typeface="微软雅黑"/>
                        </a:rPr>
                        <a:t>66.3</a:t>
                      </a:r>
                    </a:p>
                  </a:txBody>
                  <a:tcPr marL="54864" marR="54864"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438912" y="3520440"/>
            <a:ext cx="11247120" cy="2285049"/>
          </a:xfrm>
          <a:prstGeom prst="rect">
            <a:avLst/>
          </a:prstGeom>
          <a:noFill/>
        </p:spPr>
        <p:txBody>
          <a:bodyPr wrap="square" lIns="0" tIns="0" rIns="0" bIns="0">
            <a:spAutoFit/>
          </a:bodyPr>
          <a:lstStyle/>
          <a:p>
            <a:pPr algn="l">
              <a:lnSpc>
                <a:spcPct val="150000"/>
              </a:lnSpc>
              <a:spcBef>
                <a:spcPts val="0"/>
              </a:spcBef>
              <a:spcAft>
                <a:spcPts val="1000"/>
              </a:spcAft>
            </a:pPr>
            <a:r>
              <a:rPr b="0" i="0" dirty="0" err="1">
                <a:solidFill>
                  <a:srgbClr val="1F2A30"/>
                </a:solidFill>
                <a:latin typeface="微软雅黑"/>
                <a:ea typeface="微软雅黑"/>
                <a:cs typeface="微软雅黑"/>
              </a:rPr>
              <a:t>短片段感知上，零样本正确性已经约</a:t>
            </a:r>
            <a:r>
              <a:rPr b="0" i="0" dirty="0">
                <a:solidFill>
                  <a:srgbClr val="1F2A30"/>
                </a:solidFill>
                <a:latin typeface="微软雅黑"/>
                <a:ea typeface="微软雅黑"/>
                <a:cs typeface="微软雅黑"/>
              </a:rPr>
              <a:t> 50。SurgTEMP </a:t>
            </a:r>
            <a:r>
              <a:rPr b="0" i="0" dirty="0" err="1">
                <a:solidFill>
                  <a:srgbClr val="1F2A30"/>
                </a:solidFill>
                <a:latin typeface="微软雅黑"/>
                <a:ea typeface="微软雅黑"/>
                <a:cs typeface="微软雅黑"/>
              </a:rPr>
              <a:t>比最强微调基线只高</a:t>
            </a:r>
            <a:r>
              <a:rPr b="0" i="0" dirty="0">
                <a:solidFill>
                  <a:srgbClr val="1F2A30"/>
                </a:solidFill>
                <a:latin typeface="微软雅黑"/>
                <a:ea typeface="微软雅黑"/>
                <a:cs typeface="微软雅黑"/>
              </a:rPr>
              <a:t> 2.6 </a:t>
            </a:r>
            <a:r>
              <a:rPr b="0" i="0" dirty="0" err="1">
                <a:solidFill>
                  <a:srgbClr val="1F2A30"/>
                </a:solidFill>
                <a:latin typeface="微软雅黑"/>
                <a:ea typeface="微软雅黑"/>
                <a:cs typeface="微软雅黑"/>
              </a:rPr>
              <a:t>分。通用视频预训练能覆盖一部分场景识别</a:t>
            </a:r>
            <a:r>
              <a:rPr b="0" i="0" dirty="0">
                <a:solidFill>
                  <a:srgbClr val="1F2A30"/>
                </a:solidFill>
                <a:latin typeface="微软雅黑"/>
                <a:ea typeface="微软雅黑"/>
                <a:cs typeface="微软雅黑"/>
              </a:rPr>
              <a:t>。</a:t>
            </a:r>
          </a:p>
          <a:p>
            <a:pPr algn="l">
              <a:lnSpc>
                <a:spcPct val="150000"/>
              </a:lnSpc>
              <a:spcBef>
                <a:spcPts val="0"/>
              </a:spcBef>
              <a:spcAft>
                <a:spcPts val="1000"/>
              </a:spcAft>
            </a:pPr>
            <a:r>
              <a:rPr b="0" i="0" dirty="0">
                <a:solidFill>
                  <a:srgbClr val="1F2A30"/>
                </a:solidFill>
                <a:latin typeface="微软雅黑"/>
                <a:ea typeface="微软雅黑"/>
                <a:cs typeface="微软雅黑"/>
              </a:rPr>
              <a:t>CVS </a:t>
            </a:r>
            <a:r>
              <a:rPr b="0" i="0" dirty="0" err="1">
                <a:solidFill>
                  <a:srgbClr val="1F2A30"/>
                </a:solidFill>
                <a:latin typeface="微软雅黑"/>
                <a:ea typeface="微软雅黑"/>
                <a:cs typeface="微软雅黑"/>
              </a:rPr>
              <a:t>上零样本明显不够。要同时认出结构并套用临床条目，这不是通用预训练能带来的</a:t>
            </a:r>
            <a:r>
              <a:rPr b="0" i="0" dirty="0">
                <a:solidFill>
                  <a:srgbClr val="1F2A30"/>
                </a:solidFill>
                <a:latin typeface="微软雅黑"/>
                <a:ea typeface="微软雅黑"/>
                <a:cs typeface="微软雅黑"/>
              </a:rPr>
              <a:t>。</a:t>
            </a:r>
          </a:p>
          <a:p>
            <a:pPr algn="l">
              <a:lnSpc>
                <a:spcPct val="150000"/>
              </a:lnSpc>
              <a:spcBef>
                <a:spcPts val="0"/>
              </a:spcBef>
              <a:spcAft>
                <a:spcPts val="1000"/>
              </a:spcAft>
            </a:pPr>
            <a:r>
              <a:rPr b="0" i="0" dirty="0" err="1">
                <a:solidFill>
                  <a:srgbClr val="1F2A30"/>
                </a:solidFill>
                <a:latin typeface="微软雅黑"/>
                <a:ea typeface="微软雅黑"/>
                <a:cs typeface="微软雅黑"/>
              </a:rPr>
              <a:t>CholeScore</a:t>
            </a:r>
            <a:r>
              <a:rPr b="0" i="0" dirty="0">
                <a:solidFill>
                  <a:srgbClr val="1F2A30"/>
                </a:solidFill>
                <a:latin typeface="微软雅黑"/>
                <a:ea typeface="微软雅黑"/>
                <a:cs typeface="微软雅黑"/>
              </a:rPr>
              <a:t> </a:t>
            </a:r>
            <a:r>
              <a:rPr b="0" i="0" dirty="0" err="1">
                <a:solidFill>
                  <a:srgbClr val="1F2A30"/>
                </a:solidFill>
                <a:latin typeface="微软雅黑"/>
                <a:ea typeface="微软雅黑"/>
                <a:cs typeface="微软雅黑"/>
              </a:rPr>
              <a:t>的阶段均值约</a:t>
            </a:r>
            <a:r>
              <a:rPr b="0" i="0" dirty="0">
                <a:solidFill>
                  <a:srgbClr val="1F2A30"/>
                </a:solidFill>
                <a:latin typeface="微软雅黑"/>
                <a:ea typeface="微软雅黑"/>
                <a:cs typeface="微软雅黑"/>
              </a:rPr>
              <a:t> 12 </a:t>
            </a:r>
            <a:r>
              <a:rPr b="0" i="0" dirty="0" err="1">
                <a:solidFill>
                  <a:srgbClr val="1F2A30"/>
                </a:solidFill>
                <a:latin typeface="微软雅黑"/>
                <a:ea typeface="微软雅黑"/>
                <a:cs typeface="微软雅黑"/>
              </a:rPr>
              <a:t>分钟。SurgTEMP</a:t>
            </a:r>
            <a:r>
              <a:rPr b="0" i="0" dirty="0">
                <a:solidFill>
                  <a:srgbClr val="1F2A30"/>
                </a:solidFill>
                <a:latin typeface="微软雅黑"/>
                <a:ea typeface="微软雅黑"/>
                <a:cs typeface="微软雅黑"/>
              </a:rPr>
              <a:t> 比 Qwen3-VL-ft 高 16.9 </a:t>
            </a:r>
            <a:r>
              <a:rPr b="0" i="0" dirty="0" err="1">
                <a:solidFill>
                  <a:srgbClr val="1F2A30"/>
                </a:solidFill>
                <a:latin typeface="微软雅黑"/>
                <a:ea typeface="微软雅黑"/>
                <a:cs typeface="微软雅黑"/>
              </a:rPr>
              <a:t>分正确性。这是全文最支持时间记忆的结果</a:t>
            </a:r>
            <a:r>
              <a:rPr b="0" i="0" dirty="0">
                <a:solidFill>
                  <a:srgbClr val="1F2A30"/>
                </a:solidFill>
                <a:latin typeface="微软雅黑"/>
                <a:ea typeface="微软雅黑"/>
                <a:cs typeface="微软雅黑"/>
              </a:rPr>
              <a:t>。</a:t>
            </a:r>
          </a:p>
        </p:txBody>
      </p:sp>
      <p:sp>
        <p:nvSpPr>
          <p:cNvPr id="9" name="Rectangle 8"/>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1" name="TextBox 10"/>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2" name="TextBox 11"/>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15  /  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Results · 层级与技能</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43000"/>
            <a:ext cx="5669280" cy="18288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3504" y="1252728"/>
            <a:ext cx="5303520" cy="32004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感知</a:t>
            </a:r>
          </a:p>
        </p:txBody>
      </p:sp>
      <p:sp>
        <p:nvSpPr>
          <p:cNvPr id="9" name="TextBox 8"/>
          <p:cNvSpPr txBox="1"/>
          <p:nvPr/>
        </p:nvSpPr>
        <p:spPr>
          <a:xfrm>
            <a:off x="603504" y="1645920"/>
            <a:ext cx="5303520" cy="114300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微调后大家都明显变好。SurgTEMP 在动作和器械上只是小幅领先，解剖结构上领先更多。</a:t>
            </a:r>
          </a:p>
        </p:txBody>
      </p:sp>
      <p:sp>
        <p:nvSpPr>
          <p:cNvPr id="10" name="Rounded Rectangle 9"/>
          <p:cNvSpPr/>
          <p:nvPr/>
        </p:nvSpPr>
        <p:spPr>
          <a:xfrm>
            <a:off x="6291072" y="1143000"/>
            <a:ext cx="5669280" cy="18288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55664" y="1252728"/>
            <a:ext cx="5303520" cy="32004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评估</a:t>
            </a:r>
          </a:p>
        </p:txBody>
      </p:sp>
      <p:sp>
        <p:nvSpPr>
          <p:cNvPr id="12" name="TextBox 11"/>
          <p:cNvSpPr txBox="1"/>
          <p:nvPr/>
        </p:nvSpPr>
        <p:spPr>
          <a:xfrm>
            <a:off x="6455664" y="1645920"/>
            <a:ext cx="5303520" cy="114300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SurgTEMP 平均正确性 69.9%。CVS 从零样本不到 40，微调后到 66–73。难度和技能更依赖按时间分配注意力。</a:t>
            </a:r>
          </a:p>
        </p:txBody>
      </p:sp>
      <p:sp>
        <p:nvSpPr>
          <p:cNvPr id="13" name="Rounded Rectangle 12"/>
          <p:cNvSpPr/>
          <p:nvPr/>
        </p:nvSpPr>
        <p:spPr>
          <a:xfrm>
            <a:off x="438912" y="3108960"/>
            <a:ext cx="5669280" cy="18288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3504" y="3218688"/>
            <a:ext cx="5303520" cy="32004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不良事件</a:t>
            </a:r>
          </a:p>
        </p:txBody>
      </p:sp>
      <p:sp>
        <p:nvSpPr>
          <p:cNvPr id="15" name="TextBox 14"/>
          <p:cNvSpPr txBox="1"/>
          <p:nvPr/>
        </p:nvSpPr>
        <p:spPr>
          <a:xfrm>
            <a:off x="603504" y="3611880"/>
            <a:ext cx="5303520" cy="114300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Qwen3-VL-ft 正确性 70.2，SurgTEMP 70.5，几乎打平。突发、细粒度的组织状态变化，时间池化帮不大。</a:t>
            </a:r>
          </a:p>
        </p:txBody>
      </p:sp>
      <p:sp>
        <p:nvSpPr>
          <p:cNvPr id="16" name="Rounded Rectangle 15"/>
          <p:cNvSpPr/>
          <p:nvPr/>
        </p:nvSpPr>
        <p:spPr>
          <a:xfrm>
            <a:off x="6291072" y="3108960"/>
            <a:ext cx="5669280" cy="18288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55664" y="3218688"/>
            <a:ext cx="5303520" cy="32004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推理</a:t>
            </a:r>
          </a:p>
        </p:txBody>
      </p:sp>
      <p:sp>
        <p:nvSpPr>
          <p:cNvPr id="18" name="TextBox 17"/>
          <p:cNvSpPr txBox="1"/>
          <p:nvPr/>
        </p:nvSpPr>
        <p:spPr>
          <a:xfrm>
            <a:off x="6455664" y="3611880"/>
            <a:ext cx="5303520" cy="114300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场景描述和综合评估上 SurgTEMP 仍领先。术中规划最难，零样本大多低于 30。</a:t>
            </a:r>
          </a:p>
        </p:txBody>
      </p:sp>
      <p:sp>
        <p:nvSpPr>
          <p:cNvPr id="19" name="TextBox 18"/>
          <p:cNvSpPr txBox="1"/>
          <p:nvPr/>
        </p:nvSpPr>
        <p:spPr>
          <a:xfrm>
            <a:off x="438912" y="5166360"/>
            <a:ext cx="11247120" cy="1097280"/>
          </a:xfrm>
          <a:prstGeom prst="rect">
            <a:avLst/>
          </a:prstGeom>
          <a:noFill/>
        </p:spPr>
        <p:txBody>
          <a:bodyPr wrap="square" lIns="0" tIns="0" rIns="0" bIns="0" anchor="t"/>
          <a:lstStyle/>
          <a:p>
            <a:pPr algn="l">
              <a:spcBef>
                <a:spcPts val="0"/>
              </a:spcBef>
              <a:spcAft>
                <a:spcPts val="0"/>
              </a:spcAft>
            </a:pPr>
            <a:r>
              <a:rPr sz="1400" b="0" i="0">
                <a:solidFill>
                  <a:srgbClr val="5C6B73"/>
                </a:solidFill>
                <a:latin typeface="微软雅黑"/>
                <a:ea typeface="微软雅黑"/>
                <a:cs typeface="微软雅黑"/>
              </a:rPr>
              <a:t>论文原话：技能评估需要更长的观察窗，依据是操作是否顺、有没有近失事件；局部解剖和不良事件则需要更短、更细的窗口。</a:t>
            </a:r>
          </a:p>
        </p:txBody>
      </p:sp>
      <p:sp>
        <p:nvSpPr>
          <p:cNvPr id="20" name="Rectangle 19"/>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2" name="TextBox 21"/>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3" name="TextBox 22"/>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16  /  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B69C-E3A5-04D7-CF86-0D28B49F3FD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9081B5-38EC-90E1-64A6-76E2BAA73ABF}"/>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4FF8BAFD-8EC0-279D-F901-AF9F852C87B7}"/>
              </a:ext>
            </a:extLst>
          </p:cNvPr>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1D364FA-ACFC-3CF6-B219-377473AD181A}"/>
              </a:ext>
            </a:extLst>
          </p:cNvPr>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Results · 层级与技能</a:t>
            </a:r>
          </a:p>
        </p:txBody>
      </p:sp>
      <p:sp>
        <p:nvSpPr>
          <p:cNvPr id="6" name="Rectangle 5">
            <a:extLst>
              <a:ext uri="{FF2B5EF4-FFF2-40B4-BE49-F238E27FC236}">
                <a16:creationId xmlns:a16="http://schemas.microsoft.com/office/drawing/2014/main" id="{AF585AF1-A2F2-D6F0-95C6-4098EF17DDE8}"/>
              </a:ext>
            </a:extLst>
          </p:cNvPr>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C9388FC6-E4EE-B8C4-B497-F4D502495878}"/>
              </a:ext>
            </a:extLst>
          </p:cNvPr>
          <p:cNvSpPr/>
          <p:nvPr/>
        </p:nvSpPr>
        <p:spPr>
          <a:xfrm>
            <a:off x="438912" y="1143000"/>
            <a:ext cx="5669280" cy="18288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DE1900C-AFE3-3B44-9CDF-DE715648FE37}"/>
              </a:ext>
            </a:extLst>
          </p:cNvPr>
          <p:cNvSpPr txBox="1"/>
          <p:nvPr/>
        </p:nvSpPr>
        <p:spPr>
          <a:xfrm>
            <a:off x="603504" y="1252728"/>
            <a:ext cx="5303520" cy="32004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感知</a:t>
            </a:r>
          </a:p>
        </p:txBody>
      </p:sp>
      <p:sp>
        <p:nvSpPr>
          <p:cNvPr id="9" name="TextBox 8">
            <a:extLst>
              <a:ext uri="{FF2B5EF4-FFF2-40B4-BE49-F238E27FC236}">
                <a16:creationId xmlns:a16="http://schemas.microsoft.com/office/drawing/2014/main" id="{0070E994-8282-43BA-1888-854E7E527CDE}"/>
              </a:ext>
            </a:extLst>
          </p:cNvPr>
          <p:cNvSpPr txBox="1"/>
          <p:nvPr/>
        </p:nvSpPr>
        <p:spPr>
          <a:xfrm>
            <a:off x="603504" y="1645920"/>
            <a:ext cx="5303520" cy="114300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微调后大家都明显变好。SurgTEMP 在动作和器械上只是小幅领先，解剖结构上领先更多。</a:t>
            </a:r>
          </a:p>
        </p:txBody>
      </p:sp>
      <p:sp>
        <p:nvSpPr>
          <p:cNvPr id="10" name="Rounded Rectangle 9">
            <a:extLst>
              <a:ext uri="{FF2B5EF4-FFF2-40B4-BE49-F238E27FC236}">
                <a16:creationId xmlns:a16="http://schemas.microsoft.com/office/drawing/2014/main" id="{56D9F17B-28B4-99E1-D6A7-92164CE452A4}"/>
              </a:ext>
            </a:extLst>
          </p:cNvPr>
          <p:cNvSpPr/>
          <p:nvPr/>
        </p:nvSpPr>
        <p:spPr>
          <a:xfrm>
            <a:off x="6291072" y="1143000"/>
            <a:ext cx="5669280" cy="18288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2E0EEF37-A81C-22AC-045A-D3E04237B733}"/>
              </a:ext>
            </a:extLst>
          </p:cNvPr>
          <p:cNvSpPr txBox="1"/>
          <p:nvPr/>
        </p:nvSpPr>
        <p:spPr>
          <a:xfrm>
            <a:off x="6455664" y="1252728"/>
            <a:ext cx="5303520" cy="32004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评估</a:t>
            </a:r>
          </a:p>
        </p:txBody>
      </p:sp>
      <p:sp>
        <p:nvSpPr>
          <p:cNvPr id="12" name="TextBox 11">
            <a:extLst>
              <a:ext uri="{FF2B5EF4-FFF2-40B4-BE49-F238E27FC236}">
                <a16:creationId xmlns:a16="http://schemas.microsoft.com/office/drawing/2014/main" id="{14D481B8-7A9D-FFC6-CF44-19DFC51DFC1A}"/>
              </a:ext>
            </a:extLst>
          </p:cNvPr>
          <p:cNvSpPr txBox="1"/>
          <p:nvPr/>
        </p:nvSpPr>
        <p:spPr>
          <a:xfrm>
            <a:off x="6455664" y="1645920"/>
            <a:ext cx="5303520" cy="114300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SurgTEMP 平均正确性 69.9%。CVS 从零样本不到 40，微调后到 66–73。难度和技能更依赖按时间分配注意力。</a:t>
            </a:r>
          </a:p>
        </p:txBody>
      </p:sp>
      <p:sp>
        <p:nvSpPr>
          <p:cNvPr id="13" name="Rounded Rectangle 12">
            <a:extLst>
              <a:ext uri="{FF2B5EF4-FFF2-40B4-BE49-F238E27FC236}">
                <a16:creationId xmlns:a16="http://schemas.microsoft.com/office/drawing/2014/main" id="{4D366586-CC67-A2C9-9B60-B87F764108AE}"/>
              </a:ext>
            </a:extLst>
          </p:cNvPr>
          <p:cNvSpPr/>
          <p:nvPr/>
        </p:nvSpPr>
        <p:spPr>
          <a:xfrm>
            <a:off x="438912" y="3108960"/>
            <a:ext cx="5669280" cy="18288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ADD69F92-DBAD-32EB-9BFB-A5AB3028B26E}"/>
              </a:ext>
            </a:extLst>
          </p:cNvPr>
          <p:cNvSpPr txBox="1"/>
          <p:nvPr/>
        </p:nvSpPr>
        <p:spPr>
          <a:xfrm>
            <a:off x="603504" y="3218688"/>
            <a:ext cx="5303520" cy="32004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不良事件</a:t>
            </a:r>
          </a:p>
        </p:txBody>
      </p:sp>
      <p:sp>
        <p:nvSpPr>
          <p:cNvPr id="15" name="TextBox 14">
            <a:extLst>
              <a:ext uri="{FF2B5EF4-FFF2-40B4-BE49-F238E27FC236}">
                <a16:creationId xmlns:a16="http://schemas.microsoft.com/office/drawing/2014/main" id="{D236DB42-D12D-CC6C-87BA-B3ADC774DF4F}"/>
              </a:ext>
            </a:extLst>
          </p:cNvPr>
          <p:cNvSpPr txBox="1"/>
          <p:nvPr/>
        </p:nvSpPr>
        <p:spPr>
          <a:xfrm>
            <a:off x="603504" y="3611880"/>
            <a:ext cx="5303520" cy="114300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Qwen3-VL-ft 正确性 70.2，SurgTEMP 70.5，几乎打平。突发、细粒度的组织状态变化，时间池化帮不大。</a:t>
            </a:r>
          </a:p>
        </p:txBody>
      </p:sp>
      <p:sp>
        <p:nvSpPr>
          <p:cNvPr id="16" name="Rounded Rectangle 15">
            <a:extLst>
              <a:ext uri="{FF2B5EF4-FFF2-40B4-BE49-F238E27FC236}">
                <a16:creationId xmlns:a16="http://schemas.microsoft.com/office/drawing/2014/main" id="{EF29A0D6-C4C9-63A9-E4B9-D1A8F2519CCD}"/>
              </a:ext>
            </a:extLst>
          </p:cNvPr>
          <p:cNvSpPr/>
          <p:nvPr/>
        </p:nvSpPr>
        <p:spPr>
          <a:xfrm>
            <a:off x="6291072" y="3108960"/>
            <a:ext cx="5669280" cy="18288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1775B692-EBC0-95E0-2309-EC2C22430559}"/>
              </a:ext>
            </a:extLst>
          </p:cNvPr>
          <p:cNvSpPr txBox="1"/>
          <p:nvPr/>
        </p:nvSpPr>
        <p:spPr>
          <a:xfrm>
            <a:off x="6455664" y="3218688"/>
            <a:ext cx="5303520" cy="32004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推理</a:t>
            </a:r>
          </a:p>
        </p:txBody>
      </p:sp>
      <p:sp>
        <p:nvSpPr>
          <p:cNvPr id="18" name="TextBox 17">
            <a:extLst>
              <a:ext uri="{FF2B5EF4-FFF2-40B4-BE49-F238E27FC236}">
                <a16:creationId xmlns:a16="http://schemas.microsoft.com/office/drawing/2014/main" id="{01FE2B8B-3954-D2E2-9296-A01BC9F73C3F}"/>
              </a:ext>
            </a:extLst>
          </p:cNvPr>
          <p:cNvSpPr txBox="1"/>
          <p:nvPr/>
        </p:nvSpPr>
        <p:spPr>
          <a:xfrm>
            <a:off x="6455664" y="3611880"/>
            <a:ext cx="5303520" cy="114300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场景描述和综合评估上 SurgTEMP 仍领先。术中规划最难，零样本大多低于 30。</a:t>
            </a:r>
          </a:p>
        </p:txBody>
      </p:sp>
      <p:sp>
        <p:nvSpPr>
          <p:cNvPr id="19" name="TextBox 18">
            <a:extLst>
              <a:ext uri="{FF2B5EF4-FFF2-40B4-BE49-F238E27FC236}">
                <a16:creationId xmlns:a16="http://schemas.microsoft.com/office/drawing/2014/main" id="{6BF91838-5ECB-3EB3-B2D1-8E1FD23B9464}"/>
              </a:ext>
            </a:extLst>
          </p:cNvPr>
          <p:cNvSpPr txBox="1"/>
          <p:nvPr/>
        </p:nvSpPr>
        <p:spPr>
          <a:xfrm>
            <a:off x="438912" y="5166360"/>
            <a:ext cx="11247120" cy="1097280"/>
          </a:xfrm>
          <a:prstGeom prst="rect">
            <a:avLst/>
          </a:prstGeom>
          <a:noFill/>
        </p:spPr>
        <p:txBody>
          <a:bodyPr wrap="square" lIns="0" tIns="0" rIns="0" bIns="0" anchor="t"/>
          <a:lstStyle/>
          <a:p>
            <a:pPr algn="l">
              <a:spcBef>
                <a:spcPts val="0"/>
              </a:spcBef>
              <a:spcAft>
                <a:spcPts val="0"/>
              </a:spcAft>
            </a:pPr>
            <a:r>
              <a:rPr sz="1400" b="0" i="0">
                <a:solidFill>
                  <a:srgbClr val="5C6B73"/>
                </a:solidFill>
                <a:latin typeface="微软雅黑"/>
                <a:ea typeface="微软雅黑"/>
                <a:cs typeface="微软雅黑"/>
              </a:rPr>
              <a:t>论文原话：技能评估需要更长的观察窗，依据是操作是否顺、有没有近失事件；局部解剖和不良事件则需要更短、更细的窗口。</a:t>
            </a:r>
          </a:p>
        </p:txBody>
      </p:sp>
      <p:sp>
        <p:nvSpPr>
          <p:cNvPr id="20" name="Rectangle 19">
            <a:extLst>
              <a:ext uri="{FF2B5EF4-FFF2-40B4-BE49-F238E27FC236}">
                <a16:creationId xmlns:a16="http://schemas.microsoft.com/office/drawing/2014/main" id="{A90C746A-4940-BC52-8C95-ECB3AE16A2C2}"/>
              </a:ext>
            </a:extLst>
          </p:cNvPr>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020E6B8D-5906-1501-183D-900B4DB6B29F}"/>
              </a:ext>
            </a:extLst>
          </p:cNvPr>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2" name="TextBox 21">
            <a:extLst>
              <a:ext uri="{FF2B5EF4-FFF2-40B4-BE49-F238E27FC236}">
                <a16:creationId xmlns:a16="http://schemas.microsoft.com/office/drawing/2014/main" id="{246711B8-9428-918C-2690-D29449BED646}"/>
              </a:ext>
            </a:extLst>
          </p:cNvPr>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3" name="TextBox 22">
            <a:extLst>
              <a:ext uri="{FF2B5EF4-FFF2-40B4-BE49-F238E27FC236}">
                <a16:creationId xmlns:a16="http://schemas.microsoft.com/office/drawing/2014/main" id="{6054EE16-A4C2-E87D-5279-3D36CF5DFEFE}"/>
              </a:ext>
            </a:extLst>
          </p:cNvPr>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16  /  26</a:t>
            </a:r>
          </a:p>
        </p:txBody>
      </p:sp>
      <p:pic>
        <p:nvPicPr>
          <p:cNvPr id="25" name="图片 24">
            <a:extLst>
              <a:ext uri="{FF2B5EF4-FFF2-40B4-BE49-F238E27FC236}">
                <a16:creationId xmlns:a16="http://schemas.microsoft.com/office/drawing/2014/main" id="{21DA3F68-4897-BF51-BB5A-26BEAB533FA4}"/>
              </a:ext>
            </a:extLst>
          </p:cNvPr>
          <p:cNvPicPr>
            <a:picLocks noChangeAspect="1"/>
          </p:cNvPicPr>
          <p:nvPr/>
        </p:nvPicPr>
        <p:blipFill>
          <a:blip r:embed="rId3"/>
          <a:stretch>
            <a:fillRect/>
          </a:stretch>
        </p:blipFill>
        <p:spPr>
          <a:xfrm>
            <a:off x="12192" y="877824"/>
            <a:ext cx="12192000" cy="5721385"/>
          </a:xfrm>
          <a:prstGeom prst="rect">
            <a:avLst/>
          </a:prstGeom>
        </p:spPr>
      </p:pic>
    </p:spTree>
    <p:extLst>
      <p:ext uri="{BB962C8B-B14F-4D97-AF65-F5344CB8AC3E}">
        <p14:creationId xmlns:p14="http://schemas.microsoft.com/office/powerpoint/2010/main" val="897288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Results · 专家手写答案</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438912" y="1143000"/>
          <a:ext cx="11292840" cy="1965960"/>
        </p:xfrm>
        <a:graphic>
          <a:graphicData uri="http://schemas.openxmlformats.org/drawingml/2006/table">
            <a:tbl>
              <a:tblPr firstRow="1" bandRow="1">
                <a:tableStyleId>{5C22544A-7EE6-4342-B048-85BDC9FD1C3A}</a:tableStyleId>
              </a:tblPr>
              <a:tblGrid>
                <a:gridCol w="2258568">
                  <a:extLst>
                    <a:ext uri="{9D8B030D-6E8A-4147-A177-3AD203B41FA5}">
                      <a16:colId xmlns:a16="http://schemas.microsoft.com/office/drawing/2014/main" val="20000"/>
                    </a:ext>
                  </a:extLst>
                </a:gridCol>
                <a:gridCol w="2258568">
                  <a:extLst>
                    <a:ext uri="{9D8B030D-6E8A-4147-A177-3AD203B41FA5}">
                      <a16:colId xmlns:a16="http://schemas.microsoft.com/office/drawing/2014/main" val="20001"/>
                    </a:ext>
                  </a:extLst>
                </a:gridCol>
                <a:gridCol w="2258568">
                  <a:extLst>
                    <a:ext uri="{9D8B030D-6E8A-4147-A177-3AD203B41FA5}">
                      <a16:colId xmlns:a16="http://schemas.microsoft.com/office/drawing/2014/main" val="20002"/>
                    </a:ext>
                  </a:extLst>
                </a:gridCol>
                <a:gridCol w="2258568">
                  <a:extLst>
                    <a:ext uri="{9D8B030D-6E8A-4147-A177-3AD203B41FA5}">
                      <a16:colId xmlns:a16="http://schemas.microsoft.com/office/drawing/2014/main" val="20003"/>
                    </a:ext>
                  </a:extLst>
                </a:gridCol>
                <a:gridCol w="2258568">
                  <a:extLst>
                    <a:ext uri="{9D8B030D-6E8A-4147-A177-3AD203B41FA5}">
                      <a16:colId xmlns:a16="http://schemas.microsoft.com/office/drawing/2014/main" val="20004"/>
                    </a:ext>
                  </a:extLst>
                </a:gridCol>
              </a:tblGrid>
              <a:tr h="491490">
                <a:tc>
                  <a:txBody>
                    <a:bodyPr/>
                    <a:lstStyle/>
                    <a:p>
                      <a:pPr algn="ctr"/>
                      <a:r>
                        <a:rPr sz="1300" b="1" i="0">
                          <a:solidFill>
                            <a:srgbClr val="FFFFFF"/>
                          </a:solidFill>
                          <a:latin typeface="微软雅黑"/>
                          <a:ea typeface="微软雅黑"/>
                          <a:cs typeface="微软雅黑"/>
                        </a:rPr>
                        <a:t>模型</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CVS</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难度</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不良事件</a:t>
                      </a:r>
                    </a:p>
                  </a:txBody>
                  <a:tcPr marL="54864" marR="54864" marT="36576" marB="36576" anchor="ctr">
                    <a:solidFill>
                      <a:srgbClr val="1B3A4B"/>
                    </a:solidFill>
                  </a:tcPr>
                </a:tc>
                <a:tc>
                  <a:txBody>
                    <a:bodyPr/>
                    <a:lstStyle/>
                    <a:p>
                      <a:pPr algn="ctr"/>
                      <a:r>
                        <a:rPr sz="1300" b="1" i="0">
                          <a:solidFill>
                            <a:srgbClr val="FFFFFF"/>
                          </a:solidFill>
                          <a:latin typeface="微软雅黑"/>
                          <a:ea typeface="微软雅黑"/>
                          <a:cs typeface="微软雅黑"/>
                        </a:rPr>
                        <a:t>技能熟练度</a:t>
                      </a:r>
                    </a:p>
                  </a:txBody>
                  <a:tcPr marL="54864" marR="54864" marT="36576" marB="36576" anchor="ctr">
                    <a:solidFill>
                      <a:srgbClr val="1B3A4B"/>
                    </a:solidFill>
                  </a:tcPr>
                </a:tc>
                <a:extLst>
                  <a:ext uri="{0D108BD9-81ED-4DB2-BD59-A6C34878D82A}">
                    <a16:rowId xmlns:a16="http://schemas.microsoft.com/office/drawing/2014/main" val="10000"/>
                  </a:ext>
                </a:extLst>
              </a:tr>
              <a:tr h="491490">
                <a:tc>
                  <a:txBody>
                    <a:bodyPr/>
                    <a:lstStyle/>
                    <a:p>
                      <a:pPr algn="ctr"/>
                      <a:r>
                        <a:rPr sz="1400" b="1" i="0">
                          <a:solidFill>
                            <a:srgbClr val="1F2A30"/>
                          </a:solidFill>
                          <a:latin typeface="微软雅黑"/>
                          <a:ea typeface="微软雅黑"/>
                          <a:cs typeface="微软雅黑"/>
                        </a:rPr>
                        <a:t>VideoGPT+-ft</a:t>
                      </a:r>
                    </a:p>
                  </a:txBody>
                  <a:tcPr marL="54864" marR="54864" marT="36576" marB="36576" anchor="ctr">
                    <a:solidFill>
                      <a:srgbClr val="FFFFFF"/>
                    </a:solidFill>
                  </a:tcPr>
                </a:tc>
                <a:tc>
                  <a:txBody>
                    <a:bodyPr/>
                    <a:lstStyle/>
                    <a:p>
                      <a:pPr algn="ctr"/>
                      <a:r>
                        <a:rPr sz="1400" b="0" i="0">
                          <a:solidFill>
                            <a:srgbClr val="1F2A30"/>
                          </a:solidFill>
                          <a:latin typeface="微软雅黑"/>
                          <a:ea typeface="微软雅黑"/>
                          <a:cs typeface="微软雅黑"/>
                        </a:rPr>
                        <a:t>80.1</a:t>
                      </a:r>
                    </a:p>
                  </a:txBody>
                  <a:tcPr marL="54864" marR="54864" marT="36576" marB="36576" anchor="ctr">
                    <a:solidFill>
                      <a:srgbClr val="FFFFFF"/>
                    </a:solidFill>
                  </a:tcPr>
                </a:tc>
                <a:tc>
                  <a:txBody>
                    <a:bodyPr/>
                    <a:lstStyle/>
                    <a:p>
                      <a:pPr algn="ctr"/>
                      <a:r>
                        <a:rPr sz="1400" b="0" i="0">
                          <a:solidFill>
                            <a:srgbClr val="1F2A30"/>
                          </a:solidFill>
                          <a:latin typeface="微软雅黑"/>
                          <a:ea typeface="微软雅黑"/>
                          <a:cs typeface="微软雅黑"/>
                        </a:rPr>
                        <a:t>42.1</a:t>
                      </a:r>
                    </a:p>
                  </a:txBody>
                  <a:tcPr marL="54864" marR="54864" marT="36576" marB="36576" anchor="ctr">
                    <a:solidFill>
                      <a:srgbClr val="FFFFFF"/>
                    </a:solidFill>
                  </a:tcPr>
                </a:tc>
                <a:tc>
                  <a:txBody>
                    <a:bodyPr/>
                    <a:lstStyle/>
                    <a:p>
                      <a:pPr algn="ctr"/>
                      <a:r>
                        <a:rPr sz="1400" b="0" i="0">
                          <a:solidFill>
                            <a:srgbClr val="1F2A30"/>
                          </a:solidFill>
                          <a:latin typeface="微软雅黑"/>
                          <a:ea typeface="微软雅黑"/>
                          <a:cs typeface="微软雅黑"/>
                        </a:rPr>
                        <a:t>23.4</a:t>
                      </a:r>
                    </a:p>
                  </a:txBody>
                  <a:tcPr marL="54864" marR="54864" marT="36576" marB="36576" anchor="ctr">
                    <a:solidFill>
                      <a:srgbClr val="FFFFFF"/>
                    </a:solidFill>
                  </a:tcPr>
                </a:tc>
                <a:tc>
                  <a:txBody>
                    <a:bodyPr/>
                    <a:lstStyle/>
                    <a:p>
                      <a:pPr algn="ctr"/>
                      <a:r>
                        <a:rPr sz="1400" b="0" i="0">
                          <a:solidFill>
                            <a:srgbClr val="1F2A30"/>
                          </a:solidFill>
                          <a:latin typeface="微软雅黑"/>
                          <a:ea typeface="微软雅黑"/>
                          <a:cs typeface="微软雅黑"/>
                        </a:rPr>
                        <a:t>52.5</a:t>
                      </a:r>
                    </a:p>
                  </a:txBody>
                  <a:tcPr marL="54864" marR="54864" marT="36576" marB="36576" anchor="ctr">
                    <a:solidFill>
                      <a:srgbClr val="FFFFFF"/>
                    </a:solidFill>
                  </a:tcPr>
                </a:tc>
                <a:extLst>
                  <a:ext uri="{0D108BD9-81ED-4DB2-BD59-A6C34878D82A}">
                    <a16:rowId xmlns:a16="http://schemas.microsoft.com/office/drawing/2014/main" val="10001"/>
                  </a:ext>
                </a:extLst>
              </a:tr>
              <a:tr h="491490">
                <a:tc>
                  <a:txBody>
                    <a:bodyPr/>
                    <a:lstStyle/>
                    <a:p>
                      <a:pPr algn="ctr"/>
                      <a:r>
                        <a:rPr sz="1400" b="1" i="0">
                          <a:solidFill>
                            <a:srgbClr val="1F2A30"/>
                          </a:solidFill>
                          <a:latin typeface="微软雅黑"/>
                          <a:ea typeface="微软雅黑"/>
                          <a:cs typeface="微软雅黑"/>
                        </a:rPr>
                        <a:t>Qwen3-VL-ft</a:t>
                      </a:r>
                    </a:p>
                  </a:txBody>
                  <a:tcPr marL="54864" marR="54864" marT="36576" marB="36576" anchor="ctr">
                    <a:solidFill>
                      <a:srgbClr val="F4F8F8"/>
                    </a:solidFill>
                  </a:tcPr>
                </a:tc>
                <a:tc>
                  <a:txBody>
                    <a:bodyPr/>
                    <a:lstStyle/>
                    <a:p>
                      <a:pPr algn="ctr"/>
                      <a:r>
                        <a:rPr sz="1400" b="0" i="0">
                          <a:solidFill>
                            <a:srgbClr val="1F2A30"/>
                          </a:solidFill>
                          <a:latin typeface="微软雅黑"/>
                          <a:ea typeface="微软雅黑"/>
                          <a:cs typeface="微软雅黑"/>
                        </a:rPr>
                        <a:t>74.5</a:t>
                      </a:r>
                    </a:p>
                  </a:txBody>
                  <a:tcPr marL="54864" marR="54864" marT="36576" marB="36576" anchor="ctr">
                    <a:solidFill>
                      <a:srgbClr val="F4F8F8"/>
                    </a:solidFill>
                  </a:tcPr>
                </a:tc>
                <a:tc>
                  <a:txBody>
                    <a:bodyPr/>
                    <a:lstStyle/>
                    <a:p>
                      <a:pPr algn="ctr"/>
                      <a:r>
                        <a:rPr sz="1400" b="0" i="0">
                          <a:solidFill>
                            <a:srgbClr val="1F2A30"/>
                          </a:solidFill>
                          <a:latin typeface="微软雅黑"/>
                          <a:ea typeface="微软雅黑"/>
                          <a:cs typeface="微软雅黑"/>
                        </a:rPr>
                        <a:t>63.0</a:t>
                      </a:r>
                    </a:p>
                  </a:txBody>
                  <a:tcPr marL="54864" marR="54864" marT="36576" marB="36576" anchor="ctr">
                    <a:solidFill>
                      <a:srgbClr val="F4F8F8"/>
                    </a:solidFill>
                  </a:tcPr>
                </a:tc>
                <a:tc>
                  <a:txBody>
                    <a:bodyPr/>
                    <a:lstStyle/>
                    <a:p>
                      <a:pPr algn="ctr"/>
                      <a:r>
                        <a:rPr sz="1400" b="0" i="0">
                          <a:solidFill>
                            <a:srgbClr val="1F2A30"/>
                          </a:solidFill>
                          <a:latin typeface="微软雅黑"/>
                          <a:ea typeface="微软雅黑"/>
                          <a:cs typeface="微软雅黑"/>
                        </a:rPr>
                        <a:t>71.6</a:t>
                      </a:r>
                    </a:p>
                  </a:txBody>
                  <a:tcPr marL="54864" marR="54864" marT="36576" marB="36576" anchor="ctr">
                    <a:solidFill>
                      <a:srgbClr val="F4F8F8"/>
                    </a:solidFill>
                  </a:tcPr>
                </a:tc>
                <a:tc>
                  <a:txBody>
                    <a:bodyPr/>
                    <a:lstStyle/>
                    <a:p>
                      <a:pPr algn="ctr"/>
                      <a:r>
                        <a:rPr sz="1400" b="0" i="0">
                          <a:solidFill>
                            <a:srgbClr val="1F2A30"/>
                          </a:solidFill>
                          <a:latin typeface="微软雅黑"/>
                          <a:ea typeface="微软雅黑"/>
                          <a:cs typeface="微软雅黑"/>
                        </a:rPr>
                        <a:t>43.1</a:t>
                      </a:r>
                    </a:p>
                  </a:txBody>
                  <a:tcPr marL="54864" marR="54864" marT="36576" marB="36576" anchor="ctr">
                    <a:solidFill>
                      <a:srgbClr val="F4F8F8"/>
                    </a:solidFill>
                  </a:tcPr>
                </a:tc>
                <a:extLst>
                  <a:ext uri="{0D108BD9-81ED-4DB2-BD59-A6C34878D82A}">
                    <a16:rowId xmlns:a16="http://schemas.microsoft.com/office/drawing/2014/main" val="10002"/>
                  </a:ext>
                </a:extLst>
              </a:tr>
              <a:tr h="491490">
                <a:tc>
                  <a:txBody>
                    <a:bodyPr/>
                    <a:lstStyle/>
                    <a:p>
                      <a:pPr algn="ctr"/>
                      <a:r>
                        <a:rPr sz="1400" b="1" i="0">
                          <a:solidFill>
                            <a:srgbClr val="1B3A4B"/>
                          </a:solidFill>
                          <a:latin typeface="微软雅黑"/>
                          <a:ea typeface="微软雅黑"/>
                          <a:cs typeface="微软雅黑"/>
                        </a:rPr>
                        <a:t>SurgTEMP</a:t>
                      </a:r>
                    </a:p>
                  </a:txBody>
                  <a:tcPr marL="54864" marR="54864" marT="36576" marB="36576" anchor="ctr">
                    <a:solidFill>
                      <a:srgbClr val="FFFFFF"/>
                    </a:solidFill>
                  </a:tcPr>
                </a:tc>
                <a:tc>
                  <a:txBody>
                    <a:bodyPr/>
                    <a:lstStyle/>
                    <a:p>
                      <a:pPr algn="ctr"/>
                      <a:r>
                        <a:rPr sz="1400" b="1" i="0">
                          <a:solidFill>
                            <a:srgbClr val="1B3A4B"/>
                          </a:solidFill>
                          <a:latin typeface="微软雅黑"/>
                          <a:ea typeface="微软雅黑"/>
                          <a:cs typeface="微软雅黑"/>
                        </a:rPr>
                        <a:t>84.2</a:t>
                      </a:r>
                    </a:p>
                  </a:txBody>
                  <a:tcPr marL="54864" marR="54864" marT="36576" marB="36576" anchor="ctr">
                    <a:solidFill>
                      <a:srgbClr val="FFFFFF"/>
                    </a:solidFill>
                  </a:tcPr>
                </a:tc>
                <a:tc>
                  <a:txBody>
                    <a:bodyPr/>
                    <a:lstStyle/>
                    <a:p>
                      <a:pPr algn="ctr"/>
                      <a:r>
                        <a:rPr sz="1400" b="1" i="0">
                          <a:solidFill>
                            <a:srgbClr val="1B3A4B"/>
                          </a:solidFill>
                          <a:latin typeface="微软雅黑"/>
                          <a:ea typeface="微软雅黑"/>
                          <a:cs typeface="微软雅黑"/>
                        </a:rPr>
                        <a:t>70.6</a:t>
                      </a:r>
                    </a:p>
                  </a:txBody>
                  <a:tcPr marL="54864" marR="54864" marT="36576" marB="36576" anchor="ctr">
                    <a:solidFill>
                      <a:srgbClr val="FFFFFF"/>
                    </a:solidFill>
                  </a:tcPr>
                </a:tc>
                <a:tc>
                  <a:txBody>
                    <a:bodyPr/>
                    <a:lstStyle/>
                    <a:p>
                      <a:pPr algn="ctr"/>
                      <a:r>
                        <a:rPr sz="1400" b="1" i="0">
                          <a:solidFill>
                            <a:srgbClr val="1B3A4B"/>
                          </a:solidFill>
                          <a:latin typeface="微软雅黑"/>
                          <a:ea typeface="微软雅黑"/>
                          <a:cs typeface="微软雅黑"/>
                        </a:rPr>
                        <a:t>73.0</a:t>
                      </a:r>
                    </a:p>
                  </a:txBody>
                  <a:tcPr marL="54864" marR="54864" marT="36576" marB="36576" anchor="ctr">
                    <a:solidFill>
                      <a:srgbClr val="FFFFFF"/>
                    </a:solidFill>
                  </a:tcPr>
                </a:tc>
                <a:tc>
                  <a:txBody>
                    <a:bodyPr/>
                    <a:lstStyle/>
                    <a:p>
                      <a:pPr algn="ctr"/>
                      <a:r>
                        <a:rPr sz="1400" b="1" i="0">
                          <a:solidFill>
                            <a:srgbClr val="1B3A4B"/>
                          </a:solidFill>
                          <a:latin typeface="微软雅黑"/>
                          <a:ea typeface="微软雅黑"/>
                          <a:cs typeface="微软雅黑"/>
                        </a:rPr>
                        <a:t>76.9</a:t>
                      </a:r>
                    </a:p>
                  </a:txBody>
                  <a:tcPr marL="54864" marR="54864"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8" name="Rounded Rectangle 7"/>
          <p:cNvSpPr/>
          <p:nvPr/>
        </p:nvSpPr>
        <p:spPr>
          <a:xfrm>
            <a:off x="438912" y="3429000"/>
            <a:ext cx="2788920" cy="23317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5216" y="3566160"/>
            <a:ext cx="2514600" cy="36576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CVS  +4.0</a:t>
            </a:r>
          </a:p>
        </p:txBody>
      </p:sp>
      <p:sp>
        <p:nvSpPr>
          <p:cNvPr id="10" name="TextBox 9"/>
          <p:cNvSpPr txBox="1"/>
          <p:nvPr/>
        </p:nvSpPr>
        <p:spPr>
          <a:xfrm>
            <a:off x="585216" y="4023360"/>
            <a:ext cx="2514600" cy="155448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相对 VideoGPT+-ft。窗口短、标准明确，微调基线已经不差。</a:t>
            </a:r>
          </a:p>
        </p:txBody>
      </p:sp>
      <p:sp>
        <p:nvSpPr>
          <p:cNvPr id="11" name="Rounded Rectangle 10"/>
          <p:cNvSpPr/>
          <p:nvPr/>
        </p:nvSpPr>
        <p:spPr>
          <a:xfrm>
            <a:off x="3364992" y="3429000"/>
            <a:ext cx="2788920" cy="23317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11296" y="3566160"/>
            <a:ext cx="2514600" cy="36576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难度  +7.6</a:t>
            </a:r>
          </a:p>
        </p:txBody>
      </p:sp>
      <p:sp>
        <p:nvSpPr>
          <p:cNvPr id="13" name="TextBox 12"/>
          <p:cNvSpPr txBox="1"/>
          <p:nvPr/>
        </p:nvSpPr>
        <p:spPr>
          <a:xfrm>
            <a:off x="3511296" y="4023360"/>
            <a:ext cx="2514600" cy="155448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相对 Qwen3-VL-ft。粘连和脂肪要把局部外观放回上下文。</a:t>
            </a:r>
          </a:p>
        </p:txBody>
      </p:sp>
      <p:sp>
        <p:nvSpPr>
          <p:cNvPr id="14" name="Rounded Rectangle 13"/>
          <p:cNvSpPr/>
          <p:nvPr/>
        </p:nvSpPr>
        <p:spPr>
          <a:xfrm>
            <a:off x="6291072" y="3429000"/>
            <a:ext cx="2788920" cy="23317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37376" y="3566160"/>
            <a:ext cx="2514600" cy="36576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不良事件  +1.5</a:t>
            </a:r>
          </a:p>
        </p:txBody>
      </p:sp>
      <p:sp>
        <p:nvSpPr>
          <p:cNvPr id="16" name="TextBox 15"/>
          <p:cNvSpPr txBox="1"/>
          <p:nvPr/>
        </p:nvSpPr>
        <p:spPr>
          <a:xfrm>
            <a:off x="6437376" y="4023360"/>
            <a:ext cx="2514600" cy="155448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相对 Qwen3-VL-ft 几乎打平。相对另一基线则差很多，结果不稳。</a:t>
            </a:r>
          </a:p>
        </p:txBody>
      </p:sp>
      <p:sp>
        <p:nvSpPr>
          <p:cNvPr id="17" name="Rounded Rectangle 16"/>
          <p:cNvSpPr/>
          <p:nvPr/>
        </p:nvSpPr>
        <p:spPr>
          <a:xfrm>
            <a:off x="9217152" y="3429000"/>
            <a:ext cx="2788920" cy="23317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3566160"/>
            <a:ext cx="2514600" cy="36576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技能  +24.4</a:t>
            </a:r>
          </a:p>
        </p:txBody>
      </p:sp>
      <p:sp>
        <p:nvSpPr>
          <p:cNvPr id="19" name="TextBox 18"/>
          <p:cNvSpPr txBox="1"/>
          <p:nvPr/>
        </p:nvSpPr>
        <p:spPr>
          <a:xfrm>
            <a:off x="9363456" y="4023360"/>
            <a:ext cx="2514600" cy="155448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四项里差距最大。每项只有 37 问，作者要求只当作趋势。</a:t>
            </a:r>
          </a:p>
        </p:txBody>
      </p:sp>
      <p:sp>
        <p:nvSpPr>
          <p:cNvPr id="20" name="Rectangle 19"/>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2" name="TextBox 21"/>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3" name="TextBox 22"/>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17  /  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A7B03-9337-5DA7-F38B-CA641CA6897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658EC9-27A3-9EB9-DFBC-42938773F462}"/>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0597C7B-17AD-E981-E4ED-5FA75AE080F3}"/>
              </a:ext>
            </a:extLst>
          </p:cNvPr>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B070459-8799-40D5-1BFC-6C89C381E1CA}"/>
              </a:ext>
            </a:extLst>
          </p:cNvPr>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Results · 专家手写答案</a:t>
            </a:r>
          </a:p>
        </p:txBody>
      </p:sp>
      <p:sp>
        <p:nvSpPr>
          <p:cNvPr id="6" name="Rectangle 5">
            <a:extLst>
              <a:ext uri="{FF2B5EF4-FFF2-40B4-BE49-F238E27FC236}">
                <a16:creationId xmlns:a16="http://schemas.microsoft.com/office/drawing/2014/main" id="{8FD470D5-93B2-CCF0-AFE0-3EBB5DAFBE0F}"/>
              </a:ext>
            </a:extLst>
          </p:cNvPr>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ADD6D322-D6BD-8ADF-2E04-10AE30156A11}"/>
              </a:ext>
            </a:extLst>
          </p:cNvPr>
          <p:cNvSpPr/>
          <p:nvPr/>
        </p:nvSpPr>
        <p:spPr>
          <a:xfrm>
            <a:off x="286514" y="1228296"/>
            <a:ext cx="2319526" cy="1832885"/>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321A286-22CB-8C64-26DC-9E64D3D96BB3}"/>
              </a:ext>
            </a:extLst>
          </p:cNvPr>
          <p:cNvSpPr txBox="1"/>
          <p:nvPr/>
        </p:nvSpPr>
        <p:spPr>
          <a:xfrm>
            <a:off x="462054" y="1379172"/>
            <a:ext cx="2514600" cy="365760"/>
          </a:xfrm>
          <a:prstGeom prst="rect">
            <a:avLst/>
          </a:prstGeom>
          <a:noFill/>
        </p:spPr>
        <p:txBody>
          <a:bodyPr wrap="square" lIns="0" tIns="0" rIns="0" bIns="0" anchor="t"/>
          <a:lstStyle/>
          <a:p>
            <a:pPr algn="l">
              <a:spcBef>
                <a:spcPts val="0"/>
              </a:spcBef>
              <a:spcAft>
                <a:spcPts val="0"/>
              </a:spcAft>
            </a:pPr>
            <a:r>
              <a:rPr lang="zh-CN" altLang="en-US" b="1" dirty="0">
                <a:solidFill>
                  <a:srgbClr val="0E4C57"/>
                </a:solidFill>
                <a:latin typeface="微软雅黑"/>
                <a:ea typeface="微软雅黑"/>
                <a:cs typeface="微软雅黑"/>
              </a:rPr>
              <a:t>主测试集</a:t>
            </a:r>
            <a:endParaRPr b="1" i="0" dirty="0">
              <a:solidFill>
                <a:srgbClr val="0E4C57"/>
              </a:solidFill>
              <a:latin typeface="微软雅黑"/>
              <a:ea typeface="微软雅黑"/>
              <a:cs typeface="微软雅黑"/>
            </a:endParaRPr>
          </a:p>
        </p:txBody>
      </p:sp>
      <p:sp>
        <p:nvSpPr>
          <p:cNvPr id="10" name="TextBox 9">
            <a:extLst>
              <a:ext uri="{FF2B5EF4-FFF2-40B4-BE49-F238E27FC236}">
                <a16:creationId xmlns:a16="http://schemas.microsoft.com/office/drawing/2014/main" id="{9B17A9FC-BA8B-91EF-FBB6-AF1EADAF31B5}"/>
              </a:ext>
            </a:extLst>
          </p:cNvPr>
          <p:cNvSpPr txBox="1"/>
          <p:nvPr/>
        </p:nvSpPr>
        <p:spPr>
          <a:xfrm>
            <a:off x="465219" y="1723118"/>
            <a:ext cx="2087082" cy="598932"/>
          </a:xfrm>
          <a:prstGeom prst="rect">
            <a:avLst/>
          </a:prstGeom>
          <a:noFill/>
        </p:spPr>
        <p:txBody>
          <a:bodyPr wrap="square" lIns="0" tIns="0" rIns="0" bIns="0" anchor="t"/>
          <a:lstStyle/>
          <a:p>
            <a:pPr algn="l">
              <a:lnSpc>
                <a:spcPct val="150000"/>
              </a:lnSpc>
              <a:spcBef>
                <a:spcPts val="0"/>
              </a:spcBef>
              <a:spcAft>
                <a:spcPts val="0"/>
              </a:spcAft>
            </a:pPr>
            <a:r>
              <a:rPr lang="zh-CN" altLang="en-US" b="0" i="0" dirty="0">
                <a:solidFill>
                  <a:srgbClr val="1F2A30"/>
                </a:solidFill>
                <a:latin typeface="微软雅黑"/>
                <a:ea typeface="微软雅黑"/>
                <a:cs typeface="微软雅黑"/>
              </a:rPr>
              <a:t>标准答案由结构化临床标注经大模型二次整理得到</a:t>
            </a:r>
            <a:endParaRPr b="0" i="0" dirty="0">
              <a:solidFill>
                <a:srgbClr val="1F2A30"/>
              </a:solidFill>
              <a:latin typeface="微软雅黑"/>
              <a:ea typeface="微软雅黑"/>
              <a:cs typeface="微软雅黑"/>
            </a:endParaRPr>
          </a:p>
        </p:txBody>
      </p:sp>
      <p:sp>
        <p:nvSpPr>
          <p:cNvPr id="11" name="Rounded Rectangle 10">
            <a:extLst>
              <a:ext uri="{FF2B5EF4-FFF2-40B4-BE49-F238E27FC236}">
                <a16:creationId xmlns:a16="http://schemas.microsoft.com/office/drawing/2014/main" id="{72D0349B-CB6A-85D1-B1F2-3FA53936A0C2}"/>
              </a:ext>
            </a:extLst>
          </p:cNvPr>
          <p:cNvSpPr/>
          <p:nvPr/>
        </p:nvSpPr>
        <p:spPr>
          <a:xfrm>
            <a:off x="286514" y="3252728"/>
            <a:ext cx="2319526" cy="2983483"/>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FEC80BF4-9D7E-3492-981D-448DD72A6281}"/>
              </a:ext>
            </a:extLst>
          </p:cNvPr>
          <p:cNvSpPr txBox="1"/>
          <p:nvPr/>
        </p:nvSpPr>
        <p:spPr>
          <a:xfrm>
            <a:off x="438912" y="3340024"/>
            <a:ext cx="2514600" cy="365760"/>
          </a:xfrm>
          <a:prstGeom prst="rect">
            <a:avLst/>
          </a:prstGeom>
          <a:noFill/>
        </p:spPr>
        <p:txBody>
          <a:bodyPr wrap="square" lIns="0" tIns="0" rIns="0" bIns="0" anchor="t"/>
          <a:lstStyle/>
          <a:p>
            <a:pPr algn="l">
              <a:spcBef>
                <a:spcPts val="0"/>
              </a:spcBef>
              <a:spcAft>
                <a:spcPts val="0"/>
              </a:spcAft>
            </a:pPr>
            <a:r>
              <a:rPr lang="zh-CN" altLang="en-US" b="1" i="0" dirty="0">
                <a:solidFill>
                  <a:srgbClr val="0E4C57"/>
                </a:solidFill>
                <a:latin typeface="微软雅黑"/>
                <a:ea typeface="微软雅黑"/>
                <a:cs typeface="微软雅黑"/>
              </a:rPr>
              <a:t>专家手写答案子集</a:t>
            </a:r>
            <a:endParaRPr b="1" i="0" dirty="0">
              <a:solidFill>
                <a:srgbClr val="0E4C57"/>
              </a:solidFill>
              <a:latin typeface="微软雅黑"/>
              <a:ea typeface="微软雅黑"/>
              <a:cs typeface="微软雅黑"/>
            </a:endParaRPr>
          </a:p>
        </p:txBody>
      </p:sp>
      <p:sp>
        <p:nvSpPr>
          <p:cNvPr id="13" name="TextBox 12">
            <a:extLst>
              <a:ext uri="{FF2B5EF4-FFF2-40B4-BE49-F238E27FC236}">
                <a16:creationId xmlns:a16="http://schemas.microsoft.com/office/drawing/2014/main" id="{41D2F319-D59B-5BD9-1472-6DADDFDA1EB7}"/>
              </a:ext>
            </a:extLst>
          </p:cNvPr>
          <p:cNvSpPr txBox="1"/>
          <p:nvPr/>
        </p:nvSpPr>
        <p:spPr>
          <a:xfrm>
            <a:off x="446931" y="3701916"/>
            <a:ext cx="2087082" cy="921913"/>
          </a:xfrm>
          <a:prstGeom prst="rect">
            <a:avLst/>
          </a:prstGeom>
          <a:noFill/>
        </p:spPr>
        <p:txBody>
          <a:bodyPr wrap="square" lIns="0" tIns="0" rIns="0" bIns="0" anchor="t"/>
          <a:lstStyle/>
          <a:p>
            <a:pPr>
              <a:lnSpc>
                <a:spcPct val="150000"/>
              </a:lnSpc>
            </a:pPr>
            <a:r>
              <a:rPr lang="zh-CN" altLang="en-US" dirty="0">
                <a:solidFill>
                  <a:srgbClr val="1F2A30"/>
                </a:solidFill>
                <a:latin typeface="微软雅黑"/>
                <a:ea typeface="微软雅黑"/>
                <a:cs typeface="微软雅黑"/>
              </a:rPr>
              <a:t>由临床专家结合视频内容与外科领域知识直接撰写，可作为基准，用于评估模型贴合真实临床推理模式的能力</a:t>
            </a:r>
            <a:endParaRPr b="0" i="0" dirty="0">
              <a:solidFill>
                <a:srgbClr val="1F2A30"/>
              </a:solidFill>
              <a:latin typeface="微软雅黑"/>
              <a:ea typeface="微软雅黑"/>
              <a:cs typeface="微软雅黑"/>
            </a:endParaRPr>
          </a:p>
        </p:txBody>
      </p:sp>
      <p:sp>
        <p:nvSpPr>
          <p:cNvPr id="20" name="Rectangle 19">
            <a:extLst>
              <a:ext uri="{FF2B5EF4-FFF2-40B4-BE49-F238E27FC236}">
                <a16:creationId xmlns:a16="http://schemas.microsoft.com/office/drawing/2014/main" id="{3CCB26BF-4185-7E3F-7A5B-2B1C2E717F05}"/>
              </a:ext>
            </a:extLst>
          </p:cNvPr>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BC2F382B-8D91-1C4E-D3CD-A57F67DD2797}"/>
              </a:ext>
            </a:extLst>
          </p:cNvPr>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2" name="TextBox 21">
            <a:extLst>
              <a:ext uri="{FF2B5EF4-FFF2-40B4-BE49-F238E27FC236}">
                <a16:creationId xmlns:a16="http://schemas.microsoft.com/office/drawing/2014/main" id="{D4072E4B-A391-FFFD-492E-1E173CD0A1B9}"/>
              </a:ext>
            </a:extLst>
          </p:cNvPr>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3" name="TextBox 22">
            <a:extLst>
              <a:ext uri="{FF2B5EF4-FFF2-40B4-BE49-F238E27FC236}">
                <a16:creationId xmlns:a16="http://schemas.microsoft.com/office/drawing/2014/main" id="{FC85F553-3BC2-487C-F91D-32D99D570272}"/>
              </a:ext>
            </a:extLst>
          </p:cNvPr>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17  /  26</a:t>
            </a:r>
          </a:p>
        </p:txBody>
      </p:sp>
      <p:pic>
        <p:nvPicPr>
          <p:cNvPr id="25" name="图片 24">
            <a:extLst>
              <a:ext uri="{FF2B5EF4-FFF2-40B4-BE49-F238E27FC236}">
                <a16:creationId xmlns:a16="http://schemas.microsoft.com/office/drawing/2014/main" id="{714F77B3-671E-DA1D-E3C1-97393B51021D}"/>
              </a:ext>
            </a:extLst>
          </p:cNvPr>
          <p:cNvPicPr>
            <a:picLocks noChangeAspect="1"/>
          </p:cNvPicPr>
          <p:nvPr/>
        </p:nvPicPr>
        <p:blipFill>
          <a:blip r:embed="rId3"/>
          <a:stretch>
            <a:fillRect/>
          </a:stretch>
        </p:blipFill>
        <p:spPr>
          <a:xfrm>
            <a:off x="2699728" y="1099458"/>
            <a:ext cx="9205758" cy="5159187"/>
          </a:xfrm>
          <a:prstGeom prst="rect">
            <a:avLst/>
          </a:prstGeom>
        </p:spPr>
      </p:pic>
    </p:spTree>
    <p:extLst>
      <p:ext uri="{BB962C8B-B14F-4D97-AF65-F5344CB8AC3E}">
        <p14:creationId xmlns:p14="http://schemas.microsoft.com/office/powerpoint/2010/main" val="1035691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64592"/>
            <a:ext cx="11247120" cy="237744"/>
          </a:xfrm>
          <a:prstGeom prst="rect">
            <a:avLst/>
          </a:prstGeom>
          <a:noFill/>
        </p:spPr>
        <p:txBody>
          <a:bodyPr wrap="square" lIns="0" tIns="0" rIns="0" bIns="0" anchor="t"/>
          <a:lstStyle/>
          <a:p>
            <a:pPr algn="l">
              <a:spcBef>
                <a:spcPts val="0"/>
              </a:spcBef>
              <a:spcAft>
                <a:spcPts val="0"/>
              </a:spcAft>
            </a:pPr>
            <a:r>
              <a:rPr sz="1200" b="1" i="0" dirty="0" err="1">
                <a:solidFill>
                  <a:srgbClr val="1A6B7A"/>
                </a:solidFill>
                <a:latin typeface="微软雅黑"/>
                <a:ea typeface="微软雅黑"/>
                <a:cs typeface="微软雅黑"/>
              </a:rPr>
              <a:t>选帧是否落在临床认为有信息的画面上</a:t>
            </a:r>
            <a:endParaRPr sz="1200" b="1" i="0" dirty="0">
              <a:solidFill>
                <a:srgbClr val="1A6B7A"/>
              </a:solidFill>
              <a:latin typeface="微软雅黑"/>
              <a:ea typeface="微软雅黑"/>
              <a:cs typeface="微软雅黑"/>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Qualitative Demonstration</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43000"/>
            <a:ext cx="5532120" cy="49377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98448"/>
            <a:ext cx="5120640" cy="365760"/>
          </a:xfrm>
          <a:prstGeom prst="rect">
            <a:avLst/>
          </a:prstGeom>
          <a:noFill/>
        </p:spPr>
        <p:txBody>
          <a:bodyPr wrap="square" lIns="0" tIns="0" rIns="0" bIns="0" anchor="t"/>
          <a:lstStyle/>
          <a:p>
            <a:pPr algn="l">
              <a:spcBef>
                <a:spcPts val="0"/>
              </a:spcBef>
              <a:spcAft>
                <a:spcPts val="0"/>
              </a:spcAft>
            </a:pPr>
            <a:r>
              <a:rPr sz="1600" b="1" i="0">
                <a:solidFill>
                  <a:srgbClr val="1B3A4B"/>
                </a:solidFill>
                <a:latin typeface="微软雅黑"/>
                <a:ea typeface="微软雅黑"/>
                <a:cs typeface="微软雅黑"/>
              </a:rPr>
              <a:t>图 13：避开无关画面</a:t>
            </a:r>
          </a:p>
        </p:txBody>
      </p:sp>
      <p:sp>
        <p:nvSpPr>
          <p:cNvPr id="9" name="TextBox 8"/>
          <p:cNvSpPr txBox="1"/>
          <p:nvPr/>
        </p:nvSpPr>
        <p:spPr>
          <a:xfrm>
            <a:off x="640080" y="1828800"/>
            <a:ext cx="5120640" cy="384048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64 帧排成 8×8，标出时间戳。红色框是 top-10，专家标出的最有信息帧被选为第 2。
模型同时避开体外画面。这些帧对评估没有帮助，均匀抽帧却经常把它们留在上下文里。</a:t>
            </a:r>
          </a:p>
        </p:txBody>
      </p:sp>
      <p:sp>
        <p:nvSpPr>
          <p:cNvPr id="10" name="Rounded Rectangle 9"/>
          <p:cNvSpPr/>
          <p:nvPr/>
        </p:nvSpPr>
        <p:spPr>
          <a:xfrm>
            <a:off x="6217920" y="1143000"/>
            <a:ext cx="5532120" cy="49377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1298448"/>
            <a:ext cx="5120640" cy="365760"/>
          </a:xfrm>
          <a:prstGeom prst="rect">
            <a:avLst/>
          </a:prstGeom>
          <a:noFill/>
        </p:spPr>
        <p:txBody>
          <a:bodyPr wrap="square" lIns="0" tIns="0" rIns="0" bIns="0" anchor="t"/>
          <a:lstStyle/>
          <a:p>
            <a:pPr algn="l">
              <a:spcBef>
                <a:spcPts val="0"/>
              </a:spcBef>
              <a:spcAft>
                <a:spcPts val="0"/>
              </a:spcAft>
            </a:pPr>
            <a:r>
              <a:rPr sz="1600" b="1" i="0">
                <a:solidFill>
                  <a:srgbClr val="1B3A4B"/>
                </a:solidFill>
                <a:latin typeface="微软雅黑"/>
                <a:ea typeface="微软雅黑"/>
                <a:cs typeface="微软雅黑"/>
              </a:rPr>
              <a:t>图 14：证据分散时</a:t>
            </a:r>
          </a:p>
        </p:txBody>
      </p:sp>
      <p:sp>
        <p:nvSpPr>
          <p:cNvPr id="12" name="TextBox 11"/>
          <p:cNvSpPr txBox="1"/>
          <p:nvPr/>
        </p:nvSpPr>
        <p:spPr>
          <a:xfrm>
            <a:off x="6419088" y="1828800"/>
            <a:ext cx="5120640" cy="384048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专家帧只排到第 7，其余名额分给出血和胆囊床剥离。
这说明 top-k 不是只追一张“标准图”。问题若依赖一组分散事件，选帧会铺开。论文没有给出和专家帧的定量重合率，这里是个案。</a:t>
            </a:r>
          </a:p>
        </p:txBody>
      </p:sp>
      <p:sp>
        <p:nvSpPr>
          <p:cNvPr id="13" name="Rectangle 12"/>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5" name="TextBox 14"/>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6" name="TextBox 15"/>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18  /  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Ablation Study</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743176" y="1605765"/>
            <a:ext cx="3337560" cy="37947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26056" y="1874050"/>
            <a:ext cx="3017520" cy="640080"/>
          </a:xfrm>
          <a:prstGeom prst="rect">
            <a:avLst/>
          </a:prstGeom>
          <a:noFill/>
        </p:spPr>
        <p:txBody>
          <a:bodyPr wrap="square" lIns="0" tIns="0" rIns="0" bIns="0" anchor="t"/>
          <a:lstStyle/>
          <a:p>
            <a:pPr algn="l">
              <a:spcBef>
                <a:spcPts val="0"/>
              </a:spcBef>
              <a:spcAft>
                <a:spcPts val="0"/>
              </a:spcAft>
            </a:pPr>
            <a:r>
              <a:rPr sz="2000" b="1" i="0" dirty="0" err="1">
                <a:solidFill>
                  <a:srgbClr val="1B3A4B"/>
                </a:solidFill>
                <a:latin typeface="微软雅黑"/>
                <a:ea typeface="微软雅黑"/>
                <a:cs typeface="微软雅黑"/>
              </a:rPr>
              <a:t>排序</a:t>
            </a:r>
            <a:endParaRPr sz="2000" b="1" i="0" dirty="0">
              <a:solidFill>
                <a:srgbClr val="1B3A4B"/>
              </a:solidFill>
              <a:latin typeface="微软雅黑"/>
              <a:ea typeface="微软雅黑"/>
              <a:cs typeface="微软雅黑"/>
            </a:endParaRPr>
          </a:p>
        </p:txBody>
      </p:sp>
      <p:sp>
        <p:nvSpPr>
          <p:cNvPr id="10" name="TextBox 9"/>
          <p:cNvSpPr txBox="1"/>
          <p:nvPr/>
        </p:nvSpPr>
        <p:spPr>
          <a:xfrm>
            <a:off x="7926056" y="2397075"/>
            <a:ext cx="3759976" cy="2651760"/>
          </a:xfrm>
          <a:prstGeom prst="rect">
            <a:avLst/>
          </a:prstGeom>
          <a:noFill/>
        </p:spPr>
        <p:txBody>
          <a:bodyPr wrap="square" lIns="0" tIns="0" rIns="0" bIns="0" anchor="t"/>
          <a:lstStyle/>
          <a:p>
            <a:pPr algn="l">
              <a:lnSpc>
                <a:spcPct val="150000"/>
              </a:lnSpc>
              <a:spcBef>
                <a:spcPts val="0"/>
              </a:spcBef>
              <a:spcAft>
                <a:spcPts val="0"/>
              </a:spcAft>
            </a:pPr>
            <a:r>
              <a:rPr lang="en-US" altLang="zh-CN" b="0" i="0" dirty="0">
                <a:solidFill>
                  <a:srgbClr val="1F2A30"/>
                </a:solidFill>
                <a:latin typeface="微软雅黑"/>
                <a:ea typeface="微软雅黑"/>
                <a:cs typeface="微软雅黑"/>
              </a:rPr>
              <a:t>TAS</a:t>
            </a:r>
            <a:r>
              <a:rPr lang="zh-CN" altLang="en-US" dirty="0">
                <a:solidFill>
                  <a:srgbClr val="1F2A30"/>
                </a:solidFill>
                <a:latin typeface="微软雅黑"/>
                <a:ea typeface="微软雅黑"/>
                <a:cs typeface="微软雅黑"/>
              </a:rPr>
              <a:t> </a:t>
            </a:r>
            <a:r>
              <a:rPr lang="zh-CN" altLang="en-US" b="0" i="0" dirty="0">
                <a:solidFill>
                  <a:srgbClr val="1F2A30"/>
                </a:solidFill>
                <a:latin typeface="微软雅黑"/>
                <a:ea typeface="微软雅黑"/>
                <a:cs typeface="微软雅黑"/>
              </a:rPr>
              <a:t>文本引导关键帧筛选）</a:t>
            </a:r>
            <a:endParaRPr lang="en-US" altLang="zh-CN" b="0" i="0" dirty="0">
              <a:solidFill>
                <a:srgbClr val="1F2A30"/>
              </a:solidFill>
              <a:latin typeface="微软雅黑"/>
              <a:ea typeface="微软雅黑"/>
              <a:cs typeface="微软雅黑"/>
            </a:endParaRPr>
          </a:p>
          <a:p>
            <a:pPr algn="l">
              <a:lnSpc>
                <a:spcPct val="150000"/>
              </a:lnSpc>
              <a:spcBef>
                <a:spcPts val="0"/>
              </a:spcBef>
              <a:spcAft>
                <a:spcPts val="0"/>
              </a:spcAft>
            </a:pPr>
            <a:r>
              <a:rPr lang="en-US" altLang="zh-CN" b="0" i="0" dirty="0">
                <a:solidFill>
                  <a:srgbClr val="1F2A30"/>
                </a:solidFill>
                <a:latin typeface="微软雅黑"/>
                <a:ea typeface="微软雅黑"/>
                <a:cs typeface="微软雅黑"/>
              </a:rPr>
              <a:t>&gt; TMB </a:t>
            </a:r>
            <a:r>
              <a:rPr lang="zh-CN" altLang="en-US" b="0" i="0" dirty="0">
                <a:solidFill>
                  <a:srgbClr val="1F2A30"/>
                </a:solidFill>
                <a:latin typeface="微软雅黑"/>
                <a:ea typeface="微软雅黑"/>
                <a:cs typeface="微软雅黑"/>
              </a:rPr>
              <a:t>长时序记忆库</a:t>
            </a:r>
            <a:endParaRPr lang="en-US" altLang="zh-CN" b="0" i="0" dirty="0">
              <a:solidFill>
                <a:srgbClr val="1F2A30"/>
              </a:solidFill>
              <a:latin typeface="微软雅黑"/>
              <a:ea typeface="微软雅黑"/>
              <a:cs typeface="微软雅黑"/>
            </a:endParaRPr>
          </a:p>
          <a:p>
            <a:pPr algn="l">
              <a:lnSpc>
                <a:spcPct val="150000"/>
              </a:lnSpc>
              <a:spcBef>
                <a:spcPts val="0"/>
              </a:spcBef>
              <a:spcAft>
                <a:spcPts val="0"/>
              </a:spcAft>
            </a:pPr>
            <a:r>
              <a:rPr lang="en-US" altLang="zh-CN" b="0" i="0" dirty="0">
                <a:solidFill>
                  <a:srgbClr val="1F2A30"/>
                </a:solidFill>
                <a:latin typeface="微软雅黑"/>
                <a:ea typeface="微软雅黑"/>
                <a:cs typeface="微软雅黑"/>
              </a:rPr>
              <a:t>&gt; LS </a:t>
            </a:r>
            <a:r>
              <a:rPr lang="zh-CN" altLang="en-US" b="0" i="0" dirty="0">
                <a:solidFill>
                  <a:srgbClr val="1F2A30"/>
                </a:solidFill>
                <a:latin typeface="微软雅黑"/>
                <a:ea typeface="微软雅黑"/>
                <a:cs typeface="微软雅黑"/>
              </a:rPr>
              <a:t>可学习分隔符 </a:t>
            </a:r>
            <a:endParaRPr lang="en-US" altLang="zh-CN" b="0" i="0" dirty="0">
              <a:solidFill>
                <a:srgbClr val="1F2A30"/>
              </a:solidFill>
              <a:latin typeface="微软雅黑"/>
              <a:ea typeface="微软雅黑"/>
              <a:cs typeface="微软雅黑"/>
            </a:endParaRPr>
          </a:p>
          <a:p>
            <a:pPr algn="l">
              <a:lnSpc>
                <a:spcPct val="150000"/>
              </a:lnSpc>
              <a:spcBef>
                <a:spcPts val="0"/>
              </a:spcBef>
              <a:spcAft>
                <a:spcPts val="0"/>
              </a:spcAft>
            </a:pPr>
            <a:r>
              <a:rPr lang="en-US" altLang="zh-CN" b="0" i="0" dirty="0">
                <a:solidFill>
                  <a:srgbClr val="1F2A30"/>
                </a:solidFill>
                <a:latin typeface="微软雅黑"/>
                <a:ea typeface="微软雅黑"/>
                <a:cs typeface="微软雅黑"/>
              </a:rPr>
              <a:t>&gt; SCP </a:t>
            </a:r>
            <a:r>
              <a:rPr lang="zh-CN" altLang="en-US" b="0" i="0" dirty="0">
                <a:solidFill>
                  <a:srgbClr val="1F2A30"/>
                </a:solidFill>
                <a:latin typeface="微软雅黑"/>
                <a:ea typeface="微软雅黑"/>
                <a:cs typeface="微软雅黑"/>
              </a:rPr>
              <a:t>课程训练</a:t>
            </a:r>
            <a:r>
              <a:rPr b="0" i="0" dirty="0">
                <a:solidFill>
                  <a:srgbClr val="1F2A30"/>
                </a:solidFill>
                <a:latin typeface="微软雅黑"/>
                <a:ea typeface="微软雅黑"/>
                <a:cs typeface="微软雅黑"/>
              </a:rPr>
              <a:t>
</a:t>
            </a:r>
            <a:r>
              <a:rPr lang="zh-CN" altLang="en-US" b="0" i="0" dirty="0">
                <a:solidFill>
                  <a:srgbClr val="1F2A30"/>
                </a:solidFill>
                <a:latin typeface="微软雅黑"/>
                <a:ea typeface="微软雅黑"/>
                <a:cs typeface="微软雅黑"/>
              </a:rPr>
              <a:t>模型没有只靠题干背答案</a:t>
            </a:r>
            <a:endParaRPr b="0" i="0" dirty="0">
              <a:solidFill>
                <a:srgbClr val="1F2A30"/>
              </a:solidFill>
              <a:latin typeface="微软雅黑"/>
              <a:ea typeface="微软雅黑"/>
              <a:cs typeface="微软雅黑"/>
            </a:endParaRPr>
          </a:p>
        </p:txBody>
      </p:sp>
      <p:sp>
        <p:nvSpPr>
          <p:cNvPr id="12" name="Rectangle 11"/>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4" name="TextBox 13"/>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5" name="TextBox 14"/>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19  /  26</a:t>
            </a:r>
          </a:p>
        </p:txBody>
      </p:sp>
      <p:pic>
        <p:nvPicPr>
          <p:cNvPr id="17" name="图片 16">
            <a:extLst>
              <a:ext uri="{FF2B5EF4-FFF2-40B4-BE49-F238E27FC236}">
                <a16:creationId xmlns:a16="http://schemas.microsoft.com/office/drawing/2014/main" id="{E6E6A88B-35B6-6175-3FAF-10CEA9443DFD}"/>
              </a:ext>
            </a:extLst>
          </p:cNvPr>
          <p:cNvPicPr>
            <a:picLocks noChangeAspect="1"/>
          </p:cNvPicPr>
          <p:nvPr/>
        </p:nvPicPr>
        <p:blipFill>
          <a:blip r:embed="rId3"/>
          <a:stretch>
            <a:fillRect/>
          </a:stretch>
        </p:blipFill>
        <p:spPr>
          <a:xfrm>
            <a:off x="1216057" y="1669667"/>
            <a:ext cx="5762358" cy="366695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7A3F42-C097-5A22-AB26-8E763924A0A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B4D086-F85C-5899-CD40-6EF9A3648265}"/>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4239B3E-219C-4336-1FF1-68588DA3A355}"/>
              </a:ext>
            </a:extLst>
          </p:cNvPr>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7E1E455-69BC-2FCC-7B7B-1F1B78C743DB}"/>
              </a:ext>
            </a:extLst>
          </p:cNvPr>
          <p:cNvSpPr txBox="1"/>
          <p:nvPr/>
        </p:nvSpPr>
        <p:spPr>
          <a:xfrm>
            <a:off x="438912" y="164592"/>
            <a:ext cx="11247120" cy="237744"/>
          </a:xfrm>
          <a:prstGeom prst="rect">
            <a:avLst/>
          </a:prstGeom>
          <a:noFill/>
        </p:spPr>
        <p:txBody>
          <a:bodyPr wrap="square" lIns="0" tIns="0" rIns="0" bIns="0" anchor="t"/>
          <a:lstStyle/>
          <a:p>
            <a:pPr algn="l">
              <a:spcBef>
                <a:spcPts val="0"/>
              </a:spcBef>
              <a:spcAft>
                <a:spcPts val="0"/>
              </a:spcAft>
            </a:pPr>
            <a:r>
              <a:rPr sz="1200" b="1" i="0">
                <a:solidFill>
                  <a:srgbClr val="1A6B7A"/>
                </a:solidFill>
                <a:latin typeface="微软雅黑"/>
                <a:ea typeface="微软雅黑"/>
                <a:cs typeface="微软雅黑"/>
              </a:rPr>
              <a:t>去掉哪一块，正确性掉多少</a:t>
            </a:r>
          </a:p>
        </p:txBody>
      </p:sp>
      <p:sp>
        <p:nvSpPr>
          <p:cNvPr id="5" name="TextBox 4">
            <a:extLst>
              <a:ext uri="{FF2B5EF4-FFF2-40B4-BE49-F238E27FC236}">
                <a16:creationId xmlns:a16="http://schemas.microsoft.com/office/drawing/2014/main" id="{AE0FBE0C-424D-F2C3-ED85-0CBE787462EE}"/>
              </a:ext>
            </a:extLst>
          </p:cNvPr>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Ablation Study</a:t>
            </a:r>
          </a:p>
        </p:txBody>
      </p:sp>
      <p:sp>
        <p:nvSpPr>
          <p:cNvPr id="6" name="Rectangle 5">
            <a:extLst>
              <a:ext uri="{FF2B5EF4-FFF2-40B4-BE49-F238E27FC236}">
                <a16:creationId xmlns:a16="http://schemas.microsoft.com/office/drawing/2014/main" id="{F8D4B418-A3CD-02E1-2822-07B3911FABC3}"/>
              </a:ext>
            </a:extLst>
          </p:cNvPr>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a:extLst>
              <a:ext uri="{FF2B5EF4-FFF2-40B4-BE49-F238E27FC236}">
                <a16:creationId xmlns:a16="http://schemas.microsoft.com/office/drawing/2014/main" id="{F364141F-696D-D612-4FE2-63A8C578524D}"/>
              </a:ext>
            </a:extLst>
          </p:cNvPr>
          <p:cNvGraphicFramePr>
            <a:graphicFrameLocks noGrp="1"/>
          </p:cNvGraphicFramePr>
          <p:nvPr/>
        </p:nvGraphicFramePr>
        <p:xfrm>
          <a:off x="438912" y="1115568"/>
          <a:ext cx="7772400" cy="379476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42108">
                <a:tc>
                  <a:txBody>
                    <a:bodyPr/>
                    <a:lstStyle/>
                    <a:p>
                      <a:pPr algn="ctr"/>
                      <a:r>
                        <a:rPr sz="1200" b="1" i="0">
                          <a:solidFill>
                            <a:srgbClr val="FFFFFF"/>
                          </a:solidFill>
                          <a:latin typeface="微软雅黑"/>
                          <a:ea typeface="微软雅黑"/>
                          <a:cs typeface="微软雅黑"/>
                        </a:rPr>
                        <a:t>设置</a:t>
                      </a:r>
                    </a:p>
                  </a:txBody>
                  <a:tcPr marL="54864" marR="54864" marT="36576" marB="36576" anchor="ctr">
                    <a:solidFill>
                      <a:srgbClr val="1B3A4B"/>
                    </a:solidFill>
                  </a:tcPr>
                </a:tc>
                <a:tc>
                  <a:txBody>
                    <a:bodyPr/>
                    <a:lstStyle/>
                    <a:p>
                      <a:pPr algn="ctr"/>
                      <a:r>
                        <a:rPr sz="1200" b="1" i="0">
                          <a:solidFill>
                            <a:srgbClr val="FFFFFF"/>
                          </a:solidFill>
                          <a:latin typeface="微软雅黑"/>
                          <a:ea typeface="微软雅黑"/>
                          <a:cs typeface="微软雅黑"/>
                        </a:rPr>
                        <a:t>正确性</a:t>
                      </a:r>
                    </a:p>
                  </a:txBody>
                  <a:tcPr marL="54864" marR="54864" marT="36576" marB="36576" anchor="ctr">
                    <a:solidFill>
                      <a:srgbClr val="1B3A4B"/>
                    </a:solidFill>
                  </a:tcPr>
                </a:tc>
                <a:tc>
                  <a:txBody>
                    <a:bodyPr/>
                    <a:lstStyle/>
                    <a:p>
                      <a:pPr algn="ctr"/>
                      <a:r>
                        <a:rPr sz="1200" b="1" i="0">
                          <a:solidFill>
                            <a:srgbClr val="FFFFFF"/>
                          </a:solidFill>
                          <a:latin typeface="微软雅黑"/>
                          <a:ea typeface="微软雅黑"/>
                          <a:cs typeface="微软雅黑"/>
                        </a:rPr>
                        <a:t>相关性</a:t>
                      </a:r>
                    </a:p>
                  </a:txBody>
                  <a:tcPr marL="54864" marR="54864" marT="36576" marB="36576" anchor="ctr">
                    <a:solidFill>
                      <a:srgbClr val="1B3A4B"/>
                    </a:solidFill>
                  </a:tcPr>
                </a:tc>
                <a:tc>
                  <a:txBody>
                    <a:bodyPr/>
                    <a:lstStyle/>
                    <a:p>
                      <a:pPr algn="ctr"/>
                      <a:r>
                        <a:rPr sz="1200" b="1" i="0">
                          <a:solidFill>
                            <a:srgbClr val="FFFFFF"/>
                          </a:solidFill>
                          <a:latin typeface="微软雅黑"/>
                          <a:ea typeface="微软雅黑"/>
                          <a:cs typeface="微软雅黑"/>
                        </a:rPr>
                        <a:t>相对完整模型</a:t>
                      </a:r>
                    </a:p>
                  </a:txBody>
                  <a:tcPr marL="54864" marR="54864" marT="36576" marB="36576" anchor="ctr">
                    <a:solidFill>
                      <a:srgbClr val="1B3A4B"/>
                    </a:solidFill>
                  </a:tcPr>
                </a:tc>
                <a:extLst>
                  <a:ext uri="{0D108BD9-81ED-4DB2-BD59-A6C34878D82A}">
                    <a16:rowId xmlns:a16="http://schemas.microsoft.com/office/drawing/2014/main" val="10000"/>
                  </a:ext>
                </a:extLst>
              </a:tr>
              <a:tr h="542108">
                <a:tc>
                  <a:txBody>
                    <a:bodyPr/>
                    <a:lstStyle/>
                    <a:p>
                      <a:pPr algn="ctr"/>
                      <a:r>
                        <a:rPr sz="1300" b="1" i="0">
                          <a:solidFill>
                            <a:srgbClr val="1F2A30"/>
                          </a:solidFill>
                          <a:latin typeface="微软雅黑"/>
                          <a:ea typeface="微软雅黑"/>
                          <a:cs typeface="微软雅黑"/>
                        </a:rPr>
                        <a:t>完整模型</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71.6</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81.8</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a:t>
                      </a:r>
                    </a:p>
                  </a:txBody>
                  <a:tcPr marL="54864" marR="54864" marT="36576" marB="36576" anchor="ctr">
                    <a:solidFill>
                      <a:srgbClr val="FFFFFF"/>
                    </a:solidFill>
                  </a:tcPr>
                </a:tc>
                <a:extLst>
                  <a:ext uri="{0D108BD9-81ED-4DB2-BD59-A6C34878D82A}">
                    <a16:rowId xmlns:a16="http://schemas.microsoft.com/office/drawing/2014/main" val="10001"/>
                  </a:ext>
                </a:extLst>
              </a:tr>
              <a:tr h="542108">
                <a:tc>
                  <a:txBody>
                    <a:bodyPr/>
                    <a:lstStyle/>
                    <a:p>
                      <a:pPr algn="ctr"/>
                      <a:r>
                        <a:rPr sz="1300" b="1" i="0">
                          <a:solidFill>
                            <a:srgbClr val="1F2A30"/>
                          </a:solidFill>
                          <a:latin typeface="微软雅黑"/>
                          <a:ea typeface="微软雅黑"/>
                          <a:cs typeface="微软雅黑"/>
                        </a:rPr>
                        <a:t>去掉时间记忆</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66.5</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76.4</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−5.2</a:t>
                      </a:r>
                    </a:p>
                  </a:txBody>
                  <a:tcPr marL="54864" marR="54864" marT="36576" marB="36576" anchor="ctr">
                    <a:solidFill>
                      <a:srgbClr val="F4F8F8"/>
                    </a:solidFill>
                  </a:tcPr>
                </a:tc>
                <a:extLst>
                  <a:ext uri="{0D108BD9-81ED-4DB2-BD59-A6C34878D82A}">
                    <a16:rowId xmlns:a16="http://schemas.microsoft.com/office/drawing/2014/main" val="10002"/>
                  </a:ext>
                </a:extLst>
              </a:tr>
              <a:tr h="542108">
                <a:tc>
                  <a:txBody>
                    <a:bodyPr/>
                    <a:lstStyle/>
                    <a:p>
                      <a:pPr algn="ctr"/>
                      <a:r>
                        <a:rPr sz="1300" b="1" i="0">
                          <a:solidFill>
                            <a:srgbClr val="1F2A30"/>
                          </a:solidFill>
                          <a:latin typeface="微软雅黑"/>
                          <a:ea typeface="微软雅黑"/>
                          <a:cs typeface="微软雅黑"/>
                        </a:rPr>
                        <a:t>选帧改为随机</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63.9</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71.2</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−7.7</a:t>
                      </a:r>
                    </a:p>
                  </a:txBody>
                  <a:tcPr marL="54864" marR="54864" marT="36576" marB="36576" anchor="ctr">
                    <a:solidFill>
                      <a:srgbClr val="FFFFFF"/>
                    </a:solidFill>
                  </a:tcPr>
                </a:tc>
                <a:extLst>
                  <a:ext uri="{0D108BD9-81ED-4DB2-BD59-A6C34878D82A}">
                    <a16:rowId xmlns:a16="http://schemas.microsoft.com/office/drawing/2014/main" val="10003"/>
                  </a:ext>
                </a:extLst>
              </a:tr>
              <a:tr h="542108">
                <a:tc>
                  <a:txBody>
                    <a:bodyPr/>
                    <a:lstStyle/>
                    <a:p>
                      <a:pPr algn="ctr"/>
                      <a:r>
                        <a:rPr sz="1300" b="1" i="0">
                          <a:solidFill>
                            <a:srgbClr val="1F2A30"/>
                          </a:solidFill>
                          <a:latin typeface="微软雅黑"/>
                          <a:ea typeface="微软雅黑"/>
                          <a:cs typeface="微软雅黑"/>
                        </a:rPr>
                        <a:t>分隔符改为全零</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67.0</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76.1</a:t>
                      </a:r>
                    </a:p>
                  </a:txBody>
                  <a:tcPr marL="54864" marR="54864" marT="36576" marB="36576" anchor="ctr">
                    <a:solidFill>
                      <a:srgbClr val="F4F8F8"/>
                    </a:solidFill>
                  </a:tcPr>
                </a:tc>
                <a:tc>
                  <a:txBody>
                    <a:bodyPr/>
                    <a:lstStyle/>
                    <a:p>
                      <a:pPr algn="ctr"/>
                      <a:r>
                        <a:rPr sz="1300" b="0" i="0">
                          <a:solidFill>
                            <a:srgbClr val="1F2A30"/>
                          </a:solidFill>
                          <a:latin typeface="微软雅黑"/>
                          <a:ea typeface="微软雅黑"/>
                          <a:cs typeface="微软雅黑"/>
                        </a:rPr>
                        <a:t>−4.7</a:t>
                      </a:r>
                    </a:p>
                  </a:txBody>
                  <a:tcPr marL="54864" marR="54864" marT="36576" marB="36576" anchor="ctr">
                    <a:solidFill>
                      <a:srgbClr val="F4F8F8"/>
                    </a:solidFill>
                  </a:tcPr>
                </a:tc>
                <a:extLst>
                  <a:ext uri="{0D108BD9-81ED-4DB2-BD59-A6C34878D82A}">
                    <a16:rowId xmlns:a16="http://schemas.microsoft.com/office/drawing/2014/main" val="10004"/>
                  </a:ext>
                </a:extLst>
              </a:tr>
              <a:tr h="542108">
                <a:tc>
                  <a:txBody>
                    <a:bodyPr/>
                    <a:lstStyle/>
                    <a:p>
                      <a:pPr algn="ctr"/>
                      <a:r>
                        <a:rPr sz="1300" b="1" i="0">
                          <a:solidFill>
                            <a:srgbClr val="1F2A30"/>
                          </a:solidFill>
                          <a:latin typeface="微软雅黑"/>
                          <a:ea typeface="微软雅黑"/>
                          <a:cs typeface="微软雅黑"/>
                        </a:rPr>
                        <a:t>去掉 SCP</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69.8</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80.5</a:t>
                      </a:r>
                    </a:p>
                  </a:txBody>
                  <a:tcPr marL="54864" marR="54864" marT="36576" marB="36576" anchor="ctr">
                    <a:solidFill>
                      <a:srgbClr val="FFFFFF"/>
                    </a:solidFill>
                  </a:tcPr>
                </a:tc>
                <a:tc>
                  <a:txBody>
                    <a:bodyPr/>
                    <a:lstStyle/>
                    <a:p>
                      <a:pPr algn="ctr"/>
                      <a:r>
                        <a:rPr sz="1300" b="0" i="0">
                          <a:solidFill>
                            <a:srgbClr val="1F2A30"/>
                          </a:solidFill>
                          <a:latin typeface="微软雅黑"/>
                          <a:ea typeface="微软雅黑"/>
                          <a:cs typeface="微软雅黑"/>
                        </a:rPr>
                        <a:t>−1.9</a:t>
                      </a:r>
                    </a:p>
                  </a:txBody>
                  <a:tcPr marL="54864" marR="54864" marT="36576" marB="36576" anchor="ctr">
                    <a:solidFill>
                      <a:srgbClr val="FFFFFF"/>
                    </a:solidFill>
                  </a:tcPr>
                </a:tc>
                <a:extLst>
                  <a:ext uri="{0D108BD9-81ED-4DB2-BD59-A6C34878D82A}">
                    <a16:rowId xmlns:a16="http://schemas.microsoft.com/office/drawing/2014/main" val="10005"/>
                  </a:ext>
                </a:extLst>
              </a:tr>
              <a:tr h="542112">
                <a:tc>
                  <a:txBody>
                    <a:bodyPr/>
                    <a:lstStyle/>
                    <a:p>
                      <a:pPr algn="ctr"/>
                      <a:r>
                        <a:rPr sz="1300" b="1" i="0">
                          <a:solidFill>
                            <a:srgbClr val="1B3A4B"/>
                          </a:solidFill>
                          <a:latin typeface="微软雅黑"/>
                          <a:ea typeface="微软雅黑"/>
                          <a:cs typeface="微软雅黑"/>
                        </a:rPr>
                        <a:t>去掉全部视觉</a:t>
                      </a:r>
                    </a:p>
                  </a:txBody>
                  <a:tcPr marL="54864" marR="54864" marT="36576" marB="36576" anchor="ctr">
                    <a:solidFill>
                      <a:srgbClr val="F4F8F8"/>
                    </a:solidFill>
                  </a:tcPr>
                </a:tc>
                <a:tc>
                  <a:txBody>
                    <a:bodyPr/>
                    <a:lstStyle/>
                    <a:p>
                      <a:pPr algn="ctr"/>
                      <a:r>
                        <a:rPr sz="1300" b="1" i="0">
                          <a:solidFill>
                            <a:srgbClr val="1B3A4B"/>
                          </a:solidFill>
                          <a:latin typeface="微软雅黑"/>
                          <a:ea typeface="微软雅黑"/>
                          <a:cs typeface="微软雅黑"/>
                        </a:rPr>
                        <a:t>8.1</a:t>
                      </a:r>
                    </a:p>
                  </a:txBody>
                  <a:tcPr marL="54864" marR="54864" marT="36576" marB="36576" anchor="ctr">
                    <a:solidFill>
                      <a:srgbClr val="F4F8F8"/>
                    </a:solidFill>
                  </a:tcPr>
                </a:tc>
                <a:tc>
                  <a:txBody>
                    <a:bodyPr/>
                    <a:lstStyle/>
                    <a:p>
                      <a:pPr algn="ctr"/>
                      <a:r>
                        <a:rPr sz="1300" b="1" i="0">
                          <a:solidFill>
                            <a:srgbClr val="1B3A4B"/>
                          </a:solidFill>
                          <a:latin typeface="微软雅黑"/>
                          <a:ea typeface="微软雅黑"/>
                          <a:cs typeface="微软雅黑"/>
                        </a:rPr>
                        <a:t>10.4</a:t>
                      </a:r>
                    </a:p>
                  </a:txBody>
                  <a:tcPr marL="54864" marR="54864" marT="36576" marB="36576" anchor="ctr">
                    <a:solidFill>
                      <a:srgbClr val="F4F8F8"/>
                    </a:solidFill>
                  </a:tcPr>
                </a:tc>
                <a:tc>
                  <a:txBody>
                    <a:bodyPr/>
                    <a:lstStyle/>
                    <a:p>
                      <a:pPr algn="ctr"/>
                      <a:r>
                        <a:rPr sz="1300" b="1" i="0" dirty="0" err="1">
                          <a:solidFill>
                            <a:srgbClr val="1B3A4B"/>
                          </a:solidFill>
                          <a:latin typeface="微软雅黑"/>
                          <a:ea typeface="微软雅黑"/>
                          <a:cs typeface="微软雅黑"/>
                        </a:rPr>
                        <a:t>崩塌</a:t>
                      </a:r>
                      <a:endParaRPr sz="1300" b="1" i="0" dirty="0">
                        <a:solidFill>
                          <a:srgbClr val="1B3A4B"/>
                        </a:solidFill>
                        <a:latin typeface="微软雅黑"/>
                        <a:ea typeface="微软雅黑"/>
                        <a:cs typeface="微软雅黑"/>
                      </a:endParaRPr>
                    </a:p>
                  </a:txBody>
                  <a:tcPr marL="54864" marR="54864" marT="36576" marB="36576" anchor="ctr">
                    <a:solidFill>
                      <a:srgbClr val="F4F8F8"/>
                    </a:solidFill>
                  </a:tcPr>
                </a:tc>
                <a:extLst>
                  <a:ext uri="{0D108BD9-81ED-4DB2-BD59-A6C34878D82A}">
                    <a16:rowId xmlns:a16="http://schemas.microsoft.com/office/drawing/2014/main" val="10006"/>
                  </a:ext>
                </a:extLst>
              </a:tr>
            </a:tbl>
          </a:graphicData>
        </a:graphic>
      </p:graphicFrame>
      <p:sp>
        <p:nvSpPr>
          <p:cNvPr id="8" name="Rounded Rectangle 7">
            <a:extLst>
              <a:ext uri="{FF2B5EF4-FFF2-40B4-BE49-F238E27FC236}">
                <a16:creationId xmlns:a16="http://schemas.microsoft.com/office/drawing/2014/main" id="{7B64AE2A-E7D0-3313-9877-AB974A6B1BBA}"/>
              </a:ext>
            </a:extLst>
          </p:cNvPr>
          <p:cNvSpPr/>
          <p:nvPr/>
        </p:nvSpPr>
        <p:spPr>
          <a:xfrm>
            <a:off x="8412480" y="1115568"/>
            <a:ext cx="3337560" cy="37947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F1B8B10C-34CC-6DC4-5C05-8E6FEEC453E9}"/>
              </a:ext>
            </a:extLst>
          </p:cNvPr>
          <p:cNvSpPr txBox="1"/>
          <p:nvPr/>
        </p:nvSpPr>
        <p:spPr>
          <a:xfrm>
            <a:off x="8595360" y="1280160"/>
            <a:ext cx="3017520" cy="640080"/>
          </a:xfrm>
          <a:prstGeom prst="rect">
            <a:avLst/>
          </a:prstGeom>
          <a:noFill/>
        </p:spPr>
        <p:txBody>
          <a:bodyPr wrap="square" lIns="0" tIns="0" rIns="0" bIns="0" anchor="t"/>
          <a:lstStyle/>
          <a:p>
            <a:pPr algn="l">
              <a:spcBef>
                <a:spcPts val="0"/>
              </a:spcBef>
              <a:spcAft>
                <a:spcPts val="0"/>
              </a:spcAft>
            </a:pPr>
            <a:r>
              <a:rPr sz="1600" b="1" i="0">
                <a:solidFill>
                  <a:srgbClr val="1B3A4B"/>
                </a:solidFill>
                <a:latin typeface="微软雅黑"/>
                <a:ea typeface="微软雅黑"/>
                <a:cs typeface="微软雅黑"/>
              </a:rPr>
              <a:t>排序</a:t>
            </a:r>
          </a:p>
        </p:txBody>
      </p:sp>
      <p:sp>
        <p:nvSpPr>
          <p:cNvPr id="10" name="TextBox 9">
            <a:extLst>
              <a:ext uri="{FF2B5EF4-FFF2-40B4-BE49-F238E27FC236}">
                <a16:creationId xmlns:a16="http://schemas.microsoft.com/office/drawing/2014/main" id="{6A72303C-6CD0-5A4F-D133-94766B19BEFF}"/>
              </a:ext>
            </a:extLst>
          </p:cNvPr>
          <p:cNvSpPr txBox="1"/>
          <p:nvPr/>
        </p:nvSpPr>
        <p:spPr>
          <a:xfrm>
            <a:off x="8595360" y="1965960"/>
            <a:ext cx="3017520" cy="265176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1  按问题选帧
2  时间记忆
3  可学习分隔符
4  SCP 课程
去掉视觉后落到 8 分，说明模型没有只靠题干背答案。</a:t>
            </a:r>
          </a:p>
        </p:txBody>
      </p:sp>
      <p:sp>
        <p:nvSpPr>
          <p:cNvPr id="11" name="TextBox 10">
            <a:extLst>
              <a:ext uri="{FF2B5EF4-FFF2-40B4-BE49-F238E27FC236}">
                <a16:creationId xmlns:a16="http://schemas.microsoft.com/office/drawing/2014/main" id="{4762883D-05DE-5E51-BDD7-B2EEE5DA3E3D}"/>
              </a:ext>
            </a:extLst>
          </p:cNvPr>
          <p:cNvSpPr txBox="1"/>
          <p:nvPr/>
        </p:nvSpPr>
        <p:spPr>
          <a:xfrm>
            <a:off x="438912" y="5120640"/>
            <a:ext cx="11247120" cy="1097280"/>
          </a:xfrm>
          <a:prstGeom prst="rect">
            <a:avLst/>
          </a:prstGeom>
          <a:noFill/>
        </p:spPr>
        <p:txBody>
          <a:bodyPr wrap="square" lIns="0" tIns="0" rIns="0" bIns="0" anchor="t"/>
          <a:lstStyle/>
          <a:p>
            <a:pPr algn="l">
              <a:spcBef>
                <a:spcPts val="0"/>
              </a:spcBef>
              <a:spcAft>
                <a:spcPts val="0"/>
              </a:spcAft>
            </a:pPr>
            <a:r>
              <a:rPr sz="1500" b="0" i="0">
                <a:solidFill>
                  <a:srgbClr val="1F2A30"/>
                </a:solidFill>
                <a:latin typeface="微软雅黑"/>
                <a:ea typeface="微软雅黑"/>
                <a:cs typeface="微软雅黑"/>
              </a:rPr>
              <a:t>随机选帧是最大的架构掉点。时间记忆次之。SCP 有帮助，但不是这套结果的主要来源。</a:t>
            </a:r>
          </a:p>
        </p:txBody>
      </p:sp>
      <p:sp>
        <p:nvSpPr>
          <p:cNvPr id="12" name="Rectangle 11">
            <a:extLst>
              <a:ext uri="{FF2B5EF4-FFF2-40B4-BE49-F238E27FC236}">
                <a16:creationId xmlns:a16="http://schemas.microsoft.com/office/drawing/2014/main" id="{64CB15D4-6612-765D-49B0-6769EA71B7C5}"/>
              </a:ext>
            </a:extLst>
          </p:cNvPr>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38B7348E-D0C9-613E-8D9C-115AFB056685}"/>
              </a:ext>
            </a:extLst>
          </p:cNvPr>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4" name="TextBox 13">
            <a:extLst>
              <a:ext uri="{FF2B5EF4-FFF2-40B4-BE49-F238E27FC236}">
                <a16:creationId xmlns:a16="http://schemas.microsoft.com/office/drawing/2014/main" id="{AB71DE9D-737B-7886-CDA7-B7A1A3F0850E}"/>
              </a:ext>
            </a:extLst>
          </p:cNvPr>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5" name="TextBox 14">
            <a:extLst>
              <a:ext uri="{FF2B5EF4-FFF2-40B4-BE49-F238E27FC236}">
                <a16:creationId xmlns:a16="http://schemas.microsoft.com/office/drawing/2014/main" id="{36272C16-184A-A399-D856-65ABBC4AEB6A}"/>
              </a:ext>
            </a:extLst>
          </p:cNvPr>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19  /  26</a:t>
            </a:r>
          </a:p>
        </p:txBody>
      </p:sp>
    </p:spTree>
    <p:extLst>
      <p:ext uri="{BB962C8B-B14F-4D97-AF65-F5344CB8AC3E}">
        <p14:creationId xmlns:p14="http://schemas.microsoft.com/office/powerpoint/2010/main" val="3647208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64592"/>
            <a:ext cx="11247120" cy="237744"/>
          </a:xfrm>
          <a:prstGeom prst="rect">
            <a:avLst/>
          </a:prstGeom>
          <a:noFill/>
        </p:spPr>
        <p:txBody>
          <a:bodyPr wrap="square" lIns="0" tIns="0" rIns="0" bIns="0" anchor="t"/>
          <a:lstStyle/>
          <a:p>
            <a:pPr algn="l">
              <a:spcBef>
                <a:spcPts val="0"/>
              </a:spcBef>
              <a:spcAft>
                <a:spcPts val="0"/>
              </a:spcAft>
            </a:pPr>
            <a:r>
              <a:rPr sz="1200" b="1" i="0">
                <a:solidFill>
                  <a:srgbClr val="1A6B7A"/>
                </a:solidFill>
                <a:latin typeface="微软雅黑"/>
                <a:ea typeface="微软雅黑"/>
                <a:cs typeface="微软雅黑"/>
              </a:rPr>
              <a:t>更密的采样不是一直更好</a:t>
            </a: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帧数与温度</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43000"/>
            <a:ext cx="5623560" cy="49377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298448"/>
            <a:ext cx="5257800" cy="365760"/>
          </a:xfrm>
          <a:prstGeom prst="rect">
            <a:avLst/>
          </a:prstGeom>
          <a:noFill/>
        </p:spPr>
        <p:txBody>
          <a:bodyPr wrap="square" lIns="0" tIns="0" rIns="0" bIns="0" anchor="t"/>
          <a:lstStyle/>
          <a:p>
            <a:pPr algn="l">
              <a:spcBef>
                <a:spcPts val="0"/>
              </a:spcBef>
              <a:spcAft>
                <a:spcPts val="0"/>
              </a:spcAft>
            </a:pPr>
            <a:r>
              <a:rPr sz="1800" b="1" i="0">
                <a:solidFill>
                  <a:srgbClr val="0E4C57"/>
                </a:solidFill>
                <a:latin typeface="微软雅黑"/>
                <a:ea typeface="微软雅黑"/>
                <a:cs typeface="微软雅黑"/>
              </a:rPr>
              <a:t>候选帧  16 → 96</a:t>
            </a:r>
          </a:p>
        </p:txBody>
      </p:sp>
      <p:sp>
        <p:nvSpPr>
          <p:cNvPr id="9" name="TextBox 8"/>
          <p:cNvSpPr txBox="1"/>
          <p:nvPr/>
        </p:nvSpPr>
        <p:spPr>
          <a:xfrm>
            <a:off x="621792" y="1828800"/>
            <a:ext cx="5257800" cy="393192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16 到 64 帧，正确性上升。短片段感知在 32 帧附近就饱和。
Endoscapes 和 CholeScore 继续受益，峰值在 64–80 帧。CholeScore 从 16 帧的 57.5 到 80 帧的 66.9。
96 帧后三个子集一起下降，总体正确性掉到约 53–60。作者的解释是：冗余帧稀释注意力，固定的 top-k 从过大的候选池里选不准。
因此 64 帧是当前设计的工作点，不是对任意长视频都成立。</a:t>
            </a:r>
          </a:p>
        </p:txBody>
      </p:sp>
      <p:sp>
        <p:nvSpPr>
          <p:cNvPr id="10" name="Rounded Rectangle 9"/>
          <p:cNvSpPr/>
          <p:nvPr/>
        </p:nvSpPr>
        <p:spPr>
          <a:xfrm>
            <a:off x="6263640" y="1143000"/>
            <a:ext cx="5486400" cy="493776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298448"/>
            <a:ext cx="5120640" cy="365760"/>
          </a:xfrm>
          <a:prstGeom prst="rect">
            <a:avLst/>
          </a:prstGeom>
          <a:noFill/>
        </p:spPr>
        <p:txBody>
          <a:bodyPr wrap="square" lIns="0" tIns="0" rIns="0" bIns="0" anchor="t"/>
          <a:lstStyle/>
          <a:p>
            <a:pPr algn="l">
              <a:spcBef>
                <a:spcPts val="0"/>
              </a:spcBef>
              <a:spcAft>
                <a:spcPts val="0"/>
              </a:spcAft>
            </a:pPr>
            <a:r>
              <a:rPr sz="1800" b="1" i="0">
                <a:solidFill>
                  <a:srgbClr val="0E4C57"/>
                </a:solidFill>
                <a:latin typeface="微软雅黑"/>
                <a:ea typeface="微软雅黑"/>
                <a:cs typeface="微软雅黑"/>
              </a:rPr>
              <a:t>Gumbel 温度 σ</a:t>
            </a:r>
          </a:p>
        </p:txBody>
      </p:sp>
      <p:sp>
        <p:nvSpPr>
          <p:cNvPr id="12" name="TextBox 11"/>
          <p:cNvSpPr txBox="1"/>
          <p:nvPr/>
        </p:nvSpPr>
        <p:spPr>
          <a:xfrm>
            <a:off x="6446520" y="1828800"/>
            <a:ext cx="5120640" cy="393192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σ 越小，选帧越尖锐。
CVS 在 σ = 0.05 最好：5 秒里关键结构只出现在少数帧，需要果断选中。
感知和 CholeScore 在 σ = 0.2 最好：证据铺在整个片段上，过尖会只抓住一帧。
σ = 0.5 时选择近乎均匀，总体正确性降到 65.9。作者取三个子集平均最优的 σ = 0.2 作为默认。</a:t>
            </a:r>
          </a:p>
        </p:txBody>
      </p:sp>
      <p:sp>
        <p:nvSpPr>
          <p:cNvPr id="13" name="Rectangle 12"/>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5" name="TextBox 14"/>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6" name="TextBox 15"/>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20  /  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Limitations</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143000"/>
            <a:ext cx="5669280" cy="23317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3504" y="1280160"/>
            <a:ext cx="5349240" cy="36576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只有胆囊切除</a:t>
            </a:r>
          </a:p>
        </p:txBody>
      </p:sp>
      <p:sp>
        <p:nvSpPr>
          <p:cNvPr id="9" name="TextBox 8"/>
          <p:cNvSpPr txBox="1"/>
          <p:nvPr/>
        </p:nvSpPr>
        <p:spPr>
          <a:xfrm>
            <a:off x="603504" y="1737360"/>
            <a:ext cx="5349240" cy="155448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换术式、解剖、器械或评分标准后，选帧可能盯住看起来显眼、临床上不能迁移的线索。SCP 记住的依赖也是这个术式的。</a:t>
            </a:r>
          </a:p>
        </p:txBody>
      </p:sp>
      <p:sp>
        <p:nvSpPr>
          <p:cNvPr id="10" name="Rounded Rectangle 9"/>
          <p:cNvSpPr/>
          <p:nvPr/>
        </p:nvSpPr>
        <p:spPr>
          <a:xfrm>
            <a:off x="6291072" y="1143000"/>
            <a:ext cx="5669280" cy="23317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55664" y="1280160"/>
            <a:ext cx="5349240" cy="36576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问答由旧标注改写</a:t>
            </a:r>
          </a:p>
        </p:txBody>
      </p:sp>
      <p:sp>
        <p:nvSpPr>
          <p:cNvPr id="12" name="TextBox 11"/>
          <p:cNvSpPr txBox="1"/>
          <p:nvPr/>
        </p:nvSpPr>
        <p:spPr>
          <a:xfrm>
            <a:off x="6455664" y="1737360"/>
            <a:ext cx="5349240" cy="1554480"/>
          </a:xfrm>
          <a:prstGeom prst="rect">
            <a:avLst/>
          </a:prstGeom>
          <a:noFill/>
        </p:spPr>
        <p:txBody>
          <a:bodyPr wrap="square" lIns="0" tIns="0" rIns="0" bIns="0" anchor="t"/>
          <a:lstStyle/>
          <a:p>
            <a:pPr algn="l">
              <a:spcBef>
                <a:spcPts val="0"/>
              </a:spcBef>
              <a:spcAft>
                <a:spcPts val="0"/>
              </a:spcAft>
            </a:pPr>
            <a:r>
              <a:rPr sz="1400" b="0" i="0" dirty="0">
                <a:solidFill>
                  <a:srgbClr val="1F2A30"/>
                </a:solidFill>
                <a:latin typeface="微软雅黑"/>
                <a:ea typeface="微软雅黑"/>
                <a:cs typeface="微软雅黑"/>
              </a:rPr>
              <a:t>CholecT50、Endoscapes、CholeScore </a:t>
            </a:r>
            <a:r>
              <a:rPr sz="1400" b="0" i="0" dirty="0" err="1">
                <a:solidFill>
                  <a:srgbClr val="1F2A30"/>
                </a:solidFill>
                <a:latin typeface="微软雅黑"/>
                <a:ea typeface="微软雅黑"/>
                <a:cs typeface="微软雅黑"/>
              </a:rPr>
              <a:t>的标签约定会原样进入问答。GPT</a:t>
            </a:r>
            <a:r>
              <a:rPr sz="1400" b="0" i="0" dirty="0">
                <a:solidFill>
                  <a:srgbClr val="1F2A30"/>
                </a:solidFill>
                <a:latin typeface="微软雅黑"/>
                <a:ea typeface="微软雅黑"/>
                <a:cs typeface="微软雅黑"/>
              </a:rPr>
              <a:t> </a:t>
            </a:r>
            <a:r>
              <a:rPr sz="1400" b="0" i="0" dirty="0" err="1">
                <a:solidFill>
                  <a:srgbClr val="1F2A30"/>
                </a:solidFill>
                <a:latin typeface="微软雅黑"/>
                <a:ea typeface="微软雅黑"/>
                <a:cs typeface="微软雅黑"/>
              </a:rPr>
              <a:t>改写还带来统一的句式。专家子集只部分控制了这一点</a:t>
            </a:r>
            <a:r>
              <a:rPr sz="1400" b="0" i="0" dirty="0">
                <a:solidFill>
                  <a:srgbClr val="1F2A30"/>
                </a:solidFill>
                <a:latin typeface="微软雅黑"/>
                <a:ea typeface="微软雅黑"/>
                <a:cs typeface="微软雅黑"/>
              </a:rPr>
              <a:t>。</a:t>
            </a:r>
          </a:p>
        </p:txBody>
      </p:sp>
      <p:sp>
        <p:nvSpPr>
          <p:cNvPr id="13" name="Rounded Rectangle 12"/>
          <p:cNvSpPr/>
          <p:nvPr/>
        </p:nvSpPr>
        <p:spPr>
          <a:xfrm>
            <a:off x="438912" y="3657600"/>
            <a:ext cx="5669280" cy="23317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3504" y="3794760"/>
            <a:ext cx="5349240" cy="36576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长度不是无限的</a:t>
            </a:r>
          </a:p>
        </p:txBody>
      </p:sp>
      <p:sp>
        <p:nvSpPr>
          <p:cNvPr id="15" name="TextBox 14"/>
          <p:cNvSpPr txBox="1"/>
          <p:nvPr/>
        </p:nvSpPr>
        <p:spPr>
          <a:xfrm>
            <a:off x="603504" y="4251960"/>
            <a:ext cx="5349240" cy="155448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96 帧已使固定 top-k 失效。作者提出以后做自适应 k、分块过滤和多阶段检索，当前模型没有实现。</a:t>
            </a:r>
          </a:p>
        </p:txBody>
      </p:sp>
      <p:sp>
        <p:nvSpPr>
          <p:cNvPr id="16" name="Rounded Rectangle 15"/>
          <p:cNvSpPr/>
          <p:nvPr/>
        </p:nvSpPr>
        <p:spPr>
          <a:xfrm>
            <a:off x="6291072" y="3657600"/>
            <a:ext cx="5669280" cy="23317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55664" y="3794760"/>
            <a:ext cx="5349240" cy="365760"/>
          </a:xfrm>
          <a:prstGeom prst="rect">
            <a:avLst/>
          </a:prstGeom>
          <a:noFill/>
        </p:spPr>
        <p:txBody>
          <a:bodyPr wrap="square" lIns="0" tIns="0" rIns="0" bIns="0" anchor="t"/>
          <a:lstStyle/>
          <a:p>
            <a:pPr algn="l">
              <a:spcBef>
                <a:spcPts val="0"/>
              </a:spcBef>
              <a:spcAft>
                <a:spcPts val="0"/>
              </a:spcAft>
            </a:pPr>
            <a:r>
              <a:rPr sz="1600" b="1" i="0">
                <a:solidFill>
                  <a:srgbClr val="0E4C57"/>
                </a:solidFill>
                <a:latin typeface="微软雅黑"/>
                <a:ea typeface="微软雅黑"/>
                <a:cs typeface="微软雅黑"/>
              </a:rPr>
              <a:t>不能当成术中系统</a:t>
            </a:r>
          </a:p>
        </p:txBody>
      </p:sp>
      <p:sp>
        <p:nvSpPr>
          <p:cNvPr id="18" name="TextBox 17"/>
          <p:cNvSpPr txBox="1"/>
          <p:nvPr/>
        </p:nvSpPr>
        <p:spPr>
          <a:xfrm>
            <a:off x="6455664" y="4251960"/>
            <a:ext cx="5349240" cy="1554480"/>
          </a:xfrm>
          <a:prstGeom prst="rect">
            <a:avLst/>
          </a:prstGeom>
          <a:noFill/>
        </p:spPr>
        <p:txBody>
          <a:bodyPr wrap="square" lIns="0" tIns="0" rIns="0" bIns="0" anchor="t"/>
          <a:lstStyle/>
          <a:p>
            <a:pPr algn="l">
              <a:spcBef>
                <a:spcPts val="0"/>
              </a:spcBef>
              <a:spcAft>
                <a:spcPts val="0"/>
              </a:spcAft>
            </a:pPr>
            <a:r>
              <a:rPr sz="1400" b="0" i="0">
                <a:solidFill>
                  <a:srgbClr val="1F2A30"/>
                </a:solidFill>
                <a:latin typeface="微软雅黑"/>
                <a:ea typeface="微软雅黑"/>
                <a:cs typeface="微软雅黑"/>
              </a:rPr>
              <a:t>没有校准、拒答、延迟和临床结局。作答率可以到 100%。高分也可能来自更像参考答案的写法，而不只是更正确的临床判断。</a:t>
            </a:r>
          </a:p>
        </p:txBody>
      </p:sp>
      <p:sp>
        <p:nvSpPr>
          <p:cNvPr id="19" name="Rectangle 18"/>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1" name="TextBox 20"/>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2" name="TextBox 21"/>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21  /  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01168"/>
            <a:ext cx="11247120" cy="438912"/>
          </a:xfrm>
          <a:prstGeom prst="rect">
            <a:avLst/>
          </a:prstGeom>
          <a:noFill/>
        </p:spPr>
        <p:txBody>
          <a:bodyPr wrap="square" lIns="0" tIns="0" rIns="0" bIns="0" anchor="t"/>
          <a:lstStyle/>
          <a:p>
            <a:pPr algn="l">
              <a:spcBef>
                <a:spcPts val="0"/>
              </a:spcBef>
              <a:spcAft>
                <a:spcPts val="0"/>
              </a:spcAft>
            </a:pPr>
            <a:r>
              <a:rPr sz="2800" b="1" i="0">
                <a:solidFill>
                  <a:srgbClr val="1B3A4B"/>
                </a:solidFill>
                <a:latin typeface="微软雅黑"/>
                <a:ea typeface="微软雅黑"/>
                <a:cs typeface="微软雅黑"/>
              </a:rPr>
              <a:t>Conclusion</a:t>
            </a:r>
          </a:p>
        </p:txBody>
      </p:sp>
      <p:sp>
        <p:nvSpPr>
          <p:cNvPr id="5" name="Rectangle 4"/>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8912" y="1115568"/>
            <a:ext cx="11292840" cy="11430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252728"/>
            <a:ext cx="1371600" cy="822960"/>
          </a:xfrm>
          <a:prstGeom prst="rect">
            <a:avLst/>
          </a:prstGeom>
          <a:noFill/>
        </p:spPr>
        <p:txBody>
          <a:bodyPr wrap="square" lIns="0" tIns="0" rIns="0" bIns="0" anchor="ctr"/>
          <a:lstStyle/>
          <a:p>
            <a:pPr algn="l">
              <a:spcBef>
                <a:spcPts val="0"/>
              </a:spcBef>
              <a:spcAft>
                <a:spcPts val="0"/>
              </a:spcAft>
            </a:pPr>
            <a:r>
              <a:rPr sz="1600" b="1" i="0">
                <a:solidFill>
                  <a:srgbClr val="0E4C57"/>
                </a:solidFill>
                <a:latin typeface="微软雅黑"/>
                <a:ea typeface="微软雅黑"/>
                <a:cs typeface="微软雅黑"/>
              </a:rPr>
              <a:t>数据</a:t>
            </a:r>
          </a:p>
        </p:txBody>
      </p:sp>
      <p:sp>
        <p:nvSpPr>
          <p:cNvPr id="8" name="TextBox 7"/>
          <p:cNvSpPr txBox="1"/>
          <p:nvPr/>
        </p:nvSpPr>
        <p:spPr>
          <a:xfrm>
            <a:off x="2103120" y="1280160"/>
            <a:ext cx="9326880" cy="868680"/>
          </a:xfrm>
          <a:prstGeom prst="rect">
            <a:avLst/>
          </a:prstGeom>
          <a:noFill/>
        </p:spPr>
        <p:txBody>
          <a:bodyPr wrap="square" lIns="0" tIns="0" rIns="0" bIns="0" anchor="ctr"/>
          <a:lstStyle/>
          <a:p>
            <a:pPr algn="l">
              <a:spcBef>
                <a:spcPts val="0"/>
              </a:spcBef>
              <a:spcAft>
                <a:spcPts val="0"/>
              </a:spcAft>
            </a:pPr>
            <a:r>
              <a:rPr sz="1500" b="0" i="0">
                <a:solidFill>
                  <a:srgbClr val="1F2A30"/>
                </a:solidFill>
                <a:latin typeface="微软雅黑"/>
                <a:ea typeface="微软雅黑"/>
                <a:cs typeface="微软雅黑"/>
              </a:rPr>
              <a:t>CholeVidQA-32K 把胆囊切除上的感知、评估和推理放进同一套变长视频问答，技能和安全不再只是帧分类。</a:t>
            </a:r>
          </a:p>
        </p:txBody>
      </p:sp>
      <p:sp>
        <p:nvSpPr>
          <p:cNvPr id="9" name="Rounded Rectangle 8"/>
          <p:cNvSpPr/>
          <p:nvPr/>
        </p:nvSpPr>
        <p:spPr>
          <a:xfrm>
            <a:off x="438912" y="2395728"/>
            <a:ext cx="11292840" cy="11430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532888"/>
            <a:ext cx="1371600" cy="822960"/>
          </a:xfrm>
          <a:prstGeom prst="rect">
            <a:avLst/>
          </a:prstGeom>
          <a:noFill/>
        </p:spPr>
        <p:txBody>
          <a:bodyPr wrap="square" lIns="0" tIns="0" rIns="0" bIns="0" anchor="ctr"/>
          <a:lstStyle/>
          <a:p>
            <a:pPr algn="l">
              <a:spcBef>
                <a:spcPts val="0"/>
              </a:spcBef>
              <a:spcAft>
                <a:spcPts val="0"/>
              </a:spcAft>
            </a:pPr>
            <a:r>
              <a:rPr sz="1600" b="1" i="0">
                <a:solidFill>
                  <a:srgbClr val="0E4C57"/>
                </a:solidFill>
                <a:latin typeface="微软雅黑"/>
                <a:ea typeface="微软雅黑"/>
                <a:cs typeface="微软雅黑"/>
              </a:rPr>
              <a:t>方法</a:t>
            </a:r>
          </a:p>
        </p:txBody>
      </p:sp>
      <p:sp>
        <p:nvSpPr>
          <p:cNvPr id="11" name="TextBox 10"/>
          <p:cNvSpPr txBox="1"/>
          <p:nvPr/>
        </p:nvSpPr>
        <p:spPr>
          <a:xfrm>
            <a:off x="2103120" y="2560320"/>
            <a:ext cx="9326880" cy="868680"/>
          </a:xfrm>
          <a:prstGeom prst="rect">
            <a:avLst/>
          </a:prstGeom>
          <a:noFill/>
        </p:spPr>
        <p:txBody>
          <a:bodyPr wrap="square" lIns="0" tIns="0" rIns="0" bIns="0" anchor="ctr"/>
          <a:lstStyle/>
          <a:p>
            <a:pPr algn="l">
              <a:spcBef>
                <a:spcPts val="0"/>
              </a:spcBef>
              <a:spcAft>
                <a:spcPts val="0"/>
              </a:spcAft>
            </a:pPr>
            <a:r>
              <a:rPr sz="1500" b="0" i="0" dirty="0">
                <a:solidFill>
                  <a:srgbClr val="1F2A30"/>
                </a:solidFill>
                <a:latin typeface="微软雅黑"/>
                <a:ea typeface="微软雅黑"/>
                <a:cs typeface="微软雅黑"/>
              </a:rPr>
              <a:t>TEMP </a:t>
            </a:r>
            <a:r>
              <a:rPr sz="1500" b="0" i="0" dirty="0" err="1">
                <a:solidFill>
                  <a:srgbClr val="1F2A30"/>
                </a:solidFill>
                <a:latin typeface="微软雅黑"/>
                <a:ea typeface="微软雅黑"/>
                <a:cs typeface="微软雅黑"/>
              </a:rPr>
              <a:t>用问题决定看哪些帧，并用空间、时间两层记忆分别服务局部标志和阶段级判断。SCP</a:t>
            </a:r>
            <a:r>
              <a:rPr sz="1500" b="0" i="0" dirty="0">
                <a:solidFill>
                  <a:srgbClr val="1F2A30"/>
                </a:solidFill>
                <a:latin typeface="微软雅黑"/>
                <a:ea typeface="微软雅黑"/>
                <a:cs typeface="微软雅黑"/>
              </a:rPr>
              <a:t> </a:t>
            </a:r>
            <a:r>
              <a:rPr sz="1500" b="0" i="0" dirty="0" err="1">
                <a:solidFill>
                  <a:srgbClr val="1F2A30"/>
                </a:solidFill>
                <a:latin typeface="微软雅黑"/>
                <a:ea typeface="微软雅黑"/>
                <a:cs typeface="微软雅黑"/>
              </a:rPr>
              <a:t>按依赖顺序训练</a:t>
            </a:r>
            <a:endParaRPr sz="1500" b="0" i="0" dirty="0">
              <a:solidFill>
                <a:srgbClr val="1F2A30"/>
              </a:solidFill>
              <a:latin typeface="微软雅黑"/>
              <a:ea typeface="微软雅黑"/>
              <a:cs typeface="微软雅黑"/>
            </a:endParaRPr>
          </a:p>
        </p:txBody>
      </p:sp>
      <p:sp>
        <p:nvSpPr>
          <p:cNvPr id="12" name="Rounded Rectangle 11"/>
          <p:cNvSpPr/>
          <p:nvPr/>
        </p:nvSpPr>
        <p:spPr>
          <a:xfrm>
            <a:off x="438912" y="3675887"/>
            <a:ext cx="11292840" cy="11430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813047"/>
            <a:ext cx="1371600" cy="822960"/>
          </a:xfrm>
          <a:prstGeom prst="rect">
            <a:avLst/>
          </a:prstGeom>
          <a:noFill/>
        </p:spPr>
        <p:txBody>
          <a:bodyPr wrap="square" lIns="0" tIns="0" rIns="0" bIns="0" anchor="ctr"/>
          <a:lstStyle/>
          <a:p>
            <a:pPr algn="l">
              <a:spcBef>
                <a:spcPts val="0"/>
              </a:spcBef>
              <a:spcAft>
                <a:spcPts val="0"/>
              </a:spcAft>
            </a:pPr>
            <a:r>
              <a:rPr sz="1600" b="1" i="0">
                <a:solidFill>
                  <a:srgbClr val="0E4C57"/>
                </a:solidFill>
                <a:latin typeface="微软雅黑"/>
                <a:ea typeface="微软雅黑"/>
                <a:cs typeface="微软雅黑"/>
              </a:rPr>
              <a:t>结果</a:t>
            </a:r>
          </a:p>
        </p:txBody>
      </p:sp>
      <p:sp>
        <p:nvSpPr>
          <p:cNvPr id="14" name="TextBox 13"/>
          <p:cNvSpPr txBox="1"/>
          <p:nvPr/>
        </p:nvSpPr>
        <p:spPr>
          <a:xfrm>
            <a:off x="2103120" y="3840479"/>
            <a:ext cx="9326880" cy="868680"/>
          </a:xfrm>
          <a:prstGeom prst="rect">
            <a:avLst/>
          </a:prstGeom>
          <a:noFill/>
        </p:spPr>
        <p:txBody>
          <a:bodyPr wrap="square" lIns="0" tIns="0" rIns="0" bIns="0" anchor="ctr"/>
          <a:lstStyle/>
          <a:p>
            <a:pPr algn="l">
              <a:spcBef>
                <a:spcPts val="0"/>
              </a:spcBef>
              <a:spcAft>
                <a:spcPts val="0"/>
              </a:spcAft>
            </a:pPr>
            <a:r>
              <a:rPr sz="1500" b="0" i="0" dirty="0" err="1">
                <a:solidFill>
                  <a:srgbClr val="1F2A30"/>
                </a:solidFill>
                <a:latin typeface="微软雅黑"/>
                <a:ea typeface="微软雅黑"/>
                <a:cs typeface="微软雅黑"/>
              </a:rPr>
              <a:t>领域微调是第一</a:t>
            </a:r>
            <a:r>
              <a:rPr lang="zh-CN" altLang="en-US" sz="1500" dirty="0">
                <a:solidFill>
                  <a:srgbClr val="1F2A30"/>
                </a:solidFill>
                <a:latin typeface="微软雅黑"/>
                <a:ea typeface="微软雅黑"/>
                <a:cs typeface="微软雅黑"/>
              </a:rPr>
              <a:t>转折点</a:t>
            </a:r>
            <a:r>
              <a:rPr sz="1500" b="0" i="0" dirty="0">
                <a:solidFill>
                  <a:srgbClr val="1F2A30"/>
                </a:solidFill>
                <a:latin typeface="微软雅黑"/>
                <a:ea typeface="微软雅黑"/>
                <a:cs typeface="微软雅黑"/>
              </a:rPr>
              <a:t>。TEMP </a:t>
            </a:r>
            <a:r>
              <a:rPr sz="1500" b="0" i="0" dirty="0" err="1">
                <a:solidFill>
                  <a:srgbClr val="1F2A30"/>
                </a:solidFill>
                <a:latin typeface="微软雅黑"/>
                <a:ea typeface="微软雅黑"/>
                <a:cs typeface="微软雅黑"/>
              </a:rPr>
              <a:t>的额外收益在长阶段评估上最大，在短感知和突发不良事件上较小。随机选帧是最伤性能的消融</a:t>
            </a:r>
            <a:r>
              <a:rPr sz="1500" b="0" i="0" dirty="0">
                <a:solidFill>
                  <a:srgbClr val="1F2A30"/>
                </a:solidFill>
                <a:latin typeface="微软雅黑"/>
                <a:ea typeface="微软雅黑"/>
                <a:cs typeface="微软雅黑"/>
              </a:rPr>
              <a:t>。</a:t>
            </a:r>
          </a:p>
        </p:txBody>
      </p:sp>
      <p:sp>
        <p:nvSpPr>
          <p:cNvPr id="15" name="Rounded Rectangle 14"/>
          <p:cNvSpPr/>
          <p:nvPr/>
        </p:nvSpPr>
        <p:spPr>
          <a:xfrm>
            <a:off x="438912" y="4956047"/>
            <a:ext cx="11292840" cy="11430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5093207"/>
            <a:ext cx="1371600" cy="822960"/>
          </a:xfrm>
          <a:prstGeom prst="rect">
            <a:avLst/>
          </a:prstGeom>
          <a:noFill/>
        </p:spPr>
        <p:txBody>
          <a:bodyPr wrap="square" lIns="0" tIns="0" rIns="0" bIns="0" anchor="ctr"/>
          <a:lstStyle/>
          <a:p>
            <a:pPr algn="l">
              <a:spcBef>
                <a:spcPts val="0"/>
              </a:spcBef>
              <a:spcAft>
                <a:spcPts val="0"/>
              </a:spcAft>
            </a:pPr>
            <a:r>
              <a:rPr sz="1600" b="1" i="0">
                <a:solidFill>
                  <a:srgbClr val="0E4C57"/>
                </a:solidFill>
                <a:latin typeface="微软雅黑"/>
                <a:ea typeface="微软雅黑"/>
                <a:cs typeface="微软雅黑"/>
              </a:rPr>
              <a:t>边界</a:t>
            </a:r>
          </a:p>
        </p:txBody>
      </p:sp>
      <p:sp>
        <p:nvSpPr>
          <p:cNvPr id="17" name="TextBox 16"/>
          <p:cNvSpPr txBox="1"/>
          <p:nvPr/>
        </p:nvSpPr>
        <p:spPr>
          <a:xfrm>
            <a:off x="2103120" y="5120639"/>
            <a:ext cx="9326880" cy="868680"/>
          </a:xfrm>
          <a:prstGeom prst="rect">
            <a:avLst/>
          </a:prstGeom>
          <a:noFill/>
        </p:spPr>
        <p:txBody>
          <a:bodyPr wrap="square" lIns="0" tIns="0" rIns="0" bIns="0" anchor="ctr"/>
          <a:lstStyle/>
          <a:p>
            <a:pPr algn="l">
              <a:spcBef>
                <a:spcPts val="0"/>
              </a:spcBef>
              <a:spcAft>
                <a:spcPts val="0"/>
              </a:spcAft>
            </a:pPr>
            <a:r>
              <a:rPr sz="1500" b="0" i="0" dirty="0" err="1">
                <a:solidFill>
                  <a:srgbClr val="1F2A30"/>
                </a:solidFill>
                <a:latin typeface="微软雅黑"/>
                <a:ea typeface="微软雅黑"/>
                <a:cs typeface="微软雅黑"/>
              </a:rPr>
              <a:t>它是一个研究用的视频问答框架。固定</a:t>
            </a:r>
            <a:r>
              <a:rPr sz="1500" b="0" i="0" dirty="0">
                <a:solidFill>
                  <a:srgbClr val="1F2A30"/>
                </a:solidFill>
                <a:latin typeface="微软雅黑"/>
                <a:ea typeface="微软雅黑"/>
                <a:cs typeface="微软雅黑"/>
              </a:rPr>
              <a:t> top-k </a:t>
            </a:r>
            <a:r>
              <a:rPr sz="1500" b="0" i="0" dirty="0" err="1">
                <a:solidFill>
                  <a:srgbClr val="1F2A30"/>
                </a:solidFill>
                <a:latin typeface="微软雅黑"/>
                <a:ea typeface="微软雅黑"/>
                <a:cs typeface="微软雅黑"/>
              </a:rPr>
              <a:t>到不了任意时长，单一术式和改写而来的答案也限制了外推</a:t>
            </a:r>
            <a:r>
              <a:rPr sz="1500" b="0" i="0" dirty="0">
                <a:solidFill>
                  <a:srgbClr val="1F2A30"/>
                </a:solidFill>
                <a:latin typeface="微软雅黑"/>
                <a:ea typeface="微软雅黑"/>
                <a:cs typeface="微软雅黑"/>
              </a:rPr>
              <a:t>。</a:t>
            </a:r>
          </a:p>
        </p:txBody>
      </p:sp>
      <p:sp>
        <p:nvSpPr>
          <p:cNvPr id="18" name="Rectangle 17"/>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0" name="TextBox 19"/>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1" name="TextBox 20"/>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22  /  26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Discussion</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8912" y="1554480"/>
            <a:ext cx="5623560" cy="21031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3504" y="1664208"/>
            <a:ext cx="5303520" cy="365760"/>
          </a:xfrm>
          <a:prstGeom prst="rect">
            <a:avLst/>
          </a:prstGeom>
          <a:noFill/>
        </p:spPr>
        <p:txBody>
          <a:bodyPr wrap="square" lIns="0" tIns="0" rIns="0" bIns="0" anchor="t"/>
          <a:lstStyle/>
          <a:p>
            <a:pPr algn="l">
              <a:spcBef>
                <a:spcPts val="0"/>
              </a:spcBef>
              <a:spcAft>
                <a:spcPts val="0"/>
              </a:spcAft>
            </a:pPr>
            <a:r>
              <a:rPr sz="1500" b="1" i="0" dirty="0" err="1">
                <a:solidFill>
                  <a:srgbClr val="0E4C57"/>
                </a:solidFill>
                <a:latin typeface="微软雅黑"/>
                <a:ea typeface="微软雅黑"/>
                <a:cs typeface="微软雅黑"/>
              </a:rPr>
              <a:t>可以直接用的观察</a:t>
            </a:r>
            <a:endParaRPr sz="1500" b="1" i="0" dirty="0">
              <a:solidFill>
                <a:srgbClr val="0E4C57"/>
              </a:solidFill>
              <a:latin typeface="微软雅黑"/>
              <a:ea typeface="微软雅黑"/>
              <a:cs typeface="微软雅黑"/>
            </a:endParaRPr>
          </a:p>
        </p:txBody>
      </p:sp>
      <p:sp>
        <p:nvSpPr>
          <p:cNvPr id="10" name="TextBox 9"/>
          <p:cNvSpPr txBox="1"/>
          <p:nvPr/>
        </p:nvSpPr>
        <p:spPr>
          <a:xfrm>
            <a:off x="603504" y="2084832"/>
            <a:ext cx="5303520" cy="1417320"/>
          </a:xfrm>
          <a:prstGeom prst="rect">
            <a:avLst/>
          </a:prstGeom>
          <a:noFill/>
        </p:spPr>
        <p:txBody>
          <a:bodyPr wrap="square" lIns="0" tIns="0" rIns="0" bIns="0" anchor="t"/>
          <a:lstStyle/>
          <a:p>
            <a:pPr algn="l">
              <a:lnSpc>
                <a:spcPct val="150000"/>
              </a:lnSpc>
              <a:spcBef>
                <a:spcPts val="0"/>
              </a:spcBef>
              <a:spcAft>
                <a:spcPts val="0"/>
              </a:spcAft>
            </a:pPr>
            <a:r>
              <a:rPr b="0" i="0" dirty="0" err="1">
                <a:solidFill>
                  <a:srgbClr val="1F2A30"/>
                </a:solidFill>
                <a:latin typeface="微软雅黑"/>
                <a:ea typeface="微软雅黑"/>
                <a:cs typeface="微软雅黑"/>
              </a:rPr>
              <a:t>评分项的时间窗不同。技能需要长上下文</a:t>
            </a:r>
            <a:r>
              <a:rPr b="0" i="0" dirty="0">
                <a:solidFill>
                  <a:srgbClr val="1F2A30"/>
                </a:solidFill>
                <a:latin typeface="微软雅黑"/>
                <a:ea typeface="微软雅黑"/>
                <a:cs typeface="微软雅黑"/>
              </a:rPr>
              <a:t>，</a:t>
            </a:r>
            <a:endParaRPr lang="en-US" b="0" i="0" dirty="0">
              <a:solidFill>
                <a:srgbClr val="1F2A30"/>
              </a:solidFill>
              <a:latin typeface="微软雅黑"/>
              <a:ea typeface="微软雅黑"/>
              <a:cs typeface="微软雅黑"/>
            </a:endParaRPr>
          </a:p>
          <a:p>
            <a:pPr algn="l">
              <a:lnSpc>
                <a:spcPct val="150000"/>
              </a:lnSpc>
              <a:spcBef>
                <a:spcPts val="0"/>
              </a:spcBef>
              <a:spcAft>
                <a:spcPts val="0"/>
              </a:spcAft>
            </a:pPr>
            <a:r>
              <a:rPr b="0" i="0" dirty="0" err="1">
                <a:solidFill>
                  <a:srgbClr val="1F2A30"/>
                </a:solidFill>
                <a:latin typeface="微软雅黑"/>
                <a:ea typeface="微软雅黑"/>
                <a:cs typeface="微软雅黑"/>
              </a:rPr>
              <a:t>过程项接近短窗口，操作项接近长窗口</a:t>
            </a:r>
            <a:r>
              <a:rPr b="0" i="0" dirty="0">
                <a:solidFill>
                  <a:srgbClr val="1F2A30"/>
                </a:solidFill>
                <a:latin typeface="微软雅黑"/>
                <a:ea typeface="微软雅黑"/>
                <a:cs typeface="微软雅黑"/>
              </a:rPr>
              <a:t>。</a:t>
            </a:r>
          </a:p>
        </p:txBody>
      </p:sp>
      <p:sp>
        <p:nvSpPr>
          <p:cNvPr id="11" name="Rounded Rectangle 10"/>
          <p:cNvSpPr/>
          <p:nvPr/>
        </p:nvSpPr>
        <p:spPr>
          <a:xfrm>
            <a:off x="438912" y="3794760"/>
            <a:ext cx="5623560" cy="210312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3904488"/>
            <a:ext cx="5303520" cy="36576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CholeScore 最接近</a:t>
            </a:r>
          </a:p>
        </p:txBody>
      </p:sp>
      <p:sp>
        <p:nvSpPr>
          <p:cNvPr id="13" name="TextBox 12"/>
          <p:cNvSpPr txBox="1"/>
          <p:nvPr/>
        </p:nvSpPr>
        <p:spPr>
          <a:xfrm>
            <a:off x="603504" y="4325112"/>
            <a:ext cx="5303520" cy="1417320"/>
          </a:xfrm>
          <a:prstGeom prst="rect">
            <a:avLst/>
          </a:prstGeom>
          <a:noFill/>
        </p:spPr>
        <p:txBody>
          <a:bodyPr wrap="square" lIns="0" tIns="0" rIns="0" bIns="0" anchor="t"/>
          <a:lstStyle/>
          <a:p>
            <a:pPr algn="l">
              <a:lnSpc>
                <a:spcPct val="150000"/>
              </a:lnSpc>
              <a:spcBef>
                <a:spcPts val="0"/>
              </a:spcBef>
              <a:spcAft>
                <a:spcPts val="0"/>
              </a:spcAft>
            </a:pPr>
            <a:r>
              <a:rPr b="0" i="0" dirty="0" err="1">
                <a:solidFill>
                  <a:srgbClr val="1F2A30"/>
                </a:solidFill>
                <a:latin typeface="微软雅黑"/>
                <a:ea typeface="微软雅黑"/>
                <a:cs typeface="微软雅黑"/>
              </a:rPr>
              <a:t>阶段级评分，片段可达十几分钟，并且包含技能</a:t>
            </a:r>
            <a:endParaRPr lang="en-US" b="0" i="0" dirty="0">
              <a:solidFill>
                <a:srgbClr val="1F2A30"/>
              </a:solidFill>
              <a:latin typeface="微软雅黑"/>
              <a:ea typeface="微软雅黑"/>
              <a:cs typeface="微软雅黑"/>
            </a:endParaRPr>
          </a:p>
          <a:p>
            <a:pPr algn="l">
              <a:lnSpc>
                <a:spcPct val="150000"/>
              </a:lnSpc>
              <a:spcBef>
                <a:spcPts val="0"/>
              </a:spcBef>
              <a:spcAft>
                <a:spcPts val="0"/>
              </a:spcAft>
            </a:pPr>
            <a:r>
              <a:rPr b="0" i="0" dirty="0" err="1">
                <a:solidFill>
                  <a:srgbClr val="1F2A30"/>
                </a:solidFill>
                <a:latin typeface="微软雅黑"/>
                <a:ea typeface="微软雅黑"/>
                <a:cs typeface="微软雅黑"/>
              </a:rPr>
              <a:t>优先这一类，而不是</a:t>
            </a:r>
            <a:r>
              <a:rPr b="0" i="0" dirty="0">
                <a:solidFill>
                  <a:srgbClr val="1F2A30"/>
                </a:solidFill>
                <a:latin typeface="微软雅黑"/>
                <a:ea typeface="微软雅黑"/>
                <a:cs typeface="微软雅黑"/>
              </a:rPr>
              <a:t> JIGSAWS。</a:t>
            </a:r>
          </a:p>
        </p:txBody>
      </p:sp>
      <p:sp>
        <p:nvSpPr>
          <p:cNvPr id="14" name="Rounded Rectangle 13"/>
          <p:cNvSpPr/>
          <p:nvPr/>
        </p:nvSpPr>
        <p:spPr>
          <a:xfrm>
            <a:off x="6263640" y="1554480"/>
            <a:ext cx="5486400" cy="2103120"/>
          </a:xfrm>
          <a:prstGeom prst="roundRect">
            <a:avLst>
              <a:gd name="adj" fmla="val 8000"/>
            </a:avLst>
          </a:prstGeom>
          <a:solidFill>
            <a:srgbClr val="FBF3E4"/>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28232" y="1664208"/>
            <a:ext cx="5166360" cy="365760"/>
          </a:xfrm>
          <a:prstGeom prst="rect">
            <a:avLst/>
          </a:prstGeom>
          <a:noFill/>
        </p:spPr>
        <p:txBody>
          <a:bodyPr wrap="square" lIns="0" tIns="0" rIns="0" bIns="0" anchor="t"/>
          <a:lstStyle/>
          <a:p>
            <a:pPr algn="l">
              <a:spcBef>
                <a:spcPts val="0"/>
              </a:spcBef>
              <a:spcAft>
                <a:spcPts val="0"/>
              </a:spcAft>
            </a:pPr>
            <a:r>
              <a:rPr lang="zh-CN" altLang="en-US" sz="1500" b="1" i="0" dirty="0">
                <a:solidFill>
                  <a:srgbClr val="8A5A12"/>
                </a:solidFill>
                <a:latin typeface="微软雅黑"/>
                <a:ea typeface="微软雅黑"/>
                <a:cs typeface="微软雅黑"/>
              </a:rPr>
              <a:t>无法遵循</a:t>
            </a:r>
            <a:r>
              <a:rPr sz="1500" b="1" i="0" dirty="0" err="1">
                <a:solidFill>
                  <a:srgbClr val="8A5A12"/>
                </a:solidFill>
                <a:latin typeface="微软雅黑"/>
                <a:ea typeface="微软雅黑"/>
                <a:cs typeface="微软雅黑"/>
              </a:rPr>
              <a:t>他们的训练路线</a:t>
            </a:r>
            <a:endParaRPr sz="1500" b="1" i="0" dirty="0">
              <a:solidFill>
                <a:srgbClr val="8A5A12"/>
              </a:solidFill>
              <a:latin typeface="微软雅黑"/>
              <a:ea typeface="微软雅黑"/>
              <a:cs typeface="微软雅黑"/>
            </a:endParaRPr>
          </a:p>
        </p:txBody>
      </p:sp>
      <p:sp>
        <p:nvSpPr>
          <p:cNvPr id="16" name="TextBox 15"/>
          <p:cNvSpPr txBox="1"/>
          <p:nvPr/>
        </p:nvSpPr>
        <p:spPr>
          <a:xfrm>
            <a:off x="6428232" y="2084832"/>
            <a:ext cx="5166360" cy="1417320"/>
          </a:xfrm>
          <a:prstGeom prst="rect">
            <a:avLst/>
          </a:prstGeom>
          <a:noFill/>
        </p:spPr>
        <p:txBody>
          <a:bodyPr wrap="square" lIns="0" tIns="0" rIns="0" bIns="0" anchor="t"/>
          <a:lstStyle/>
          <a:p>
            <a:pPr algn="l">
              <a:lnSpc>
                <a:spcPct val="150000"/>
              </a:lnSpc>
              <a:spcBef>
                <a:spcPts val="0"/>
              </a:spcBef>
              <a:spcAft>
                <a:spcPts val="0"/>
              </a:spcAft>
            </a:pPr>
            <a:r>
              <a:rPr b="0" i="0" dirty="0">
                <a:solidFill>
                  <a:srgbClr val="1F2A30"/>
                </a:solidFill>
                <a:latin typeface="微软雅黑"/>
                <a:ea typeface="微软雅黑"/>
                <a:cs typeface="微软雅黑"/>
              </a:rPr>
              <a:t>32K </a:t>
            </a:r>
            <a:r>
              <a:rPr b="0" i="0" dirty="0" err="1">
                <a:solidFill>
                  <a:srgbClr val="1F2A30"/>
                </a:solidFill>
                <a:latin typeface="微软雅黑"/>
                <a:ea typeface="微软雅黑"/>
                <a:cs typeface="微软雅黑"/>
              </a:rPr>
              <a:t>问答加</a:t>
            </a:r>
            <a:r>
              <a:rPr b="0" i="0" dirty="0">
                <a:solidFill>
                  <a:srgbClr val="1F2A30"/>
                </a:solidFill>
                <a:latin typeface="微软雅黑"/>
                <a:ea typeface="微软雅黑"/>
                <a:cs typeface="微软雅黑"/>
              </a:rPr>
              <a:t> </a:t>
            </a:r>
            <a:r>
              <a:rPr b="0" i="0" dirty="0" err="1">
                <a:solidFill>
                  <a:srgbClr val="1F2A30"/>
                </a:solidFill>
                <a:latin typeface="微软雅黑"/>
                <a:ea typeface="微软雅黑"/>
                <a:cs typeface="微软雅黑"/>
              </a:rPr>
              <a:t>LoRA</a:t>
            </a:r>
            <a:r>
              <a:rPr b="0" i="0" dirty="0">
                <a:solidFill>
                  <a:srgbClr val="1F2A30"/>
                </a:solidFill>
                <a:latin typeface="微软雅黑"/>
                <a:ea typeface="微软雅黑"/>
                <a:cs typeface="微软雅黑"/>
              </a:rPr>
              <a:t> </a:t>
            </a:r>
            <a:r>
              <a:rPr b="0" i="0" dirty="0" err="1">
                <a:solidFill>
                  <a:srgbClr val="1F2A30"/>
                </a:solidFill>
                <a:latin typeface="微软雅黑"/>
                <a:ea typeface="微软雅黑"/>
                <a:cs typeface="微软雅黑"/>
              </a:rPr>
              <a:t>微调</a:t>
            </a:r>
            <a:r>
              <a:rPr lang="zh-CN" altLang="en-US" dirty="0">
                <a:solidFill>
                  <a:srgbClr val="1F2A30"/>
                </a:solidFill>
                <a:latin typeface="微软雅黑"/>
                <a:ea typeface="微软雅黑"/>
                <a:cs typeface="微软雅黑"/>
              </a:rPr>
              <a:t>数据很大</a:t>
            </a:r>
            <a:endParaRPr lang="en-US" altLang="zh-CN" dirty="0">
              <a:solidFill>
                <a:srgbClr val="1F2A30"/>
              </a:solidFill>
              <a:latin typeface="微软雅黑"/>
              <a:ea typeface="微软雅黑"/>
              <a:cs typeface="微软雅黑"/>
            </a:endParaRPr>
          </a:p>
          <a:p>
            <a:pPr algn="l">
              <a:lnSpc>
                <a:spcPct val="150000"/>
              </a:lnSpc>
              <a:spcBef>
                <a:spcPts val="0"/>
              </a:spcBef>
              <a:spcAft>
                <a:spcPts val="0"/>
              </a:spcAft>
            </a:pPr>
            <a:r>
              <a:rPr b="0" i="0" dirty="0">
                <a:solidFill>
                  <a:srgbClr val="1F2A30"/>
                </a:solidFill>
                <a:latin typeface="微软雅黑"/>
                <a:ea typeface="微软雅黑"/>
                <a:cs typeface="微软雅黑"/>
              </a:rPr>
              <a:t>TEMP </a:t>
            </a:r>
            <a:r>
              <a:rPr b="0" i="0" dirty="0" err="1">
                <a:solidFill>
                  <a:srgbClr val="1F2A30"/>
                </a:solidFill>
                <a:latin typeface="微软雅黑"/>
                <a:ea typeface="微软雅黑"/>
                <a:cs typeface="微软雅黑"/>
              </a:rPr>
              <a:t>本身也要训练选帧</a:t>
            </a:r>
            <a:r>
              <a:rPr b="0" i="0" dirty="0">
                <a:solidFill>
                  <a:srgbClr val="1F2A30"/>
                </a:solidFill>
                <a:latin typeface="微软雅黑"/>
                <a:ea typeface="微软雅黑"/>
                <a:cs typeface="微软雅黑"/>
              </a:rPr>
              <a:t>。</a:t>
            </a:r>
          </a:p>
        </p:txBody>
      </p:sp>
      <p:sp>
        <p:nvSpPr>
          <p:cNvPr id="17" name="Rounded Rectangle 16"/>
          <p:cNvSpPr/>
          <p:nvPr/>
        </p:nvSpPr>
        <p:spPr>
          <a:xfrm>
            <a:off x="6263640" y="3794760"/>
            <a:ext cx="5486400" cy="2103120"/>
          </a:xfrm>
          <a:prstGeom prst="roundRect">
            <a:avLst>
              <a:gd name="adj" fmla="val 8000"/>
            </a:avLst>
          </a:prstGeom>
          <a:solidFill>
            <a:srgbClr val="FBF3E4"/>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28232" y="3904488"/>
            <a:ext cx="5166360" cy="365760"/>
          </a:xfrm>
          <a:prstGeom prst="rect">
            <a:avLst/>
          </a:prstGeom>
          <a:noFill/>
        </p:spPr>
        <p:txBody>
          <a:bodyPr wrap="square" lIns="0" tIns="0" rIns="0" bIns="0" anchor="t"/>
          <a:lstStyle/>
          <a:p>
            <a:pPr algn="l">
              <a:spcBef>
                <a:spcPts val="0"/>
              </a:spcBef>
              <a:spcAft>
                <a:spcPts val="0"/>
              </a:spcAft>
            </a:pPr>
            <a:r>
              <a:rPr sz="1500" b="1" i="0" dirty="0">
                <a:solidFill>
                  <a:srgbClr val="8A5A12"/>
                </a:solidFill>
                <a:latin typeface="微软雅黑"/>
                <a:ea typeface="微软雅黑"/>
                <a:cs typeface="微软雅黑"/>
              </a:rPr>
              <a:t>26 </a:t>
            </a:r>
            <a:r>
              <a:rPr sz="1500" b="1" i="0" dirty="0" err="1">
                <a:solidFill>
                  <a:srgbClr val="8A5A12"/>
                </a:solidFill>
                <a:latin typeface="微软雅黑"/>
                <a:ea typeface="微软雅黑"/>
                <a:cs typeface="微软雅黑"/>
              </a:rPr>
              <a:t>分钟不能直接套</a:t>
            </a:r>
            <a:r>
              <a:rPr sz="1500" b="1" i="0" dirty="0">
                <a:solidFill>
                  <a:srgbClr val="8A5A12"/>
                </a:solidFill>
                <a:latin typeface="微软雅黑"/>
                <a:ea typeface="微软雅黑"/>
                <a:cs typeface="微软雅黑"/>
              </a:rPr>
              <a:t> 64 帧</a:t>
            </a:r>
          </a:p>
        </p:txBody>
      </p:sp>
      <p:sp>
        <p:nvSpPr>
          <p:cNvPr id="19" name="TextBox 18"/>
          <p:cNvSpPr txBox="1"/>
          <p:nvPr/>
        </p:nvSpPr>
        <p:spPr>
          <a:xfrm>
            <a:off x="6428232" y="4325112"/>
            <a:ext cx="5166360" cy="1417320"/>
          </a:xfrm>
          <a:prstGeom prst="rect">
            <a:avLst/>
          </a:prstGeom>
          <a:noFill/>
        </p:spPr>
        <p:txBody>
          <a:bodyPr wrap="square" lIns="0" tIns="0" rIns="0" bIns="0" anchor="t"/>
          <a:lstStyle/>
          <a:p>
            <a:pPr algn="l">
              <a:lnSpc>
                <a:spcPct val="150000"/>
              </a:lnSpc>
              <a:spcBef>
                <a:spcPts val="0"/>
              </a:spcBef>
              <a:spcAft>
                <a:spcPts val="0"/>
              </a:spcAft>
            </a:pPr>
            <a:r>
              <a:rPr b="0" i="0" dirty="0">
                <a:solidFill>
                  <a:srgbClr val="1F2A30"/>
                </a:solidFill>
                <a:latin typeface="微软雅黑"/>
                <a:ea typeface="微软雅黑"/>
                <a:cs typeface="微软雅黑"/>
              </a:rPr>
              <a:t>在 96 </a:t>
            </a:r>
            <a:r>
              <a:rPr b="0" i="0" dirty="0" err="1">
                <a:solidFill>
                  <a:srgbClr val="1F2A30"/>
                </a:solidFill>
                <a:latin typeface="微软雅黑"/>
                <a:ea typeface="微软雅黑"/>
                <a:cs typeface="微软雅黑"/>
              </a:rPr>
              <a:t>帧已经观察到固定</a:t>
            </a:r>
            <a:r>
              <a:rPr b="0" i="0" dirty="0">
                <a:solidFill>
                  <a:srgbClr val="1F2A30"/>
                </a:solidFill>
                <a:latin typeface="微软雅黑"/>
                <a:ea typeface="微软雅黑"/>
                <a:cs typeface="微软雅黑"/>
              </a:rPr>
              <a:t> top-k </a:t>
            </a:r>
            <a:r>
              <a:rPr b="0" i="0" dirty="0" err="1">
                <a:solidFill>
                  <a:srgbClr val="1F2A30"/>
                </a:solidFill>
                <a:latin typeface="微软雅黑"/>
                <a:ea typeface="微软雅黑"/>
                <a:cs typeface="微软雅黑"/>
              </a:rPr>
              <a:t>失效，并明确说还不是任意长视频的解法</a:t>
            </a:r>
            <a:r>
              <a:rPr b="0" i="0" dirty="0">
                <a:solidFill>
                  <a:srgbClr val="1F2A30"/>
                </a:solidFill>
                <a:latin typeface="微软雅黑"/>
                <a:ea typeface="微软雅黑"/>
                <a:cs typeface="微软雅黑"/>
              </a:rPr>
              <a:t>。</a:t>
            </a:r>
            <a:endParaRPr lang="en-US" b="0" i="0" dirty="0">
              <a:solidFill>
                <a:srgbClr val="1F2A30"/>
              </a:solidFill>
              <a:latin typeface="微软雅黑"/>
              <a:ea typeface="微软雅黑"/>
              <a:cs typeface="微软雅黑"/>
            </a:endParaRPr>
          </a:p>
          <a:p>
            <a:pPr algn="l">
              <a:lnSpc>
                <a:spcPct val="150000"/>
              </a:lnSpc>
              <a:spcBef>
                <a:spcPts val="0"/>
              </a:spcBef>
              <a:spcAft>
                <a:spcPts val="0"/>
              </a:spcAft>
            </a:pPr>
            <a:r>
              <a:rPr b="0" i="0" dirty="0" err="1">
                <a:solidFill>
                  <a:srgbClr val="1F2A30"/>
                </a:solidFill>
                <a:latin typeface="微软雅黑"/>
                <a:ea typeface="微软雅黑"/>
                <a:cs typeface="微软雅黑"/>
              </a:rPr>
              <a:t>应先按评分项找回事件，再把短证据交给冻结模型</a:t>
            </a:r>
            <a:endParaRPr b="0" i="0" dirty="0">
              <a:solidFill>
                <a:srgbClr val="1F2A30"/>
              </a:solidFill>
              <a:latin typeface="微软雅黑"/>
              <a:ea typeface="微软雅黑"/>
              <a:cs typeface="微软雅黑"/>
            </a:endParaRPr>
          </a:p>
        </p:txBody>
      </p:sp>
      <p:sp>
        <p:nvSpPr>
          <p:cNvPr id="20" name="Rectangle 19"/>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2" name="TextBox 21"/>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3" name="TextBox 22"/>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23  /  26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201168"/>
            <a:ext cx="11247120" cy="438912"/>
          </a:xfrm>
          <a:prstGeom prst="rect">
            <a:avLst/>
          </a:prstGeom>
          <a:noFill/>
        </p:spPr>
        <p:txBody>
          <a:bodyPr wrap="square" lIns="0" tIns="0" rIns="0" bIns="0" anchor="t"/>
          <a:lstStyle/>
          <a:p>
            <a:pPr algn="l">
              <a:spcBef>
                <a:spcPts val="0"/>
              </a:spcBef>
              <a:spcAft>
                <a:spcPts val="0"/>
              </a:spcAft>
            </a:pPr>
            <a:r>
              <a:rPr sz="2800" b="1" i="0">
                <a:solidFill>
                  <a:srgbClr val="1B3A4B"/>
                </a:solidFill>
                <a:latin typeface="微软雅黑"/>
                <a:ea typeface="微软雅黑"/>
                <a:cs typeface="微软雅黑"/>
              </a:rPr>
              <a:t>带回去的一句话</a:t>
            </a:r>
          </a:p>
        </p:txBody>
      </p:sp>
      <p:sp>
        <p:nvSpPr>
          <p:cNvPr id="5" name="Rectangle 4"/>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645920"/>
            <a:ext cx="10881360" cy="2194560"/>
          </a:xfrm>
          <a:prstGeom prst="roundRect">
            <a:avLst>
              <a:gd name="adj" fmla="val 8000"/>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74519"/>
            <a:ext cx="10332720" cy="1783080"/>
          </a:xfrm>
          <a:prstGeom prst="rect">
            <a:avLst/>
          </a:prstGeom>
          <a:noFill/>
        </p:spPr>
        <p:txBody>
          <a:bodyPr wrap="square" lIns="0" tIns="0" rIns="0" bIns="0" anchor="ctr"/>
          <a:lstStyle/>
          <a:p>
            <a:pPr algn="l">
              <a:spcBef>
                <a:spcPts val="0"/>
              </a:spcBef>
              <a:spcAft>
                <a:spcPts val="0"/>
              </a:spcAft>
            </a:pPr>
            <a:r>
              <a:rPr sz="2200" b="1" i="0">
                <a:solidFill>
                  <a:srgbClr val="FFFFFF"/>
                </a:solidFill>
                <a:latin typeface="微软雅黑"/>
                <a:ea typeface="微软雅黑"/>
                <a:cs typeface="微软雅黑"/>
              </a:rPr>
              <a:t>SurgTEMP 证明：手术评估不能对所有问题均匀看帧。
技能和阶段级判断需要按问题保留时间上下文；
这套收益来自可训练的选帧，而且在九十六帧后就不再上升。</a:t>
            </a:r>
          </a:p>
        </p:txBody>
      </p:sp>
      <p:sp>
        <p:nvSpPr>
          <p:cNvPr id="8" name="TextBox 7"/>
          <p:cNvSpPr txBox="1"/>
          <p:nvPr/>
        </p:nvSpPr>
        <p:spPr>
          <a:xfrm>
            <a:off x="640080" y="4114800"/>
            <a:ext cx="10881360" cy="1645920"/>
          </a:xfrm>
          <a:prstGeom prst="rect">
            <a:avLst/>
          </a:prstGeom>
          <a:noFill/>
        </p:spPr>
        <p:txBody>
          <a:bodyPr wrap="square" lIns="0" tIns="0" rIns="0" bIns="0" anchor="t"/>
          <a:lstStyle/>
          <a:p>
            <a:pPr algn="l">
              <a:spcBef>
                <a:spcPts val="0"/>
              </a:spcBef>
              <a:spcAft>
                <a:spcPts val="0"/>
              </a:spcAft>
            </a:pPr>
            <a:r>
              <a:rPr sz="1600" b="0" i="0">
                <a:solidFill>
                  <a:srgbClr val="5C6B73"/>
                </a:solidFill>
                <a:latin typeface="微软雅黑"/>
                <a:ea typeface="微软雅黑"/>
                <a:cs typeface="微软雅黑"/>
              </a:rPr>
              <a:t>论文  arXiv:2603.29962
项目  https://camma-public.github.io/SurgTEMP/
代码与数据以项目页为准</a:t>
            </a:r>
          </a:p>
        </p:txBody>
      </p:sp>
      <p:sp>
        <p:nvSpPr>
          <p:cNvPr id="9" name="Rectangle 8"/>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11" name="TextBox 10"/>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12" name="TextBox 11"/>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26  /  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EA2DCA-4676-9D64-A5E3-D11992AD602E}"/>
              </a:ext>
            </a:extLst>
          </p:cNvPr>
          <p:cNvSpPr>
            <a:spLocks noGrp="1"/>
          </p:cNvSpPr>
          <p:nvPr>
            <p:ph type="title"/>
          </p:nvPr>
        </p:nvSpPr>
        <p:spPr/>
        <p:txBody>
          <a:bodyPr/>
          <a:lstStyle/>
          <a:p>
            <a:r>
              <a:rPr lang="en-US" altLang="zh-CN" dirty="0">
                <a:latin typeface="NimbusRomNo9L-Medi"/>
              </a:rPr>
              <a:t>Writing</a:t>
            </a:r>
            <a:endParaRPr lang="zh-CN" altLang="en-US" dirty="0">
              <a:latin typeface="NimbusRomNo9L-Medi"/>
            </a:endParaRPr>
          </a:p>
        </p:txBody>
      </p:sp>
      <p:sp>
        <p:nvSpPr>
          <p:cNvPr id="3" name="内容占位符 2">
            <a:extLst>
              <a:ext uri="{FF2B5EF4-FFF2-40B4-BE49-F238E27FC236}">
                <a16:creationId xmlns:a16="http://schemas.microsoft.com/office/drawing/2014/main" id="{FCD8FE1E-CE56-C49F-2058-6071EF5CE26D}"/>
              </a:ext>
            </a:extLst>
          </p:cNvPr>
          <p:cNvSpPr>
            <a:spLocks noGrp="1"/>
          </p:cNvSpPr>
          <p:nvPr>
            <p:ph idx="1"/>
          </p:nvPr>
        </p:nvSpPr>
        <p:spPr/>
        <p:txBody>
          <a:bodyPr>
            <a:normAutofit/>
          </a:bodyPr>
          <a:lstStyle/>
          <a:p>
            <a:pPr>
              <a:lnSpc>
                <a:spcPct val="130000"/>
              </a:lnSpc>
              <a:spcBef>
                <a:spcPct val="0"/>
              </a:spcBef>
            </a:pPr>
            <a:r>
              <a:rPr lang="en-US" altLang="zh-CN" dirty="0">
                <a:latin typeface="NimbusRomNo9L-Medi"/>
                <a:ea typeface="+mj-ea"/>
                <a:cs typeface="+mj-cs"/>
              </a:rPr>
              <a:t>Abstract</a:t>
            </a:r>
          </a:p>
          <a:p>
            <a:pPr>
              <a:lnSpc>
                <a:spcPct val="130000"/>
              </a:lnSpc>
              <a:spcBef>
                <a:spcPct val="0"/>
              </a:spcBef>
            </a:pPr>
            <a:r>
              <a:rPr lang="en-US" altLang="zh-CN" dirty="0">
                <a:latin typeface="NimbusRomNo9L-Medi"/>
                <a:ea typeface="+mj-ea"/>
                <a:cs typeface="+mj-cs"/>
              </a:rPr>
              <a:t>Introduction</a:t>
            </a:r>
          </a:p>
        </p:txBody>
      </p:sp>
      <p:sp>
        <p:nvSpPr>
          <p:cNvPr id="4" name="日期占位符 3">
            <a:extLst>
              <a:ext uri="{FF2B5EF4-FFF2-40B4-BE49-F238E27FC236}">
                <a16:creationId xmlns:a16="http://schemas.microsoft.com/office/drawing/2014/main" id="{AF1E1627-7401-6F53-9B23-57AADCC23802}"/>
              </a:ext>
            </a:extLst>
          </p:cNvPr>
          <p:cNvSpPr>
            <a:spLocks noGrp="1"/>
          </p:cNvSpPr>
          <p:nvPr>
            <p:ph type="dt" sz="half" idx="10"/>
          </p:nvPr>
        </p:nvSpPr>
        <p:spPr/>
        <p:txBody>
          <a:bodyPr/>
          <a:lstStyle/>
          <a:p>
            <a:fld id="{7CFC5DE8-26FD-4E74-9927-A0C9FC728D53}" type="datetime1">
              <a:rPr lang="zh-CN" altLang="en-US" smtClean="0"/>
              <a:t>2026/10/15</a:t>
            </a:fld>
            <a:endParaRPr lang="zh-CN" altLang="en-US"/>
          </a:p>
        </p:txBody>
      </p:sp>
      <p:sp>
        <p:nvSpPr>
          <p:cNvPr id="5" name="页脚占位符 4">
            <a:extLst>
              <a:ext uri="{FF2B5EF4-FFF2-40B4-BE49-F238E27FC236}">
                <a16:creationId xmlns:a16="http://schemas.microsoft.com/office/drawing/2014/main" id="{B6F24BE0-D671-1DDD-25BF-9445EF9BDB7F}"/>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1BE6C6C6-57E0-C331-B9EA-39530D560A7E}"/>
              </a:ext>
            </a:extLst>
          </p:cNvPr>
          <p:cNvSpPr>
            <a:spLocks noGrp="1"/>
          </p:cNvSpPr>
          <p:nvPr>
            <p:ph type="sldNum" sz="quarter" idx="12"/>
          </p:nvPr>
        </p:nvSpPr>
        <p:spPr/>
        <p:txBody>
          <a:bodyPr/>
          <a:lstStyle/>
          <a:p>
            <a:fld id="{52108E69-35C3-4395-AB4C-CBC2CBC07E89}" type="slidenum">
              <a:rPr lang="zh-CN" altLang="en-US" smtClean="0"/>
              <a:t>32</a:t>
            </a:fld>
            <a:endParaRPr lang="zh-CN" altLang="en-US"/>
          </a:p>
        </p:txBody>
      </p:sp>
    </p:spTree>
    <p:extLst>
      <p:ext uri="{BB962C8B-B14F-4D97-AF65-F5344CB8AC3E}">
        <p14:creationId xmlns:p14="http://schemas.microsoft.com/office/powerpoint/2010/main" val="3389521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33DAB-1049-BFC0-FEB6-AB7B3761A71D}"/>
            </a:ext>
          </a:extLst>
        </p:cNvPr>
        <p:cNvGrpSpPr/>
        <p:nvPr/>
      </p:nvGrpSpPr>
      <p:grpSpPr>
        <a:xfrm>
          <a:off x="0" y="0"/>
          <a:ext cx="0" cy="0"/>
          <a:chOff x="0" y="0"/>
          <a:chExt cx="0" cy="0"/>
        </a:xfrm>
      </p:grpSpPr>
      <p:sp>
        <p:nvSpPr>
          <p:cNvPr id="5" name="日期占位符 4">
            <a:extLst>
              <a:ext uri="{FF2B5EF4-FFF2-40B4-BE49-F238E27FC236}">
                <a16:creationId xmlns:a16="http://schemas.microsoft.com/office/drawing/2014/main" id="{7E93B893-1247-27B4-F9FE-16EE409D689F}"/>
              </a:ext>
            </a:extLst>
          </p:cNvPr>
          <p:cNvSpPr>
            <a:spLocks noGrp="1"/>
          </p:cNvSpPr>
          <p:nvPr>
            <p:ph type="dt" sz="half" idx="10"/>
          </p:nvPr>
        </p:nvSpPr>
        <p:spPr/>
        <p:txBody>
          <a:bodyPr/>
          <a:lstStyle/>
          <a:p>
            <a:fld id="{406CE5F7-A797-4ACA-8E8F-F356EF9082F7}" type="datetime1">
              <a:rPr lang="zh-CN" altLang="en-US" smtClean="0"/>
              <a:t>2026/10/15</a:t>
            </a:fld>
            <a:endParaRPr lang="zh-CN" altLang="en-US"/>
          </a:p>
        </p:txBody>
      </p:sp>
      <p:sp>
        <p:nvSpPr>
          <p:cNvPr id="6" name="页脚占位符 5">
            <a:extLst>
              <a:ext uri="{FF2B5EF4-FFF2-40B4-BE49-F238E27FC236}">
                <a16:creationId xmlns:a16="http://schemas.microsoft.com/office/drawing/2014/main" id="{7D02FD6F-C1E4-7AD6-8575-A8D49EA72B1E}"/>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7A212201-7256-4463-E875-5E96ECE4A1A7}"/>
              </a:ext>
            </a:extLst>
          </p:cNvPr>
          <p:cNvSpPr>
            <a:spLocks noGrp="1"/>
          </p:cNvSpPr>
          <p:nvPr>
            <p:ph type="sldNum" sz="quarter" idx="12"/>
          </p:nvPr>
        </p:nvSpPr>
        <p:spPr/>
        <p:txBody>
          <a:bodyPr/>
          <a:lstStyle/>
          <a:p>
            <a:fld id="{52108E69-35C3-4395-AB4C-CBC2CBC07E89}" type="slidenum">
              <a:rPr lang="zh-CN" altLang="en-US" smtClean="0"/>
              <a:t>33</a:t>
            </a:fld>
            <a:endParaRPr lang="zh-CN" altLang="en-US"/>
          </a:p>
        </p:txBody>
      </p:sp>
      <p:sp>
        <p:nvSpPr>
          <p:cNvPr id="9" name="标题 1">
            <a:extLst>
              <a:ext uri="{FF2B5EF4-FFF2-40B4-BE49-F238E27FC236}">
                <a16:creationId xmlns:a16="http://schemas.microsoft.com/office/drawing/2014/main" id="{6C085367-F909-A684-F716-D61FF717E97F}"/>
              </a:ext>
            </a:extLst>
          </p:cNvPr>
          <p:cNvSpPr>
            <a:spLocks noGrp="1"/>
          </p:cNvSpPr>
          <p:nvPr>
            <p:ph type="title"/>
          </p:nvPr>
        </p:nvSpPr>
        <p:spPr>
          <a:xfrm>
            <a:off x="838200" y="365125"/>
            <a:ext cx="10515600" cy="1325563"/>
          </a:xfrm>
        </p:spPr>
        <p:txBody>
          <a:bodyPr/>
          <a:lstStyle/>
          <a:p>
            <a:r>
              <a:rPr lang="en-US" altLang="zh-CN" dirty="0">
                <a:latin typeface="NimbusRomNo9L-Medi"/>
              </a:rPr>
              <a:t>Abstract</a:t>
            </a:r>
            <a:endParaRPr lang="zh-CN" altLang="en-US" dirty="0"/>
          </a:p>
        </p:txBody>
      </p:sp>
    </p:spTree>
    <p:extLst>
      <p:ext uri="{BB962C8B-B14F-4D97-AF65-F5344CB8AC3E}">
        <p14:creationId xmlns:p14="http://schemas.microsoft.com/office/powerpoint/2010/main" val="3616325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64592"/>
            <a:ext cx="11247120" cy="237744"/>
          </a:xfrm>
          <a:prstGeom prst="rect">
            <a:avLst/>
          </a:prstGeom>
          <a:noFill/>
        </p:spPr>
        <p:txBody>
          <a:bodyPr wrap="square" lIns="0" tIns="0" rIns="0" bIns="0" anchor="t"/>
          <a:lstStyle/>
          <a:p>
            <a:pPr algn="l">
              <a:spcBef>
                <a:spcPts val="0"/>
              </a:spcBef>
              <a:spcAft>
                <a:spcPts val="0"/>
              </a:spcAft>
            </a:pPr>
            <a:r>
              <a:rPr sz="1200" b="1" i="0">
                <a:solidFill>
                  <a:srgbClr val="1A6B7A"/>
                </a:solidFill>
                <a:latin typeface="微软雅黑"/>
                <a:ea typeface="微软雅黑"/>
                <a:cs typeface="微软雅黑"/>
              </a:rPr>
              <a:t>摘要在完成哪几件事</a:t>
            </a: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Writing · Abstract</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12" y="1115568"/>
            <a:ext cx="2103120" cy="1051560"/>
          </a:xfrm>
          <a:prstGeom prst="rect">
            <a:avLst/>
          </a:prstGeom>
          <a:noFill/>
        </p:spPr>
        <p:txBody>
          <a:bodyPr wrap="square" lIns="0" tIns="0" rIns="0" bIns="0" anchor="ctr"/>
          <a:lstStyle/>
          <a:p>
            <a:pPr algn="l">
              <a:spcBef>
                <a:spcPts val="0"/>
              </a:spcBef>
              <a:spcAft>
                <a:spcPts val="0"/>
              </a:spcAft>
            </a:pPr>
            <a:r>
              <a:rPr sz="1600" b="1" i="0">
                <a:solidFill>
                  <a:srgbClr val="0E4C57"/>
                </a:solidFill>
                <a:latin typeface="微软雅黑"/>
                <a:ea typeface="微软雅黑"/>
                <a:cs typeface="微软雅黑"/>
              </a:rPr>
              <a:t>任务缺口</a:t>
            </a:r>
          </a:p>
        </p:txBody>
      </p:sp>
      <p:sp>
        <p:nvSpPr>
          <p:cNvPr id="8" name="Rounded Rectangle 7"/>
          <p:cNvSpPr/>
          <p:nvPr/>
        </p:nvSpPr>
        <p:spPr>
          <a:xfrm>
            <a:off x="2606040" y="1115568"/>
            <a:ext cx="9098280" cy="11430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88920" y="1252728"/>
            <a:ext cx="8732520" cy="868680"/>
          </a:xfrm>
          <a:prstGeom prst="rect">
            <a:avLst/>
          </a:prstGeom>
          <a:noFill/>
        </p:spPr>
        <p:txBody>
          <a:bodyPr wrap="square" lIns="0" tIns="0" rIns="0" bIns="0" anchor="ctr"/>
          <a:lstStyle/>
          <a:p>
            <a:pPr algn="l">
              <a:spcBef>
                <a:spcPts val="0"/>
              </a:spcBef>
              <a:spcAft>
                <a:spcPts val="0"/>
              </a:spcAft>
            </a:pPr>
            <a:r>
              <a:rPr sz="1400" b="0" i="0">
                <a:solidFill>
                  <a:srgbClr val="1F2A30"/>
                </a:solidFill>
                <a:latin typeface="微软雅黑"/>
                <a:ea typeface="微软雅黑"/>
                <a:cs typeface="微软雅黑"/>
              </a:rPr>
              <a:t>手术 VQA 仍以静帧为主，而评估需要长程时间。低对比、知识驱动、时间窗口不一致、任务有层级，这四件事被放在摘要前半。</a:t>
            </a:r>
          </a:p>
        </p:txBody>
      </p:sp>
      <p:sp>
        <p:nvSpPr>
          <p:cNvPr id="10" name="TextBox 9"/>
          <p:cNvSpPr txBox="1"/>
          <p:nvPr/>
        </p:nvSpPr>
        <p:spPr>
          <a:xfrm>
            <a:off x="438912" y="2395728"/>
            <a:ext cx="2103120" cy="1051560"/>
          </a:xfrm>
          <a:prstGeom prst="rect">
            <a:avLst/>
          </a:prstGeom>
          <a:noFill/>
        </p:spPr>
        <p:txBody>
          <a:bodyPr wrap="square" lIns="0" tIns="0" rIns="0" bIns="0" anchor="ctr"/>
          <a:lstStyle/>
          <a:p>
            <a:pPr algn="l">
              <a:spcBef>
                <a:spcPts val="0"/>
              </a:spcBef>
              <a:spcAft>
                <a:spcPts val="0"/>
              </a:spcAft>
            </a:pPr>
            <a:r>
              <a:rPr sz="1600" b="1" i="0">
                <a:solidFill>
                  <a:srgbClr val="0E4C57"/>
                </a:solidFill>
                <a:latin typeface="微软雅黑"/>
                <a:ea typeface="微软雅黑"/>
                <a:cs typeface="微软雅黑"/>
              </a:rPr>
              <a:t>方法一句</a:t>
            </a:r>
          </a:p>
        </p:txBody>
      </p:sp>
      <p:sp>
        <p:nvSpPr>
          <p:cNvPr id="11" name="Rounded Rectangle 10"/>
          <p:cNvSpPr/>
          <p:nvPr/>
        </p:nvSpPr>
        <p:spPr>
          <a:xfrm>
            <a:off x="2606040" y="2395728"/>
            <a:ext cx="9098280" cy="11430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88920" y="2532888"/>
            <a:ext cx="8732520" cy="868680"/>
          </a:xfrm>
          <a:prstGeom prst="rect">
            <a:avLst/>
          </a:prstGeom>
          <a:noFill/>
        </p:spPr>
        <p:txBody>
          <a:bodyPr wrap="square" lIns="0" tIns="0" rIns="0" bIns="0" anchor="ctr"/>
          <a:lstStyle/>
          <a:p>
            <a:pPr algn="l">
              <a:spcBef>
                <a:spcPts val="0"/>
              </a:spcBef>
              <a:spcAft>
                <a:spcPts val="0"/>
              </a:spcAft>
            </a:pPr>
            <a:r>
              <a:rPr sz="1400" b="0" i="0">
                <a:solidFill>
                  <a:srgbClr val="1F2A30"/>
                </a:solidFill>
                <a:latin typeface="微软雅黑"/>
                <a:ea typeface="微软雅黑"/>
                <a:cs typeface="微软雅黑"/>
              </a:rPr>
              <a:t>只承诺两件事：问题引导的层次视觉记忆，以及按能力递进的训练。没有在摘要里展开网络细节。</a:t>
            </a:r>
          </a:p>
        </p:txBody>
      </p:sp>
      <p:sp>
        <p:nvSpPr>
          <p:cNvPr id="13" name="TextBox 12"/>
          <p:cNvSpPr txBox="1"/>
          <p:nvPr/>
        </p:nvSpPr>
        <p:spPr>
          <a:xfrm>
            <a:off x="438912" y="3675887"/>
            <a:ext cx="2103120" cy="1051560"/>
          </a:xfrm>
          <a:prstGeom prst="rect">
            <a:avLst/>
          </a:prstGeom>
          <a:noFill/>
        </p:spPr>
        <p:txBody>
          <a:bodyPr wrap="square" lIns="0" tIns="0" rIns="0" bIns="0" anchor="ctr"/>
          <a:lstStyle/>
          <a:p>
            <a:pPr algn="l">
              <a:spcBef>
                <a:spcPts val="0"/>
              </a:spcBef>
              <a:spcAft>
                <a:spcPts val="0"/>
              </a:spcAft>
            </a:pPr>
            <a:r>
              <a:rPr sz="1600" b="1" i="0">
                <a:solidFill>
                  <a:srgbClr val="0E4C57"/>
                </a:solidFill>
                <a:latin typeface="微软雅黑"/>
                <a:ea typeface="微软雅黑"/>
                <a:cs typeface="微软雅黑"/>
              </a:rPr>
              <a:t>数据一句</a:t>
            </a:r>
          </a:p>
        </p:txBody>
      </p:sp>
      <p:sp>
        <p:nvSpPr>
          <p:cNvPr id="14" name="Rounded Rectangle 13"/>
          <p:cNvSpPr/>
          <p:nvPr/>
        </p:nvSpPr>
        <p:spPr>
          <a:xfrm>
            <a:off x="2606040" y="3675887"/>
            <a:ext cx="9098280" cy="11430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88920" y="3813047"/>
            <a:ext cx="8732520" cy="868680"/>
          </a:xfrm>
          <a:prstGeom prst="rect">
            <a:avLst/>
          </a:prstGeom>
          <a:noFill/>
        </p:spPr>
        <p:txBody>
          <a:bodyPr wrap="square" lIns="0" tIns="0" rIns="0" bIns="0" anchor="ctr"/>
          <a:lstStyle/>
          <a:p>
            <a:pPr algn="l">
              <a:spcBef>
                <a:spcPts val="0"/>
              </a:spcBef>
              <a:spcAft>
                <a:spcPts val="0"/>
              </a:spcAft>
            </a:pPr>
            <a:r>
              <a:rPr sz="1400" b="0" i="0">
                <a:solidFill>
                  <a:srgbClr val="1F2A30"/>
                </a:solidFill>
                <a:latin typeface="微软雅黑"/>
                <a:ea typeface="微软雅黑"/>
                <a:cs typeface="微软雅黑"/>
              </a:rPr>
              <a:t>CholeVidQA-32K 的规模、时长和三层 11 项一起出现，让读者知道评的是视频而不是帧。</a:t>
            </a:r>
          </a:p>
        </p:txBody>
      </p:sp>
      <p:sp>
        <p:nvSpPr>
          <p:cNvPr id="16" name="TextBox 15"/>
          <p:cNvSpPr txBox="1"/>
          <p:nvPr/>
        </p:nvSpPr>
        <p:spPr>
          <a:xfrm>
            <a:off x="438912" y="4956047"/>
            <a:ext cx="2103120" cy="1051560"/>
          </a:xfrm>
          <a:prstGeom prst="rect">
            <a:avLst/>
          </a:prstGeom>
          <a:noFill/>
        </p:spPr>
        <p:txBody>
          <a:bodyPr wrap="square" lIns="0" tIns="0" rIns="0" bIns="0" anchor="ctr"/>
          <a:lstStyle/>
          <a:p>
            <a:pPr algn="l">
              <a:spcBef>
                <a:spcPts val="0"/>
              </a:spcBef>
              <a:spcAft>
                <a:spcPts val="0"/>
              </a:spcAft>
            </a:pPr>
            <a:r>
              <a:rPr sz="1600" b="1" i="0">
                <a:solidFill>
                  <a:srgbClr val="0E4C57"/>
                </a:solidFill>
                <a:latin typeface="微软雅黑"/>
                <a:ea typeface="微软雅黑"/>
                <a:cs typeface="微软雅黑"/>
              </a:rPr>
              <a:t>结果一句</a:t>
            </a:r>
          </a:p>
        </p:txBody>
      </p:sp>
      <p:sp>
        <p:nvSpPr>
          <p:cNvPr id="17" name="Rounded Rectangle 16"/>
          <p:cNvSpPr/>
          <p:nvPr/>
        </p:nvSpPr>
        <p:spPr>
          <a:xfrm>
            <a:off x="2606040" y="4956047"/>
            <a:ext cx="9098280" cy="114300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88920" y="5093207"/>
            <a:ext cx="8732520" cy="868680"/>
          </a:xfrm>
          <a:prstGeom prst="rect">
            <a:avLst/>
          </a:prstGeom>
          <a:noFill/>
        </p:spPr>
        <p:txBody>
          <a:bodyPr wrap="square" lIns="0" tIns="0" rIns="0" bIns="0" anchor="ctr"/>
          <a:lstStyle/>
          <a:p>
            <a:pPr algn="l">
              <a:spcBef>
                <a:spcPts val="0"/>
              </a:spcBef>
              <a:spcAft>
                <a:spcPts val="0"/>
              </a:spcAft>
            </a:pPr>
            <a:r>
              <a:rPr sz="1400" b="0" i="0">
                <a:solidFill>
                  <a:srgbClr val="1F2A30"/>
                </a:solidFill>
                <a:latin typeface="微软雅黑"/>
                <a:ea typeface="微软雅黑"/>
                <a:cs typeface="微软雅黑"/>
              </a:rPr>
              <a:t>相对开源视频大模型，微调和零样本都有提升。摘要不报具体点数，点数留给实验。</a:t>
            </a:r>
          </a:p>
        </p:txBody>
      </p:sp>
      <p:sp>
        <p:nvSpPr>
          <p:cNvPr id="19" name="Rectangle 18"/>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1" name="TextBox 20"/>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2" name="TextBox 21"/>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24  /  26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a:extLst>
              <a:ext uri="{FF2B5EF4-FFF2-40B4-BE49-F238E27FC236}">
                <a16:creationId xmlns:a16="http://schemas.microsoft.com/office/drawing/2014/main" id="{B506BAF6-29BD-8D04-15E2-D103558CD122}"/>
              </a:ext>
            </a:extLst>
          </p:cNvPr>
          <p:cNvSpPr>
            <a:spLocks noGrp="1"/>
          </p:cNvSpPr>
          <p:nvPr>
            <p:ph type="dt" sz="half" idx="10"/>
          </p:nvPr>
        </p:nvSpPr>
        <p:spPr/>
        <p:txBody>
          <a:bodyPr/>
          <a:lstStyle/>
          <a:p>
            <a:fld id="{406CE5F7-A797-4ACA-8E8F-F356EF9082F7}" type="datetime1">
              <a:rPr lang="zh-CN" altLang="en-US" smtClean="0"/>
              <a:t>2026/10/15</a:t>
            </a:fld>
            <a:endParaRPr lang="zh-CN" altLang="en-US"/>
          </a:p>
        </p:txBody>
      </p:sp>
      <p:sp>
        <p:nvSpPr>
          <p:cNvPr id="6" name="页脚占位符 5">
            <a:extLst>
              <a:ext uri="{FF2B5EF4-FFF2-40B4-BE49-F238E27FC236}">
                <a16:creationId xmlns:a16="http://schemas.microsoft.com/office/drawing/2014/main" id="{359EAE5D-99EE-B3AF-2B10-6D3B01B388C3}"/>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D15A451-72AE-5A72-D410-3EBB730C38AF}"/>
              </a:ext>
            </a:extLst>
          </p:cNvPr>
          <p:cNvSpPr>
            <a:spLocks noGrp="1"/>
          </p:cNvSpPr>
          <p:nvPr>
            <p:ph type="sldNum" sz="quarter" idx="12"/>
          </p:nvPr>
        </p:nvSpPr>
        <p:spPr/>
        <p:txBody>
          <a:bodyPr/>
          <a:lstStyle/>
          <a:p>
            <a:fld id="{52108E69-35C3-4395-AB4C-CBC2CBC07E89}" type="slidenum">
              <a:rPr lang="zh-CN" altLang="en-US" smtClean="0"/>
              <a:t>35</a:t>
            </a:fld>
            <a:endParaRPr lang="zh-CN" altLang="en-US"/>
          </a:p>
        </p:txBody>
      </p:sp>
      <p:sp>
        <p:nvSpPr>
          <p:cNvPr id="2" name="内容占位符 2">
            <a:extLst>
              <a:ext uri="{FF2B5EF4-FFF2-40B4-BE49-F238E27FC236}">
                <a16:creationId xmlns:a16="http://schemas.microsoft.com/office/drawing/2014/main" id="{E64FB428-E2F2-938B-0B36-B8404FC05653}"/>
              </a:ext>
            </a:extLst>
          </p:cNvPr>
          <p:cNvSpPr txBox="1">
            <a:spLocks/>
          </p:cNvSpPr>
          <p:nvPr/>
        </p:nvSpPr>
        <p:spPr>
          <a:xfrm>
            <a:off x="745345" y="206275"/>
            <a:ext cx="10548910" cy="69535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altLang="zh-CN" sz="1800" b="1" dirty="0">
                <a:latin typeface="Times New Roman" panose="02020603050405020304" pitchFamily="18" charset="0"/>
                <a:cs typeface="Times New Roman" panose="02020603050405020304" pitchFamily="18" charset="0"/>
              </a:rPr>
              <a:t>Surgical procedures </a:t>
            </a:r>
            <a:r>
              <a:rPr lang="en-US" altLang="zh-CN" sz="1800" dirty="0">
                <a:latin typeface="Times New Roman" panose="02020603050405020304" pitchFamily="18" charset="0"/>
                <a:cs typeface="Times New Roman" panose="02020603050405020304" pitchFamily="18" charset="0"/>
              </a:rPr>
              <a:t>are inherently complex and risky, requiring extensive expertise and constant focus to well navigate evolving intraoperative scenes. </a:t>
            </a:r>
            <a:r>
              <a:rPr lang="en-US" altLang="zh-CN" sz="1800" b="1" dirty="0">
                <a:latin typeface="Times New Roman" panose="02020603050405020304" pitchFamily="18" charset="0"/>
                <a:cs typeface="Times New Roman" panose="02020603050405020304" pitchFamily="18" charset="0"/>
              </a:rPr>
              <a:t>Computer-assisted systems </a:t>
            </a:r>
            <a:r>
              <a:rPr lang="en-US" altLang="zh-CN" sz="1800" dirty="0">
                <a:latin typeface="Times New Roman" panose="02020603050405020304" pitchFamily="18" charset="0"/>
                <a:cs typeface="Times New Roman" panose="02020603050405020304" pitchFamily="18" charset="0"/>
              </a:rPr>
              <a:t>such as surgical visual question answering (VQA) offer promises for education and intraoperative support. </a:t>
            </a:r>
            <a:r>
              <a:rPr lang="en-US" altLang="zh-CN" sz="1800" b="1" dirty="0">
                <a:latin typeface="Times New Roman" panose="02020603050405020304" pitchFamily="18" charset="0"/>
                <a:cs typeface="Times New Roman" panose="02020603050405020304" pitchFamily="18" charset="0"/>
              </a:rPr>
              <a:t>Current surgical VQA </a:t>
            </a:r>
            <a:r>
              <a:rPr lang="en-US" altLang="zh-CN" sz="1800" dirty="0">
                <a:latin typeface="Times New Roman" panose="02020603050405020304" pitchFamily="18" charset="0"/>
                <a:cs typeface="Times New Roman" panose="02020603050405020304" pitchFamily="18" charset="0"/>
              </a:rPr>
              <a:t>research largely focuses on static frame analysis, overlooking rich temporal semantics. Surgical video question answering is further </a:t>
            </a:r>
            <a:r>
              <a:rPr lang="en-US" altLang="zh-CN" sz="1800" b="1" dirty="0">
                <a:latin typeface="Times New Roman" panose="02020603050405020304" pitchFamily="18" charset="0"/>
                <a:cs typeface="Times New Roman" panose="02020603050405020304" pitchFamily="18" charset="0"/>
              </a:rPr>
              <a:t>challenged</a:t>
            </a:r>
            <a:r>
              <a:rPr lang="en-US" altLang="zh-CN" sz="1800" dirty="0">
                <a:latin typeface="Times New Roman" panose="02020603050405020304" pitchFamily="18" charset="0"/>
                <a:cs typeface="Times New Roman" panose="02020603050405020304" pitchFamily="18" charset="0"/>
              </a:rPr>
              <a:t> by low visual contrast, its highly knowledge-driven nature, diverse analytical needs spanning scattered temporal windows, and the hierarchy from basic perception to high-level intraoperative assessment. To address these challenges, we propose </a:t>
            </a:r>
            <a:r>
              <a:rPr lang="en-US" altLang="zh-CN" sz="1800" b="1" dirty="0" err="1">
                <a:latin typeface="Times New Roman" panose="02020603050405020304" pitchFamily="18" charset="0"/>
                <a:cs typeface="Times New Roman" panose="02020603050405020304" pitchFamily="18" charset="0"/>
              </a:rPr>
              <a:t>SurgTEMP</a:t>
            </a:r>
            <a:r>
              <a:rPr lang="en-US" altLang="zh-CN" sz="1800" dirty="0">
                <a:latin typeface="Times New Roman" panose="02020603050405020304" pitchFamily="18" charset="0"/>
                <a:cs typeface="Times New Roman" panose="02020603050405020304" pitchFamily="18" charset="0"/>
              </a:rPr>
              <a:t>, a multimodal LLM framework featuring (</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a query-guided token selection module that builds hierarchical visual memory (spatial and temporal memory banks) and (ii) a Surgical Competency Progression (SCP) training scheme. Together, these components enable effective modeling of variable-length surgical videos while preserving procedure-relevant cues and temporal coherence, and better support diverse downstream assessment tasks. To support model development, we introduce CholeVidQA-32K, a surgical video question answering dataset comprising 32K open-ended QA pairs and 3,855 video segments (approximately 128 h total) from laparoscopic cholecystectomy. The dataset is organized into a three-level hierarchy—Perception, Assessment, and Reasoning—spanning 11 tasks from instrument/action/anatomy perception to Critical View of Safety (CVS), intraoperative difficulty, skill proficiency, and adverse event assessment. In comprehensive evaluations against state-of-the-art open-source multimodal and video LLMs (fine-tuned and zero-shot), </a:t>
            </a:r>
            <a:r>
              <a:rPr lang="en-US" altLang="zh-CN" sz="1800" dirty="0" err="1">
                <a:latin typeface="Times New Roman" panose="02020603050405020304" pitchFamily="18" charset="0"/>
                <a:cs typeface="Times New Roman" panose="02020603050405020304" pitchFamily="18" charset="0"/>
              </a:rPr>
              <a:t>SurgTEMP</a:t>
            </a:r>
            <a:r>
              <a:rPr lang="en-US" altLang="zh-CN" sz="1800" dirty="0">
                <a:latin typeface="Times New Roman" panose="02020603050405020304" pitchFamily="18" charset="0"/>
                <a:cs typeface="Times New Roman" panose="02020603050405020304" pitchFamily="18" charset="0"/>
              </a:rPr>
              <a:t> achieves substantial performance improvements, advancing the state of video-based surgical VQA. The project page is available at https://camma-public.github.io/SurgTEMP/.</a:t>
            </a:r>
            <a:endParaRPr lang="en-US" altLang="zh-CN" sz="18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7DC1E266-BA0B-BD0A-3D76-653CCACB17E8}"/>
              </a:ext>
            </a:extLst>
          </p:cNvPr>
          <p:cNvSpPr txBox="1"/>
          <p:nvPr/>
        </p:nvSpPr>
        <p:spPr>
          <a:xfrm>
            <a:off x="-477555" y="455627"/>
            <a:ext cx="1731528"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背景</a:t>
            </a:r>
          </a:p>
        </p:txBody>
      </p:sp>
      <p:sp>
        <p:nvSpPr>
          <p:cNvPr id="13" name="文本框 12">
            <a:extLst>
              <a:ext uri="{FF2B5EF4-FFF2-40B4-BE49-F238E27FC236}">
                <a16:creationId xmlns:a16="http://schemas.microsoft.com/office/drawing/2014/main" id="{508DC881-2978-D314-092E-3EA5DF2F1CBE}"/>
              </a:ext>
            </a:extLst>
          </p:cNvPr>
          <p:cNvSpPr txBox="1"/>
          <p:nvPr/>
        </p:nvSpPr>
        <p:spPr>
          <a:xfrm>
            <a:off x="-135108" y="2402688"/>
            <a:ext cx="1608306"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method</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4" name="文本框 13">
            <a:extLst>
              <a:ext uri="{FF2B5EF4-FFF2-40B4-BE49-F238E27FC236}">
                <a16:creationId xmlns:a16="http://schemas.microsoft.com/office/drawing/2014/main" id="{104D9EF0-0270-487F-21F0-19E858336E69}"/>
              </a:ext>
            </a:extLst>
          </p:cNvPr>
          <p:cNvSpPr txBox="1"/>
          <p:nvPr/>
        </p:nvSpPr>
        <p:spPr>
          <a:xfrm>
            <a:off x="1836783" y="5335824"/>
            <a:ext cx="1081180"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experiments</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8A8739A8-72A6-59B7-990B-AB729D0D53E4}"/>
              </a:ext>
            </a:extLst>
          </p:cNvPr>
          <p:cNvSpPr txBox="1"/>
          <p:nvPr/>
        </p:nvSpPr>
        <p:spPr>
          <a:xfrm>
            <a:off x="4631267" y="3725364"/>
            <a:ext cx="1081180"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dataset</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D1CE172D-8206-C942-38D8-F86E02CEFC5C}"/>
              </a:ext>
            </a:extLst>
          </p:cNvPr>
          <p:cNvSpPr txBox="1"/>
          <p:nvPr/>
        </p:nvSpPr>
        <p:spPr>
          <a:xfrm>
            <a:off x="5889196" y="1094378"/>
            <a:ext cx="1608306"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现有工作</a:t>
            </a:r>
          </a:p>
        </p:txBody>
      </p:sp>
    </p:spTree>
    <p:extLst>
      <p:ext uri="{BB962C8B-B14F-4D97-AF65-F5344CB8AC3E}">
        <p14:creationId xmlns:p14="http://schemas.microsoft.com/office/powerpoint/2010/main" val="630641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1A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8912" y="164592"/>
            <a:ext cx="11247120" cy="237744"/>
          </a:xfrm>
          <a:prstGeom prst="rect">
            <a:avLst/>
          </a:prstGeom>
          <a:noFill/>
        </p:spPr>
        <p:txBody>
          <a:bodyPr wrap="square" lIns="0" tIns="0" rIns="0" bIns="0" anchor="t"/>
          <a:lstStyle/>
          <a:p>
            <a:pPr algn="l">
              <a:spcBef>
                <a:spcPts val="0"/>
              </a:spcBef>
              <a:spcAft>
                <a:spcPts val="0"/>
              </a:spcAft>
            </a:pPr>
            <a:r>
              <a:rPr sz="1200" b="1" i="0">
                <a:solidFill>
                  <a:srgbClr val="1A6B7A"/>
                </a:solidFill>
                <a:latin typeface="微软雅黑"/>
                <a:ea typeface="微软雅黑"/>
                <a:cs typeface="微软雅黑"/>
              </a:rPr>
              <a:t>引言按六步把贡献送出来</a:t>
            </a:r>
          </a:p>
        </p:txBody>
      </p:sp>
      <p:sp>
        <p:nvSpPr>
          <p:cNvPr id="5" name="TextBox 4"/>
          <p:cNvSpPr txBox="1"/>
          <p:nvPr/>
        </p:nvSpPr>
        <p:spPr>
          <a:xfrm>
            <a:off x="438912" y="365760"/>
            <a:ext cx="11247120" cy="420624"/>
          </a:xfrm>
          <a:prstGeom prst="rect">
            <a:avLst/>
          </a:prstGeom>
          <a:noFill/>
        </p:spPr>
        <p:txBody>
          <a:bodyPr wrap="square" lIns="0" tIns="0" rIns="0" bIns="0" anchor="t"/>
          <a:lstStyle/>
          <a:p>
            <a:pPr algn="l">
              <a:spcBef>
                <a:spcPts val="0"/>
              </a:spcBef>
              <a:spcAft>
                <a:spcPts val="0"/>
              </a:spcAft>
            </a:pPr>
            <a:r>
              <a:rPr sz="2600" b="1" i="0">
                <a:solidFill>
                  <a:srgbClr val="1B3A4B"/>
                </a:solidFill>
                <a:latin typeface="微软雅黑"/>
                <a:ea typeface="微软雅黑"/>
                <a:cs typeface="微软雅黑"/>
              </a:rPr>
              <a:t>Writing · Introduction</a:t>
            </a:r>
          </a:p>
        </p:txBody>
      </p:sp>
      <p:sp>
        <p:nvSpPr>
          <p:cNvPr id="6" name="Rectangle 5"/>
          <p:cNvSpPr/>
          <p:nvPr/>
        </p:nvSpPr>
        <p:spPr>
          <a:xfrm>
            <a:off x="438912" y="877824"/>
            <a:ext cx="1051560" cy="41148"/>
          </a:xfrm>
          <a:prstGeom prst="rect">
            <a:avLst/>
          </a:prstGeom>
          <a:solidFill>
            <a:srgbClr val="C4A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8912" y="1097280"/>
            <a:ext cx="5669280" cy="15544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5216" y="1188720"/>
            <a:ext cx="5394960" cy="32004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1  临床动机</a:t>
            </a:r>
          </a:p>
        </p:txBody>
      </p:sp>
      <p:sp>
        <p:nvSpPr>
          <p:cNvPr id="9" name="TextBox 8"/>
          <p:cNvSpPr txBox="1"/>
          <p:nvPr/>
        </p:nvSpPr>
        <p:spPr>
          <a:xfrm>
            <a:off x="585216" y="1572768"/>
            <a:ext cx="5394960" cy="96012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手术训练周期长。先会认解剖，再会操作，最后才会做情境判断，例如胆囊管是否可以离断。</a:t>
            </a:r>
          </a:p>
        </p:txBody>
      </p:sp>
      <p:sp>
        <p:nvSpPr>
          <p:cNvPr id="10" name="Rounded Rectangle 9"/>
          <p:cNvSpPr/>
          <p:nvPr/>
        </p:nvSpPr>
        <p:spPr>
          <a:xfrm>
            <a:off x="6291072" y="1097280"/>
            <a:ext cx="5669280" cy="15544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37376" y="1188720"/>
            <a:ext cx="5394960" cy="32004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2  文献分界</a:t>
            </a:r>
          </a:p>
        </p:txBody>
      </p:sp>
      <p:sp>
        <p:nvSpPr>
          <p:cNvPr id="12" name="TextBox 11"/>
          <p:cNvSpPr txBox="1"/>
          <p:nvPr/>
        </p:nvSpPr>
        <p:spPr>
          <a:xfrm>
            <a:off x="6437376" y="1572768"/>
            <a:ext cx="5394960" cy="96012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感知工作很多；CVS、难度和不良事件开始出现，但彼此分离。技能评估被点名为需要更长窗口的任务。</a:t>
            </a:r>
          </a:p>
        </p:txBody>
      </p:sp>
      <p:sp>
        <p:nvSpPr>
          <p:cNvPr id="13" name="Rounded Rectangle 12"/>
          <p:cNvSpPr/>
          <p:nvPr/>
        </p:nvSpPr>
        <p:spPr>
          <a:xfrm>
            <a:off x="438912" y="2788920"/>
            <a:ext cx="5669280" cy="15544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5216" y="2880360"/>
            <a:ext cx="5394960" cy="32004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3  三个挑战</a:t>
            </a:r>
          </a:p>
        </p:txBody>
      </p:sp>
      <p:sp>
        <p:nvSpPr>
          <p:cNvPr id="15" name="TextBox 14"/>
          <p:cNvSpPr txBox="1"/>
          <p:nvPr/>
        </p:nvSpPr>
        <p:spPr>
          <a:xfrm>
            <a:off x="585216" y="3264408"/>
            <a:ext cx="5394960" cy="96012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视觉对比度低、时间粒度随任务变化、高层任务依赖低层能力。后文的每个模块都要能对上其中一条。</a:t>
            </a:r>
          </a:p>
        </p:txBody>
      </p:sp>
      <p:sp>
        <p:nvSpPr>
          <p:cNvPr id="16" name="Rounded Rectangle 15"/>
          <p:cNvSpPr/>
          <p:nvPr/>
        </p:nvSpPr>
        <p:spPr>
          <a:xfrm>
            <a:off x="6291072" y="2788920"/>
            <a:ext cx="5669280" cy="15544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37376" y="2880360"/>
            <a:ext cx="5394960" cy="32004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4  方法对应</a:t>
            </a:r>
          </a:p>
        </p:txBody>
      </p:sp>
      <p:sp>
        <p:nvSpPr>
          <p:cNvPr id="18" name="TextBox 17"/>
          <p:cNvSpPr txBox="1"/>
          <p:nvPr/>
        </p:nvSpPr>
        <p:spPr>
          <a:xfrm>
            <a:off x="6437376" y="3264408"/>
            <a:ext cx="5394960" cy="96012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问题当引导信号，对付低对比；空间记忆对短窗，时间记忆对长窗；SCP 对任务依赖。</a:t>
            </a:r>
          </a:p>
        </p:txBody>
      </p:sp>
      <p:sp>
        <p:nvSpPr>
          <p:cNvPr id="19" name="Rounded Rectangle 18"/>
          <p:cNvSpPr/>
          <p:nvPr/>
        </p:nvSpPr>
        <p:spPr>
          <a:xfrm>
            <a:off x="438912" y="4480560"/>
            <a:ext cx="5669280" cy="15544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5216" y="4572000"/>
            <a:ext cx="5394960" cy="32004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5  数据与实验</a:t>
            </a:r>
          </a:p>
        </p:txBody>
      </p:sp>
      <p:sp>
        <p:nvSpPr>
          <p:cNvPr id="21" name="TextBox 20"/>
          <p:cNvSpPr txBox="1"/>
          <p:nvPr/>
        </p:nvSpPr>
        <p:spPr>
          <a:xfrm>
            <a:off x="585216" y="4956048"/>
            <a:ext cx="5394960" cy="96012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先说数据集覆盖，再说微调和零样本都优于通用视频模型，并强调长而复杂的任务上差距更大。</a:t>
            </a:r>
          </a:p>
        </p:txBody>
      </p:sp>
      <p:sp>
        <p:nvSpPr>
          <p:cNvPr id="22" name="Rounded Rectangle 21"/>
          <p:cNvSpPr/>
          <p:nvPr/>
        </p:nvSpPr>
        <p:spPr>
          <a:xfrm>
            <a:off x="6291072" y="4480560"/>
            <a:ext cx="5669280" cy="1554480"/>
          </a:xfrm>
          <a:prstGeom prst="roundRect">
            <a:avLst>
              <a:gd name="adj" fmla="val 8000"/>
            </a:avLst>
          </a:prstGeom>
          <a:solidFill>
            <a:srgbClr val="F4F8F8"/>
          </a:solidFill>
          <a:ln w="15875">
            <a:solidFill>
              <a:srgbClr val="D5DE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37376" y="4572000"/>
            <a:ext cx="5394960" cy="320040"/>
          </a:xfrm>
          <a:prstGeom prst="rect">
            <a:avLst/>
          </a:prstGeom>
          <a:noFill/>
        </p:spPr>
        <p:txBody>
          <a:bodyPr wrap="square" lIns="0" tIns="0" rIns="0" bIns="0" anchor="t"/>
          <a:lstStyle/>
          <a:p>
            <a:pPr algn="l">
              <a:spcBef>
                <a:spcPts val="0"/>
              </a:spcBef>
              <a:spcAft>
                <a:spcPts val="0"/>
              </a:spcAft>
            </a:pPr>
            <a:r>
              <a:rPr sz="1500" b="1" i="0">
                <a:solidFill>
                  <a:srgbClr val="0E4C57"/>
                </a:solidFill>
                <a:latin typeface="微软雅黑"/>
                <a:ea typeface="微软雅黑"/>
                <a:cs typeface="微软雅黑"/>
              </a:rPr>
              <a:t>6  贡献列表</a:t>
            </a:r>
          </a:p>
        </p:txBody>
      </p:sp>
      <p:sp>
        <p:nvSpPr>
          <p:cNvPr id="24" name="TextBox 23"/>
          <p:cNvSpPr txBox="1"/>
          <p:nvPr/>
        </p:nvSpPr>
        <p:spPr>
          <a:xfrm>
            <a:off x="6437376" y="4956048"/>
            <a:ext cx="5394960" cy="960120"/>
          </a:xfrm>
          <a:prstGeom prst="rect">
            <a:avLst/>
          </a:prstGeom>
          <a:noFill/>
        </p:spPr>
        <p:txBody>
          <a:bodyPr wrap="square" lIns="0" tIns="0" rIns="0" bIns="0" anchor="t"/>
          <a:lstStyle/>
          <a:p>
            <a:pPr algn="l">
              <a:spcBef>
                <a:spcPts val="0"/>
              </a:spcBef>
              <a:spcAft>
                <a:spcPts val="0"/>
              </a:spcAft>
            </a:pPr>
            <a:r>
              <a:rPr sz="1300" b="0" i="0">
                <a:solidFill>
                  <a:srgbClr val="1F2A30"/>
                </a:solidFill>
                <a:latin typeface="微软雅黑"/>
                <a:ea typeface="微软雅黑"/>
                <a:cs typeface="微软雅黑"/>
              </a:rPr>
              <a:t>模型、数据集、实验三条。不把“已可术中使用”写进贡献。局限放到正文末尾单独承认。</a:t>
            </a:r>
          </a:p>
        </p:txBody>
      </p:sp>
      <p:sp>
        <p:nvSpPr>
          <p:cNvPr id="25" name="Rectangle 24"/>
          <p:cNvSpPr/>
          <p:nvPr/>
        </p:nvSpPr>
        <p:spPr>
          <a:xfrm>
            <a:off x="0" y="6565392"/>
            <a:ext cx="12191695" cy="292608"/>
          </a:xfrm>
          <a:prstGeom prst="rect">
            <a:avLst/>
          </a:prstGeom>
          <a:solidFill>
            <a:srgbClr val="1B3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80" y="6583680"/>
            <a:ext cx="2194560" cy="237744"/>
          </a:xfrm>
          <a:prstGeom prst="rect">
            <a:avLst/>
          </a:prstGeom>
          <a:noFill/>
        </p:spPr>
        <p:txBody>
          <a:bodyPr wrap="square" lIns="0" tIns="0" rIns="0" bIns="0" anchor="ctr"/>
          <a:lstStyle/>
          <a:p>
            <a:pPr algn="l">
              <a:spcBef>
                <a:spcPts val="0"/>
              </a:spcBef>
              <a:spcAft>
                <a:spcPts val="0"/>
              </a:spcAft>
            </a:pPr>
            <a:r>
              <a:rPr sz="1100" b="0" i="0">
                <a:solidFill>
                  <a:srgbClr val="FFFFFF"/>
                </a:solidFill>
                <a:latin typeface="微软雅黑"/>
                <a:ea typeface="微软雅黑"/>
                <a:cs typeface="微软雅黑"/>
              </a:rPr>
              <a:t>2026/10/14</a:t>
            </a:r>
          </a:p>
        </p:txBody>
      </p:sp>
      <p:sp>
        <p:nvSpPr>
          <p:cNvPr id="27" name="TextBox 26"/>
          <p:cNvSpPr txBox="1"/>
          <p:nvPr/>
        </p:nvSpPr>
        <p:spPr>
          <a:xfrm>
            <a:off x="4754880" y="6583680"/>
            <a:ext cx="2651760" cy="237744"/>
          </a:xfrm>
          <a:prstGeom prst="rect">
            <a:avLst/>
          </a:prstGeom>
          <a:noFill/>
        </p:spPr>
        <p:txBody>
          <a:bodyPr wrap="square" lIns="0" tIns="0" rIns="0" bIns="0" anchor="ctr"/>
          <a:lstStyle/>
          <a:p>
            <a:pPr algn="ctr">
              <a:spcBef>
                <a:spcPts val="0"/>
              </a:spcBef>
              <a:spcAft>
                <a:spcPts val="0"/>
              </a:spcAft>
            </a:pPr>
            <a:r>
              <a:rPr sz="1100" b="0" i="0">
                <a:solidFill>
                  <a:srgbClr val="FFFFFF"/>
                </a:solidFill>
                <a:latin typeface="微软雅黑"/>
                <a:ea typeface="微软雅黑"/>
                <a:cs typeface="微软雅黑"/>
              </a:rPr>
              <a:t>lqy</a:t>
            </a:r>
          </a:p>
        </p:txBody>
      </p:sp>
      <p:sp>
        <p:nvSpPr>
          <p:cNvPr id="28" name="TextBox 27"/>
          <p:cNvSpPr txBox="1"/>
          <p:nvPr/>
        </p:nvSpPr>
        <p:spPr>
          <a:xfrm>
            <a:off x="9692640" y="6583680"/>
            <a:ext cx="2103120" cy="237744"/>
          </a:xfrm>
          <a:prstGeom prst="rect">
            <a:avLst/>
          </a:prstGeom>
          <a:noFill/>
        </p:spPr>
        <p:txBody>
          <a:bodyPr wrap="square" lIns="0" tIns="0" rIns="0" bIns="0" anchor="ctr"/>
          <a:lstStyle/>
          <a:p>
            <a:pPr algn="r">
              <a:spcBef>
                <a:spcPts val="0"/>
              </a:spcBef>
              <a:spcAft>
                <a:spcPts val="0"/>
              </a:spcAft>
            </a:pPr>
            <a:r>
              <a:rPr sz="1100" b="0" i="0">
                <a:solidFill>
                  <a:srgbClr val="FFFFFF"/>
                </a:solidFill>
                <a:latin typeface="微软雅黑"/>
                <a:ea typeface="微软雅黑"/>
                <a:cs typeface="微软雅黑"/>
              </a:rPr>
              <a:t>25  /  26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0C841-6BB6-E0C4-40C2-B26ED15A073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63F665-F0AF-546A-A048-3FF15A45B78D}"/>
              </a:ext>
            </a:extLst>
          </p:cNvPr>
          <p:cNvSpPr>
            <a:spLocks noGrp="1"/>
          </p:cNvSpPr>
          <p:nvPr>
            <p:ph type="title"/>
          </p:nvPr>
        </p:nvSpPr>
        <p:spPr/>
        <p:txBody>
          <a:bodyPr/>
          <a:lstStyle/>
          <a:p>
            <a:r>
              <a:rPr lang="en-US" altLang="zh-CN" dirty="0">
                <a:latin typeface="NimbusRomNo9L-Medi"/>
              </a:rPr>
              <a:t>Introduction – 1/17</a:t>
            </a:r>
            <a:endParaRPr lang="zh-CN" altLang="en-US" dirty="0"/>
          </a:p>
        </p:txBody>
      </p:sp>
      <p:sp>
        <p:nvSpPr>
          <p:cNvPr id="3" name="内容占位符 2">
            <a:extLst>
              <a:ext uri="{FF2B5EF4-FFF2-40B4-BE49-F238E27FC236}">
                <a16:creationId xmlns:a16="http://schemas.microsoft.com/office/drawing/2014/main" id="{99EA405C-675F-B833-7835-FFB6EA571A80}"/>
              </a:ext>
            </a:extLst>
          </p:cNvPr>
          <p:cNvSpPr>
            <a:spLocks noGrp="1"/>
          </p:cNvSpPr>
          <p:nvPr>
            <p:ph idx="1"/>
          </p:nvPr>
        </p:nvSpPr>
        <p:spPr>
          <a:xfrm>
            <a:off x="838199" y="1581785"/>
            <a:ext cx="10515600" cy="4351338"/>
          </a:xfrm>
        </p:spPr>
        <p:txBody>
          <a:bodyPr>
            <a:normAutofit fontScale="55000" lnSpcReduction="20000"/>
          </a:bodyPr>
          <a:lstStyle/>
          <a:p>
            <a:pPr marL="0" indent="0">
              <a:lnSpc>
                <a:spcPct val="170000"/>
              </a:lnSpc>
              <a:buNone/>
            </a:pPr>
            <a:r>
              <a:rPr lang="en-US" altLang="zh-CN" dirty="0"/>
              <a:t>Surgery is a highly complex and skill-demanding discipline, characterized by substantial risk and a </a:t>
            </a:r>
            <a:r>
              <a:rPr lang="en-US" altLang="zh-CN" b="1" dirty="0"/>
              <a:t>prolonged training period</a:t>
            </a:r>
            <a:r>
              <a:rPr lang="en-US" altLang="zh-CN" dirty="0"/>
              <a:t> before practitioners achieve proficiency. </a:t>
            </a:r>
            <a:r>
              <a:rPr lang="en-US" altLang="zh-CN" b="1" dirty="0"/>
              <a:t>At the beginning of training</a:t>
            </a:r>
            <a:r>
              <a:rPr lang="en-US" altLang="zh-CN" dirty="0"/>
              <a:t>, a solid understanding of anatomy is generally assumed, as it provides the foundation for interpreting the operative field, for example the identification of key anatomical landmarks and the assessment of their status. Based on that, </a:t>
            </a:r>
            <a:r>
              <a:rPr lang="en-US" altLang="zh-CN" b="1" dirty="0"/>
              <a:t>years of residency </a:t>
            </a:r>
            <a:r>
              <a:rPr lang="en-US" altLang="zh-CN" dirty="0"/>
              <a:t>are typically required to master fundamental operative actions, such as suturing and tissue retraction, and to develop the ability to perform context-aware intraoperative assessments. </a:t>
            </a:r>
            <a:r>
              <a:rPr lang="en-US" altLang="zh-CN" b="1" dirty="0"/>
              <a:t>For instance</a:t>
            </a:r>
            <a:r>
              <a:rPr lang="en-US" altLang="zh-CN" dirty="0"/>
              <a:t>, in laparoscopic cholecystectomy surgeons must judge whether the cystic duct has been adequately dissected and exposed and whether it is safe to divide it. This competence is typically acquired only after numerous procedures. Such skill is essential for ensuring a smooth operation, minimizing complications, and achieving favorable postoperative outcomes.</a:t>
            </a:r>
            <a:endParaRPr lang="zh-CN" altLang="en-US" sz="20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5" name="日期占位符 4">
            <a:extLst>
              <a:ext uri="{FF2B5EF4-FFF2-40B4-BE49-F238E27FC236}">
                <a16:creationId xmlns:a16="http://schemas.microsoft.com/office/drawing/2014/main" id="{4B1E3E98-7D3E-1341-6EC6-17F7C5ED6906}"/>
              </a:ext>
            </a:extLst>
          </p:cNvPr>
          <p:cNvSpPr>
            <a:spLocks noGrp="1"/>
          </p:cNvSpPr>
          <p:nvPr>
            <p:ph type="dt" sz="half" idx="10"/>
          </p:nvPr>
        </p:nvSpPr>
        <p:spPr/>
        <p:txBody>
          <a:bodyPr/>
          <a:lstStyle/>
          <a:p>
            <a:fld id="{CA6D1005-75B9-45A9-81F2-694867CDD9CB}" type="datetime1">
              <a:rPr lang="zh-CN" altLang="en-US" smtClean="0"/>
              <a:t>2026/10/15</a:t>
            </a:fld>
            <a:endParaRPr lang="zh-CN" altLang="en-US"/>
          </a:p>
        </p:txBody>
      </p:sp>
      <p:sp>
        <p:nvSpPr>
          <p:cNvPr id="6" name="页脚占位符 5">
            <a:extLst>
              <a:ext uri="{FF2B5EF4-FFF2-40B4-BE49-F238E27FC236}">
                <a16:creationId xmlns:a16="http://schemas.microsoft.com/office/drawing/2014/main" id="{3689370A-CF64-E736-19F9-0045B37384B4}"/>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1364B5F6-6317-6A66-3C5F-77933C9C39F3}"/>
              </a:ext>
            </a:extLst>
          </p:cNvPr>
          <p:cNvSpPr>
            <a:spLocks noGrp="1"/>
          </p:cNvSpPr>
          <p:nvPr>
            <p:ph type="sldNum" sz="quarter" idx="12"/>
          </p:nvPr>
        </p:nvSpPr>
        <p:spPr/>
        <p:txBody>
          <a:bodyPr/>
          <a:lstStyle/>
          <a:p>
            <a:fld id="{52108E69-35C3-4395-AB4C-CBC2CBC07E89}" type="slidenum">
              <a:rPr lang="zh-CN" altLang="en-US" smtClean="0"/>
              <a:t>37</a:t>
            </a:fld>
            <a:endParaRPr lang="zh-CN" altLang="en-US"/>
          </a:p>
        </p:txBody>
      </p:sp>
      <p:sp>
        <p:nvSpPr>
          <p:cNvPr id="8" name="文本框 7">
            <a:extLst>
              <a:ext uri="{FF2B5EF4-FFF2-40B4-BE49-F238E27FC236}">
                <a16:creationId xmlns:a16="http://schemas.microsoft.com/office/drawing/2014/main" id="{197BFF75-3D86-AE75-D375-EF9A630E69CF}"/>
              </a:ext>
            </a:extLst>
          </p:cNvPr>
          <p:cNvSpPr txBox="1"/>
          <p:nvPr/>
        </p:nvSpPr>
        <p:spPr>
          <a:xfrm>
            <a:off x="-1340755" y="1932097"/>
            <a:ext cx="3099508"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motivation</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96CC4344-BFF1-760B-8AC7-8E779ED14CBF}"/>
              </a:ext>
            </a:extLst>
          </p:cNvPr>
          <p:cNvSpPr txBox="1"/>
          <p:nvPr/>
        </p:nvSpPr>
        <p:spPr>
          <a:xfrm>
            <a:off x="4444450" y="2320291"/>
            <a:ext cx="2374191"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Phase 1</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3033EB7A-458B-B70A-AD61-2E21CD799542}"/>
              </a:ext>
            </a:extLst>
          </p:cNvPr>
          <p:cNvSpPr txBox="1"/>
          <p:nvPr/>
        </p:nvSpPr>
        <p:spPr>
          <a:xfrm>
            <a:off x="6856741" y="3179326"/>
            <a:ext cx="2374191"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Phase 2</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70209FD0-99B0-B9BB-3F8C-93A5885721C9}"/>
              </a:ext>
            </a:extLst>
          </p:cNvPr>
          <p:cNvSpPr txBox="1"/>
          <p:nvPr/>
        </p:nvSpPr>
        <p:spPr>
          <a:xfrm>
            <a:off x="7766404" y="3964482"/>
            <a:ext cx="2374191"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Example</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8A74565E-1217-4BD3-8626-5AA67D167218}"/>
              </a:ext>
            </a:extLst>
          </p:cNvPr>
          <p:cNvSpPr txBox="1"/>
          <p:nvPr/>
        </p:nvSpPr>
        <p:spPr>
          <a:xfrm>
            <a:off x="2958184" y="4783335"/>
            <a:ext cx="2374191"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总结</a:t>
            </a:r>
          </a:p>
        </p:txBody>
      </p:sp>
    </p:spTree>
    <p:extLst>
      <p:ext uri="{BB962C8B-B14F-4D97-AF65-F5344CB8AC3E}">
        <p14:creationId xmlns:p14="http://schemas.microsoft.com/office/powerpoint/2010/main" val="1390329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35E38-4320-8896-D4CA-12B50D46198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ACEFF2A-4D9B-C650-B1B2-D4D7744FC60A}"/>
              </a:ext>
            </a:extLst>
          </p:cNvPr>
          <p:cNvSpPr>
            <a:spLocks noGrp="1"/>
          </p:cNvSpPr>
          <p:nvPr>
            <p:ph type="title"/>
          </p:nvPr>
        </p:nvSpPr>
        <p:spPr/>
        <p:txBody>
          <a:bodyPr/>
          <a:lstStyle/>
          <a:p>
            <a:r>
              <a:rPr lang="en-US" altLang="zh-CN" dirty="0">
                <a:latin typeface="NimbusRomNo9L-Medi"/>
              </a:rPr>
              <a:t>Introduction – 2/17</a:t>
            </a:r>
            <a:endParaRPr lang="zh-CN" altLang="en-US" dirty="0"/>
          </a:p>
        </p:txBody>
      </p:sp>
      <p:sp>
        <p:nvSpPr>
          <p:cNvPr id="3" name="内容占位符 2">
            <a:extLst>
              <a:ext uri="{FF2B5EF4-FFF2-40B4-BE49-F238E27FC236}">
                <a16:creationId xmlns:a16="http://schemas.microsoft.com/office/drawing/2014/main" id="{EC8402DE-ACF7-10BF-3A00-265FBC44C864}"/>
              </a:ext>
            </a:extLst>
          </p:cNvPr>
          <p:cNvSpPr>
            <a:spLocks noGrp="1"/>
          </p:cNvSpPr>
          <p:nvPr>
            <p:ph idx="1"/>
          </p:nvPr>
        </p:nvSpPr>
        <p:spPr>
          <a:xfrm>
            <a:off x="838200" y="1444654"/>
            <a:ext cx="10515600" cy="5276821"/>
          </a:xfrm>
        </p:spPr>
        <p:txBody>
          <a:bodyPr>
            <a:normAutofit/>
          </a:bodyPr>
          <a:lstStyle/>
          <a:p>
            <a:pPr marL="0" indent="0">
              <a:lnSpc>
                <a:spcPct val="150000"/>
              </a:lnSpc>
              <a:buNone/>
            </a:pPr>
            <a:r>
              <a:rPr lang="en-US" altLang="zh-CN" sz="1800" b="1" dirty="0"/>
              <a:t>Recent advances </a:t>
            </a:r>
            <a:r>
              <a:rPr lang="en-US" altLang="zh-CN" sz="1800" dirty="0"/>
              <a:t>in surgical data science have endeavored to capture the aforementioned nuances in surgery. A substantial body of work has explored the </a:t>
            </a:r>
            <a:r>
              <a:rPr lang="en-US" altLang="zh-CN" sz="1800" b="1" dirty="0"/>
              <a:t>perception of the surgical scene</a:t>
            </a:r>
            <a:r>
              <a:rPr lang="en-US" altLang="zh-CN" sz="1800" dirty="0"/>
              <a:t>, including tools (Allan et al., 2019; Nwoye et al., 2019; da Costa Rocha et al., 2019; Hasan et al., 2021; Wagner et al., 2023; Tao et al., 2023; Zia et al., 2025), anatomy (</a:t>
            </a:r>
            <a:r>
              <a:rPr lang="en-US" altLang="zh-CN" sz="1800" dirty="0" err="1"/>
              <a:t>Vlontzos</a:t>
            </a:r>
            <a:r>
              <a:rPr lang="en-US" altLang="zh-CN" sz="1800" dirty="0"/>
              <a:t> et al., 2019; Ali et al., 2021; Meyer et al., 2025; Murali et al., 2025), and surgical actions (Nwoye et al., 2020, 2022; Sharma et al., 2023a; Hu et al., 2024; Pei et al., 2025; </a:t>
            </a:r>
            <a:r>
              <a:rPr lang="en-US" altLang="zh-CN" sz="1800" dirty="0" err="1"/>
              <a:t>Ayobi</a:t>
            </a:r>
            <a:r>
              <a:rPr lang="en-US" altLang="zh-CN" sz="1800" dirty="0"/>
              <a:t> et al., 2025). Beyond these foundational efforts in surgical scene understanding, work has also emerged focusing on more complex assessments of additional facets of surgery. One notable line of work centers on the </a:t>
            </a:r>
            <a:r>
              <a:rPr lang="en-US" altLang="zh-CN" sz="1800" b="1" dirty="0"/>
              <a:t>Critical View of Safety (CVS)</a:t>
            </a:r>
            <a:r>
              <a:rPr lang="en-US" altLang="zh-CN" sz="1800" dirty="0"/>
              <a:t> (Mascagni et al., 2020), a standardized checklist for specific procedures such as laparoscopic cholecystectomy. By </a:t>
            </a:r>
            <a:r>
              <a:rPr lang="en-US" altLang="zh-CN" sz="1800" dirty="0" err="1"/>
              <a:t>en</a:t>
            </a:r>
            <a:r>
              <a:rPr lang="en-US" altLang="zh-CN" sz="1800" dirty="0"/>
              <a:t>- </a:t>
            </a:r>
            <a:r>
              <a:rPr lang="en-US" altLang="zh-CN" sz="1800" dirty="0" err="1"/>
              <a:t>suring</a:t>
            </a:r>
            <a:r>
              <a:rPr lang="en-US" altLang="zh-CN" sz="1800" dirty="0"/>
              <a:t> that key anatomical landmarks are clearly dissected and exposed, CVS adherence reduces the risk of inadvertent injury to critical structures. Vision-based models have been proposed to predict CVS achievement by leveraging intraoperative visual cues (Murali et al., 2023b,a; </a:t>
            </a:r>
            <a:r>
              <a:rPr lang="en-US" altLang="zh-CN" sz="1800" dirty="0" err="1"/>
              <a:t>Alapatt</a:t>
            </a:r>
            <a:r>
              <a:rPr lang="en-US" altLang="zh-CN" sz="1800" dirty="0"/>
              <a:t> et al., 2024; Jaspers et al., 2025), offering automated support for this essential safety pro- </a:t>
            </a:r>
            <a:r>
              <a:rPr lang="en-US" altLang="zh-CN" sz="1800" dirty="0" err="1"/>
              <a:t>tocol</a:t>
            </a:r>
            <a:r>
              <a:rPr lang="en-US" altLang="zh-CN" sz="1800" dirty="0"/>
              <a:t>. </a:t>
            </a:r>
            <a:endParaRPr lang="zh-CN" altLang="en-US" sz="105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5" name="日期占位符 4">
            <a:extLst>
              <a:ext uri="{FF2B5EF4-FFF2-40B4-BE49-F238E27FC236}">
                <a16:creationId xmlns:a16="http://schemas.microsoft.com/office/drawing/2014/main" id="{92789665-4F96-A84A-5229-146947634D82}"/>
              </a:ext>
            </a:extLst>
          </p:cNvPr>
          <p:cNvSpPr>
            <a:spLocks noGrp="1"/>
          </p:cNvSpPr>
          <p:nvPr>
            <p:ph type="dt" sz="half" idx="10"/>
          </p:nvPr>
        </p:nvSpPr>
        <p:spPr/>
        <p:txBody>
          <a:bodyPr/>
          <a:lstStyle/>
          <a:p>
            <a:fld id="{CA6D1005-75B9-45A9-81F2-694867CDD9CB}" type="datetime1">
              <a:rPr lang="zh-CN" altLang="en-US" smtClean="0"/>
              <a:t>2026/10/15</a:t>
            </a:fld>
            <a:endParaRPr lang="zh-CN" altLang="en-US"/>
          </a:p>
        </p:txBody>
      </p:sp>
      <p:sp>
        <p:nvSpPr>
          <p:cNvPr id="6" name="页脚占位符 5">
            <a:extLst>
              <a:ext uri="{FF2B5EF4-FFF2-40B4-BE49-F238E27FC236}">
                <a16:creationId xmlns:a16="http://schemas.microsoft.com/office/drawing/2014/main" id="{058D0965-C40E-EB7B-A556-AAC53DC154FC}"/>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5F77CBBA-21D1-3CDD-D256-D07731DC86AC}"/>
              </a:ext>
            </a:extLst>
          </p:cNvPr>
          <p:cNvSpPr>
            <a:spLocks noGrp="1"/>
          </p:cNvSpPr>
          <p:nvPr>
            <p:ph type="sldNum" sz="quarter" idx="12"/>
          </p:nvPr>
        </p:nvSpPr>
        <p:spPr/>
        <p:txBody>
          <a:bodyPr/>
          <a:lstStyle/>
          <a:p>
            <a:fld id="{52108E69-35C3-4395-AB4C-CBC2CBC07E89}" type="slidenum">
              <a:rPr lang="zh-CN" altLang="en-US" smtClean="0"/>
              <a:t>38</a:t>
            </a:fld>
            <a:endParaRPr lang="zh-CN" altLang="en-US"/>
          </a:p>
        </p:txBody>
      </p:sp>
      <p:sp>
        <p:nvSpPr>
          <p:cNvPr id="8" name="文本框 7">
            <a:extLst>
              <a:ext uri="{FF2B5EF4-FFF2-40B4-BE49-F238E27FC236}">
                <a16:creationId xmlns:a16="http://schemas.microsoft.com/office/drawing/2014/main" id="{E5322995-4AC2-0650-4FE8-F42FCB727347}"/>
              </a:ext>
            </a:extLst>
          </p:cNvPr>
          <p:cNvSpPr txBox="1"/>
          <p:nvPr/>
        </p:nvSpPr>
        <p:spPr>
          <a:xfrm>
            <a:off x="-99146" y="1770571"/>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现有工作</a:t>
            </a:r>
          </a:p>
        </p:txBody>
      </p:sp>
      <p:sp>
        <p:nvSpPr>
          <p:cNvPr id="4" name="文本框 3">
            <a:extLst>
              <a:ext uri="{FF2B5EF4-FFF2-40B4-BE49-F238E27FC236}">
                <a16:creationId xmlns:a16="http://schemas.microsoft.com/office/drawing/2014/main" id="{A3659B1E-70D4-A715-21D5-88D1D1631AD1}"/>
              </a:ext>
            </a:extLst>
          </p:cNvPr>
          <p:cNvSpPr txBox="1"/>
          <p:nvPr/>
        </p:nvSpPr>
        <p:spPr>
          <a:xfrm>
            <a:off x="-731750" y="2165502"/>
            <a:ext cx="1810965"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1</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B966408C-6AAA-E22D-5777-EB2EE9B5CAB1}"/>
              </a:ext>
            </a:extLst>
          </p:cNvPr>
          <p:cNvSpPr txBox="1"/>
          <p:nvPr/>
        </p:nvSpPr>
        <p:spPr>
          <a:xfrm>
            <a:off x="4223212" y="4224339"/>
            <a:ext cx="1810965"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2</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extLst>
      <p:ext uri="{BB962C8B-B14F-4D97-AF65-F5344CB8AC3E}">
        <p14:creationId xmlns:p14="http://schemas.microsoft.com/office/powerpoint/2010/main" val="4285212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3040C-4CD6-C0AF-76B9-F3DBFB64CF8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8C509B-AEAF-517F-22F1-6C9C3CD3303D}"/>
              </a:ext>
            </a:extLst>
          </p:cNvPr>
          <p:cNvSpPr>
            <a:spLocks noGrp="1"/>
          </p:cNvSpPr>
          <p:nvPr>
            <p:ph type="title"/>
          </p:nvPr>
        </p:nvSpPr>
        <p:spPr/>
        <p:txBody>
          <a:bodyPr/>
          <a:lstStyle/>
          <a:p>
            <a:r>
              <a:rPr lang="en-US" altLang="zh-CN" dirty="0">
                <a:latin typeface="NimbusRomNo9L-Medi"/>
              </a:rPr>
              <a:t>Introduction – 2/17</a:t>
            </a:r>
            <a:endParaRPr lang="zh-CN" altLang="en-US" dirty="0"/>
          </a:p>
        </p:txBody>
      </p:sp>
      <p:sp>
        <p:nvSpPr>
          <p:cNvPr id="3" name="内容占位符 2">
            <a:extLst>
              <a:ext uri="{FF2B5EF4-FFF2-40B4-BE49-F238E27FC236}">
                <a16:creationId xmlns:a16="http://schemas.microsoft.com/office/drawing/2014/main" id="{06EFDBAB-D821-4451-17E5-EB6B199DE414}"/>
              </a:ext>
            </a:extLst>
          </p:cNvPr>
          <p:cNvSpPr>
            <a:spLocks noGrp="1"/>
          </p:cNvSpPr>
          <p:nvPr>
            <p:ph idx="1"/>
          </p:nvPr>
        </p:nvSpPr>
        <p:spPr>
          <a:xfrm>
            <a:off x="838199" y="1597025"/>
            <a:ext cx="10515600" cy="4579938"/>
          </a:xfrm>
        </p:spPr>
        <p:txBody>
          <a:bodyPr>
            <a:normAutofit/>
          </a:bodyPr>
          <a:lstStyle/>
          <a:p>
            <a:pPr marL="0" indent="0">
              <a:lnSpc>
                <a:spcPct val="150000"/>
              </a:lnSpc>
              <a:buNone/>
            </a:pPr>
            <a:r>
              <a:rPr lang="en-US" altLang="zh-CN" sz="1800" dirty="0"/>
              <a:t>Another promising direction involves </a:t>
            </a:r>
            <a:r>
              <a:rPr lang="en-US" altLang="zh-CN" sz="1800" b="1" dirty="0"/>
              <a:t>LCOD (Laparoscopic Cholecystectomy Operative Difficulty) assessment </a:t>
            </a:r>
            <a:r>
              <a:rPr lang="en-US" altLang="zh-CN" sz="1800" dirty="0"/>
              <a:t>(Vannucci et al., 2022; Sharma et al., 2025). Scoring systems have been introduced to quantify surgical difficulty based on observable intraoperative findings (e.g., visceral fat, where thick adipose tissue may obscure anatomical landmarks and hinder instrument manipulation), providing decision support for critical choices such as whether to involve more experienced practitioners or to convert from a laparoscopic to an open approach. Additionally, </a:t>
            </a:r>
            <a:r>
              <a:rPr lang="en-US" altLang="zh-CN" sz="1800" b="1" dirty="0"/>
              <a:t>intraoperative adverse event (IAE) detection </a:t>
            </a:r>
            <a:r>
              <a:rPr lang="en-US" altLang="zh-CN" sz="1800" dirty="0"/>
              <a:t>models (Bose et al., 2025) have been developed to identify unexpected or undesirable incidents during surgery, including bleeding, mechanical injuries, and other deviations from the ideal intraoperative course. Moreover, </a:t>
            </a:r>
            <a:r>
              <a:rPr lang="en-US" altLang="zh-CN" sz="1800" b="1" dirty="0"/>
              <a:t>surgical skill assessment </a:t>
            </a:r>
            <a:r>
              <a:rPr lang="en-US" altLang="zh-CN" sz="1800" dirty="0"/>
              <a:t>(Wagner et al., 2021; </a:t>
            </a:r>
            <a:r>
              <a:rPr lang="en-US" altLang="zh-CN" sz="1800" dirty="0" err="1"/>
              <a:t>Pedrett</a:t>
            </a:r>
            <a:r>
              <a:rPr lang="en-US" altLang="zh-CN" sz="1800" dirty="0"/>
              <a:t> et al., 2023) is a well developed modeling task that facilitates the quantification of proficiency levels in tissue manipulation, suturing, and other technical skills.</a:t>
            </a:r>
            <a:endParaRPr lang="zh-CN" altLang="en-US" sz="1800" dirty="0"/>
          </a:p>
        </p:txBody>
      </p:sp>
      <p:sp>
        <p:nvSpPr>
          <p:cNvPr id="5" name="日期占位符 4">
            <a:extLst>
              <a:ext uri="{FF2B5EF4-FFF2-40B4-BE49-F238E27FC236}">
                <a16:creationId xmlns:a16="http://schemas.microsoft.com/office/drawing/2014/main" id="{D744A636-0EA8-424A-E526-25D9AFA47E00}"/>
              </a:ext>
            </a:extLst>
          </p:cNvPr>
          <p:cNvSpPr>
            <a:spLocks noGrp="1"/>
          </p:cNvSpPr>
          <p:nvPr>
            <p:ph type="dt" sz="half" idx="10"/>
          </p:nvPr>
        </p:nvSpPr>
        <p:spPr/>
        <p:txBody>
          <a:bodyPr/>
          <a:lstStyle/>
          <a:p>
            <a:fld id="{CA6D1005-75B9-45A9-81F2-694867CDD9CB}" type="datetime1">
              <a:rPr lang="zh-CN" altLang="en-US" smtClean="0"/>
              <a:t>2026/10/15</a:t>
            </a:fld>
            <a:endParaRPr lang="zh-CN" altLang="en-US"/>
          </a:p>
        </p:txBody>
      </p:sp>
      <p:sp>
        <p:nvSpPr>
          <p:cNvPr id="6" name="页脚占位符 5">
            <a:extLst>
              <a:ext uri="{FF2B5EF4-FFF2-40B4-BE49-F238E27FC236}">
                <a16:creationId xmlns:a16="http://schemas.microsoft.com/office/drawing/2014/main" id="{3C010B3B-A35C-FF21-60A5-852B1285B425}"/>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32B266B0-6613-CD25-48E7-CBC1DB854A71}"/>
              </a:ext>
            </a:extLst>
          </p:cNvPr>
          <p:cNvSpPr>
            <a:spLocks noGrp="1"/>
          </p:cNvSpPr>
          <p:nvPr>
            <p:ph type="sldNum" sz="quarter" idx="12"/>
          </p:nvPr>
        </p:nvSpPr>
        <p:spPr/>
        <p:txBody>
          <a:bodyPr/>
          <a:lstStyle/>
          <a:p>
            <a:fld id="{52108E69-35C3-4395-AB4C-CBC2CBC07E89}" type="slidenum">
              <a:rPr lang="zh-CN" altLang="en-US" smtClean="0"/>
              <a:t>39</a:t>
            </a:fld>
            <a:endParaRPr lang="zh-CN" altLang="en-US"/>
          </a:p>
        </p:txBody>
      </p:sp>
      <p:sp>
        <p:nvSpPr>
          <p:cNvPr id="11" name="文本框 10">
            <a:extLst>
              <a:ext uri="{FF2B5EF4-FFF2-40B4-BE49-F238E27FC236}">
                <a16:creationId xmlns:a16="http://schemas.microsoft.com/office/drawing/2014/main" id="{E9AB59C3-253A-4882-03DA-605266AD01BE}"/>
              </a:ext>
            </a:extLst>
          </p:cNvPr>
          <p:cNvSpPr txBox="1"/>
          <p:nvPr/>
        </p:nvSpPr>
        <p:spPr>
          <a:xfrm>
            <a:off x="3762237" y="4816764"/>
            <a:ext cx="1810965"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5</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A3659B1E-70D4-A715-21D5-88D1D1631AD1}"/>
              </a:ext>
            </a:extLst>
          </p:cNvPr>
          <p:cNvSpPr txBox="1"/>
          <p:nvPr/>
        </p:nvSpPr>
        <p:spPr>
          <a:xfrm>
            <a:off x="-709950" y="1912137"/>
            <a:ext cx="1810965"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3</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9" name="文本框 3">
            <a:extLst>
              <a:ext uri="{FF2B5EF4-FFF2-40B4-BE49-F238E27FC236}">
                <a16:creationId xmlns:a16="http://schemas.microsoft.com/office/drawing/2014/main" id="{A3659B1E-70D4-A715-21D5-88D1D1631AD1}"/>
              </a:ext>
            </a:extLst>
          </p:cNvPr>
          <p:cNvSpPr txBox="1"/>
          <p:nvPr/>
        </p:nvSpPr>
        <p:spPr>
          <a:xfrm>
            <a:off x="-709950" y="3980354"/>
            <a:ext cx="1810965"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4</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extLst>
      <p:ext uri="{BB962C8B-B14F-4D97-AF65-F5344CB8AC3E}">
        <p14:creationId xmlns:p14="http://schemas.microsoft.com/office/powerpoint/2010/main" val="33428661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D6812-CF51-7ECA-1C3D-BAD4DA7E3D5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AC064BD-DE50-D3E5-B69A-DA8019714BAB}"/>
              </a:ext>
            </a:extLst>
          </p:cNvPr>
          <p:cNvSpPr>
            <a:spLocks noGrp="1"/>
          </p:cNvSpPr>
          <p:nvPr>
            <p:ph type="title"/>
          </p:nvPr>
        </p:nvSpPr>
        <p:spPr/>
        <p:txBody>
          <a:bodyPr/>
          <a:lstStyle/>
          <a:p>
            <a:r>
              <a:rPr lang="en-US" altLang="zh-CN" dirty="0">
                <a:latin typeface="NimbusRomNo9L-Medi"/>
              </a:rPr>
              <a:t>Introduction – 3/17</a:t>
            </a:r>
            <a:endParaRPr lang="zh-CN" altLang="en-US" dirty="0"/>
          </a:p>
        </p:txBody>
      </p:sp>
      <p:sp>
        <p:nvSpPr>
          <p:cNvPr id="3" name="内容占位符 2">
            <a:extLst>
              <a:ext uri="{FF2B5EF4-FFF2-40B4-BE49-F238E27FC236}">
                <a16:creationId xmlns:a16="http://schemas.microsoft.com/office/drawing/2014/main" id="{7A600E2C-390F-0074-6AB3-6640E78B90A8}"/>
              </a:ext>
            </a:extLst>
          </p:cNvPr>
          <p:cNvSpPr>
            <a:spLocks noGrp="1"/>
          </p:cNvSpPr>
          <p:nvPr>
            <p:ph idx="1"/>
          </p:nvPr>
        </p:nvSpPr>
        <p:spPr>
          <a:xfrm>
            <a:off x="838200" y="1668510"/>
            <a:ext cx="10515600" cy="5177848"/>
          </a:xfrm>
        </p:spPr>
        <p:txBody>
          <a:bodyPr>
            <a:noAutofit/>
          </a:bodyPr>
          <a:lstStyle/>
          <a:p>
            <a:pPr marL="0" indent="0">
              <a:lnSpc>
                <a:spcPct val="150000"/>
              </a:lnSpc>
              <a:buNone/>
            </a:pPr>
            <a:r>
              <a:rPr lang="en-US" altLang="zh-CN" sz="1800" dirty="0"/>
              <a:t>The intraoperative assessments highlighted above are </a:t>
            </a:r>
            <a:r>
              <a:rPr lang="en-US" altLang="zh-CN" sz="1800" b="1" dirty="0"/>
              <a:t>inherently dynamic</a:t>
            </a:r>
            <a:r>
              <a:rPr lang="en-US" altLang="zh-CN" sz="1800" dirty="0"/>
              <a:t>: they unfold progressively and can only be fully interpreted within a temporal context. Apart from the aforementioned vision-only solutions, </a:t>
            </a:r>
            <a:r>
              <a:rPr lang="en-US" altLang="zh-CN" sz="1800" b="1" dirty="0"/>
              <a:t>surgical VQA systems </a:t>
            </a:r>
            <a:r>
              <a:rPr lang="en-US" altLang="zh-CN" sz="1800" dirty="0"/>
              <a:t>have emerged as promising intraoperative analytical tools to support education by formulating detection tasks into interactive question-answering and reasoning processes between the user</a:t>
            </a:r>
          </a:p>
          <a:p>
            <a:pPr marL="0" indent="0">
              <a:lnSpc>
                <a:spcPct val="150000"/>
              </a:lnSpc>
              <a:buNone/>
            </a:pPr>
            <a:r>
              <a:rPr lang="en-US" altLang="zh-CN" sz="1800" dirty="0"/>
              <a:t>and the model, thereby offering greater flexibility and potential for broader applicability. Existing works—such as Surgical-VQA (Seenivasan et al., 2022), Surgical-VQLA (Bai et al., 2023b), SSG-VQA (Yuan et al., 2024), and </a:t>
            </a:r>
            <a:r>
              <a:rPr lang="en-US" altLang="zh-CN" sz="1800" dirty="0" err="1"/>
              <a:t>PitVQA</a:t>
            </a:r>
            <a:r>
              <a:rPr lang="en-US" altLang="zh-CN" sz="1800" dirty="0"/>
              <a:t> (He et al., 2024)—have laid the foundation for this line of research by exploring the capability of VQA systems to reason about the detection and grounding of key elements (e.g., tools, anatomy, actions) in static frames from surgical videos. However, despite this promising potential, the dynamic information embedded in</a:t>
            </a:r>
          </a:p>
          <a:p>
            <a:pPr marL="0" indent="0">
              <a:lnSpc>
                <a:spcPct val="150000"/>
              </a:lnSpc>
              <a:buNone/>
            </a:pPr>
            <a:r>
              <a:rPr lang="en-US" altLang="zh-CN" sz="1800" dirty="0"/>
              <a:t>temporal context remains underexplored, even though it is essential for various intraoperative analytical needs, thereby limiting the practical applicability of such systems.</a:t>
            </a:r>
            <a:endParaRPr lang="zh-CN" altLang="en-US" sz="1200" dirty="0">
              <a:latin typeface="Times New Roman" panose="02020603050405020304" pitchFamily="18" charset="0"/>
              <a:cs typeface="Times New Roman" panose="02020603050405020304" pitchFamily="18" charset="0"/>
            </a:endParaRPr>
          </a:p>
        </p:txBody>
      </p:sp>
      <p:sp>
        <p:nvSpPr>
          <p:cNvPr id="5" name="日期占位符 4">
            <a:extLst>
              <a:ext uri="{FF2B5EF4-FFF2-40B4-BE49-F238E27FC236}">
                <a16:creationId xmlns:a16="http://schemas.microsoft.com/office/drawing/2014/main" id="{C878C553-3028-D0D0-E53F-1F77A2014CC7}"/>
              </a:ext>
            </a:extLst>
          </p:cNvPr>
          <p:cNvSpPr>
            <a:spLocks noGrp="1"/>
          </p:cNvSpPr>
          <p:nvPr>
            <p:ph type="dt" sz="half" idx="10"/>
          </p:nvPr>
        </p:nvSpPr>
        <p:spPr/>
        <p:txBody>
          <a:bodyPr/>
          <a:lstStyle/>
          <a:p>
            <a:fld id="{CA6D1005-75B9-45A9-81F2-694867CDD9CB}" type="datetime1">
              <a:rPr lang="zh-CN" altLang="en-US" smtClean="0"/>
              <a:t>2026/10/15</a:t>
            </a:fld>
            <a:endParaRPr lang="zh-CN" altLang="en-US" dirty="0"/>
          </a:p>
        </p:txBody>
      </p:sp>
      <p:sp>
        <p:nvSpPr>
          <p:cNvPr id="6" name="页脚占位符 5">
            <a:extLst>
              <a:ext uri="{FF2B5EF4-FFF2-40B4-BE49-F238E27FC236}">
                <a16:creationId xmlns:a16="http://schemas.microsoft.com/office/drawing/2014/main" id="{AAF57311-3C38-125E-C968-C6F9DE77CED3}"/>
              </a:ext>
            </a:extLst>
          </p:cNvPr>
          <p:cNvSpPr>
            <a:spLocks noGrp="1"/>
          </p:cNvSpPr>
          <p:nvPr>
            <p:ph type="ftr" sz="quarter" idx="11"/>
          </p:nvPr>
        </p:nvSpPr>
        <p:spPr/>
        <p:txBody>
          <a:bodyPr/>
          <a:lstStyle/>
          <a:p>
            <a:r>
              <a:rPr lang="en-US" altLang="zh-CN"/>
              <a:t>lqy</a:t>
            </a:r>
            <a:endParaRPr lang="zh-CN" altLang="en-US"/>
          </a:p>
        </p:txBody>
      </p:sp>
      <p:sp>
        <p:nvSpPr>
          <p:cNvPr id="7" name="灯片编号占位符 6">
            <a:extLst>
              <a:ext uri="{FF2B5EF4-FFF2-40B4-BE49-F238E27FC236}">
                <a16:creationId xmlns:a16="http://schemas.microsoft.com/office/drawing/2014/main" id="{9A8FBB9B-B0F8-ED60-114D-5BADC31A9759}"/>
              </a:ext>
            </a:extLst>
          </p:cNvPr>
          <p:cNvSpPr>
            <a:spLocks noGrp="1"/>
          </p:cNvSpPr>
          <p:nvPr>
            <p:ph type="sldNum" sz="quarter" idx="12"/>
          </p:nvPr>
        </p:nvSpPr>
        <p:spPr/>
        <p:txBody>
          <a:bodyPr/>
          <a:lstStyle/>
          <a:p>
            <a:fld id="{52108E69-35C3-4395-AB4C-CBC2CBC07E89}" type="slidenum">
              <a:rPr lang="zh-CN" altLang="en-US" smtClean="0"/>
              <a:t>40</a:t>
            </a:fld>
            <a:endParaRPr lang="zh-CN" altLang="en-US"/>
          </a:p>
        </p:txBody>
      </p:sp>
      <p:sp>
        <p:nvSpPr>
          <p:cNvPr id="4" name="文本框 3">
            <a:extLst>
              <a:ext uri="{FF2B5EF4-FFF2-40B4-BE49-F238E27FC236}">
                <a16:creationId xmlns:a16="http://schemas.microsoft.com/office/drawing/2014/main" id="{4A59B42C-1A2B-FEDF-BA6C-099DE249FC4A}"/>
              </a:ext>
            </a:extLst>
          </p:cNvPr>
          <p:cNvSpPr txBox="1"/>
          <p:nvPr/>
        </p:nvSpPr>
        <p:spPr>
          <a:xfrm>
            <a:off x="336850" y="1985999"/>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总结</a:t>
            </a: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vision-only</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86D355AE-EA42-824A-F7F5-E839A408BDBC}"/>
              </a:ext>
            </a:extLst>
          </p:cNvPr>
          <p:cNvSpPr txBox="1"/>
          <p:nvPr/>
        </p:nvSpPr>
        <p:spPr>
          <a:xfrm>
            <a:off x="4660224" y="2422089"/>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引入</a:t>
            </a: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VQA</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3F568876-F554-EB14-A11C-2A8C6DBB2163}"/>
              </a:ext>
            </a:extLst>
          </p:cNvPr>
          <p:cNvSpPr txBox="1"/>
          <p:nvPr/>
        </p:nvSpPr>
        <p:spPr>
          <a:xfrm>
            <a:off x="8173889" y="3704653"/>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现有工作</a:t>
            </a:r>
          </a:p>
        </p:txBody>
      </p:sp>
      <p:sp>
        <p:nvSpPr>
          <p:cNvPr id="10" name="文本框 9">
            <a:extLst>
              <a:ext uri="{FF2B5EF4-FFF2-40B4-BE49-F238E27FC236}">
                <a16:creationId xmlns:a16="http://schemas.microsoft.com/office/drawing/2014/main" id="{0A4CE375-EFB1-77E5-68ED-0D4A5F0B4876}"/>
              </a:ext>
            </a:extLst>
          </p:cNvPr>
          <p:cNvSpPr txBox="1"/>
          <p:nvPr/>
        </p:nvSpPr>
        <p:spPr>
          <a:xfrm>
            <a:off x="2849259" y="5352513"/>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现有工作不足</a:t>
            </a:r>
          </a:p>
        </p:txBody>
      </p:sp>
    </p:spTree>
    <p:extLst>
      <p:ext uri="{BB962C8B-B14F-4D97-AF65-F5344CB8AC3E}">
        <p14:creationId xmlns:p14="http://schemas.microsoft.com/office/powerpoint/2010/main" val="15032871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0062B-AFC2-01EF-07DC-1B6F55591A8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37F6B52-07AF-3615-AA55-3678E7E4A4FE}"/>
              </a:ext>
            </a:extLst>
          </p:cNvPr>
          <p:cNvSpPr>
            <a:spLocks noGrp="1"/>
          </p:cNvSpPr>
          <p:nvPr>
            <p:ph type="title"/>
          </p:nvPr>
        </p:nvSpPr>
        <p:spPr/>
        <p:txBody>
          <a:bodyPr/>
          <a:lstStyle/>
          <a:p>
            <a:r>
              <a:rPr lang="en-US" altLang="zh-CN" dirty="0">
                <a:latin typeface="NimbusRomNo9L-Medi"/>
              </a:rPr>
              <a:t>Introduction – 4&amp;5/17</a:t>
            </a:r>
            <a:endParaRPr lang="zh-CN" altLang="en-US" dirty="0"/>
          </a:p>
        </p:txBody>
      </p:sp>
      <p:sp>
        <p:nvSpPr>
          <p:cNvPr id="3" name="内容占位符 2">
            <a:extLst>
              <a:ext uri="{FF2B5EF4-FFF2-40B4-BE49-F238E27FC236}">
                <a16:creationId xmlns:a16="http://schemas.microsoft.com/office/drawing/2014/main" id="{F738EACF-69BA-8D19-D6EE-DEC4253BF5B9}"/>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1800" dirty="0"/>
              <a:t>Addressing this gap and developing surgical video question answering systems for diverse practical intraoperative analytic needs presents several significant challenges.</a:t>
            </a:r>
          </a:p>
          <a:p>
            <a:pPr marL="0" indent="0">
              <a:lnSpc>
                <a:spcPct val="150000"/>
              </a:lnSpc>
              <a:spcBef>
                <a:spcPts val="0"/>
              </a:spcBef>
              <a:buNone/>
            </a:pPr>
            <a:endParaRPr lang="en-US" altLang="zh-CN" sz="1800" dirty="0"/>
          </a:p>
          <a:p>
            <a:pPr marL="0" indent="0">
              <a:lnSpc>
                <a:spcPct val="150000"/>
              </a:lnSpc>
              <a:spcBef>
                <a:spcPts val="0"/>
              </a:spcBef>
              <a:buNone/>
            </a:pPr>
            <a:r>
              <a:rPr lang="en-US" altLang="zh-CN" sz="1800" dirty="0"/>
              <a:t>First—</a:t>
            </a:r>
            <a:r>
              <a:rPr lang="en-US" altLang="zh-CN" sz="1800" b="1" dirty="0"/>
              <a:t>domain-specific visual interpretation</a:t>
            </a:r>
            <a:r>
              <a:rPr lang="en-US" altLang="zh-CN" sz="1800" dirty="0"/>
              <a:t>: Unlike natural images or videos, where visual semantics (i.e., objects and their defining attributes such as edges and color) are often clear and dominant, endoscopic surgical videos pose a unique challenge. Here, anatomical structures often lack strong visual contrast, and the identification of anatomical boundaries, tissue types, or pathological states often relies on </a:t>
            </a:r>
            <a:r>
              <a:rPr lang="en-US" altLang="zh-CN" sz="1800" b="1" dirty="0"/>
              <a:t>domain-specific priors</a:t>
            </a:r>
            <a:r>
              <a:rPr lang="en-US" altLang="zh-CN" sz="1800" dirty="0"/>
              <a:t>. Surgeons, for instance, infer granular anatomical elements by triangulating contextual information—such as procedure type, surgical phase, and the relative positions of known landmarks—alongside subtle visual cues and their understanding of typical spatial relationships and expected tissue behavior.</a:t>
            </a:r>
            <a:endParaRPr lang="zh-CN" altLang="en-US" sz="18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FBEF101D-5204-8FFD-E643-E61759D0C8F0}"/>
              </a:ext>
            </a:extLst>
          </p:cNvPr>
          <p:cNvSpPr>
            <a:spLocks noGrp="1"/>
          </p:cNvSpPr>
          <p:nvPr>
            <p:ph type="sldNum" sz="quarter" idx="12"/>
          </p:nvPr>
        </p:nvSpPr>
        <p:spPr/>
        <p:txBody>
          <a:bodyPr/>
          <a:lstStyle/>
          <a:p>
            <a:fld id="{52108E69-35C3-4395-AB4C-CBC2CBC07E89}" type="slidenum">
              <a:rPr lang="zh-CN" altLang="en-US" smtClean="0"/>
              <a:t>41</a:t>
            </a:fld>
            <a:endParaRPr lang="zh-CN" altLang="en-US"/>
          </a:p>
        </p:txBody>
      </p:sp>
      <p:sp>
        <p:nvSpPr>
          <p:cNvPr id="11" name="文本框 10">
            <a:extLst>
              <a:ext uri="{FF2B5EF4-FFF2-40B4-BE49-F238E27FC236}">
                <a16:creationId xmlns:a16="http://schemas.microsoft.com/office/drawing/2014/main" id="{1E9035B4-EA2C-4692-3151-8FB0410D37AB}"/>
              </a:ext>
            </a:extLst>
          </p:cNvPr>
          <p:cNvSpPr txBox="1"/>
          <p:nvPr/>
        </p:nvSpPr>
        <p:spPr>
          <a:xfrm>
            <a:off x="-126552" y="1990885"/>
            <a:ext cx="1810965"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challenge</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9" name="日期占位符 4">
            <a:extLst>
              <a:ext uri="{FF2B5EF4-FFF2-40B4-BE49-F238E27FC236}">
                <a16:creationId xmlns:a16="http://schemas.microsoft.com/office/drawing/2014/main" id="{1705081C-FEB1-87EA-2D43-0C0BB69C2F72}"/>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2026/10/15</a:t>
            </a:fld>
            <a:endParaRPr lang="zh-CN" altLang="en-US" dirty="0"/>
          </a:p>
        </p:txBody>
      </p:sp>
      <p:sp>
        <p:nvSpPr>
          <p:cNvPr id="10" name="页脚占位符 5">
            <a:extLst>
              <a:ext uri="{FF2B5EF4-FFF2-40B4-BE49-F238E27FC236}">
                <a16:creationId xmlns:a16="http://schemas.microsoft.com/office/drawing/2014/main" id="{E743A19E-0A7B-7234-7D90-3B14AE04DA62}"/>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
        <p:nvSpPr>
          <p:cNvPr id="6" name="文本框 5">
            <a:extLst>
              <a:ext uri="{FF2B5EF4-FFF2-40B4-BE49-F238E27FC236}">
                <a16:creationId xmlns:a16="http://schemas.microsoft.com/office/drawing/2014/main" id="{D8FD60E1-362F-E354-CFC4-0401E0152FEF}"/>
              </a:ext>
            </a:extLst>
          </p:cNvPr>
          <p:cNvSpPr txBox="1"/>
          <p:nvPr/>
        </p:nvSpPr>
        <p:spPr>
          <a:xfrm>
            <a:off x="3742717" y="3249710"/>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描述</a:t>
            </a:r>
          </a:p>
        </p:txBody>
      </p:sp>
      <p:sp>
        <p:nvSpPr>
          <p:cNvPr id="8" name="文本框 7">
            <a:extLst>
              <a:ext uri="{FF2B5EF4-FFF2-40B4-BE49-F238E27FC236}">
                <a16:creationId xmlns:a16="http://schemas.microsoft.com/office/drawing/2014/main" id="{A268C5EB-42A9-BC53-8220-B2057CB6B79F}"/>
              </a:ext>
            </a:extLst>
          </p:cNvPr>
          <p:cNvSpPr txBox="1"/>
          <p:nvPr/>
        </p:nvSpPr>
        <p:spPr>
          <a:xfrm>
            <a:off x="165400" y="4918804"/>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举例</a:t>
            </a:r>
          </a:p>
        </p:txBody>
      </p:sp>
    </p:spTree>
    <p:extLst>
      <p:ext uri="{BB962C8B-B14F-4D97-AF65-F5344CB8AC3E}">
        <p14:creationId xmlns:p14="http://schemas.microsoft.com/office/powerpoint/2010/main" val="12611959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72BF7-FF59-D256-6F58-20F23F2C38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4AB879-2C96-3BFD-388E-9B9670A61D25}"/>
              </a:ext>
            </a:extLst>
          </p:cNvPr>
          <p:cNvSpPr>
            <a:spLocks noGrp="1"/>
          </p:cNvSpPr>
          <p:nvPr>
            <p:ph type="title"/>
          </p:nvPr>
        </p:nvSpPr>
        <p:spPr/>
        <p:txBody>
          <a:bodyPr/>
          <a:lstStyle/>
          <a:p>
            <a:r>
              <a:rPr lang="en-US" altLang="zh-CN" dirty="0">
                <a:latin typeface="NimbusRomNo9L-Medi"/>
              </a:rPr>
              <a:t>Introduction – 6/17</a:t>
            </a:r>
            <a:endParaRPr lang="zh-CN" altLang="en-US" dirty="0"/>
          </a:p>
        </p:txBody>
      </p:sp>
      <p:sp>
        <p:nvSpPr>
          <p:cNvPr id="3" name="内容占位符 2">
            <a:extLst>
              <a:ext uri="{FF2B5EF4-FFF2-40B4-BE49-F238E27FC236}">
                <a16:creationId xmlns:a16="http://schemas.microsoft.com/office/drawing/2014/main" id="{371A1024-2084-74DA-76D7-346ACCCD7CD3}"/>
              </a:ext>
            </a:extLst>
          </p:cNvPr>
          <p:cNvSpPr>
            <a:spLocks noGrp="1"/>
          </p:cNvSpPr>
          <p:nvPr>
            <p:ph idx="1"/>
          </p:nvPr>
        </p:nvSpPr>
        <p:spPr>
          <a:xfrm>
            <a:off x="838200" y="1690688"/>
            <a:ext cx="10515600" cy="4665661"/>
          </a:xfrm>
        </p:spPr>
        <p:txBody>
          <a:bodyPr>
            <a:normAutofit fontScale="70000" lnSpcReduction="20000"/>
          </a:bodyPr>
          <a:lstStyle/>
          <a:p>
            <a:pPr marL="0" indent="0">
              <a:lnSpc>
                <a:spcPct val="150000"/>
              </a:lnSpc>
              <a:spcBef>
                <a:spcPts val="0"/>
              </a:spcBef>
              <a:buNone/>
            </a:pPr>
            <a:r>
              <a:rPr lang="en-US" altLang="zh-CN" dirty="0"/>
              <a:t>Second—</a:t>
            </a:r>
            <a:r>
              <a:rPr lang="en-US" altLang="zh-CN" b="1" dirty="0"/>
              <a:t>variable spatiotemporal granularity needs</a:t>
            </a:r>
            <a:r>
              <a:rPr lang="en-US" altLang="zh-CN" dirty="0"/>
              <a:t>: Throughout the operation, numerous assessments are performed across many timespans with significantly different granularity needs. For example, the detection of LCOD findings and IAE usually requires the identification of </a:t>
            </a:r>
            <a:r>
              <a:rPr lang="en-US" altLang="zh-CN" b="1" dirty="0"/>
              <a:t>shorter duration events </a:t>
            </a:r>
            <a:r>
              <a:rPr lang="en-US" altLang="zh-CN" dirty="0"/>
              <a:t>with finer granularity because they are often related to the status of anatomical landmarks, which rely on subtle visual cues such as shape and texture. In contrast, skill assessment needs </a:t>
            </a:r>
            <a:r>
              <a:rPr lang="en-US" altLang="zh-CN" b="1" dirty="0"/>
              <a:t>a longer observation window </a:t>
            </a:r>
            <a:r>
              <a:rPr lang="en-US" altLang="zh-CN" dirty="0"/>
              <a:t>to draw conclusions about proficiency based on the smoothness of operation and near-misses. This requires the model to have stronger spatiotemporal understanding capabilities that adapt to these various needs.</a:t>
            </a:r>
            <a:endParaRPr lang="zh-CN" altLang="en-US" sz="20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6596275D-497F-5273-2DD3-1EE85EE8EA0B}"/>
              </a:ext>
            </a:extLst>
          </p:cNvPr>
          <p:cNvSpPr>
            <a:spLocks noGrp="1"/>
          </p:cNvSpPr>
          <p:nvPr>
            <p:ph type="sldNum" sz="quarter" idx="12"/>
          </p:nvPr>
        </p:nvSpPr>
        <p:spPr/>
        <p:txBody>
          <a:bodyPr/>
          <a:lstStyle/>
          <a:p>
            <a:fld id="{52108E69-35C3-4395-AB4C-CBC2CBC07E89}" type="slidenum">
              <a:rPr lang="zh-CN" altLang="en-US" smtClean="0"/>
              <a:t>42</a:t>
            </a:fld>
            <a:endParaRPr lang="zh-CN" altLang="en-US"/>
          </a:p>
        </p:txBody>
      </p:sp>
      <p:sp>
        <p:nvSpPr>
          <p:cNvPr id="5" name="日期占位符 4">
            <a:extLst>
              <a:ext uri="{FF2B5EF4-FFF2-40B4-BE49-F238E27FC236}">
                <a16:creationId xmlns:a16="http://schemas.microsoft.com/office/drawing/2014/main" id="{2B3D3273-7666-53AB-32F1-758AB083D886}"/>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2026/10/15</a:t>
            </a:fld>
            <a:endParaRPr lang="zh-CN" altLang="en-US" dirty="0"/>
          </a:p>
        </p:txBody>
      </p:sp>
      <p:sp>
        <p:nvSpPr>
          <p:cNvPr id="6" name="页脚占位符 5">
            <a:extLst>
              <a:ext uri="{FF2B5EF4-FFF2-40B4-BE49-F238E27FC236}">
                <a16:creationId xmlns:a16="http://schemas.microsoft.com/office/drawing/2014/main" id="{A97ED8F9-2FD2-9BF8-CD8C-087AE54887BF}"/>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
        <p:nvSpPr>
          <p:cNvPr id="8" name="文本框 7">
            <a:extLst>
              <a:ext uri="{FF2B5EF4-FFF2-40B4-BE49-F238E27FC236}">
                <a16:creationId xmlns:a16="http://schemas.microsoft.com/office/drawing/2014/main" id="{749321CA-97D9-D6DB-C7DE-970EBAACD1BB}"/>
              </a:ext>
            </a:extLst>
          </p:cNvPr>
          <p:cNvSpPr txBox="1"/>
          <p:nvPr/>
        </p:nvSpPr>
        <p:spPr>
          <a:xfrm>
            <a:off x="5629883" y="2038977"/>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描述</a:t>
            </a:r>
          </a:p>
        </p:txBody>
      </p:sp>
      <p:sp>
        <p:nvSpPr>
          <p:cNvPr id="9" name="文本框 8">
            <a:extLst>
              <a:ext uri="{FF2B5EF4-FFF2-40B4-BE49-F238E27FC236}">
                <a16:creationId xmlns:a16="http://schemas.microsoft.com/office/drawing/2014/main" id="{BCF9D857-DB45-91A7-FB1C-1611DA902A79}"/>
              </a:ext>
            </a:extLst>
          </p:cNvPr>
          <p:cNvSpPr txBox="1"/>
          <p:nvPr/>
        </p:nvSpPr>
        <p:spPr>
          <a:xfrm>
            <a:off x="348033" y="2920670"/>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举例</a:t>
            </a:r>
          </a:p>
        </p:txBody>
      </p:sp>
      <p:sp>
        <p:nvSpPr>
          <p:cNvPr id="12" name="文本框 7">
            <a:extLst>
              <a:ext uri="{FF2B5EF4-FFF2-40B4-BE49-F238E27FC236}">
                <a16:creationId xmlns:a16="http://schemas.microsoft.com/office/drawing/2014/main" id="{A268C5EB-42A9-BC53-8220-B2057CB6B79F}"/>
              </a:ext>
            </a:extLst>
          </p:cNvPr>
          <p:cNvSpPr txBox="1"/>
          <p:nvPr/>
        </p:nvSpPr>
        <p:spPr>
          <a:xfrm>
            <a:off x="457200" y="5084486"/>
            <a:ext cx="1810965"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要求</a:t>
            </a:r>
          </a:p>
        </p:txBody>
      </p:sp>
    </p:spTree>
    <p:extLst>
      <p:ext uri="{BB962C8B-B14F-4D97-AF65-F5344CB8AC3E}">
        <p14:creationId xmlns:p14="http://schemas.microsoft.com/office/powerpoint/2010/main" val="10771521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B8BC4-1160-DAAC-9D31-5D1930A365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3C7EC0-9CED-0786-26CB-BB9202566E93}"/>
              </a:ext>
            </a:extLst>
          </p:cNvPr>
          <p:cNvSpPr>
            <a:spLocks noGrp="1"/>
          </p:cNvSpPr>
          <p:nvPr>
            <p:ph type="title"/>
          </p:nvPr>
        </p:nvSpPr>
        <p:spPr/>
        <p:txBody>
          <a:bodyPr/>
          <a:lstStyle/>
          <a:p>
            <a:r>
              <a:rPr lang="en-US" altLang="zh-CN" dirty="0">
                <a:latin typeface="NimbusRomNo9L-Medi"/>
              </a:rPr>
              <a:t>Introduction – 7/17</a:t>
            </a:r>
            <a:endParaRPr lang="zh-CN" altLang="en-US" dirty="0"/>
          </a:p>
        </p:txBody>
      </p:sp>
      <p:sp>
        <p:nvSpPr>
          <p:cNvPr id="3" name="内容占位符 2">
            <a:extLst>
              <a:ext uri="{FF2B5EF4-FFF2-40B4-BE49-F238E27FC236}">
                <a16:creationId xmlns:a16="http://schemas.microsoft.com/office/drawing/2014/main" id="{3EABEB5B-A368-AB89-9938-E7F8BDB3DAC8}"/>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1800" dirty="0"/>
              <a:t>Third—</a:t>
            </a:r>
            <a:r>
              <a:rPr lang="en-US" altLang="zh-CN" sz="1800" b="1" dirty="0"/>
              <a:t>hierarchical task dependencies</a:t>
            </a:r>
            <a:r>
              <a:rPr lang="en-US" altLang="zh-CN" sz="1800" dirty="0"/>
              <a:t>: All types of intraoperative assessments rely on the fundamental capabilities of interpreting the operative field, which form a clear hierarchical structure in which sequential atomic surgical scene understandings support higher-level assessments. For example, CVS relies on the clear identification of fully dissected and exposed anatomical landmarks.</a:t>
            </a:r>
            <a:endParaRPr lang="zh-CN" altLang="en-US" sz="18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A7DD9C71-0716-D034-FA21-7077BA597E11}"/>
              </a:ext>
            </a:extLst>
          </p:cNvPr>
          <p:cNvSpPr>
            <a:spLocks noGrp="1"/>
          </p:cNvSpPr>
          <p:nvPr>
            <p:ph type="sldNum" sz="quarter" idx="12"/>
          </p:nvPr>
        </p:nvSpPr>
        <p:spPr/>
        <p:txBody>
          <a:bodyPr/>
          <a:lstStyle/>
          <a:p>
            <a:fld id="{52108E69-35C3-4395-AB4C-CBC2CBC07E89}" type="slidenum">
              <a:rPr lang="zh-CN" altLang="en-US" smtClean="0"/>
              <a:t>43</a:t>
            </a:fld>
            <a:endParaRPr lang="zh-CN" altLang="en-US"/>
          </a:p>
        </p:txBody>
      </p:sp>
      <p:sp>
        <p:nvSpPr>
          <p:cNvPr id="5" name="日期占位符 4">
            <a:extLst>
              <a:ext uri="{FF2B5EF4-FFF2-40B4-BE49-F238E27FC236}">
                <a16:creationId xmlns:a16="http://schemas.microsoft.com/office/drawing/2014/main" id="{D320C45F-54F3-173B-B24E-EB7EDD9B7ACD}"/>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2026/10/15</a:t>
            </a:fld>
            <a:endParaRPr lang="zh-CN" altLang="en-US" dirty="0"/>
          </a:p>
        </p:txBody>
      </p:sp>
      <p:sp>
        <p:nvSpPr>
          <p:cNvPr id="6" name="页脚占位符 5">
            <a:extLst>
              <a:ext uri="{FF2B5EF4-FFF2-40B4-BE49-F238E27FC236}">
                <a16:creationId xmlns:a16="http://schemas.microsoft.com/office/drawing/2014/main" id="{CC8D25F1-F9D1-D7D4-5880-91E91ADB56C9}"/>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
        <p:nvSpPr>
          <p:cNvPr id="4" name="文本框 3">
            <a:extLst>
              <a:ext uri="{FF2B5EF4-FFF2-40B4-BE49-F238E27FC236}">
                <a16:creationId xmlns:a16="http://schemas.microsoft.com/office/drawing/2014/main" id="{8C2CF043-4B3C-5421-F520-316774B1590F}"/>
              </a:ext>
            </a:extLst>
          </p:cNvPr>
          <p:cNvSpPr txBox="1"/>
          <p:nvPr/>
        </p:nvSpPr>
        <p:spPr>
          <a:xfrm>
            <a:off x="3225349" y="2015062"/>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描述</a:t>
            </a:r>
          </a:p>
        </p:txBody>
      </p:sp>
      <p:sp>
        <p:nvSpPr>
          <p:cNvPr id="8" name="文本框 7">
            <a:extLst>
              <a:ext uri="{FF2B5EF4-FFF2-40B4-BE49-F238E27FC236}">
                <a16:creationId xmlns:a16="http://schemas.microsoft.com/office/drawing/2014/main" id="{ECC31CB7-916E-3E48-9E14-B1F062898769}"/>
              </a:ext>
            </a:extLst>
          </p:cNvPr>
          <p:cNvSpPr txBox="1"/>
          <p:nvPr/>
        </p:nvSpPr>
        <p:spPr>
          <a:xfrm>
            <a:off x="6274699" y="2836004"/>
            <a:ext cx="1810965" cy="307777"/>
          </a:xfrm>
          <a:prstGeom prst="rect">
            <a:avLst/>
          </a:prstGeom>
          <a:noFill/>
        </p:spPr>
        <p:txBody>
          <a:bodyPr wrap="square" rtlCol="0">
            <a:spAutoFit/>
          </a:bodyPr>
          <a:lstStyle/>
          <a:p>
            <a:pPr algn="r"/>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举例</a:t>
            </a:r>
          </a:p>
        </p:txBody>
      </p:sp>
    </p:spTree>
    <p:extLst>
      <p:ext uri="{BB962C8B-B14F-4D97-AF65-F5344CB8AC3E}">
        <p14:creationId xmlns:p14="http://schemas.microsoft.com/office/powerpoint/2010/main" val="946626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C1CD0-A4C1-D28D-0C2F-AA56D948B4A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960FBD-CAD1-E840-9A0A-3353F6AC36D0}"/>
              </a:ext>
            </a:extLst>
          </p:cNvPr>
          <p:cNvSpPr>
            <a:spLocks noGrp="1"/>
          </p:cNvSpPr>
          <p:nvPr>
            <p:ph type="title"/>
          </p:nvPr>
        </p:nvSpPr>
        <p:spPr/>
        <p:txBody>
          <a:bodyPr/>
          <a:lstStyle/>
          <a:p>
            <a:r>
              <a:rPr lang="en-US" altLang="zh-CN" dirty="0">
                <a:latin typeface="NimbusRomNo9L-Medi"/>
              </a:rPr>
              <a:t>Introduction – 8/17</a:t>
            </a:r>
            <a:endParaRPr lang="zh-CN" altLang="en-US" dirty="0"/>
          </a:p>
        </p:txBody>
      </p:sp>
      <p:sp>
        <p:nvSpPr>
          <p:cNvPr id="3" name="内容占位符 2">
            <a:extLst>
              <a:ext uri="{FF2B5EF4-FFF2-40B4-BE49-F238E27FC236}">
                <a16:creationId xmlns:a16="http://schemas.microsoft.com/office/drawing/2014/main" id="{C1425E26-FDFE-7A87-404D-D65B0A34F0A6}"/>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1800" dirty="0"/>
              <a:t>To address these challenges, we propose a novel surgical video QA framework named </a:t>
            </a:r>
            <a:r>
              <a:rPr lang="en-US" altLang="zh-CN" sz="1800" dirty="0" err="1"/>
              <a:t>SurgTEMP</a:t>
            </a:r>
            <a:r>
              <a:rPr lang="en-US" altLang="zh-CN" sz="1800" dirty="0"/>
              <a:t>. It is a </a:t>
            </a:r>
            <a:r>
              <a:rPr lang="en-US" altLang="zh-CN" sz="1800" b="1" dirty="0"/>
              <a:t>multimodal LLM-based framework </a:t>
            </a:r>
            <a:r>
              <a:rPr lang="en-US" altLang="zh-CN" sz="1800" dirty="0"/>
              <a:t>that contains </a:t>
            </a:r>
            <a:r>
              <a:rPr lang="en-US" altLang="zh-CN" sz="1800" b="1" dirty="0"/>
              <a:t>a visual feature extraction module and textual tokenization </a:t>
            </a:r>
            <a:r>
              <a:rPr lang="en-US" altLang="zh-CN" sz="1800" dirty="0"/>
              <a:t>to produce tokens from both modalities and feed them into a backbone LLM to generate textual responses as shown in Figure 1. At its </a:t>
            </a:r>
            <a:r>
              <a:rPr lang="en-US" altLang="zh-CN" sz="1800" b="1" dirty="0"/>
              <a:t>core</a:t>
            </a:r>
            <a:r>
              <a:rPr lang="en-US" altLang="zh-CN" sz="1800" dirty="0"/>
              <a:t> is a </a:t>
            </a:r>
            <a:r>
              <a:rPr lang="en-US" altLang="zh-CN" sz="1800" b="1" dirty="0"/>
              <a:t>TEMP (</a:t>
            </a:r>
            <a:r>
              <a:rPr lang="en-US" altLang="zh-CN" sz="1800" b="1" dirty="0" err="1"/>
              <a:t>TExt</a:t>
            </a:r>
            <a:r>
              <a:rPr lang="en-US" altLang="zh-CN" sz="1800" b="1" dirty="0"/>
              <a:t>-guided Memory Pyramid) constructor</a:t>
            </a:r>
            <a:r>
              <a:rPr lang="en-US" altLang="zh-CN" sz="1800" dirty="0"/>
              <a:t>—a </a:t>
            </a:r>
            <a:r>
              <a:rPr lang="en-US" altLang="zh-CN" sz="1800" b="1" dirty="0"/>
              <a:t>cross-modal learnable visual token arrangement module </a:t>
            </a:r>
            <a:r>
              <a:rPr lang="en-US" altLang="zh-CN" sz="1800" dirty="0"/>
              <a:t>specifically designed to balance two key aspects in the knowledge-intensive surgical domain. First, it </a:t>
            </a:r>
            <a:r>
              <a:rPr lang="en-US" altLang="zh-CN" sz="1800" b="1" dirty="0"/>
              <a:t>captures fine-grained details </a:t>
            </a:r>
            <a:r>
              <a:rPr lang="en-US" altLang="zh-CN" sz="1800" dirty="0"/>
              <a:t>in short yet significant spatiotemporal contexts via a </a:t>
            </a:r>
            <a:r>
              <a:rPr lang="en-US" altLang="zh-CN" sz="1800" b="1" dirty="0"/>
              <a:t>spatial memory bank </a:t>
            </a:r>
            <a:r>
              <a:rPr lang="en-US" altLang="zh-CN" sz="1800" dirty="0"/>
              <a:t>(e.g., proper dissection to expose critical anatomy). Second, it </a:t>
            </a:r>
            <a:r>
              <a:rPr lang="en-US" altLang="zh-CN" sz="1800" b="1" dirty="0"/>
              <a:t>preserves lengthy spans of progressive analytical signals </a:t>
            </a:r>
            <a:r>
              <a:rPr lang="en-US" altLang="zh-CN" sz="1800" dirty="0"/>
              <a:t>via a </a:t>
            </a:r>
            <a:r>
              <a:rPr lang="en-US" altLang="zh-CN" sz="1800" b="1" dirty="0"/>
              <a:t>temporal memory bank </a:t>
            </a:r>
            <a:r>
              <a:rPr lang="en-US" altLang="zh-CN" sz="1800" dirty="0"/>
              <a:t>(e.g., skill proficiency assessment over a surgical phase, reflecting cumulative decision points in operative field manipulation). Additionally, a </a:t>
            </a:r>
            <a:r>
              <a:rPr lang="en-US" altLang="zh-CN" sz="1800" b="1" dirty="0"/>
              <a:t>domain-specific training scheme</a:t>
            </a:r>
            <a:r>
              <a:rPr lang="en-US" altLang="zh-CN" sz="1800" dirty="0"/>
              <a:t>—Surgical Competency Progression (SCP)—progressively builds the model’s capabilities from fundamental perception to higher-level assessment and reasoning tasks.</a:t>
            </a:r>
            <a:endParaRPr lang="zh-CN" altLang="en-US" sz="18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9796F8E2-A1B1-2132-8595-69BEFA1D2F82}"/>
              </a:ext>
            </a:extLst>
          </p:cNvPr>
          <p:cNvSpPr>
            <a:spLocks noGrp="1"/>
          </p:cNvSpPr>
          <p:nvPr>
            <p:ph type="sldNum" sz="quarter" idx="12"/>
          </p:nvPr>
        </p:nvSpPr>
        <p:spPr/>
        <p:txBody>
          <a:bodyPr/>
          <a:lstStyle/>
          <a:p>
            <a:fld id="{52108E69-35C3-4395-AB4C-CBC2CBC07E89}" type="slidenum">
              <a:rPr lang="zh-CN" altLang="en-US" smtClean="0"/>
              <a:t>44</a:t>
            </a:fld>
            <a:endParaRPr lang="zh-CN" altLang="en-US"/>
          </a:p>
        </p:txBody>
      </p:sp>
      <p:sp>
        <p:nvSpPr>
          <p:cNvPr id="11" name="文本框 10">
            <a:extLst>
              <a:ext uri="{FF2B5EF4-FFF2-40B4-BE49-F238E27FC236}">
                <a16:creationId xmlns:a16="http://schemas.microsoft.com/office/drawing/2014/main" id="{770C9124-BF87-C71B-61F7-73116A254594}"/>
              </a:ext>
            </a:extLst>
          </p:cNvPr>
          <p:cNvSpPr txBox="1"/>
          <p:nvPr/>
        </p:nvSpPr>
        <p:spPr>
          <a:xfrm>
            <a:off x="-238519" y="1990885"/>
            <a:ext cx="1810965" cy="307777"/>
          </a:xfrm>
          <a:prstGeom prst="rect">
            <a:avLst/>
          </a:prstGeom>
          <a:noFill/>
        </p:spPr>
        <p:txBody>
          <a:bodyPr wrap="square" rtlCol="0">
            <a:spAutoFit/>
          </a:bodyPr>
          <a:lstStyle/>
          <a:p>
            <a:pPr algn="r"/>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method</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9" name="日期占位符 4">
            <a:extLst>
              <a:ext uri="{FF2B5EF4-FFF2-40B4-BE49-F238E27FC236}">
                <a16:creationId xmlns:a16="http://schemas.microsoft.com/office/drawing/2014/main" id="{A28A017A-7699-4F2B-2436-7A979DF8F67C}"/>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2026/10/16</a:t>
            </a:fld>
            <a:endParaRPr lang="zh-CN" altLang="en-US" dirty="0"/>
          </a:p>
        </p:txBody>
      </p:sp>
      <p:sp>
        <p:nvSpPr>
          <p:cNvPr id="10" name="页脚占位符 5">
            <a:extLst>
              <a:ext uri="{FF2B5EF4-FFF2-40B4-BE49-F238E27FC236}">
                <a16:creationId xmlns:a16="http://schemas.microsoft.com/office/drawing/2014/main" id="{E1F804D4-8A92-A8B4-926D-26E297A5866A}"/>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
        <p:nvSpPr>
          <p:cNvPr id="6" name="文本框 5">
            <a:extLst>
              <a:ext uri="{FF2B5EF4-FFF2-40B4-BE49-F238E27FC236}">
                <a16:creationId xmlns:a16="http://schemas.microsoft.com/office/drawing/2014/main" id="{664B6062-1940-F372-2897-1090B2251C3A}"/>
              </a:ext>
            </a:extLst>
          </p:cNvPr>
          <p:cNvSpPr txBox="1"/>
          <p:nvPr/>
        </p:nvSpPr>
        <p:spPr>
          <a:xfrm>
            <a:off x="2545285" y="3265847"/>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核心</a:t>
            </a:r>
          </a:p>
        </p:txBody>
      </p:sp>
      <p:sp>
        <p:nvSpPr>
          <p:cNvPr id="8" name="文本框 7">
            <a:extLst>
              <a:ext uri="{FF2B5EF4-FFF2-40B4-BE49-F238E27FC236}">
                <a16:creationId xmlns:a16="http://schemas.microsoft.com/office/drawing/2014/main" id="{394F4C5A-E594-B7DD-5BF4-9DCA4087C654}"/>
              </a:ext>
            </a:extLst>
          </p:cNvPr>
          <p:cNvSpPr txBox="1"/>
          <p:nvPr/>
        </p:nvSpPr>
        <p:spPr>
          <a:xfrm>
            <a:off x="2386711" y="4082337"/>
            <a:ext cx="1810965" cy="307777"/>
          </a:xfrm>
          <a:prstGeom prst="rect">
            <a:avLst/>
          </a:prstGeom>
          <a:noFill/>
        </p:spPr>
        <p:txBody>
          <a:bodyPr wrap="square" rtlCol="0">
            <a:spAutoFit/>
          </a:bodyPr>
          <a:lstStyle/>
          <a:p>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Shor-term</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1DF37505-ED3F-5A0B-3984-918C5BDDE86A}"/>
              </a:ext>
            </a:extLst>
          </p:cNvPr>
          <p:cNvSpPr txBox="1"/>
          <p:nvPr/>
        </p:nvSpPr>
        <p:spPr>
          <a:xfrm>
            <a:off x="7620000" y="4486664"/>
            <a:ext cx="1810965" cy="307777"/>
          </a:xfrm>
          <a:prstGeom prst="rect">
            <a:avLst/>
          </a:prstGeom>
          <a:noFill/>
        </p:spPr>
        <p:txBody>
          <a:bodyPr wrap="square" rtlCol="0">
            <a:spAutoFit/>
          </a:bodyPr>
          <a:lstStyle/>
          <a:p>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Long-term</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0630F5A1-ACEC-D493-D6AF-56DA443B866C}"/>
              </a:ext>
            </a:extLst>
          </p:cNvPr>
          <p:cNvSpPr txBox="1"/>
          <p:nvPr/>
        </p:nvSpPr>
        <p:spPr>
          <a:xfrm>
            <a:off x="7996334" y="5314272"/>
            <a:ext cx="1810965" cy="307777"/>
          </a:xfrm>
          <a:prstGeom prst="rect">
            <a:avLst/>
          </a:prstGeom>
          <a:noFill/>
        </p:spPr>
        <p:txBody>
          <a:bodyPr wrap="square" rtlCol="0">
            <a:spAutoFit/>
          </a:bodyPr>
          <a:lstStyle/>
          <a:p>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Training</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extLst>
      <p:ext uri="{BB962C8B-B14F-4D97-AF65-F5344CB8AC3E}">
        <p14:creationId xmlns:p14="http://schemas.microsoft.com/office/powerpoint/2010/main" val="722201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9BA69-2E29-EF3C-5669-82EFB359DAE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243DDE1-16C8-9CF5-9367-A270F07D97A0}"/>
              </a:ext>
            </a:extLst>
          </p:cNvPr>
          <p:cNvSpPr>
            <a:spLocks noGrp="1"/>
          </p:cNvSpPr>
          <p:nvPr>
            <p:ph type="title"/>
          </p:nvPr>
        </p:nvSpPr>
        <p:spPr/>
        <p:txBody>
          <a:bodyPr/>
          <a:lstStyle/>
          <a:p>
            <a:r>
              <a:rPr lang="en-US" altLang="zh-CN" dirty="0">
                <a:latin typeface="NimbusRomNo9L-Medi"/>
              </a:rPr>
              <a:t>Introduction – 9/17</a:t>
            </a:r>
            <a:endParaRPr lang="zh-CN" altLang="en-US" dirty="0"/>
          </a:p>
        </p:txBody>
      </p:sp>
      <p:sp>
        <p:nvSpPr>
          <p:cNvPr id="3" name="内容占位符 2">
            <a:extLst>
              <a:ext uri="{FF2B5EF4-FFF2-40B4-BE49-F238E27FC236}">
                <a16:creationId xmlns:a16="http://schemas.microsoft.com/office/drawing/2014/main" id="{C23A9288-F43C-5A99-716A-410A1F526250}"/>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1800" dirty="0"/>
              <a:t>The design choices and training strategy directly address the aforementioned domain challenges. First, by utilizing the textual query as the guiding signal, the model learns to </a:t>
            </a:r>
            <a:r>
              <a:rPr lang="en-US" altLang="zh-CN" sz="1800" b="1" dirty="0"/>
              <a:t>form informative spatial memory banks </a:t>
            </a:r>
            <a:r>
              <a:rPr lang="en-US" altLang="zh-CN" sz="1800" dirty="0"/>
              <a:t>that benefit from the embedded knowledge in the pretrained backbone MLLM and accommodate the domain shift in the downstream fine-tuning dataset, which mitigates the challenge of limited visual contrast and takes advantage of the knowledge-driven nature of surgical videos. Second, by constructing a </a:t>
            </a:r>
            <a:r>
              <a:rPr lang="en-US" altLang="zh-CN" sz="1800" b="1" dirty="0"/>
              <a:t>hierarchical memory bank</a:t>
            </a:r>
            <a:r>
              <a:rPr lang="en-US" altLang="zh-CN" sz="1800" dirty="0"/>
              <a:t> that covers fine-grained and short-term memory as well as long-term yet coarser memory, our model gains enhanced capabilities for handling variable spatiotemporal attentional needs from different assessment tasks. Third, the SCP training scheme progressively trains the model from fundamental perception tasks to higher-level assessment and reasoning tasks, directly addressing the challenge of </a:t>
            </a:r>
            <a:r>
              <a:rPr lang="en-US" altLang="zh-CN" sz="1800" b="1" dirty="0"/>
              <a:t>hierarchical task </a:t>
            </a:r>
            <a:r>
              <a:rPr lang="en-US" altLang="zh-CN" sz="1800" dirty="0"/>
              <a:t>dependencies by explicitly modeling the structure in which basic surgical scene understanding serves as a prerequisite for more complex intraoperative assessments.</a:t>
            </a:r>
            <a:endParaRPr lang="zh-CN" altLang="en-US" sz="18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C29DCD7E-B517-BCDE-B16B-E02713576683}"/>
              </a:ext>
            </a:extLst>
          </p:cNvPr>
          <p:cNvSpPr>
            <a:spLocks noGrp="1"/>
          </p:cNvSpPr>
          <p:nvPr>
            <p:ph type="sldNum" sz="quarter" idx="12"/>
          </p:nvPr>
        </p:nvSpPr>
        <p:spPr/>
        <p:txBody>
          <a:bodyPr/>
          <a:lstStyle/>
          <a:p>
            <a:fld id="{52108E69-35C3-4395-AB4C-CBC2CBC07E89}" type="slidenum">
              <a:rPr lang="zh-CN" altLang="en-US" smtClean="0"/>
              <a:t>45</a:t>
            </a:fld>
            <a:endParaRPr lang="zh-CN" altLang="en-US"/>
          </a:p>
        </p:txBody>
      </p:sp>
      <p:sp>
        <p:nvSpPr>
          <p:cNvPr id="11" name="文本框 10">
            <a:extLst>
              <a:ext uri="{FF2B5EF4-FFF2-40B4-BE49-F238E27FC236}">
                <a16:creationId xmlns:a16="http://schemas.microsoft.com/office/drawing/2014/main" id="{5C7016EE-01F9-30A9-3A00-5A857ACBAC55}"/>
              </a:ext>
            </a:extLst>
          </p:cNvPr>
          <p:cNvSpPr txBox="1"/>
          <p:nvPr/>
        </p:nvSpPr>
        <p:spPr>
          <a:xfrm>
            <a:off x="856862" y="1998465"/>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好处</a:t>
            </a:r>
          </a:p>
        </p:txBody>
      </p:sp>
      <p:sp>
        <p:nvSpPr>
          <p:cNvPr id="9" name="日期占位符 4">
            <a:extLst>
              <a:ext uri="{FF2B5EF4-FFF2-40B4-BE49-F238E27FC236}">
                <a16:creationId xmlns:a16="http://schemas.microsoft.com/office/drawing/2014/main" id="{BA479508-2297-E835-55FF-5BF5F617564A}"/>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2026/10/16</a:t>
            </a:fld>
            <a:endParaRPr lang="zh-CN" altLang="en-US" dirty="0"/>
          </a:p>
        </p:txBody>
      </p:sp>
      <p:sp>
        <p:nvSpPr>
          <p:cNvPr id="10" name="页脚占位符 5">
            <a:extLst>
              <a:ext uri="{FF2B5EF4-FFF2-40B4-BE49-F238E27FC236}">
                <a16:creationId xmlns:a16="http://schemas.microsoft.com/office/drawing/2014/main" id="{946B54DA-EF5C-A70B-336E-A760940189BC}"/>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
        <p:nvSpPr>
          <p:cNvPr id="6" name="文本框 5">
            <a:extLst>
              <a:ext uri="{FF2B5EF4-FFF2-40B4-BE49-F238E27FC236}">
                <a16:creationId xmlns:a16="http://schemas.microsoft.com/office/drawing/2014/main" id="{245C392F-9936-4DEC-8002-6B5E6D45AC39}"/>
              </a:ext>
            </a:extLst>
          </p:cNvPr>
          <p:cNvSpPr txBox="1"/>
          <p:nvPr/>
        </p:nvSpPr>
        <p:spPr>
          <a:xfrm>
            <a:off x="9900921" y="2010453"/>
            <a:ext cx="1810965" cy="307777"/>
          </a:xfrm>
          <a:prstGeom prst="rect">
            <a:avLst/>
          </a:prstGeom>
          <a:noFill/>
        </p:spPr>
        <p:txBody>
          <a:bodyPr wrap="square" rtlCol="0">
            <a:spAutoFit/>
          </a:bodyPr>
          <a:lstStyle/>
          <a:p>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1 spatial </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574E390D-9D2E-1973-1B29-40B22A646624}"/>
              </a:ext>
            </a:extLst>
          </p:cNvPr>
          <p:cNvSpPr txBox="1"/>
          <p:nvPr/>
        </p:nvSpPr>
        <p:spPr>
          <a:xfrm>
            <a:off x="1370043" y="4896859"/>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训练</a:t>
            </a:r>
          </a:p>
        </p:txBody>
      </p:sp>
      <p:sp>
        <p:nvSpPr>
          <p:cNvPr id="4" name="文本框 3">
            <a:extLst>
              <a:ext uri="{FF2B5EF4-FFF2-40B4-BE49-F238E27FC236}">
                <a16:creationId xmlns:a16="http://schemas.microsoft.com/office/drawing/2014/main" id="{9D2CBEDD-F582-7D70-A1BE-E2674993C9E0}"/>
              </a:ext>
            </a:extLst>
          </p:cNvPr>
          <p:cNvSpPr txBox="1"/>
          <p:nvPr/>
        </p:nvSpPr>
        <p:spPr>
          <a:xfrm>
            <a:off x="6553200" y="3650427"/>
            <a:ext cx="1810965" cy="307777"/>
          </a:xfrm>
          <a:prstGeom prst="rect">
            <a:avLst/>
          </a:prstGeom>
          <a:noFill/>
        </p:spPr>
        <p:txBody>
          <a:bodyPr wrap="square" rtlCol="0">
            <a:spAutoFit/>
          </a:bodyPr>
          <a:lstStyle/>
          <a:p>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1 temporal</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Tree>
    <p:extLst>
      <p:ext uri="{BB962C8B-B14F-4D97-AF65-F5344CB8AC3E}">
        <p14:creationId xmlns:p14="http://schemas.microsoft.com/office/powerpoint/2010/main" val="3908738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D6333-F9AA-DC7B-96E2-458E49D92E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4C8E316-EF42-47BC-ECD0-3880B46DD8F4}"/>
              </a:ext>
            </a:extLst>
          </p:cNvPr>
          <p:cNvSpPr>
            <a:spLocks noGrp="1"/>
          </p:cNvSpPr>
          <p:nvPr>
            <p:ph type="title"/>
          </p:nvPr>
        </p:nvSpPr>
        <p:spPr/>
        <p:txBody>
          <a:bodyPr/>
          <a:lstStyle/>
          <a:p>
            <a:r>
              <a:rPr lang="en-US" altLang="zh-CN" dirty="0">
                <a:latin typeface="NimbusRomNo9L-Medi"/>
              </a:rPr>
              <a:t>Introduction – 10/17</a:t>
            </a:r>
            <a:endParaRPr lang="zh-CN" altLang="en-US" dirty="0"/>
          </a:p>
        </p:txBody>
      </p:sp>
      <p:sp>
        <p:nvSpPr>
          <p:cNvPr id="3" name="内容占位符 2">
            <a:extLst>
              <a:ext uri="{FF2B5EF4-FFF2-40B4-BE49-F238E27FC236}">
                <a16:creationId xmlns:a16="http://schemas.microsoft.com/office/drawing/2014/main" id="{17EE60F3-00A6-EA77-E21A-46F8CD5E8E9A}"/>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1800" dirty="0"/>
              <a:t>Moreover, to facilitate model training and evaluation, we introduce CholeVidQA-32K, an </a:t>
            </a:r>
            <a:r>
              <a:rPr lang="en-US" altLang="zh-CN" sz="1800" b="1" dirty="0"/>
              <a:t>instruction-tuning dataset </a:t>
            </a:r>
            <a:r>
              <a:rPr lang="en-US" altLang="zh-CN" sz="1800" dirty="0"/>
              <a:t>that distinguishes itself from existing resources through </a:t>
            </a:r>
            <a:r>
              <a:rPr lang="en-US" altLang="zh-CN" sz="1800" b="1" dirty="0"/>
              <a:t>dynamic temporal context and broader assessment coverage</a:t>
            </a:r>
            <a:r>
              <a:rPr lang="en-US" altLang="zh-CN" sz="1800" dirty="0"/>
              <a:t> (Table 1). To address the challenge in the surgical domain regarding </a:t>
            </a:r>
            <a:r>
              <a:rPr lang="en-US" altLang="zh-CN" sz="1800" b="1" dirty="0"/>
              <a:t>the hierarchical nature of intraoperative assessments</a:t>
            </a:r>
            <a:r>
              <a:rPr lang="en-US" altLang="zh-CN" sz="1800" dirty="0"/>
              <a:t>, we formulate and organize 11 tasks into a three-level hierarchy (Figure 2).</a:t>
            </a:r>
            <a:endParaRPr lang="zh-CN" altLang="en-US" sz="18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F582FE28-E602-F9F4-9736-76A417EB76B6}"/>
              </a:ext>
            </a:extLst>
          </p:cNvPr>
          <p:cNvSpPr>
            <a:spLocks noGrp="1"/>
          </p:cNvSpPr>
          <p:nvPr>
            <p:ph type="sldNum" sz="quarter" idx="12"/>
          </p:nvPr>
        </p:nvSpPr>
        <p:spPr/>
        <p:txBody>
          <a:bodyPr/>
          <a:lstStyle/>
          <a:p>
            <a:fld id="{52108E69-35C3-4395-AB4C-CBC2CBC07E89}" type="slidenum">
              <a:rPr lang="zh-CN" altLang="en-US" smtClean="0"/>
              <a:t>46</a:t>
            </a:fld>
            <a:endParaRPr lang="zh-CN" altLang="en-US"/>
          </a:p>
        </p:txBody>
      </p:sp>
      <p:sp>
        <p:nvSpPr>
          <p:cNvPr id="11" name="文本框 10">
            <a:extLst>
              <a:ext uri="{FF2B5EF4-FFF2-40B4-BE49-F238E27FC236}">
                <a16:creationId xmlns:a16="http://schemas.microsoft.com/office/drawing/2014/main" id="{F9224263-A937-A455-1B42-74B8273FD8A7}"/>
              </a:ext>
            </a:extLst>
          </p:cNvPr>
          <p:cNvSpPr txBox="1"/>
          <p:nvPr/>
        </p:nvSpPr>
        <p:spPr>
          <a:xfrm>
            <a:off x="856862" y="1998465"/>
            <a:ext cx="1810965" cy="307777"/>
          </a:xfrm>
          <a:prstGeom prst="rect">
            <a:avLst/>
          </a:prstGeom>
          <a:noFill/>
        </p:spPr>
        <p:txBody>
          <a:bodyPr wrap="square" rtlCol="0">
            <a:spAutoFit/>
          </a:bodyPr>
          <a:lstStyle/>
          <a:p>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dataset</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9" name="日期占位符 4">
            <a:extLst>
              <a:ext uri="{FF2B5EF4-FFF2-40B4-BE49-F238E27FC236}">
                <a16:creationId xmlns:a16="http://schemas.microsoft.com/office/drawing/2014/main" id="{43108843-A514-EA37-FF41-04EC3258587E}"/>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2026/10/16</a:t>
            </a:fld>
            <a:endParaRPr lang="zh-CN" altLang="en-US" dirty="0"/>
          </a:p>
        </p:txBody>
      </p:sp>
      <p:sp>
        <p:nvSpPr>
          <p:cNvPr id="10" name="页脚占位符 5">
            <a:extLst>
              <a:ext uri="{FF2B5EF4-FFF2-40B4-BE49-F238E27FC236}">
                <a16:creationId xmlns:a16="http://schemas.microsoft.com/office/drawing/2014/main" id="{7514200F-C981-B14F-DDA1-908D26C67FFE}"/>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
        <p:nvSpPr>
          <p:cNvPr id="6" name="文本框 5">
            <a:extLst>
              <a:ext uri="{FF2B5EF4-FFF2-40B4-BE49-F238E27FC236}">
                <a16:creationId xmlns:a16="http://schemas.microsoft.com/office/drawing/2014/main" id="{53BD9909-E6C2-BCC7-3610-A287D8CE5DA5}"/>
              </a:ext>
            </a:extLst>
          </p:cNvPr>
          <p:cNvSpPr txBox="1"/>
          <p:nvPr/>
        </p:nvSpPr>
        <p:spPr>
          <a:xfrm>
            <a:off x="3742717" y="2849471"/>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特点</a:t>
            </a:r>
          </a:p>
        </p:txBody>
      </p:sp>
    </p:spTree>
    <p:extLst>
      <p:ext uri="{BB962C8B-B14F-4D97-AF65-F5344CB8AC3E}">
        <p14:creationId xmlns:p14="http://schemas.microsoft.com/office/powerpoint/2010/main" val="12736768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65366-CC4A-1FC4-5D09-1BCBF97F5BA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9ED881C-9B8B-E7F4-6A30-C0C1CEBBE80B}"/>
              </a:ext>
            </a:extLst>
          </p:cNvPr>
          <p:cNvSpPr>
            <a:spLocks noGrp="1"/>
          </p:cNvSpPr>
          <p:nvPr>
            <p:ph type="title"/>
          </p:nvPr>
        </p:nvSpPr>
        <p:spPr/>
        <p:txBody>
          <a:bodyPr/>
          <a:lstStyle/>
          <a:p>
            <a:r>
              <a:rPr lang="en-US" altLang="zh-CN" dirty="0">
                <a:latin typeface="NimbusRomNo9L-Medi"/>
              </a:rPr>
              <a:t>Introduction – 11/17</a:t>
            </a:r>
            <a:endParaRPr lang="zh-CN" altLang="en-US" dirty="0"/>
          </a:p>
        </p:txBody>
      </p:sp>
      <p:sp>
        <p:nvSpPr>
          <p:cNvPr id="3" name="内容占位符 2">
            <a:extLst>
              <a:ext uri="{FF2B5EF4-FFF2-40B4-BE49-F238E27FC236}">
                <a16:creationId xmlns:a16="http://schemas.microsoft.com/office/drawing/2014/main" id="{DE7AC128-2F7F-1728-6C14-3A7EF70119B1}"/>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1800" dirty="0"/>
              <a:t>At the </a:t>
            </a:r>
            <a:r>
              <a:rPr lang="en-US" altLang="zh-CN" sz="1800" b="1" dirty="0"/>
              <a:t>Perception level</a:t>
            </a:r>
            <a:r>
              <a:rPr lang="en-US" altLang="zh-CN" sz="1800" dirty="0"/>
              <a:t>, we design three fundamental tasks for </a:t>
            </a:r>
            <a:r>
              <a:rPr lang="en-US" altLang="zh-CN" sz="1800" b="1" dirty="0"/>
              <a:t>surgical scene understanding</a:t>
            </a:r>
            <a:r>
              <a:rPr lang="en-US" altLang="zh-CN" sz="1800" dirty="0"/>
              <a:t>. </a:t>
            </a:r>
            <a:r>
              <a:rPr lang="en-US" altLang="zh-CN" sz="1800" b="1" dirty="0"/>
              <a:t>Tool Perception </a:t>
            </a:r>
            <a:r>
              <a:rPr lang="en-US" altLang="zh-CN" sz="1800" dirty="0"/>
              <a:t>facilitates contextually dynamic responses that reference tools by position and movement. </a:t>
            </a:r>
            <a:r>
              <a:rPr lang="en-US" altLang="zh-CN" sz="1800" b="1" dirty="0"/>
              <a:t>Action Perception </a:t>
            </a:r>
            <a:r>
              <a:rPr lang="en-US" altLang="zh-CN" sz="1800" dirty="0"/>
              <a:t>captures surgical actions with clinical rationale. </a:t>
            </a:r>
            <a:r>
              <a:rPr lang="en-US" altLang="zh-CN" sz="1800" b="1" dirty="0"/>
              <a:t>Anatomical Structure Perception </a:t>
            </a:r>
            <a:r>
              <a:rPr lang="en-US" altLang="zh-CN" sz="1800" dirty="0"/>
              <a:t>provides fine-grained descriptions of anatomical landmarks, including attributes such as status, position, shape, and color. Data for this level is derived from the CholecT50 (Nwoye et al., 2022) dataset, where we segment videos by action continuity and incorporate structured caption annotations from clinicians, repurposed into semantically rich QA pairs. These short-span video segments preserve action-oriented visual dynamics. Together, these three tasks establish fundamental visual recognition capabilities for surgical scenes.</a:t>
            </a:r>
            <a:endParaRPr lang="zh-CN" altLang="en-US" sz="18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C9578960-FAE4-7C16-E536-154B40CF557D}"/>
              </a:ext>
            </a:extLst>
          </p:cNvPr>
          <p:cNvSpPr>
            <a:spLocks noGrp="1"/>
          </p:cNvSpPr>
          <p:nvPr>
            <p:ph type="sldNum" sz="quarter" idx="12"/>
          </p:nvPr>
        </p:nvSpPr>
        <p:spPr/>
        <p:txBody>
          <a:bodyPr/>
          <a:lstStyle/>
          <a:p>
            <a:fld id="{52108E69-35C3-4395-AB4C-CBC2CBC07E89}" type="slidenum">
              <a:rPr lang="zh-CN" altLang="en-US" smtClean="0"/>
              <a:t>47</a:t>
            </a:fld>
            <a:endParaRPr lang="zh-CN" altLang="en-US"/>
          </a:p>
        </p:txBody>
      </p:sp>
      <p:sp>
        <p:nvSpPr>
          <p:cNvPr id="11" name="文本框 10">
            <a:extLst>
              <a:ext uri="{FF2B5EF4-FFF2-40B4-BE49-F238E27FC236}">
                <a16:creationId xmlns:a16="http://schemas.microsoft.com/office/drawing/2014/main" id="{DC940B4A-7C16-7534-4923-010BE87C4C46}"/>
              </a:ext>
            </a:extLst>
          </p:cNvPr>
          <p:cNvSpPr txBox="1"/>
          <p:nvPr/>
        </p:nvSpPr>
        <p:spPr>
          <a:xfrm>
            <a:off x="837374" y="2018600"/>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介绍</a:t>
            </a:r>
          </a:p>
        </p:txBody>
      </p:sp>
      <p:sp>
        <p:nvSpPr>
          <p:cNvPr id="9" name="日期占位符 4">
            <a:extLst>
              <a:ext uri="{FF2B5EF4-FFF2-40B4-BE49-F238E27FC236}">
                <a16:creationId xmlns:a16="http://schemas.microsoft.com/office/drawing/2014/main" id="{01E3F533-71E5-D356-BCE2-2DF32DE76BB3}"/>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2026/10/16</a:t>
            </a:fld>
            <a:endParaRPr lang="zh-CN" altLang="en-US" dirty="0"/>
          </a:p>
        </p:txBody>
      </p:sp>
      <p:sp>
        <p:nvSpPr>
          <p:cNvPr id="10" name="页脚占位符 5">
            <a:extLst>
              <a:ext uri="{FF2B5EF4-FFF2-40B4-BE49-F238E27FC236}">
                <a16:creationId xmlns:a16="http://schemas.microsoft.com/office/drawing/2014/main" id="{D359CFE6-5E8D-F87E-8801-8221A68DC8B1}"/>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
        <p:nvSpPr>
          <p:cNvPr id="6" name="文本框 5">
            <a:extLst>
              <a:ext uri="{FF2B5EF4-FFF2-40B4-BE49-F238E27FC236}">
                <a16:creationId xmlns:a16="http://schemas.microsoft.com/office/drawing/2014/main" id="{96A7572B-648A-1FA4-49CA-823708F63A0B}"/>
              </a:ext>
            </a:extLst>
          </p:cNvPr>
          <p:cNvSpPr txBox="1"/>
          <p:nvPr/>
        </p:nvSpPr>
        <p:spPr>
          <a:xfrm>
            <a:off x="10134186" y="3256449"/>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数据标注</a:t>
            </a:r>
          </a:p>
        </p:txBody>
      </p:sp>
      <p:sp>
        <p:nvSpPr>
          <p:cNvPr id="8" name="文本框 7">
            <a:extLst>
              <a:ext uri="{FF2B5EF4-FFF2-40B4-BE49-F238E27FC236}">
                <a16:creationId xmlns:a16="http://schemas.microsoft.com/office/drawing/2014/main" id="{31947EEB-EFFE-E4AA-1F79-27AF6A70CA34}"/>
              </a:ext>
            </a:extLst>
          </p:cNvPr>
          <p:cNvSpPr txBox="1"/>
          <p:nvPr/>
        </p:nvSpPr>
        <p:spPr>
          <a:xfrm>
            <a:off x="1715689" y="4486312"/>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数据特点</a:t>
            </a:r>
          </a:p>
        </p:txBody>
      </p:sp>
    </p:spTree>
    <p:extLst>
      <p:ext uri="{BB962C8B-B14F-4D97-AF65-F5344CB8AC3E}">
        <p14:creationId xmlns:p14="http://schemas.microsoft.com/office/powerpoint/2010/main" val="31607588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EA716-06FC-3190-C8EF-D481B60AFE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05C4E32-BB87-D3F9-7A14-B3737651E37E}"/>
              </a:ext>
            </a:extLst>
          </p:cNvPr>
          <p:cNvSpPr>
            <a:spLocks noGrp="1"/>
          </p:cNvSpPr>
          <p:nvPr>
            <p:ph type="title"/>
          </p:nvPr>
        </p:nvSpPr>
        <p:spPr/>
        <p:txBody>
          <a:bodyPr/>
          <a:lstStyle/>
          <a:p>
            <a:r>
              <a:rPr lang="en-US" altLang="zh-CN" dirty="0">
                <a:latin typeface="NimbusRomNo9L-Medi"/>
              </a:rPr>
              <a:t>Introduction – 12/17</a:t>
            </a:r>
            <a:endParaRPr lang="zh-CN" altLang="en-US" dirty="0"/>
          </a:p>
        </p:txBody>
      </p:sp>
      <p:sp>
        <p:nvSpPr>
          <p:cNvPr id="3" name="内容占位符 2">
            <a:extLst>
              <a:ext uri="{FF2B5EF4-FFF2-40B4-BE49-F238E27FC236}">
                <a16:creationId xmlns:a16="http://schemas.microsoft.com/office/drawing/2014/main" id="{22F93E09-F134-E8C3-9D5D-C8AC3E77EB3E}"/>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1800" dirty="0"/>
              <a:t>At the </a:t>
            </a:r>
            <a:r>
              <a:rPr lang="en-US" altLang="zh-CN" sz="1800" b="1" dirty="0"/>
              <a:t>Assessment level</a:t>
            </a:r>
            <a:r>
              <a:rPr lang="en-US" altLang="zh-CN" sz="1800" dirty="0"/>
              <a:t>, we design tasks to support diverse </a:t>
            </a:r>
            <a:r>
              <a:rPr lang="en-US" altLang="zh-CN" sz="1800" b="1" dirty="0"/>
              <a:t>intraoperative analysis </a:t>
            </a:r>
            <a:r>
              <a:rPr lang="en-US" altLang="zh-CN" sz="1800" dirty="0"/>
              <a:t>needs, including </a:t>
            </a:r>
            <a:r>
              <a:rPr lang="en-US" altLang="zh-CN" sz="1800" b="1" dirty="0"/>
              <a:t>Critical View of Safety, Difficulty Findings, Skills Proficiency and Adverse Events assessments</a:t>
            </a:r>
            <a:r>
              <a:rPr lang="en-US" altLang="zh-CN" sz="1800" dirty="0"/>
              <a:t>. These tasks encompass different analytical scenarios and predictive formulations, including binary and multicategory classification. Data for this level is sourced from </a:t>
            </a:r>
            <a:r>
              <a:rPr lang="en-US" altLang="zh-CN" sz="1800" dirty="0" err="1"/>
              <a:t>Endoscapes</a:t>
            </a:r>
            <a:r>
              <a:rPr lang="en-US" altLang="zh-CN" sz="1800" dirty="0"/>
              <a:t> (Mascagni et al., 2025) and </a:t>
            </a:r>
            <a:r>
              <a:rPr lang="en-US" altLang="zh-CN" sz="1800" dirty="0" err="1"/>
              <a:t>CholeScore</a:t>
            </a:r>
            <a:r>
              <a:rPr lang="en-US" altLang="zh-CN" sz="1800" dirty="0"/>
              <a:t> (Sharma et al., 2025). We segment </a:t>
            </a:r>
            <a:r>
              <a:rPr lang="en-US" altLang="zh-CN" sz="1800" dirty="0" err="1"/>
              <a:t>Endoscapes</a:t>
            </a:r>
            <a:r>
              <a:rPr lang="en-US" altLang="zh-CN" sz="1800" dirty="0"/>
              <a:t> videos using fixed 5second intervals and </a:t>
            </a:r>
            <a:r>
              <a:rPr lang="en-US" altLang="zh-CN" sz="1800" dirty="0" err="1"/>
              <a:t>CholeScore</a:t>
            </a:r>
            <a:r>
              <a:rPr lang="en-US" altLang="zh-CN" sz="1800" dirty="0"/>
              <a:t> videos by surgical phase, resulting in two distinct temporal scales—shorter clips for fine-grained assessment and longer segments spanning minutes to tens of minutes for comprehensive evaluation. We transform existing categorical annotations into open-ended question-answer pairs with enriched descriptive explanations.</a:t>
            </a:r>
            <a:endParaRPr lang="zh-CN" altLang="en-US" sz="18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457B7C54-55A1-8AC1-565C-B849220A7AE9}"/>
              </a:ext>
            </a:extLst>
          </p:cNvPr>
          <p:cNvSpPr>
            <a:spLocks noGrp="1"/>
          </p:cNvSpPr>
          <p:nvPr>
            <p:ph type="sldNum" sz="quarter" idx="12"/>
          </p:nvPr>
        </p:nvSpPr>
        <p:spPr/>
        <p:txBody>
          <a:bodyPr/>
          <a:lstStyle/>
          <a:p>
            <a:fld id="{52108E69-35C3-4395-AB4C-CBC2CBC07E89}" type="slidenum">
              <a:rPr lang="zh-CN" altLang="en-US" smtClean="0"/>
              <a:t>48</a:t>
            </a:fld>
            <a:endParaRPr lang="zh-CN" altLang="en-US"/>
          </a:p>
        </p:txBody>
      </p:sp>
      <p:sp>
        <p:nvSpPr>
          <p:cNvPr id="11" name="文本框 10">
            <a:extLst>
              <a:ext uri="{FF2B5EF4-FFF2-40B4-BE49-F238E27FC236}">
                <a16:creationId xmlns:a16="http://schemas.microsoft.com/office/drawing/2014/main" id="{675B973F-3A15-CC9D-E3FE-1B08519B6623}"/>
              </a:ext>
            </a:extLst>
          </p:cNvPr>
          <p:cNvSpPr txBox="1"/>
          <p:nvPr/>
        </p:nvSpPr>
        <p:spPr>
          <a:xfrm>
            <a:off x="810207" y="1998465"/>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介绍</a:t>
            </a:r>
          </a:p>
        </p:txBody>
      </p:sp>
      <p:sp>
        <p:nvSpPr>
          <p:cNvPr id="9" name="日期占位符 4">
            <a:extLst>
              <a:ext uri="{FF2B5EF4-FFF2-40B4-BE49-F238E27FC236}">
                <a16:creationId xmlns:a16="http://schemas.microsoft.com/office/drawing/2014/main" id="{BFB8CBC6-2820-8371-F7E8-E10D0BCBDABE}"/>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2026/10/16</a:t>
            </a:fld>
            <a:endParaRPr lang="zh-CN" altLang="en-US" dirty="0"/>
          </a:p>
        </p:txBody>
      </p:sp>
      <p:sp>
        <p:nvSpPr>
          <p:cNvPr id="10" name="页脚占位符 5">
            <a:extLst>
              <a:ext uri="{FF2B5EF4-FFF2-40B4-BE49-F238E27FC236}">
                <a16:creationId xmlns:a16="http://schemas.microsoft.com/office/drawing/2014/main" id="{2B357484-8028-D510-BEAE-076BF6EAE9A1}"/>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
        <p:nvSpPr>
          <p:cNvPr id="6" name="文本框 5">
            <a:extLst>
              <a:ext uri="{FF2B5EF4-FFF2-40B4-BE49-F238E27FC236}">
                <a16:creationId xmlns:a16="http://schemas.microsoft.com/office/drawing/2014/main" id="{0284F49E-97F5-4AAB-E504-FC2D52843BF7}"/>
              </a:ext>
            </a:extLst>
          </p:cNvPr>
          <p:cNvSpPr txBox="1"/>
          <p:nvPr/>
        </p:nvSpPr>
        <p:spPr>
          <a:xfrm>
            <a:off x="810206" y="3247118"/>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数据标注</a:t>
            </a:r>
          </a:p>
        </p:txBody>
      </p:sp>
    </p:spTree>
    <p:extLst>
      <p:ext uri="{BB962C8B-B14F-4D97-AF65-F5344CB8AC3E}">
        <p14:creationId xmlns:p14="http://schemas.microsoft.com/office/powerpoint/2010/main" val="30777367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518D3-2A56-99C9-26F4-CA1C93DB776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A16B0AC-CAA5-4D7F-56CB-6FFF17DBA478}"/>
              </a:ext>
            </a:extLst>
          </p:cNvPr>
          <p:cNvSpPr>
            <a:spLocks noGrp="1"/>
          </p:cNvSpPr>
          <p:nvPr>
            <p:ph type="title"/>
          </p:nvPr>
        </p:nvSpPr>
        <p:spPr/>
        <p:txBody>
          <a:bodyPr/>
          <a:lstStyle/>
          <a:p>
            <a:r>
              <a:rPr lang="en-US" altLang="zh-CN" dirty="0">
                <a:latin typeface="NimbusRomNo9L-Medi"/>
              </a:rPr>
              <a:t>Introduction – 13/17</a:t>
            </a:r>
            <a:endParaRPr lang="zh-CN" altLang="en-US" dirty="0"/>
          </a:p>
        </p:txBody>
      </p:sp>
      <p:sp>
        <p:nvSpPr>
          <p:cNvPr id="3" name="内容占位符 2">
            <a:extLst>
              <a:ext uri="{FF2B5EF4-FFF2-40B4-BE49-F238E27FC236}">
                <a16:creationId xmlns:a16="http://schemas.microsoft.com/office/drawing/2014/main" id="{DC344674-8983-B1FA-FC72-F0AFBF882F0B}"/>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1800" dirty="0"/>
              <a:t>Finally, at the </a:t>
            </a:r>
            <a:r>
              <a:rPr lang="en-US" altLang="zh-CN" sz="1800" b="1" dirty="0"/>
              <a:t>Reasoning level</a:t>
            </a:r>
            <a:r>
              <a:rPr lang="en-US" altLang="zh-CN" sz="1800" dirty="0"/>
              <a:t>, we support more complex clinical analysis by combining operative field interpretation and assessments across video segments. With the assistance of large language models (LLMs), we generate condensed descriptive QA pairs on basic scene understanding (i.e., Surgical Scene Description) and on various intra-operative assessment analysis (i.e., Comprehensive Assessment). To further stimulate the models’ reasoning capability, we create reasoning questions by conditioning on action intentions (i.e., Action Rationale Reasoning) and intraoperative variables (i.e., Intra-operative Planning), enabling scenario-based analysis.</a:t>
            </a:r>
            <a:endParaRPr lang="zh-CN" altLang="en-US" sz="18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2E1A29F7-0E90-CF91-B3C6-738D773F9A2F}"/>
              </a:ext>
            </a:extLst>
          </p:cNvPr>
          <p:cNvSpPr>
            <a:spLocks noGrp="1"/>
          </p:cNvSpPr>
          <p:nvPr>
            <p:ph type="sldNum" sz="quarter" idx="12"/>
          </p:nvPr>
        </p:nvSpPr>
        <p:spPr/>
        <p:txBody>
          <a:bodyPr/>
          <a:lstStyle/>
          <a:p>
            <a:fld id="{52108E69-35C3-4395-AB4C-CBC2CBC07E89}" type="slidenum">
              <a:rPr lang="zh-CN" altLang="en-US" smtClean="0"/>
              <a:t>49</a:t>
            </a:fld>
            <a:endParaRPr lang="zh-CN" altLang="en-US"/>
          </a:p>
        </p:txBody>
      </p:sp>
      <p:sp>
        <p:nvSpPr>
          <p:cNvPr id="11" name="文本框 10">
            <a:extLst>
              <a:ext uri="{FF2B5EF4-FFF2-40B4-BE49-F238E27FC236}">
                <a16:creationId xmlns:a16="http://schemas.microsoft.com/office/drawing/2014/main" id="{9FAAB5BB-73AB-75E5-59AA-23F10ACA0070}"/>
              </a:ext>
            </a:extLst>
          </p:cNvPr>
          <p:cNvSpPr txBox="1"/>
          <p:nvPr/>
        </p:nvSpPr>
        <p:spPr>
          <a:xfrm>
            <a:off x="856862" y="1998465"/>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介绍</a:t>
            </a:r>
          </a:p>
        </p:txBody>
      </p:sp>
      <p:sp>
        <p:nvSpPr>
          <p:cNvPr id="9" name="日期占位符 4">
            <a:extLst>
              <a:ext uri="{FF2B5EF4-FFF2-40B4-BE49-F238E27FC236}">
                <a16:creationId xmlns:a16="http://schemas.microsoft.com/office/drawing/2014/main" id="{21C301F6-1AE6-FDBE-10F1-12E24491C403}"/>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2026/10/16</a:t>
            </a:fld>
            <a:endParaRPr lang="zh-CN" altLang="en-US" dirty="0"/>
          </a:p>
        </p:txBody>
      </p:sp>
      <p:sp>
        <p:nvSpPr>
          <p:cNvPr id="10" name="页脚占位符 5">
            <a:extLst>
              <a:ext uri="{FF2B5EF4-FFF2-40B4-BE49-F238E27FC236}">
                <a16:creationId xmlns:a16="http://schemas.microsoft.com/office/drawing/2014/main" id="{406B2208-84AA-6052-78CB-94F8125FCDC7}"/>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
        <p:nvSpPr>
          <p:cNvPr id="6" name="文本框 5">
            <a:extLst>
              <a:ext uri="{FF2B5EF4-FFF2-40B4-BE49-F238E27FC236}">
                <a16:creationId xmlns:a16="http://schemas.microsoft.com/office/drawing/2014/main" id="{A805B29C-39F9-03BD-94CD-63B6F7C38FFF}"/>
              </a:ext>
            </a:extLst>
          </p:cNvPr>
          <p:cNvSpPr txBox="1"/>
          <p:nvPr/>
        </p:nvSpPr>
        <p:spPr>
          <a:xfrm>
            <a:off x="6000725" y="2447278"/>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数据标注</a:t>
            </a:r>
          </a:p>
        </p:txBody>
      </p:sp>
    </p:spTree>
    <p:extLst>
      <p:ext uri="{BB962C8B-B14F-4D97-AF65-F5344CB8AC3E}">
        <p14:creationId xmlns:p14="http://schemas.microsoft.com/office/powerpoint/2010/main" val="29120425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E30CC-0D75-A990-B266-377D451E655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84703B9-5833-A930-0618-5A97981F1729}"/>
              </a:ext>
            </a:extLst>
          </p:cNvPr>
          <p:cNvSpPr>
            <a:spLocks noGrp="1"/>
          </p:cNvSpPr>
          <p:nvPr>
            <p:ph type="title"/>
          </p:nvPr>
        </p:nvSpPr>
        <p:spPr/>
        <p:txBody>
          <a:bodyPr/>
          <a:lstStyle/>
          <a:p>
            <a:r>
              <a:rPr lang="en-US" altLang="zh-CN" dirty="0">
                <a:latin typeface="NimbusRomNo9L-Medi"/>
              </a:rPr>
              <a:t>Introduction – 14/17</a:t>
            </a:r>
            <a:endParaRPr lang="zh-CN" altLang="en-US" dirty="0"/>
          </a:p>
        </p:txBody>
      </p:sp>
      <p:sp>
        <p:nvSpPr>
          <p:cNvPr id="3" name="内容占位符 2">
            <a:extLst>
              <a:ext uri="{FF2B5EF4-FFF2-40B4-BE49-F238E27FC236}">
                <a16:creationId xmlns:a16="http://schemas.microsoft.com/office/drawing/2014/main" id="{A3648C1C-ABFB-089D-7AE3-17B3EA57C76A}"/>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2000" dirty="0"/>
              <a:t>We evaluate our proposed model using three tiers of metrics: </a:t>
            </a:r>
            <a:r>
              <a:rPr lang="en-US" altLang="zh-CN" sz="2000" b="1" dirty="0"/>
              <a:t>classification </a:t>
            </a:r>
            <a:r>
              <a:rPr lang="en-US" altLang="zh-CN" sz="2000" dirty="0"/>
              <a:t>metrics reflecting categorical capability, </a:t>
            </a:r>
            <a:r>
              <a:rPr lang="en-US" altLang="zh-CN" sz="2000" b="1" dirty="0"/>
              <a:t>overlap</a:t>
            </a:r>
            <a:r>
              <a:rPr lang="en-US" altLang="zh-CN" sz="2000" dirty="0"/>
              <a:t> metrics reflecting textual alignment with ground-truth answers, and </a:t>
            </a:r>
            <a:r>
              <a:rPr lang="en-US" altLang="zh-CN" sz="2000" b="1" dirty="0"/>
              <a:t>multifaceted LLM-based scores </a:t>
            </a:r>
            <a:r>
              <a:rPr lang="en-US" altLang="zh-CN" sz="2000" dirty="0"/>
              <a:t>reflecting response quality across multiple dimensions including correctness, relevance, and linguistic quality.</a:t>
            </a:r>
            <a:endParaRPr lang="zh-CN" altLang="en-US" sz="20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B604FC4C-1E96-28B1-4570-3DBE9F6B6508}"/>
              </a:ext>
            </a:extLst>
          </p:cNvPr>
          <p:cNvSpPr>
            <a:spLocks noGrp="1"/>
          </p:cNvSpPr>
          <p:nvPr>
            <p:ph type="sldNum" sz="quarter" idx="12"/>
          </p:nvPr>
        </p:nvSpPr>
        <p:spPr/>
        <p:txBody>
          <a:bodyPr/>
          <a:lstStyle/>
          <a:p>
            <a:fld id="{52108E69-35C3-4395-AB4C-CBC2CBC07E89}" type="slidenum">
              <a:rPr lang="zh-CN" altLang="en-US" smtClean="0"/>
              <a:t>50</a:t>
            </a:fld>
            <a:endParaRPr lang="zh-CN" altLang="en-US"/>
          </a:p>
        </p:txBody>
      </p:sp>
      <p:sp>
        <p:nvSpPr>
          <p:cNvPr id="11" name="文本框 10">
            <a:extLst>
              <a:ext uri="{FF2B5EF4-FFF2-40B4-BE49-F238E27FC236}">
                <a16:creationId xmlns:a16="http://schemas.microsoft.com/office/drawing/2014/main" id="{5C8167F6-CEE2-C832-3A1D-B6D08CEA0C2D}"/>
              </a:ext>
            </a:extLst>
          </p:cNvPr>
          <p:cNvSpPr txBox="1"/>
          <p:nvPr/>
        </p:nvSpPr>
        <p:spPr>
          <a:xfrm>
            <a:off x="856862" y="2102686"/>
            <a:ext cx="1810965" cy="307777"/>
          </a:xfrm>
          <a:prstGeom prst="rect">
            <a:avLst/>
          </a:prstGeom>
          <a:noFill/>
        </p:spPr>
        <p:txBody>
          <a:bodyPr wrap="square" rtlCol="0">
            <a:spAutoFit/>
          </a:bodyPr>
          <a:lstStyle/>
          <a:p>
            <a:r>
              <a:rPr lang="en-US" altLang="zh-CN"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metric</a:t>
            </a:r>
            <a:endPar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9" name="日期占位符 4">
            <a:extLst>
              <a:ext uri="{FF2B5EF4-FFF2-40B4-BE49-F238E27FC236}">
                <a16:creationId xmlns:a16="http://schemas.microsoft.com/office/drawing/2014/main" id="{B4F66A33-65CE-0D32-802F-574B708666FA}"/>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2026/10/16</a:t>
            </a:fld>
            <a:endParaRPr lang="zh-CN" altLang="en-US" dirty="0"/>
          </a:p>
        </p:txBody>
      </p:sp>
      <p:sp>
        <p:nvSpPr>
          <p:cNvPr id="10" name="页脚占位符 5">
            <a:extLst>
              <a:ext uri="{FF2B5EF4-FFF2-40B4-BE49-F238E27FC236}">
                <a16:creationId xmlns:a16="http://schemas.microsoft.com/office/drawing/2014/main" id="{34A0999D-268E-9125-AA8D-DF518F277D5F}"/>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Tree>
    <p:extLst>
      <p:ext uri="{BB962C8B-B14F-4D97-AF65-F5344CB8AC3E}">
        <p14:creationId xmlns:p14="http://schemas.microsoft.com/office/powerpoint/2010/main" val="23872444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BEB73-A0CD-3B08-35E1-20D5E69822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B583C3-E630-D8AC-022A-1F47986BE86B}"/>
              </a:ext>
            </a:extLst>
          </p:cNvPr>
          <p:cNvSpPr>
            <a:spLocks noGrp="1"/>
          </p:cNvSpPr>
          <p:nvPr>
            <p:ph type="title"/>
          </p:nvPr>
        </p:nvSpPr>
        <p:spPr/>
        <p:txBody>
          <a:bodyPr/>
          <a:lstStyle/>
          <a:p>
            <a:r>
              <a:rPr lang="en-US" altLang="zh-CN" dirty="0">
                <a:latin typeface="NimbusRomNo9L-Medi"/>
              </a:rPr>
              <a:t>Introduction – 15/17</a:t>
            </a:r>
            <a:endParaRPr lang="zh-CN" altLang="en-US" dirty="0"/>
          </a:p>
        </p:txBody>
      </p:sp>
      <p:sp>
        <p:nvSpPr>
          <p:cNvPr id="3" name="内容占位符 2">
            <a:extLst>
              <a:ext uri="{FF2B5EF4-FFF2-40B4-BE49-F238E27FC236}">
                <a16:creationId xmlns:a16="http://schemas.microsoft.com/office/drawing/2014/main" id="{5939FA8C-E42D-F393-B9FC-0750926F570A}"/>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2000" dirty="0"/>
              <a:t>Experimental results broken down across multiple levels show that our model outperforms strong general-domain video QA baselines under both fine-tuned and zero-shot settings on our dataset, with notable margins on longer and more complex tasks.</a:t>
            </a:r>
            <a:endParaRPr lang="zh-CN" altLang="en-US" sz="20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FC3C2077-A809-C8B4-7618-462D93851DA2}"/>
              </a:ext>
            </a:extLst>
          </p:cNvPr>
          <p:cNvSpPr>
            <a:spLocks noGrp="1"/>
          </p:cNvSpPr>
          <p:nvPr>
            <p:ph type="sldNum" sz="quarter" idx="12"/>
          </p:nvPr>
        </p:nvSpPr>
        <p:spPr/>
        <p:txBody>
          <a:bodyPr/>
          <a:lstStyle/>
          <a:p>
            <a:fld id="{52108E69-35C3-4395-AB4C-CBC2CBC07E89}" type="slidenum">
              <a:rPr lang="zh-CN" altLang="en-US" smtClean="0"/>
              <a:t>51</a:t>
            </a:fld>
            <a:endParaRPr lang="zh-CN" altLang="en-US"/>
          </a:p>
        </p:txBody>
      </p:sp>
      <p:sp>
        <p:nvSpPr>
          <p:cNvPr id="11" name="文本框 10">
            <a:extLst>
              <a:ext uri="{FF2B5EF4-FFF2-40B4-BE49-F238E27FC236}">
                <a16:creationId xmlns:a16="http://schemas.microsoft.com/office/drawing/2014/main" id="{FA5BD897-73A5-6068-CC2A-746DB419D87A}"/>
              </a:ext>
            </a:extLst>
          </p:cNvPr>
          <p:cNvSpPr txBox="1"/>
          <p:nvPr/>
        </p:nvSpPr>
        <p:spPr>
          <a:xfrm>
            <a:off x="838200" y="2102819"/>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实验</a:t>
            </a:r>
          </a:p>
        </p:txBody>
      </p:sp>
      <p:sp>
        <p:nvSpPr>
          <p:cNvPr id="9" name="日期占位符 4">
            <a:extLst>
              <a:ext uri="{FF2B5EF4-FFF2-40B4-BE49-F238E27FC236}">
                <a16:creationId xmlns:a16="http://schemas.microsoft.com/office/drawing/2014/main" id="{2D0275DF-9180-6829-9435-1F117C356C78}"/>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2026/10/16</a:t>
            </a:fld>
            <a:endParaRPr lang="zh-CN" altLang="en-US" dirty="0"/>
          </a:p>
        </p:txBody>
      </p:sp>
      <p:sp>
        <p:nvSpPr>
          <p:cNvPr id="10" name="页脚占位符 5">
            <a:extLst>
              <a:ext uri="{FF2B5EF4-FFF2-40B4-BE49-F238E27FC236}">
                <a16:creationId xmlns:a16="http://schemas.microsoft.com/office/drawing/2014/main" id="{39334220-E618-56A7-C813-EE04AD882765}"/>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Tree>
    <p:extLst>
      <p:ext uri="{BB962C8B-B14F-4D97-AF65-F5344CB8AC3E}">
        <p14:creationId xmlns:p14="http://schemas.microsoft.com/office/powerpoint/2010/main" val="18144684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74C12-ECB0-B04F-DDCB-526C933D49E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799D6A5-B639-4FE6-6098-974F5D803781}"/>
              </a:ext>
            </a:extLst>
          </p:cNvPr>
          <p:cNvSpPr>
            <a:spLocks noGrp="1"/>
          </p:cNvSpPr>
          <p:nvPr>
            <p:ph type="title"/>
          </p:nvPr>
        </p:nvSpPr>
        <p:spPr/>
        <p:txBody>
          <a:bodyPr/>
          <a:lstStyle/>
          <a:p>
            <a:r>
              <a:rPr lang="en-US" altLang="zh-CN" dirty="0">
                <a:latin typeface="NimbusRomNo9L-Medi"/>
              </a:rPr>
              <a:t>Introduction – 16/17</a:t>
            </a:r>
            <a:endParaRPr lang="zh-CN" altLang="en-US" dirty="0"/>
          </a:p>
        </p:txBody>
      </p:sp>
      <p:sp>
        <p:nvSpPr>
          <p:cNvPr id="3" name="内容占位符 2">
            <a:extLst>
              <a:ext uri="{FF2B5EF4-FFF2-40B4-BE49-F238E27FC236}">
                <a16:creationId xmlns:a16="http://schemas.microsoft.com/office/drawing/2014/main" id="{75BF1EFA-A3AE-12AE-1F45-20A52A3D1AFA}"/>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2000" dirty="0"/>
              <a:t>Furthermore, we develop an offline expert-verified test subset consisting of a carefully selected subset of test videos and questions with high-quality answers manually written by clinicians. This set provides an additional evaluation of alignment with clinician-curated answers: </a:t>
            </a:r>
            <a:r>
              <a:rPr lang="en-US" altLang="zh-CN" sz="2000" dirty="0" err="1"/>
              <a:t>SurgTEMP</a:t>
            </a:r>
            <a:r>
              <a:rPr lang="en-US" altLang="zh-CN" sz="2000" dirty="0"/>
              <a:t> outperforms the baselines under the reported metrics.</a:t>
            </a:r>
            <a:endParaRPr lang="zh-CN" altLang="en-US" sz="20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5050F354-7595-136C-EA95-C2B4D607DBBC}"/>
              </a:ext>
            </a:extLst>
          </p:cNvPr>
          <p:cNvSpPr>
            <a:spLocks noGrp="1"/>
          </p:cNvSpPr>
          <p:nvPr>
            <p:ph type="sldNum" sz="quarter" idx="12"/>
          </p:nvPr>
        </p:nvSpPr>
        <p:spPr/>
        <p:txBody>
          <a:bodyPr/>
          <a:lstStyle/>
          <a:p>
            <a:fld id="{52108E69-35C3-4395-AB4C-CBC2CBC07E89}" type="slidenum">
              <a:rPr lang="zh-CN" altLang="en-US" smtClean="0"/>
              <a:t>52</a:t>
            </a:fld>
            <a:endParaRPr lang="zh-CN" altLang="en-US"/>
          </a:p>
        </p:txBody>
      </p:sp>
      <p:sp>
        <p:nvSpPr>
          <p:cNvPr id="11" name="文本框 10">
            <a:extLst>
              <a:ext uri="{FF2B5EF4-FFF2-40B4-BE49-F238E27FC236}">
                <a16:creationId xmlns:a16="http://schemas.microsoft.com/office/drawing/2014/main" id="{0BAED421-0A4F-F363-4D38-39A63EB108B2}"/>
              </a:ext>
            </a:extLst>
          </p:cNvPr>
          <p:cNvSpPr txBox="1"/>
          <p:nvPr/>
        </p:nvSpPr>
        <p:spPr>
          <a:xfrm>
            <a:off x="856862" y="2073110"/>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额外验证</a:t>
            </a:r>
          </a:p>
        </p:txBody>
      </p:sp>
      <p:sp>
        <p:nvSpPr>
          <p:cNvPr id="9" name="日期占位符 4">
            <a:extLst>
              <a:ext uri="{FF2B5EF4-FFF2-40B4-BE49-F238E27FC236}">
                <a16:creationId xmlns:a16="http://schemas.microsoft.com/office/drawing/2014/main" id="{46CFFADA-DFD9-A69A-B538-38C6946A35D7}"/>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2026/10/16</a:t>
            </a:fld>
            <a:endParaRPr lang="zh-CN" altLang="en-US" dirty="0"/>
          </a:p>
        </p:txBody>
      </p:sp>
      <p:sp>
        <p:nvSpPr>
          <p:cNvPr id="10" name="页脚占位符 5">
            <a:extLst>
              <a:ext uri="{FF2B5EF4-FFF2-40B4-BE49-F238E27FC236}">
                <a16:creationId xmlns:a16="http://schemas.microsoft.com/office/drawing/2014/main" id="{0D2AE35A-7432-14BA-A017-1AA2108E4E61}"/>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Tree>
    <p:extLst>
      <p:ext uri="{BB962C8B-B14F-4D97-AF65-F5344CB8AC3E}">
        <p14:creationId xmlns:p14="http://schemas.microsoft.com/office/powerpoint/2010/main" val="6834052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4AE87-33A1-15F6-CF63-7830B2E53F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8C60D6-D23C-140D-D43E-A66D47936CE8}"/>
              </a:ext>
            </a:extLst>
          </p:cNvPr>
          <p:cNvSpPr>
            <a:spLocks noGrp="1"/>
          </p:cNvSpPr>
          <p:nvPr>
            <p:ph type="title"/>
          </p:nvPr>
        </p:nvSpPr>
        <p:spPr/>
        <p:txBody>
          <a:bodyPr/>
          <a:lstStyle/>
          <a:p>
            <a:r>
              <a:rPr lang="en-US" altLang="zh-CN" dirty="0">
                <a:latin typeface="NimbusRomNo9L-Medi"/>
              </a:rPr>
              <a:t>Introduction – 17/17</a:t>
            </a:r>
            <a:endParaRPr lang="zh-CN" altLang="en-US" dirty="0"/>
          </a:p>
        </p:txBody>
      </p:sp>
      <p:sp>
        <p:nvSpPr>
          <p:cNvPr id="3" name="内容占位符 2">
            <a:extLst>
              <a:ext uri="{FF2B5EF4-FFF2-40B4-BE49-F238E27FC236}">
                <a16:creationId xmlns:a16="http://schemas.microsoft.com/office/drawing/2014/main" id="{B84F9060-287A-D6FC-36E7-C1F8035559B0}"/>
              </a:ext>
            </a:extLst>
          </p:cNvPr>
          <p:cNvSpPr>
            <a:spLocks noGrp="1"/>
          </p:cNvSpPr>
          <p:nvPr>
            <p:ph idx="1"/>
          </p:nvPr>
        </p:nvSpPr>
        <p:spPr>
          <a:xfrm>
            <a:off x="838200" y="1690688"/>
            <a:ext cx="10515600" cy="4665661"/>
          </a:xfrm>
        </p:spPr>
        <p:txBody>
          <a:bodyPr>
            <a:normAutofit/>
          </a:bodyPr>
          <a:lstStyle/>
          <a:p>
            <a:pPr marL="0" indent="0">
              <a:lnSpc>
                <a:spcPct val="150000"/>
              </a:lnSpc>
              <a:spcBef>
                <a:spcPts val="0"/>
              </a:spcBef>
              <a:buNone/>
            </a:pPr>
            <a:r>
              <a:rPr lang="en-US" altLang="zh-CN" sz="1800" dirty="0"/>
              <a:t>Our contributions can be summarized as follows:</a:t>
            </a: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We propose </a:t>
            </a:r>
            <a:r>
              <a:rPr lang="en-US" altLang="zh-CN" sz="1800" b="1" dirty="0" err="1">
                <a:latin typeface="Times New Roman" panose="02020603050405020304" pitchFamily="18" charset="0"/>
                <a:cs typeface="Times New Roman" panose="02020603050405020304" pitchFamily="18" charset="0"/>
              </a:rPr>
              <a:t>SurgTEMP</a:t>
            </a:r>
            <a:r>
              <a:rPr lang="en-US" altLang="zh-CN" sz="1800" dirty="0">
                <a:latin typeface="Times New Roman" panose="02020603050405020304" pitchFamily="18" charset="0"/>
                <a:cs typeface="Times New Roman" panose="02020603050405020304" pitchFamily="18" charset="0"/>
              </a:rPr>
              <a:t>, a model capable of handling variable-length surgical videos and tasks requiring different granularities of visual cues, advancing the state of surgical video question answering.</a:t>
            </a: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We introduce a novel surgical video question answering </a:t>
            </a:r>
            <a:r>
              <a:rPr lang="en-US" altLang="zh-CN" sz="1800" b="1" dirty="0">
                <a:latin typeface="Times New Roman" panose="02020603050405020304" pitchFamily="18" charset="0"/>
                <a:cs typeface="Times New Roman" panose="02020603050405020304" pitchFamily="18" charset="0"/>
              </a:rPr>
              <a:t>dataset</a:t>
            </a:r>
            <a:r>
              <a:rPr lang="en-US" altLang="zh-CN" sz="1800" dirty="0">
                <a:latin typeface="Times New Roman" panose="02020603050405020304" pitchFamily="18" charset="0"/>
                <a:cs typeface="Times New Roman" panose="02020603050405020304" pitchFamily="18" charset="0"/>
              </a:rPr>
              <a:t>, CholeVidQA-32K, featuring dynamic temporal context and broad task coverage, facilitating video-based visual question answering research across various downstream applications.</a:t>
            </a:r>
          </a:p>
          <a:p>
            <a:pPr marL="0" indent="0">
              <a:lnSpc>
                <a:spcPct val="150000"/>
              </a:lnSpc>
              <a:spcBef>
                <a:spcPts val="0"/>
              </a:spcBef>
              <a:buNone/>
            </a:pPr>
            <a:r>
              <a:rPr lang="en-US" altLang="zh-CN" sz="1800" dirty="0">
                <a:latin typeface="Times New Roman" panose="02020603050405020304" pitchFamily="18" charset="0"/>
                <a:cs typeface="Times New Roman" panose="02020603050405020304" pitchFamily="18" charset="0"/>
              </a:rPr>
              <a:t>• We evaluate our model on a carefully curated offline </a:t>
            </a:r>
            <a:r>
              <a:rPr lang="en-US" altLang="zh-CN" sz="1800" b="1" dirty="0">
                <a:latin typeface="Times New Roman" panose="02020603050405020304" pitchFamily="18" charset="0"/>
                <a:cs typeface="Times New Roman" panose="02020603050405020304" pitchFamily="18" charset="0"/>
              </a:rPr>
              <a:t>expert-verified test subset </a:t>
            </a:r>
            <a:r>
              <a:rPr lang="en-US" altLang="zh-CN" sz="1800" dirty="0">
                <a:latin typeface="Times New Roman" panose="02020603050405020304" pitchFamily="18" charset="0"/>
                <a:cs typeface="Times New Roman" panose="02020603050405020304" pitchFamily="18" charset="0"/>
              </a:rPr>
              <a:t>with high-quality answers manually written by clinicians. Results show superior alignment with these clinician-curated answers compared to all baselines, while remaining distinct from prospective clinical validation.</a:t>
            </a:r>
            <a:endParaRPr lang="zh-CN" altLang="en-US" sz="1800" dirty="0">
              <a:latin typeface="Times New Roman" panose="02020603050405020304" pitchFamily="18" charset="0"/>
              <a:cs typeface="Times New Roman" panose="02020603050405020304" pitchFamily="18" charset="0"/>
            </a:endParaRPr>
          </a:p>
        </p:txBody>
      </p:sp>
      <p:sp>
        <p:nvSpPr>
          <p:cNvPr id="7" name="灯片编号占位符 6">
            <a:extLst>
              <a:ext uri="{FF2B5EF4-FFF2-40B4-BE49-F238E27FC236}">
                <a16:creationId xmlns:a16="http://schemas.microsoft.com/office/drawing/2014/main" id="{7D0D2CEE-A3EB-8F8F-A5B2-C40058B7119F}"/>
              </a:ext>
            </a:extLst>
          </p:cNvPr>
          <p:cNvSpPr>
            <a:spLocks noGrp="1"/>
          </p:cNvSpPr>
          <p:nvPr>
            <p:ph type="sldNum" sz="quarter" idx="12"/>
          </p:nvPr>
        </p:nvSpPr>
        <p:spPr/>
        <p:txBody>
          <a:bodyPr/>
          <a:lstStyle/>
          <a:p>
            <a:fld id="{52108E69-35C3-4395-AB4C-CBC2CBC07E89}" type="slidenum">
              <a:rPr lang="zh-CN" altLang="en-US" smtClean="0"/>
              <a:t>53</a:t>
            </a:fld>
            <a:endParaRPr lang="zh-CN" altLang="en-US"/>
          </a:p>
        </p:txBody>
      </p:sp>
      <p:sp>
        <p:nvSpPr>
          <p:cNvPr id="9" name="日期占位符 4">
            <a:extLst>
              <a:ext uri="{FF2B5EF4-FFF2-40B4-BE49-F238E27FC236}">
                <a16:creationId xmlns:a16="http://schemas.microsoft.com/office/drawing/2014/main" id="{EB9F75ED-AFEE-FFD0-8A6B-8C20ED3AEC1A}"/>
              </a:ext>
            </a:extLst>
          </p:cNvPr>
          <p:cNvSpPr>
            <a:spLocks noGrp="1"/>
          </p:cNvSpPr>
          <p:nvPr>
            <p:ph type="dt" sz="half" idx="10"/>
          </p:nvPr>
        </p:nvSpPr>
        <p:spPr>
          <a:xfrm>
            <a:off x="838200" y="6356350"/>
            <a:ext cx="2743200" cy="365125"/>
          </a:xfrm>
        </p:spPr>
        <p:txBody>
          <a:bodyPr/>
          <a:lstStyle/>
          <a:p>
            <a:fld id="{CA6D1005-75B9-45A9-81F2-694867CDD9CB}" type="datetime1">
              <a:rPr lang="zh-CN" altLang="en-US" smtClean="0"/>
              <a:t>2026/10/16</a:t>
            </a:fld>
            <a:endParaRPr lang="zh-CN" altLang="en-US" dirty="0"/>
          </a:p>
        </p:txBody>
      </p:sp>
      <p:sp>
        <p:nvSpPr>
          <p:cNvPr id="10" name="页脚占位符 5">
            <a:extLst>
              <a:ext uri="{FF2B5EF4-FFF2-40B4-BE49-F238E27FC236}">
                <a16:creationId xmlns:a16="http://schemas.microsoft.com/office/drawing/2014/main" id="{F4089276-058F-A91E-80AE-DA2CF5935CCB}"/>
              </a:ext>
            </a:extLst>
          </p:cNvPr>
          <p:cNvSpPr>
            <a:spLocks noGrp="1"/>
          </p:cNvSpPr>
          <p:nvPr>
            <p:ph type="ftr" sz="quarter" idx="11"/>
          </p:nvPr>
        </p:nvSpPr>
        <p:spPr>
          <a:xfrm>
            <a:off x="4038600" y="6356350"/>
            <a:ext cx="4114800" cy="365125"/>
          </a:xfrm>
        </p:spPr>
        <p:txBody>
          <a:bodyPr/>
          <a:lstStyle/>
          <a:p>
            <a:r>
              <a:rPr lang="en-US" altLang="zh-CN"/>
              <a:t>lqy</a:t>
            </a:r>
            <a:endParaRPr lang="zh-CN" altLang="en-US"/>
          </a:p>
        </p:txBody>
      </p:sp>
      <p:sp>
        <p:nvSpPr>
          <p:cNvPr id="6" name="文本框 5">
            <a:extLst>
              <a:ext uri="{FF2B5EF4-FFF2-40B4-BE49-F238E27FC236}">
                <a16:creationId xmlns:a16="http://schemas.microsoft.com/office/drawing/2014/main" id="{950D0CD2-93A0-B602-6E42-A8191FEAAC53}"/>
              </a:ext>
            </a:extLst>
          </p:cNvPr>
          <p:cNvSpPr txBox="1"/>
          <p:nvPr/>
        </p:nvSpPr>
        <p:spPr>
          <a:xfrm>
            <a:off x="3742717" y="3249710"/>
            <a:ext cx="1810965" cy="307777"/>
          </a:xfrm>
          <a:prstGeom prst="rect">
            <a:avLst/>
          </a:prstGeom>
          <a:noFill/>
        </p:spPr>
        <p:txBody>
          <a:bodyPr wrap="square" rtlCol="0">
            <a:spAutoFit/>
          </a:bodyPr>
          <a:lstStyle/>
          <a:p>
            <a:r>
              <a:rPr lang="zh-CN" altLang="en-US" sz="1400" b="1" dirty="0">
                <a:solidFill>
                  <a:schemeClr val="accent1"/>
                </a:solidFill>
                <a:latin typeface="方正姚体" panose="02010601030101010101" pitchFamily="2" charset="-122"/>
                <a:ea typeface="方正姚体" panose="02010601030101010101" pitchFamily="2" charset="-122"/>
                <a:cs typeface="Times New Roman" panose="02020603050405020304" pitchFamily="18" charset="0"/>
              </a:rPr>
              <a:t>描述</a:t>
            </a:r>
          </a:p>
        </p:txBody>
      </p:sp>
    </p:spTree>
    <p:extLst>
      <p:ext uri="{BB962C8B-B14F-4D97-AF65-F5344CB8AC3E}">
        <p14:creationId xmlns:p14="http://schemas.microsoft.com/office/powerpoint/2010/main" val="32212389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3A129C-144D-DEB1-758F-60B0CFFFEBE3}"/>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39CB1ED7-F089-59DE-8B74-3C176AEE482D}"/>
              </a:ext>
            </a:extLst>
          </p:cNvPr>
          <p:cNvSpPr>
            <a:spLocks noGrp="1"/>
          </p:cNvSpPr>
          <p:nvPr>
            <p:ph idx="1"/>
          </p:nvPr>
        </p:nvSpPr>
        <p:spPr/>
        <p:txBody>
          <a:bodyPr>
            <a:normAutofit/>
          </a:bodyPr>
          <a:lstStyle/>
          <a:p>
            <a:pPr marL="0" indent="0">
              <a:buNone/>
            </a:pPr>
            <a:r>
              <a:rPr lang="en-US" altLang="zh-CN" sz="4400" dirty="0"/>
              <a:t>THANKS</a:t>
            </a:r>
            <a:endParaRPr lang="zh-CN" altLang="en-US" sz="4400" dirty="0"/>
          </a:p>
        </p:txBody>
      </p:sp>
      <p:sp>
        <p:nvSpPr>
          <p:cNvPr id="4" name="日期占位符 3">
            <a:extLst>
              <a:ext uri="{FF2B5EF4-FFF2-40B4-BE49-F238E27FC236}">
                <a16:creationId xmlns:a16="http://schemas.microsoft.com/office/drawing/2014/main" id="{3B6C928F-0F3E-1320-16F9-ACDBAA37388D}"/>
              </a:ext>
            </a:extLst>
          </p:cNvPr>
          <p:cNvSpPr>
            <a:spLocks noGrp="1"/>
          </p:cNvSpPr>
          <p:nvPr>
            <p:ph type="dt" sz="half" idx="10"/>
          </p:nvPr>
        </p:nvSpPr>
        <p:spPr/>
        <p:txBody>
          <a:bodyPr/>
          <a:lstStyle/>
          <a:p>
            <a:fld id="{8E932608-8EB3-47D2-A62F-0F2B30F5F626}" type="datetime1">
              <a:rPr lang="zh-CN" altLang="en-US" smtClean="0"/>
              <a:t>2026/10/15</a:t>
            </a:fld>
            <a:endParaRPr lang="zh-CN" altLang="en-US"/>
          </a:p>
        </p:txBody>
      </p:sp>
      <p:sp>
        <p:nvSpPr>
          <p:cNvPr id="5" name="页脚占位符 4">
            <a:extLst>
              <a:ext uri="{FF2B5EF4-FFF2-40B4-BE49-F238E27FC236}">
                <a16:creationId xmlns:a16="http://schemas.microsoft.com/office/drawing/2014/main" id="{BE0CAAF9-B2A0-720B-ADFE-927B4F2548E9}"/>
              </a:ext>
            </a:extLst>
          </p:cNvPr>
          <p:cNvSpPr>
            <a:spLocks noGrp="1"/>
          </p:cNvSpPr>
          <p:nvPr>
            <p:ph type="ftr" sz="quarter" idx="11"/>
          </p:nvPr>
        </p:nvSpPr>
        <p:spPr/>
        <p:txBody>
          <a:bodyPr/>
          <a:lstStyle/>
          <a:p>
            <a:r>
              <a:rPr lang="en-US" altLang="zh-CN"/>
              <a:t>lqy</a:t>
            </a:r>
            <a:endParaRPr lang="zh-CN" altLang="en-US"/>
          </a:p>
        </p:txBody>
      </p:sp>
      <p:sp>
        <p:nvSpPr>
          <p:cNvPr id="6" name="灯片编号占位符 5">
            <a:extLst>
              <a:ext uri="{FF2B5EF4-FFF2-40B4-BE49-F238E27FC236}">
                <a16:creationId xmlns:a16="http://schemas.microsoft.com/office/drawing/2014/main" id="{6EC917B7-EEF7-678C-91E1-1098C3D4C867}"/>
              </a:ext>
            </a:extLst>
          </p:cNvPr>
          <p:cNvSpPr>
            <a:spLocks noGrp="1"/>
          </p:cNvSpPr>
          <p:nvPr>
            <p:ph type="sldNum" sz="quarter" idx="12"/>
          </p:nvPr>
        </p:nvSpPr>
        <p:spPr/>
        <p:txBody>
          <a:bodyPr/>
          <a:lstStyle/>
          <a:p>
            <a:fld id="{52108E69-35C3-4395-AB4C-CBC2CBC07E89}" type="slidenum">
              <a:rPr lang="zh-CN" altLang="en-US" smtClean="0"/>
              <a:t>54</a:t>
            </a:fld>
            <a:endParaRPr lang="zh-CN" altLang="en-US"/>
          </a:p>
        </p:txBody>
      </p:sp>
    </p:spTree>
    <p:extLst>
      <p:ext uri="{BB962C8B-B14F-4D97-AF65-F5344CB8AC3E}">
        <p14:creationId xmlns:p14="http://schemas.microsoft.com/office/powerpoint/2010/main" val="744459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1300</TotalTime>
  <Words>9535</Words>
  <Application>Microsoft Office PowerPoint</Application>
  <PresentationFormat>宽屏</PresentationFormat>
  <Paragraphs>862</Paragraphs>
  <Slides>54</Slides>
  <Notes>27</Notes>
  <HiddenSlides>7</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54</vt:i4>
      </vt:variant>
    </vt:vector>
  </HeadingPairs>
  <TitlesOfParts>
    <vt:vector size="62" baseType="lpstr">
      <vt:lpstr>NimbusRomNo9L-Medi</vt:lpstr>
      <vt:lpstr>等线</vt:lpstr>
      <vt:lpstr>方正姚体</vt:lpstr>
      <vt:lpstr>微软雅黑</vt:lpstr>
      <vt:lpstr>Arial</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Writing</vt:lpstr>
      <vt:lpstr>Abstract</vt:lpstr>
      <vt:lpstr>PowerPoint 演示文稿</vt:lpstr>
      <vt:lpstr>PowerPoint 演示文稿</vt:lpstr>
      <vt:lpstr>PowerPoint 演示文稿</vt:lpstr>
      <vt:lpstr>Introduction – 1/17</vt:lpstr>
      <vt:lpstr>Introduction – 2/17</vt:lpstr>
      <vt:lpstr>Introduction – 2/17</vt:lpstr>
      <vt:lpstr>Introduction – 3/17</vt:lpstr>
      <vt:lpstr>Introduction – 4&amp;5/17</vt:lpstr>
      <vt:lpstr>Introduction – 6/17</vt:lpstr>
      <vt:lpstr>Introduction – 7/17</vt:lpstr>
      <vt:lpstr>Introduction – 8/17</vt:lpstr>
      <vt:lpstr>Introduction – 9/17</vt:lpstr>
      <vt:lpstr>Introduction – 10/17</vt:lpstr>
      <vt:lpstr>Introduction – 11/17</vt:lpstr>
      <vt:lpstr>Introduction – 12/17</vt:lpstr>
      <vt:lpstr>Introduction – 13/17</vt:lpstr>
      <vt:lpstr>Introduction – 14/17</vt:lpstr>
      <vt:lpstr>Introduction – 15/17</vt:lpstr>
      <vt:lpstr>Introduction – 16/17</vt:lpstr>
      <vt:lpstr>Introduction – 17/17</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SurgTEMP: Temporal-Aware Surgical Video Question Answering</dc:title>
  <dc:subject/>
  <dc:creator>lqy</dc:creator>
  <cp:keywords/>
  <dc:description>generated using python-pptx</dc:description>
  <cp:lastModifiedBy>Qiyue Li</cp:lastModifiedBy>
  <cp:revision>18</cp:revision>
  <dcterms:created xsi:type="dcterms:W3CDTF">2013-01-27T09:14:16Z</dcterms:created>
  <dcterms:modified xsi:type="dcterms:W3CDTF">2026-10-16T08:23:37Z</dcterms:modified>
  <cp:category/>
</cp:coreProperties>
</file>